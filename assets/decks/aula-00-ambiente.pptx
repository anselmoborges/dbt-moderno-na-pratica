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c71f6619d1b4b9d" /><Relationship Type="http://schemas.openxmlformats.org/officeDocument/2006/relationships/extended-properties" Target="/docProps/app.xml" Id="Rbbef900471f64ff0" /><Relationship Type="http://schemas.openxmlformats.org/officeDocument/2006/relationships/officeDocument" Target="/ppt/presentation.xml" Id="Ra74efc5c375d47c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9185732c3b2458d"/>
    <p:sldMasterId xmlns:r="http://schemas.openxmlformats.org/officeDocument/2006/relationships" id="2147483650" r:id="R1083ab4e44cd4db6"/>
  </p:sldMasterIdLst>
  <p:notesMasterIdLst>
    <p:notesMasterId xmlns:r="http://schemas.openxmlformats.org/officeDocument/2006/relationships" r:id="R397b4ce54b4b405a"/>
  </p:notesMasterIdLst>
  <p:sldIdLst>
    <p:sldId xmlns:r="http://schemas.openxmlformats.org/officeDocument/2006/relationships" id="256" r:id="R1581c77ab4734f53"/>
    <p:sldId xmlns:r="http://schemas.openxmlformats.org/officeDocument/2006/relationships" id="257" r:id="Rc1476f5a31ba44ed"/>
    <p:sldId xmlns:r="http://schemas.openxmlformats.org/officeDocument/2006/relationships" id="258" r:id="R71705f0de6d44fb3"/>
    <p:sldId xmlns:r="http://schemas.openxmlformats.org/officeDocument/2006/relationships" id="259" r:id="R1fd511f225694fc8"/>
    <p:sldId xmlns:r="http://schemas.openxmlformats.org/officeDocument/2006/relationships" id="260" r:id="R62c6d55699724152"/>
    <p:sldId xmlns:r="http://schemas.openxmlformats.org/officeDocument/2006/relationships" id="261" r:id="Rdeea14881d904bb8"/>
    <p:sldId xmlns:r="http://schemas.openxmlformats.org/officeDocument/2006/relationships" id="262" r:id="Rbd9050cc069a46f5"/>
    <p:sldId xmlns:r="http://schemas.openxmlformats.org/officeDocument/2006/relationships" id="263" r:id="R6ee462ceb9d143d8"/>
    <p:sldId xmlns:r="http://schemas.openxmlformats.org/officeDocument/2006/relationships" id="264" r:id="Rc9c7382ad7fb4dd5"/>
    <p:sldId xmlns:r="http://schemas.openxmlformats.org/officeDocument/2006/relationships" id="265" r:id="R21f8ec0064a845ae"/>
    <p:sldId xmlns:r="http://schemas.openxmlformats.org/officeDocument/2006/relationships" id="266" r:id="Rccab597717864ddc"/>
    <p:sldId xmlns:r="http://schemas.openxmlformats.org/officeDocument/2006/relationships" id="267" r:id="Rff42736115b24340"/>
    <p:sldId xmlns:r="http://schemas.openxmlformats.org/officeDocument/2006/relationships" id="268" r:id="R967ca0492a4d4bfa"/>
    <p:sldId xmlns:r="http://schemas.openxmlformats.org/officeDocument/2006/relationships" id="269" r:id="R1466c3cc9465435d"/>
    <p:sldId xmlns:r="http://schemas.openxmlformats.org/officeDocument/2006/relationships" id="270" r:id="R9278a31b51d64788"/>
    <p:sldId xmlns:r="http://schemas.openxmlformats.org/officeDocument/2006/relationships" id="271" r:id="Rdc1d521ac94f40da"/>
    <p:sldId xmlns:r="http://schemas.openxmlformats.org/officeDocument/2006/relationships" id="272" r:id="R5f678a3635ad44ec"/>
    <p:sldId xmlns:r="http://schemas.openxmlformats.org/officeDocument/2006/relationships" id="273" r:id="R4802eda10c024a01"/>
    <p:sldId xmlns:r="http://schemas.openxmlformats.org/officeDocument/2006/relationships" id="274" r:id="R6b3ef60b050c465c"/>
    <p:sldId xmlns:r="http://schemas.openxmlformats.org/officeDocument/2006/relationships" id="275" r:id="R539aa9b1b80e429e"/>
    <p:sldId xmlns:r="http://schemas.openxmlformats.org/officeDocument/2006/relationships" id="276" r:id="Rcb59c00872d943dd"/>
    <p:sldId xmlns:r="http://schemas.openxmlformats.org/officeDocument/2006/relationships" id="277" r:id="R5ee1a2cb329d4ce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5f7077fcd474371" /><Relationship Type="http://schemas.openxmlformats.org/officeDocument/2006/relationships/slideMaster" Target="/ppt/slideMasters/slideMaster1.xml" Id="Re9185732c3b2458d" /><Relationship Type="http://schemas.openxmlformats.org/officeDocument/2006/relationships/slideMaster" Target="/ppt/slideMasters/slideMaster2.xml" Id="R1083ab4e44cd4db6" /><Relationship Type="http://schemas.openxmlformats.org/officeDocument/2006/relationships/notesMaster" Target="/ppt/notesMasters/notesMaster1.xml" Id="R397b4ce54b4b405a" /><Relationship Type="http://schemas.openxmlformats.org/officeDocument/2006/relationships/presProps" Target="/ppt/presProps.xml" Id="R56b6b95ffbde4055" /><Relationship Type="http://schemas.openxmlformats.org/officeDocument/2006/relationships/tableStyles" Target="/ppt/tableStyles.xml" Id="R012516f647594e18" /><Relationship Type="http://schemas.openxmlformats.org/officeDocument/2006/relationships/slide" Target="/ppt/slides/slide1.xml" Id="R1581c77ab4734f53" /><Relationship Type="http://schemas.openxmlformats.org/officeDocument/2006/relationships/slide" Target="/ppt/slides/slide2.xml" Id="Rc1476f5a31ba44ed" /><Relationship Type="http://schemas.openxmlformats.org/officeDocument/2006/relationships/slide" Target="/ppt/slides/slide3.xml" Id="R71705f0de6d44fb3" /><Relationship Type="http://schemas.openxmlformats.org/officeDocument/2006/relationships/slide" Target="/ppt/slides/slide4.xml" Id="R1fd511f225694fc8" /><Relationship Type="http://schemas.openxmlformats.org/officeDocument/2006/relationships/slide" Target="/ppt/slides/slide5.xml" Id="R62c6d55699724152" /><Relationship Type="http://schemas.openxmlformats.org/officeDocument/2006/relationships/slide" Target="/ppt/slides/slide6.xml" Id="Rdeea14881d904bb8" /><Relationship Type="http://schemas.openxmlformats.org/officeDocument/2006/relationships/slide" Target="/ppt/slides/slide7.xml" Id="Rbd9050cc069a46f5" /><Relationship Type="http://schemas.openxmlformats.org/officeDocument/2006/relationships/slide" Target="/ppt/slides/slide8.xml" Id="R6ee462ceb9d143d8" /><Relationship Type="http://schemas.openxmlformats.org/officeDocument/2006/relationships/slide" Target="/ppt/slides/slide9.xml" Id="Rc9c7382ad7fb4dd5" /><Relationship Type="http://schemas.openxmlformats.org/officeDocument/2006/relationships/slide" Target="/ppt/slides/slide10.xml" Id="R21f8ec0064a845ae" /><Relationship Type="http://schemas.openxmlformats.org/officeDocument/2006/relationships/slide" Target="/ppt/slides/slide11.xml" Id="Rccab597717864ddc" /><Relationship Type="http://schemas.openxmlformats.org/officeDocument/2006/relationships/slide" Target="/ppt/slides/slide12.xml" Id="Rff42736115b24340" /><Relationship Type="http://schemas.openxmlformats.org/officeDocument/2006/relationships/slide" Target="/ppt/slides/slide13.xml" Id="R967ca0492a4d4bfa" /><Relationship Type="http://schemas.openxmlformats.org/officeDocument/2006/relationships/slide" Target="/ppt/slides/slide14.xml" Id="R1466c3cc9465435d" /><Relationship Type="http://schemas.openxmlformats.org/officeDocument/2006/relationships/slide" Target="/ppt/slides/slide15.xml" Id="R9278a31b51d64788" /><Relationship Type="http://schemas.openxmlformats.org/officeDocument/2006/relationships/slide" Target="/ppt/slides/slide16.xml" Id="Rdc1d521ac94f40da" /><Relationship Type="http://schemas.openxmlformats.org/officeDocument/2006/relationships/slide" Target="/ppt/slides/slide17.xml" Id="R5f678a3635ad44ec" /><Relationship Type="http://schemas.openxmlformats.org/officeDocument/2006/relationships/slide" Target="/ppt/slides/slide18.xml" Id="R4802eda10c024a01" /><Relationship Type="http://schemas.openxmlformats.org/officeDocument/2006/relationships/slide" Target="/ppt/slides/slide19.xml" Id="R6b3ef60b050c465c" /><Relationship Type="http://schemas.openxmlformats.org/officeDocument/2006/relationships/slide" Target="/ppt/slides/slide20.xml" Id="R539aa9b1b80e429e" /><Relationship Type="http://schemas.openxmlformats.org/officeDocument/2006/relationships/slide" Target="/ppt/slides/slide21.xml" Id="Rcb59c00872d943dd" /><Relationship Type="http://schemas.openxmlformats.org/officeDocument/2006/relationships/slide" Target="/ppt/slides/slide22.xml" Id="R5ee1a2cb329d4ce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afd1b90c4ad5462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7ac1019b9f4fb3" /><Relationship Type="http://schemas.openxmlformats.org/officeDocument/2006/relationships/notesMaster" Target="/ppt/notesMasters/notesMaster1.xml" Id="Rb0710f6aa8714d8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1d508d7935402d" /><Relationship Type="http://schemas.openxmlformats.org/officeDocument/2006/relationships/notesMaster" Target="/ppt/notesMasters/notesMaster1.xml" Id="R53a79afb1c8b4be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dfa4a18799649b5" /><Relationship Type="http://schemas.openxmlformats.org/officeDocument/2006/relationships/notesMaster" Target="/ppt/notesMasters/notesMaster1.xml" Id="Rc0f62b4911be4d4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248b85cc1aa4051" /><Relationship Type="http://schemas.openxmlformats.org/officeDocument/2006/relationships/notesMaster" Target="/ppt/notesMasters/notesMaster1.xml" Id="R922af1f2d1c14a9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d09f34bd7a74b26" /><Relationship Type="http://schemas.openxmlformats.org/officeDocument/2006/relationships/notesMaster" Target="/ppt/notesMasters/notesMaster1.xml" Id="R94479e26b7cf421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787dfc2efe544f5" /><Relationship Type="http://schemas.openxmlformats.org/officeDocument/2006/relationships/notesMaster" Target="/ppt/notesMasters/notesMaster1.xml" Id="R39b540593dc44fa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eeaea7e573f4f2f" /><Relationship Type="http://schemas.openxmlformats.org/officeDocument/2006/relationships/notesMaster" Target="/ppt/notesMasters/notesMaster1.xml" Id="Rf073c15bd9c04fd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12a674053f7429c" /><Relationship Type="http://schemas.openxmlformats.org/officeDocument/2006/relationships/notesMaster" Target="/ppt/notesMasters/notesMaster1.xml" Id="Re506edcb681f475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68c2fd9f95e4308" /><Relationship Type="http://schemas.openxmlformats.org/officeDocument/2006/relationships/notesMaster" Target="/ppt/notesMasters/notesMaster1.xml" Id="R754b4745f2c94fb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7eb2061a4ea4b46" /><Relationship Type="http://schemas.openxmlformats.org/officeDocument/2006/relationships/notesMaster" Target="/ppt/notesMasters/notesMaster1.xml" Id="Red99da4d2b0e4db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01d802cd94541bb" /><Relationship Type="http://schemas.openxmlformats.org/officeDocument/2006/relationships/notesMaster" Target="/ppt/notesMasters/notesMaster1.xml" Id="Ra267d0d217dc418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73131cfee634165" /><Relationship Type="http://schemas.openxmlformats.org/officeDocument/2006/relationships/notesMaster" Target="/ppt/notesMasters/notesMaster1.xml" Id="Raa70c47b70f44a9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93d9ac0e8114fa0" /><Relationship Type="http://schemas.openxmlformats.org/officeDocument/2006/relationships/notesMaster" Target="/ppt/notesMasters/notesMaster1.xml" Id="R512a6effa52549f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248eee1ff8e40d5" /><Relationship Type="http://schemas.openxmlformats.org/officeDocument/2006/relationships/notesMaster" Target="/ppt/notesMasters/notesMaster1.xml" Id="R2213a4a24729436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455af8ae4a047af" /><Relationship Type="http://schemas.openxmlformats.org/officeDocument/2006/relationships/notesMaster" Target="/ppt/notesMasters/notesMaster1.xml" Id="R0a498eed84f847f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e78bc2a074548af" /><Relationship Type="http://schemas.openxmlformats.org/officeDocument/2006/relationships/notesMaster" Target="/ppt/notesMasters/notesMaster1.xml" Id="R2ca5f81a1dc24ae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329720cc76045b5" /><Relationship Type="http://schemas.openxmlformats.org/officeDocument/2006/relationships/notesMaster" Target="/ppt/notesMasters/notesMaster1.xml" Id="R6070e44d908247e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141eede3eea4753" /><Relationship Type="http://schemas.openxmlformats.org/officeDocument/2006/relationships/notesMaster" Target="/ppt/notesMasters/notesMaster1.xml" Id="R4d104bf40d894ec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6bc81db4dc24998" /><Relationship Type="http://schemas.openxmlformats.org/officeDocument/2006/relationships/notesMaster" Target="/ppt/notesMasters/notesMaster1.xml" Id="Rd6d9dcbd02634be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db69d6f94cb4ad2" /><Relationship Type="http://schemas.openxmlformats.org/officeDocument/2006/relationships/notesMaster" Target="/ppt/notesMasters/notesMaster1.xml" Id="Rbb949bb22b174cd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db35345b6c24192" /><Relationship Type="http://schemas.openxmlformats.org/officeDocument/2006/relationships/notesMaster" Target="/ppt/notesMasters/notesMaster1.xml" Id="R187185eaed7f423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dd1dd33249d4050" /><Relationship Type="http://schemas.openxmlformats.org/officeDocument/2006/relationships/notesMaster" Target="/ppt/notesMasters/notesMaster1.xml" Id="Ra066d604cd5a4d0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Bem-vindo à aula 0 do dbt Moderno na Prática. Hoje vamos trabalhar o tema “Prepare seu laboratório dbt no Codespaces”. Rota recomendada no navegador; instalação local continua disponível. O objetivo não é apenas conhecer o conceito: vamos conectá-lo ao laboratório e terminar com uma evidência que você consegue reproduzir no seu próprio ambiente. Ao longo da aula, separe sempre o que é recurso aberto e estável daquilo que aparecerá apenas no Radar.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o título, situe o checkpoint 01 e deixe claro que a aula faz parte da trilha open/stable.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“Um ambiente padronizado reduz o suporte e deixa a aula começar pelo dbt — não pela instalação.”.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Quero começar com uma provocação: Um ambiente padronizado reduz o suporte e deixa a aula começar pelo dbt — não pela instalação. Essa pergunta orienta toda a aula. Em vez de aceitar uma afirmação porque ela parece correta, vamos procurar uma definição verificável e uma demonstração executável. Guarde essa tensão, porque voltaremos a ela quando compararmos o conceito com o resultado do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Dê uma pausa depois da provocação e use o diagrama como mapa do problema, sem explicar todas as etapas ainda.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“Ao final, você consegue...”.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Ao final desta aula, você deverá conseguir criar um Codespace 2-core, Validar o setup automático e Fechar o checkpoint 01. Esses resultados formam uma sequência: primeiro entendemos a regra, depois observamos sua representação no projeto e, por fim, comprovamos o comportamento no checkpoint. Se alguma dessas três partes não estiver clara, volte ao slide correspondente antes de executar a demonstração.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objetivos da esquerda para a direita e apresente-os como resultados observáveis, não como uma agenda abstrata.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“SQL básico basta para começar”.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Terminal, Git, Python e dbt entram passo a passo. Para tornar isso concreto, observe SELECT, JOIN, GROUP BY, SUM e COUNT, Nenhuma experiência prévia com dbt e Comandos completos em todas as aulas.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“Codespaces é a rota recomendada”.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Code → Codespaces → Create codespace on main abre o laboratório no navegador. Para tornar isso concreto, observe conta pessoal GitHub, Sem instalar Python ou Git e Mesmo ambiente para todos.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“Codespaces é a rota recomendada”.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Code → Codespaces → Create codespace on main abre o laboratório no navegador. Siga a composição na ordem mostrada e conecte os elementos principais. A imagem ou o fluxo não cria uma regra nova; ele torna visível a relação que acabamos de explicar. A figura é identificada como captura sanitizada do GitHub.com — 2026-09-01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“2-core preserva a franquia gratuita”.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https://github.com/AnselmoBorges/dbt-moderno-na-pratica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GitHub Free inclui 120 core-hours e 15 GB-mês; em 2-core, são cerca de 60 horas ativas. Para tornar isso concreto, observe branch main, Dev container do curso, Máquina 2-core e Pare o ambiente ao terminar.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“2-core preserva a franquia gratuita”.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GitHub Free inclui 120 core-hours e 15 GB-mês; em 2-core, são cerca de 60 horas ativas. Siga a composição na ordem mostrada e conecte os elementos principais. A imagem ou o fluxo não cria uma regra nova; ele torna visível a relação que acabamos de explicar. A figura é identificada como captura sanitizada do GitHub.com — 2026-09-01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repositório restaura o ambiente”.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https://github.com/codespaces/new?hide_repo_select=true&amp;ref=main&amp;repo=1354054687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Setup instala uma vez; a reabertura restaura PATH, profile e caminhos detectados. Para tornar isso concreto, observe python 3.12 fixado, dbt Core 1.12.3, DuckDB 1.5.5 e Sem ativação manual.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repositório restaura o ambiente”.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Setup instala uma vez; a reabertura restaura PATH, profile e caminhos detectados. Siga a composição na ordem mostrada e conecte create, setup, paths e checkpoint.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“Parar evita consumo de processamento”.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Stop codespace interrompe core-hours; armazenamento continua até excluir o ambiente. Para tornar isso concreto, observe pare ao terminar cada aula, Reabra o mesmo ambiente e Exclua quando não precisar dos arquivos.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“Parar evita consumo de processamento”.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Stop codespace interrompe core-hours; armazenamento continua até excluir o ambiente. Siga a composição na ordem mostrada e conecte os elementos principais. A imagem ou o fluxo não cria uma regra nova; ele torna visível a relação que acabamos de explicar. A figura é identificada como gitHub Docs — CC BY 4.0 — commit 484d28e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“Escolha a interface certa para cada ambiente”.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https://github.com/github/docs/blob/484d28e95db7c592c368da359ff1a9fecb08a08a/assets/images/help/codespaces/stop-codespace-webui.png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O explorador do curso funciona no navegador; a UI oficial exige um túnel que preserve localhost. Para tornar isso concreto, observe codespaces: python course.py official-data-ui, Local: gh auth refresh -h github.com -s codespace, Local: python course.py codespace-ui-tunnel e Navegador: http://localhost:4213.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“Escolha a interface certa para cada ambiente”.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O explorador do curso funciona no navegador; a UI oficial exige um túnel que preserve localhost. Siga a composição na ordem mostrada e conecte duckDB, UI oficial, túnel e localhost.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execute”.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01:20]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sair da explicação e comprovar o comportamento. Execute os comandos exatamente como aparecem: python course.py paths, depois python course.py checkpoint 01, depois python course.py data-ui. Não é necessário ativar o ambiente virtual manualmente; o launcher do curso seleciona o ambiente correto. Antes de avançar, confirme que o comando iniciou sem erro e dê tempo para o aluno acompanhar a mesma etapa.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comando completo, execute uma linha por vez quando houver mais de uma e mantenha o terminal visível.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observe”.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Enquanto a execução acontece, não olhe apenas para a mensagem final. Observe dbt e DuckDB do ambiente isolado, Seeds e artifacts executados e Explorador na porta privada 4213. Cada sinal responde a uma pergunta diferente sobre o pipeline. Se um deles divergir, interrompa a demonstração e investigue; o objetivo do hands-on é produzir evidência, não apenas chegar rapidamente a uma tela verde.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Marque cada observação quando ela aparecer no terminal ou no artifact correspondente.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“RESULTADO ESPERADO”.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ponto de parada da demonstração: Checkpoint 01 OK + exploração gráfica opcional. Esse resultado confirma que a etapa executada produziu a evidência esperada para o checkpoint 01. Se o valor, o status ou o artifact estiver diferente, não trate a divergência como detalhe de ambiente. Use o diagnóstico do curso e só avance quando a causa estiver compreendida.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Compare o resultado do terminal com a frase central do slide e registre a evidência antes de continuar.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mesmo recurso afeta três decisões”.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Antes de seguir, conecte a técnica às decisões que ela afeta: Governança: ambiente versionado, FinOps: 2-core + stop e IA: nenhuma chave necessária. Governança define responsabilidade e consistência; FinOps pergunta quanto trabalho estamos repetindo; e IA depende do contexto que decidimos expor. A mesma implementação pode melhorar os três eixos, mas os ganhos devem ser medidos separadamente.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três eixos e evite apresentar economia ou acurácia como consequência automática.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“46 recursos”.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Aqui temos 46 recursos: baseline dbt validado localmente. O número ajuda a dimensionar o exemplo, mas precisa ser lido com a ressalva correta. Resultado do laboratório, não benchmark de produção. Use o case como evidência contextual e não como promessa de que outro projeto repetirá o mesmo resultado sem as mesmas condições.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primeiro o número, depois a definição e termine obrigatoriamente com a ressalva.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“Limitações que precisam permanecer visíveis”.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Também precisamos declarar os limites da recomendação. Neste cenário, considere codespaces exige internet e conta pessoal GitHub, Franquias e cobrança podem mudar, Explorador autoral é propositalmente simples e UI oficial exige GitHub CLI local e escopo codespace. Esses pontos não anulam a técnica; eles delimitam onde a demonstração é válida e quais condições precisam ser verificadas antes de levar o padrão para produção. Tratar limites como parte do design evita transformar uma boa prática em regra universal.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Leia os limites com o mesmo peso dado aos benefícios e diferencie restrição do laboratório de restrição do produto.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“RADAR”.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nosso Radar: Core 2.0 e Fusion ficam apenas no Radar; a aula executa Core 1.12 estável. A intenção é mostrar a direção da ferramenta sem misturar preview com o caminho suportado da aula. Novidade observada não é recomendação de produção. Para adotar qualquer recurso futuro, confirme maturidade, adaptador, documentação e impacto sobre o projeto antes de alterar o baseline estável.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Reforce visualmente a regra do rodapé e não execute comandos beta ou preview como parte obrigatória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“PRÓXIMO PASSO”.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Abra o Codespace em 2-core, execute checkpoint 01 e use a UI oficial por túnel somente como bônus. Faça essa etapa antes de seguir para o próximo episódio, porque o curso é cumulativo e o checkpoint atual se torna a base da aula seguinte. Se houver divergência, use o relatório de suporte e registre o que foi observado. O objetivo é avançar com um estado conhecido e reproduzível, não apenas assistir ao conteúdo.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checkpoint e indique no repositório onde ficam o roteiro, os comandos e as referências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Encerre retomando a pergunta inicial e confirme que o aluno sabe qual ação executar depois da aula 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https://cli.github.com/manual/gh_codespace_ports_forward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783f5ec72a42e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fd50daad5e346f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481b1a236ed4b1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968d709ef0d49bf" /><Relationship Type="http://schemas.openxmlformats.org/officeDocument/2006/relationships/slideLayout" Target="/ppt/slideLayouts/slideLayout1.xml" Id="R523029af92964adc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994e85cc41924b62" /><Relationship Type="http://schemas.openxmlformats.org/officeDocument/2006/relationships/slideLayout" Target="/ppt/slideLayouts/slideLayout2.xml" Id="R62e0ede57fab4bdf" /><Relationship Type="http://schemas.openxmlformats.org/officeDocument/2006/relationships/slideLayout" Target="/ppt/slideLayouts/slideLayout3.xml" Id="Rb4598d5dc46943c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3029af92964ad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62e0ede57fab4bdf"/>
    <p:sldLayoutId xmlns:r="http://schemas.openxmlformats.org/officeDocument/2006/relationships" id="2147483652" r:id="Rb4598d5dc46943cc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f6443217064f90" /><Relationship Type="http://schemas.openxmlformats.org/officeDocument/2006/relationships/image" Target="/ppt/media/image.jpeg" Id="R7b4224b7b08e4017" /><Relationship Type="http://schemas.openxmlformats.org/officeDocument/2006/relationships/image" Target="/ppt/media/image.png" Id="R74be168f70754401" /><Relationship Type="http://schemas.openxmlformats.org/officeDocument/2006/relationships/notesSlide" Target="/ppt/notesSlides/notesSlide1.xml" Id="R68e289c7e92f4c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7ee9890b3484e56" /><Relationship Type="http://schemas.openxmlformats.org/officeDocument/2006/relationships/image" Target="/ppt/media/image2.png" Id="Rebdbed357ea244f9" /><Relationship Type="http://schemas.openxmlformats.org/officeDocument/2006/relationships/image" Target="/ppt/media/image3.png" Id="R2b2f97cd383444a6" /><Relationship Type="http://schemas.openxmlformats.org/officeDocument/2006/relationships/notesSlide" Target="/ppt/notesSlides/notesSlide2.xml" Id="R49b83fffba1b475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933fdb449840d7" /><Relationship Type="http://schemas.openxmlformats.org/officeDocument/2006/relationships/image" Target="/ppt/media/image4.png" Id="R1a7ad137c9ce45f6" /><Relationship Type="http://schemas.openxmlformats.org/officeDocument/2006/relationships/notesSlide" Target="/ppt/notesSlides/notesSlide3.xml" Id="R24a0c721fccf403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74055ba75946db" /><Relationship Type="http://schemas.openxmlformats.org/officeDocument/2006/relationships/image" Target="/ppt/media/image5.png" Id="Rec33f428c1e9499a" /><Relationship Type="http://schemas.openxmlformats.org/officeDocument/2006/relationships/notesSlide" Target="/ppt/notesSlides/notesSlide4.xml" Id="Rb0942e0e729b4a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5dd5d934cfc491d" /><Relationship Type="http://schemas.openxmlformats.org/officeDocument/2006/relationships/image" Target="/ppt/media/image6.png" Id="R254256d732954627" /><Relationship Type="http://schemas.openxmlformats.org/officeDocument/2006/relationships/notesSlide" Target="/ppt/notesSlides/notesSlide5.xml" Id="R5afa7381454b4a5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47017b556b4b50" /><Relationship Type="http://schemas.openxmlformats.org/officeDocument/2006/relationships/image" Target="/ppt/media/image7.png" Id="R9cb0f87538b44b85" /><Relationship Type="http://schemas.openxmlformats.org/officeDocument/2006/relationships/image" Target="/ppt/media/image8.png" Id="R920ef1f492de4758" /><Relationship Type="http://schemas.openxmlformats.org/officeDocument/2006/relationships/notesSlide" Target="/ppt/notesSlides/notesSlide6.xml" Id="Rd1f291ec2bbe4d1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8a87044a7340cf" /><Relationship Type="http://schemas.openxmlformats.org/officeDocument/2006/relationships/image" Target="/ppt/media/image9.png" Id="Ra2adae2961ff4530" /><Relationship Type="http://schemas.openxmlformats.org/officeDocument/2006/relationships/notesSlide" Target="/ppt/notesSlides/notesSlide7.xml" Id="R83078496ce55410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be00d4a366c40b3" /><Relationship Type="http://schemas.openxmlformats.org/officeDocument/2006/relationships/image" Target="/ppt/media/image10.png" Id="R82482e2ea9d84387" /><Relationship Type="http://schemas.openxmlformats.org/officeDocument/2006/relationships/image" Target="/ppt/media/image11.png" Id="R8eea3b2285ed49cf" /><Relationship Type="http://schemas.openxmlformats.org/officeDocument/2006/relationships/notesSlide" Target="/ppt/notesSlides/notesSlide8.xml" Id="Rc90dcb89ec98477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f48a289f4004288" /><Relationship Type="http://schemas.openxmlformats.org/officeDocument/2006/relationships/image" Target="/ppt/media/image12.png" Id="R5a22d8142139429d" /><Relationship Type="http://schemas.openxmlformats.org/officeDocument/2006/relationships/notesSlide" Target="/ppt/notesSlides/notesSlide9.xml" Id="Rb3763a4fddf44e1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63db5f908794ae5" /><Relationship Type="http://schemas.openxmlformats.org/officeDocument/2006/relationships/image" Target="/ppt/media/image13.png" Id="R286c24446fd34de7" /><Relationship Type="http://schemas.openxmlformats.org/officeDocument/2006/relationships/notesSlide" Target="/ppt/notesSlides/notesSlide10.xml" Id="Reee28437178d48e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7b9910d14448d1" /><Relationship Type="http://schemas.openxmlformats.org/officeDocument/2006/relationships/image" Target="/ppt/media/image14.png" Id="R6fc22ae521fe4ffb" /><Relationship Type="http://schemas.openxmlformats.org/officeDocument/2006/relationships/notesSlide" Target="/ppt/notesSlides/notesSlide11.xml" Id="R99121ad4f6fb4e7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0e8bb3c95fa4b91" /><Relationship Type="http://schemas.openxmlformats.org/officeDocument/2006/relationships/image" Target="/ppt/media/image15.png" Id="Rc20f173c677146a1" /><Relationship Type="http://schemas.openxmlformats.org/officeDocument/2006/relationships/image" Target="/ppt/media/image16.png" Id="R46e8dd1ec5324c3c" /><Relationship Type="http://schemas.openxmlformats.org/officeDocument/2006/relationships/notesSlide" Target="/ppt/notesSlides/notesSlide12.xml" Id="R730a0bcd7e34499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2d99c94a39c4ecc" /><Relationship Type="http://schemas.openxmlformats.org/officeDocument/2006/relationships/image" Target="/ppt/media/image17.png" Id="Raf362b2a37204553" /><Relationship Type="http://schemas.openxmlformats.org/officeDocument/2006/relationships/notesSlide" Target="/ppt/notesSlides/notesSlide13.xml" Id="R4eb74e3b9dc74a8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6d888b7b2046f8" /><Relationship Type="http://schemas.openxmlformats.org/officeDocument/2006/relationships/image" Target="/ppt/media/image18.png" Id="R23c9384e269c4214" /><Relationship Type="http://schemas.openxmlformats.org/officeDocument/2006/relationships/notesSlide" Target="/ppt/notesSlides/notesSlide14.xml" Id="Rb32ff4ebff0b470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55c8563ece4bd6" /><Relationship Type="http://schemas.openxmlformats.org/officeDocument/2006/relationships/image" Target="/ppt/media/image19.png" Id="Rd1a3085505224192" /><Relationship Type="http://schemas.openxmlformats.org/officeDocument/2006/relationships/notesSlide" Target="/ppt/notesSlides/notesSlide15.xml" Id="R7e7dc53a297e4b6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c62ebc3b45f41f6" /><Relationship Type="http://schemas.openxmlformats.org/officeDocument/2006/relationships/image" Target="/ppt/media/image20.png" Id="R25453ae281c74a00" /><Relationship Type="http://schemas.openxmlformats.org/officeDocument/2006/relationships/notesSlide" Target="/ppt/notesSlides/notesSlide16.xml" Id="Rfd59678ee23c483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cf7beda1f74bcf" /><Relationship Type="http://schemas.openxmlformats.org/officeDocument/2006/relationships/image" Target="/ppt/media/image21.png" Id="Rf1b8d385d97a4a08" /><Relationship Type="http://schemas.openxmlformats.org/officeDocument/2006/relationships/notesSlide" Target="/ppt/notesSlides/notesSlide17.xml" Id="R09ce98a0161a43b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788722d5af249e6" /><Relationship Type="http://schemas.openxmlformats.org/officeDocument/2006/relationships/image" Target="/ppt/media/image22.png" Id="Rcf89a58718714a95" /><Relationship Type="http://schemas.openxmlformats.org/officeDocument/2006/relationships/notesSlide" Target="/ppt/notesSlides/notesSlide18.xml" Id="R6f01c0aba0b84b7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1337dc30db4d22" /><Relationship Type="http://schemas.openxmlformats.org/officeDocument/2006/relationships/image" Target="/ppt/media/image23.png" Id="Ra80b16d889244802" /><Relationship Type="http://schemas.openxmlformats.org/officeDocument/2006/relationships/notesSlide" Target="/ppt/notesSlides/notesSlide19.xml" Id="R2761fb689b084aa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3a138edc0ae4a1e" /><Relationship Type="http://schemas.openxmlformats.org/officeDocument/2006/relationships/image" Target="/ppt/media/image24.png" Id="R441d2e9e1f7a4eab" /><Relationship Type="http://schemas.openxmlformats.org/officeDocument/2006/relationships/notesSlide" Target="/ppt/notesSlides/notesSlide20.xml" Id="R2fd4bdf759c74e0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7f1b2994c44da4" /><Relationship Type="http://schemas.openxmlformats.org/officeDocument/2006/relationships/image" Target="/ppt/media/image25.png" Id="R0091da04fc1a4965" /><Relationship Type="http://schemas.openxmlformats.org/officeDocument/2006/relationships/notesSlide" Target="/ppt/notesSlides/notesSlide21.xml" Id="Rd31c9d8640d2498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d14f2176bef4c40" /><Relationship Type="http://schemas.openxmlformats.org/officeDocument/2006/relationships/image" Target="/ppt/media/image26.png" Id="R1a4c1958e8074b27" /><Relationship Type="http://schemas.openxmlformats.org/officeDocument/2006/relationships/notesSlide" Target="/ppt/notesSlides/notesSlide22.xml" Id="R338194f768614585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 descr="Ilustração conceitual autoral da capa: AULA 0 — Prepare seu laboratório dbt no Codespaces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4224b7b08e4017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73784B68-E217-4383-AB7E-DAA27648D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E0686A10-0EEE-427F-BC0E-BF15A6F47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4160699E-F1A3-4DBB-9E13-AE8144ABE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AULA 0</a:t>
            </a:r>
          </a:p>
        </p:txBody>
      </p:sp>
      <p:sp>
        <p:nvSpPr>
          <p:cNvPr id="5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CE4ED013-D47C-4277-A11C-914BE4FFB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8" name="" descr="Ilustração conceitual autoral da capa: AULA 0 — Prepare seu laboratório dbt no Codespaces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be168f70754401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76FC812E-E405-4FF9-8554-E0A72270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Prepare seu laboratório dbt no Codespaces</a:t>
            </a:r>
          </a:p>
        </p:txBody>
      </p:sp>
      <p:sp>
        <p:nvSpPr>
          <p:cNvPr id="8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A31650F-8CC9-4594-BAD2-EC4B6A203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Rota recomendada no navegador; instalação local continua disponível</a:t>
            </a:r>
          </a:p>
        </p:txBody>
      </p:sp>
      <p:sp>
        <p:nvSpPr>
          <p:cNvPr id="9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36A708BA-ACC8-43BF-A00D-0D907488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10" name="cover-meta">
            <a:extLst xmlns:a="http://schemas.openxmlformats.org/drawingml/2006/main">
              <a:ext uri="{FF2B5EF4-FFF2-40B4-BE49-F238E27FC236}">
                <a16:creationId xmlns:a16="http://schemas.microsoft.com/office/drawing/2014/main" id="{E74BA74A-F1A5-4688-9720-BCAF1FF0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01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18310971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ook">
            <a:extLst xmlns:a="http://schemas.openxmlformats.org/drawingml/2006/main">
              <a:ext uri="{FF2B5EF4-FFF2-40B4-BE49-F238E27FC236}">
                <a16:creationId xmlns:a16="http://schemas.microsoft.com/office/drawing/2014/main" id="{B766B9CD-19B6-4079-8F5A-92A03DF85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Um ambiente padronizado reduz o suporte e deixa a aula começar pelo dbt — não pela instalação.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77E96025-E19C-4AA5-A553-EF842528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B21AA22F-F048-43CE-80E1-CFECA9A32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A3C34C00-5265-4B81-82C7-7D90FAF2D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9" name="" descr="Diagrama didático autoral que apresenta: Um ambiente padronizado reduz o suporte e deixa a aula começar pelo dbt — não pela instalação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dbed357ea244f9"/>
          <a:stretch xmlns:a="http://schemas.openxmlformats.org/drawingml/2006/main"/>
        </p:blipFill>
        <p:spPr>
          <a:xfrm xmlns:a="http://schemas.openxmlformats.org/drawingml/2006/main">
            <a:off x="990600" y="4135697"/>
            <a:ext cx="10210800" cy="872607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691CA237-79B7-4FE8-9255-949D002E3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7D5DDCB7-C7FC-4206-A0F2-AE7C3032C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2" name="" descr="Diagrama didático autoral que apresenta: Um ambiente padronizado reduz o suporte e deixa a aula começar pelo dbt — não pela instalação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2f97cd383444a6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02611CC-3F20-4B6D-A5AB-C7157613A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2D0E2D20-BB55-4A03-8961-7E04334D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EEEAB6D-9ADE-4C4F-B99E-01FD11BB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2/22</a:t>
            </a:r>
          </a:p>
        </p:txBody>
      </p:sp>
    </p:spTree>
    <p:extLst>
      <p:ext uri="{BB962C8B-B14F-4D97-AF65-F5344CB8AC3E}">
        <p14:creationId xmlns:p14="http://schemas.microsoft.com/office/powerpoint/2010/main" val="3529947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E2B1CA6-A78B-4432-A714-EFFBFEDC9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FDCA3554-FB9D-4065-B102-839C2BFC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B57261C8-B35D-455E-9381-A6CFF7F51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Criar um Codespace 2-core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60EFB47E-5BD4-4434-AF80-F06404511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BA590B45-0421-4363-81EB-22643E52E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3E4EE87E-CBDE-4877-A511-ED29B9FE5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Validar o setup automático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8E13E7B4-7045-47C4-843C-9600125FB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CEC3F530-9DDD-4A37-9593-8968E6A0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8C74E2D9-FF37-43E9-886B-87C8F76DF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Fechar o checkpoint 01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B739F43F-FD3E-483A-B021-4D8953C9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11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75662E30-66DB-4046-81B5-B78A2BF4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9" name="" descr="Figura oficial da documentação dbt usada para explicar: Ao final, você consegue...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7ad137c9ce45f6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2D3F454-8A22-44F0-825E-A559CC23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EF9AC102-0EA0-46FD-90E0-07379843F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0304D18-DBE4-4F2A-9767-1C423E35D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3/22</a:t>
            </a:r>
          </a:p>
        </p:txBody>
      </p:sp>
    </p:spTree>
    <p:extLst>
      <p:ext uri="{BB962C8B-B14F-4D97-AF65-F5344CB8AC3E}">
        <p14:creationId xmlns:p14="http://schemas.microsoft.com/office/powerpoint/2010/main" val="1095210072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0AC22A-0A98-4EB3-A3FE-B6800F83E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SQL básico basta para começar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6DAB490-6A19-4D62-93E9-7280ADD8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Terminal, Git, Python e dbt entram passo a passo.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B0C11B12-86E4-4C00-AFB2-506E513EC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SELECT, JOIN, GROUP BY, SUM e COUNT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Nenhuma experiência prévia com dbt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Comandos completos em todas as aulas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92E216E4-F7B6-4357-9D01-B6C7BAAD9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2DCEE758-B792-46AC-B2F7-49AF8C527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5568E908-FD5E-41A2-9F94-6CFC33D79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4153D2F6-6047-4529-9EA4-8076C48DB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14F2F2F2-5A2C-41B3-9277-5B6AF856E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SQL básico basta para começar — Terminal, Git, Python e dbt entram passo a passo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33f428c1e9499a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DF9E6A3-DD6D-495A-BCAD-8C6A3252C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C552C7C9-8974-4D22-BB4D-676F8CCC1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A369D38-36A8-4F6F-896F-1010836D4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4/22</a:t>
            </a:r>
          </a:p>
        </p:txBody>
      </p:sp>
    </p:spTree>
    <p:extLst>
      <p:ext uri="{BB962C8B-B14F-4D97-AF65-F5344CB8AC3E}">
        <p14:creationId xmlns:p14="http://schemas.microsoft.com/office/powerpoint/2010/main" val="66955566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7CCE0C7-42EF-4642-89EA-0256810B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Codespaces é a rota recomendada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CBF582C-CD6C-4FBF-A9A8-1234B6F49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Code → Codespaces → Create codespace on main abre o laboratório no navegador.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D6C11708-EA90-404C-A19D-D2D6786C1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Conta pessoal GitHub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Sem instalar Python ou Git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Mesmo ambiente para todos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5D6EF226-2BC8-4A82-9EC4-70441BCCB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D46CA247-5C3D-47B5-BBB3-8B31E237E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775762C2-970A-4AAE-BB1F-9FC1A83B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FCF19915-0996-4BB8-90CA-11E9E63F8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DEC2F284-8D8A-433A-AA4E-C5027E517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Codespaces é a rota recomendada — Code → Codespaces → Create codespace on main abre o laboratório no navegador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4256d732954627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115030F-7EA0-4F6B-A26D-02AD4E4F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33C9DF33-9266-4F8B-AAD2-FC3049EC3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1074DA3-66F1-45EE-8AEA-41E621936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5/22</a:t>
            </a:r>
          </a:p>
        </p:txBody>
      </p:sp>
    </p:spTree>
    <p:extLst>
      <p:ext uri="{BB962C8B-B14F-4D97-AF65-F5344CB8AC3E}">
        <p14:creationId xmlns:p14="http://schemas.microsoft.com/office/powerpoint/2010/main" val="554206095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9086E7E-0FC9-4D86-B5EE-B765BD633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Codespaces é a rota recomendada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3BA8B354-5F93-4067-B93B-60C8A17B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Code → Codespaces → Create codespace on main abre o laboratório no navegador.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E5B093C2-D83B-454D-A86A-40C40955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8" name="" descr="Figura oficial da documentação dbt usada para explicar: Codespaces é a rota recomendada — Code → Codespaces → Create codespace on main abre o laboratório no navegador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b0f87538b44b85"/>
          <a:stretch xmlns:a="http://schemas.openxmlformats.org/drawingml/2006/main"/>
        </p:blipFill>
        <p:spPr>
          <a:xfrm xmlns:a="http://schemas.openxmlformats.org/drawingml/2006/main">
            <a:off x="6464152" y="1809750"/>
            <a:ext cx="3721395" cy="3333750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D818048D-7B3D-4ADD-BA0A-D3846DC3C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Captura sanitizada do GitHub.com — 2026-09-01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917A98A5-03AE-4E97-9BB6-DC2D7395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D59D8292-CD50-4FAE-B51C-41780EC9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2" name="" descr="Figura oficial da documentação dbt usada para explicar: Codespaces é a rota recomendada — Code → Codespaces → Create codespace on main abre o laboratório no navegador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0ef1f492de4758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C9D743C-40F0-4639-99C1-50DD3539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61029F33-5371-4866-BE43-A9B4B2731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FF1D0C8-3F49-46E1-B1B1-21FE8C72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6/22</a:t>
            </a:r>
          </a:p>
        </p:txBody>
      </p:sp>
    </p:spTree>
    <p:extLst>
      <p:ext uri="{BB962C8B-B14F-4D97-AF65-F5344CB8AC3E}">
        <p14:creationId xmlns:p14="http://schemas.microsoft.com/office/powerpoint/2010/main" val="878422373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69118C2-C6A2-4E75-AD75-6FFF980C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2-core preserva a franquia gratuita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4686BB2-7672-4060-829B-11E071FC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GitHub Free inclui 120 core-hours e 15 GB-mês; em 2-core, são cerca de 60 horas ativas.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42CDF460-1385-4731-A654-8F3FD6647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Branch main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Dev container do curso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Máquina 2-core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Pare o ambiente ao terminar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3F51C740-91B7-4426-93AA-4943DF5FE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B11CF87F-51B6-4DEB-A759-0A73D856D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1D9346CC-481E-4F84-9108-7B785CDB2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FF2F874C-6916-42DE-99C5-FCC77108C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DC6D3556-2917-4433-934C-F936A794D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2-core preserva a franquia gratuita — GitHub Free inclui 120 core-hours e 15 GB-mês; em 2-core, são cerca de 60 horas ativas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adae2961ff4530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D97B7A0-EDB8-4160-9281-ECC3623C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0C735F95-E078-4953-A394-2EC2FD2B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665C999-5DCB-4A57-A463-BED6F199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7/22</a:t>
            </a:r>
          </a:p>
        </p:txBody>
      </p:sp>
    </p:spTree>
    <p:extLst>
      <p:ext uri="{BB962C8B-B14F-4D97-AF65-F5344CB8AC3E}">
        <p14:creationId xmlns:p14="http://schemas.microsoft.com/office/powerpoint/2010/main" val="21219030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218A707-650D-4F01-9153-1FB95627F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2-core preserva a franquia gratuita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F729CDCC-0408-4073-A396-034E82414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B1F3A"/>
                </a:solidFill>
              </a:defRPr>
            </a:pPr>
            <a:r>
              <a:rPr sz="1950" b="1">
                <a:solidFill>
                  <a:srgbClr val="0B1F3A"/>
                </a:solidFill>
              </a:rPr>
              <a:t>GitHub Free inclui 120 core-hours e 15 GB-mês; em 2-core, são cerca de 60 horas ativas.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206950D9-7240-46AD-99D4-9F06E49E0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pic>
        <p:nvPicPr>
          <p:cNvPr id="18" name="" descr="Figura oficial da documentação dbt usada para explicar: 2-core preserva a franquia gratuita — GitHub Free inclui 120 core-hours e 15 GB-mês; em 2-core, são cerca de 60 horas ativas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482e2ea9d84387"/>
          <a:stretch xmlns:a="http://schemas.openxmlformats.org/drawingml/2006/main"/>
        </p:blipFill>
        <p:spPr>
          <a:xfrm xmlns:a="http://schemas.openxmlformats.org/drawingml/2006/main">
            <a:off x="5429250" y="2148056"/>
            <a:ext cx="5791200" cy="2657139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24796614-0038-4792-8219-8E460A8D8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Captura sanitizada do GitHub.com — 2026-09-01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915349CA-7CC7-46B6-91F6-5695A6497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931DAFBB-829C-49EC-81A8-D35D24EA1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2" name="" descr="Figura oficial da documentação dbt usada para explicar: 2-core preserva a franquia gratuita — GitHub Free inclui 120 core-hours e 15 GB-mês; em 2-core, são cerca de 60 horas ativas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ea3b2285ed49cf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18F8B4A-3586-4DD2-9EB6-593CD0BBB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14BD3289-A291-4EB0-AF0A-161FED893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0A8EE3C-9810-41C3-9B31-5AD2C0362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8/22</a:t>
            </a:r>
          </a:p>
        </p:txBody>
      </p:sp>
    </p:spTree>
    <p:extLst>
      <p:ext uri="{BB962C8B-B14F-4D97-AF65-F5344CB8AC3E}">
        <p14:creationId xmlns:p14="http://schemas.microsoft.com/office/powerpoint/2010/main" val="21430692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E894A5D-4504-4CF4-BE3F-E4D904B6B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repositório restaura o ambiente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A8DD6DF-E0DC-470B-A106-1FC06C205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Setup instala uma vez; a reabertura restaura PATH, profile e caminhos detectados.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3D90D3D3-2AE5-4BFD-8019-FE28B7299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Python 3.12 fixado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dbt Core 1.12.3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DuckDB 1.5.5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Sem ativação manual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0BAACAB7-BD97-47AE-BF4D-677C517FD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F45F69FD-F6B6-439A-A500-E59958D5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CB237329-41DA-4C4C-9713-F652A52B6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197736C5-94CE-4E33-A5A8-269EC57E9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B4D567AC-2BBC-4746-A750-15C58800F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O repositório restaura o ambiente — Setup instala uma vez; a reabertura restaura PATH, profile e caminhos detectados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22d8142139429d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FDFDC54-5557-4D3D-BC8E-C72AA669C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2A9AC206-CE22-430B-AD14-88AC13A25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879553C-4941-4694-8107-8E2CC4915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9/22</a:t>
            </a:r>
          </a:p>
        </p:txBody>
      </p:sp>
    </p:spTree>
    <p:extLst>
      <p:ext uri="{BB962C8B-B14F-4D97-AF65-F5344CB8AC3E}">
        <p14:creationId xmlns:p14="http://schemas.microsoft.com/office/powerpoint/2010/main" val="1079583618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45A5B1C-64B5-4843-B99D-ECEBECC07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O repositório restaura o ambiente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4FD779E5-B977-48D3-9FC0-B548D488C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Create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2A9FED91-DE3F-4352-9E1C-44232B22C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setup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DA4A1248-E81F-4D7F-9143-099A9D78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paths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BB7DB6F5-47EE-4D5C-944F-2A26588F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checkpoint</a:t>
            </a:r>
          </a:p>
        </p:txBody>
      </p:sp>
      <p:cxnSp>
        <p:nvCxnSpPr>
          <p:cNvPr id="29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30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31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DFB65A9E-27D7-47C9-AD71-900B28EAB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10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E497F652-E3C8-4107-8DCF-C73F92F71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34" name="" descr="Figura oficial da documentação dbt usada para explicar: O repositório restaura o ambiente — Create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6c24446fd34de7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2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48D802D-146F-4710-A14E-41EEBA73B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E9988866-C56C-4580-A359-928AF7AE7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0601BEC-6D0A-4AD2-88D3-D2B4039A6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10/22</a:t>
            </a:r>
          </a:p>
        </p:txBody>
      </p:sp>
    </p:spTree>
    <p:extLst>
      <p:ext uri="{BB962C8B-B14F-4D97-AF65-F5344CB8AC3E}">
        <p14:creationId xmlns:p14="http://schemas.microsoft.com/office/powerpoint/2010/main" val="1401876952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3B2916A-7590-423F-93B5-951C9B9D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Parar evita consumo de processamento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2242C04-DFB8-4B8D-936C-7A4875B9D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Stop codespace interrompe core-hours; armazenamento continua até excluir o ambiente.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BD081820-C1CB-4A49-AA26-9F407252A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Pare ao terminar cada aula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Reabra o mesmo ambiente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Exclua quando não precisar dos arquivos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A3EDE469-3449-4E9B-9585-21C8227C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8DB21DC8-FC8D-44DB-82DA-4EAC01A7E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FC62584E-1226-45C3-AAD5-EABB785C5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05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2136670A-4F1A-40A7-9368-16A7E9412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640714CB-609D-4D31-AAFE-23F1F3D83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Parar evita consumo de processamento — Stop codespace interrompe core-hours; armazenamento continua até excluir o ambiente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c22ae521fe4ffb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36FEFFA-3CB3-41FC-ADF0-A4C53D1C1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22BDE695-4134-4851-A9F1-ADEB23988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57DFE69-8B07-46C6-A2A7-79180296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11/22</a:t>
            </a:r>
          </a:p>
        </p:txBody>
      </p:sp>
    </p:spTree>
    <p:extLst>
      <p:ext uri="{BB962C8B-B14F-4D97-AF65-F5344CB8AC3E}">
        <p14:creationId xmlns:p14="http://schemas.microsoft.com/office/powerpoint/2010/main" val="121941445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CF6CE8-4EC4-47E4-A87E-07384BC6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Parar evita consumo de processamento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E26B7A36-9ECB-432A-AD64-B65732A34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B1F3A"/>
                </a:solidFill>
              </a:defRPr>
            </a:pPr>
            <a:r>
              <a:rPr sz="1950" b="1">
                <a:solidFill>
                  <a:srgbClr val="0B1F3A"/>
                </a:solidFill>
              </a:rPr>
              <a:t>Stop codespace interrompe core-hours; armazenamento continua até excluir o ambiente.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4D0E001C-6166-4A7F-8A85-E954150B4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pic>
        <p:nvPicPr>
          <p:cNvPr id="18" name="" descr="Figura oficial da documentação dbt usada para explicar: Parar evita consumo de processamento — Stop codespace interrompe core-hours; armazenamento continua até excluir o ambiente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0f173c677146a1"/>
          <a:stretch xmlns:a="http://schemas.openxmlformats.org/drawingml/2006/main"/>
        </p:blipFill>
        <p:spPr>
          <a:xfrm xmlns:a="http://schemas.openxmlformats.org/drawingml/2006/main">
            <a:off x="5429250" y="2370007"/>
            <a:ext cx="5791200" cy="2213235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697CDB68-96DF-4FF3-921E-05E49B30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GitHub Docs — CC BY 4.0 — commit 484d28e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3898EB09-EBF8-4A2C-A0EF-2691FB673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4EE9AB9D-21D1-4BE3-A5D0-4F0E4E2B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2" name="" descr="Figura oficial da documentação dbt usada para explicar: Parar evita consumo de processamento — Stop codespace interrompe core-hours; armazenamento continua até excluir o ambiente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e8dd1ec5324c3c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0A8A908-77DD-408E-9818-796AC3BCE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D0473C91-6574-4520-9C24-B0D48A75E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C64242F-6DB4-4072-B221-003CB14D0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12/22</a:t>
            </a:r>
          </a:p>
        </p:txBody>
      </p:sp>
    </p:spTree>
    <p:extLst>
      <p:ext uri="{BB962C8B-B14F-4D97-AF65-F5344CB8AC3E}">
        <p14:creationId xmlns:p14="http://schemas.microsoft.com/office/powerpoint/2010/main" val="35220175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0CDF616-8EC8-432C-9974-55F5A970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Escolha a interface certa para cada ambiente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1801B50-12B5-4273-9086-9B45A64D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O explorador do curso funciona no navegador; a UI oficial exige um túnel que preserve localhost.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698E9F7A-F997-40E4-8F34-7F49AEB5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Codespaces: python course.py official-data-ui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Local: gh auth refresh -h github.com -s codespace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Local: python course.py codespace-ui-tunnel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Navegador: http://localhost:4213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8E347E95-DBB7-4EC0-AA28-59D27F88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F957EC40-E2AA-4324-8EDB-B9A53992B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85A14BD5-E590-44D1-8EC0-253C0D20F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06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5258220B-9D76-4D88-8456-CD7B81C6B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DDE43A89-43AE-44E1-8415-E2C7B807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Escolha a interface certa para cada ambiente — O explorador do curso funciona no navegador; a UI oficial exige um túnel que preserve localhost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362b2a37204553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B1BB787-F607-43B6-A109-30556E4C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593E70C4-835A-4B0E-A0A1-BB25E66B9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71EA089-F40D-4EBE-880A-13BDF257B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13/22</a:t>
            </a:r>
          </a:p>
        </p:txBody>
      </p:sp>
    </p:spTree>
    <p:extLst>
      <p:ext uri="{BB962C8B-B14F-4D97-AF65-F5344CB8AC3E}">
        <p14:creationId xmlns:p14="http://schemas.microsoft.com/office/powerpoint/2010/main" val="771179746"/>
      </p:ext>
    </p:extLst>
  </p:cSld>
</p:sld>
</file>

<file path=ppt/slides/slide1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9CB67F-872C-4C77-BC5B-2BF382519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Escolha a interface certa para cada ambiente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4AD54873-0F03-410B-A6C0-48EEC9928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DuckDB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C90280E7-8EA5-47B7-BFF0-02D70AAA2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UI oficial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6FD6EA3A-A36A-4C3D-86C3-9CCD0862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túnel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3F3AE306-E7E6-493D-9F7A-1E156D705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localhost</a:t>
            </a:r>
          </a:p>
        </p:txBody>
      </p:sp>
      <p:cxnSp>
        <p:nvCxnSpPr>
          <p:cNvPr id="29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30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31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7196C4C4-50BF-4195-BFF7-3EEADD0C6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10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039E7002-F5A4-4C0E-B641-EF80319C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34" name="" descr="Figura oficial da documentação dbt usada para explicar: Escolha a interface certa para cada ambiente — DuckDB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c9384e269c4214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2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5C41C76-58DF-4419-8786-9BB74E3E5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ACD9F760-7D52-478B-A791-14316A742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2BC14CC-6E26-40E9-ABC4-B0850A22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14/22</a:t>
            </a:r>
          </a:p>
        </p:txBody>
      </p:sp>
    </p:spTree>
    <p:extLst>
      <p:ext uri="{BB962C8B-B14F-4D97-AF65-F5344CB8AC3E}">
        <p14:creationId xmlns:p14="http://schemas.microsoft.com/office/powerpoint/2010/main" val="1648768693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DCD1059-D8DB-419B-A50B-43406D47A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E4C6229C-34E3-4AE4-953A-CD47ECDFA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7FFA4E70-46AD-4A8F-B775-220428B43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paths</a:t>
            </a:r>
          </a:p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01</a:t>
            </a:r>
          </a:p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data-ui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429377ED-3492-4FF3-8DBE-C7645692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09D64174-F7C4-40DD-AB83-E6A1E7DF2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6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E4319904-EF91-4CFE-80D4-081FEB509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9" name="" descr="Figura oficial da documentação dbt usada para explicar: Demonstração — execute — python course.py paths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a3085505224192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E7B0BD7-5D06-45DA-841D-3CE576F3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F90936C9-FF34-4050-A20F-9CB27EDA9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A809AA1-15C0-4CC8-9219-5A92BE5B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15/22</a:t>
            </a:r>
          </a:p>
        </p:txBody>
      </p:sp>
    </p:spTree>
    <p:extLst>
      <p:ext uri="{BB962C8B-B14F-4D97-AF65-F5344CB8AC3E}">
        <p14:creationId xmlns:p14="http://schemas.microsoft.com/office/powerpoint/2010/main" val="3452815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4D8B91B-5991-4E00-B8D0-761608DB4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0CB4FF99-A923-4149-8577-AFCE323BB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1AB34CDB-ECBA-4B68-973F-9D9F1EE37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dbt e DuckDB do ambiente isolado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65F9E6B5-42FB-439D-83BE-F6D9ACC7C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2031AACD-AD99-4917-8490-CE0CEC0ED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35279C88-AFCB-42E5-A597-B96551E62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Seeds e artifacts executados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C1CC9D87-0B40-41FF-A639-68DC0FF58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1EC69914-FD5C-4B93-82CC-1A4A515E4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DE80F0CE-8A2A-4700-89A2-E470860BC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Explorador na porta privada 4213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18524B60-00FD-483A-9BB2-82EAF4BD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11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7BC6D1E5-8274-4CDF-B279-DF89FA19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9" name="" descr="Figura oficial da documentação dbt usada para explicar: Demonstração — observe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453ae281c74a00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6DEAB2A-992C-429D-BCC6-CE01A4CD2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E522DB7D-2683-47D9-B336-9606391B8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C8962AF-0618-4472-914D-98629D85E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16/22</a:t>
            </a:r>
          </a:p>
        </p:txBody>
      </p:sp>
    </p:spTree>
    <p:extLst>
      <p:ext uri="{BB962C8B-B14F-4D97-AF65-F5344CB8AC3E}">
        <p14:creationId xmlns:p14="http://schemas.microsoft.com/office/powerpoint/2010/main" val="1280088241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763824DE-1F24-48CC-9328-B0BAE0D59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5BBCBCF0-7640-4CF1-B946-1CB50494E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Checkpoint 01 OK + exploração gráfica opcional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F83468A7-EC94-44E4-9B60-06368B12F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01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13D412B7-7531-4A14-A490-11CE7FA0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06D748D0-0CED-4B82-9D5E-C31D65390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11DA68FF-5028-4A53-B1EA-7959DB34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57902B2C-A5A8-4775-A294-BFE0F2BD0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1" name="" descr="Figura oficial da documentação dbt usada para explicar: RESULTADO ESPERADO — Checkpoint 01 OK + exploração gráfica opcional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b8d385d97a4a08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CA85F37-5062-47F9-960A-2D9FD45D4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BD9F5FE1-5076-4BF5-A243-FE1C9217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F5EB1ED-710C-4EEC-A9D8-012820190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17/22</a:t>
            </a:r>
          </a:p>
        </p:txBody>
      </p:sp>
    </p:spTree>
    <p:extLst>
      <p:ext uri="{BB962C8B-B14F-4D97-AF65-F5344CB8AC3E}">
        <p14:creationId xmlns:p14="http://schemas.microsoft.com/office/powerpoint/2010/main" val="130641151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67703E9-9586-40B9-9E89-04EBB77D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8FF372AD-CC45-4964-ABD7-89F804201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6DE85EAF-1FDD-4D11-89CB-3554F8DC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ambiente versionado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D8478129-5C5B-455C-AA73-FE27E736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61F6B08A-01A0-493D-854C-4FACE5E56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7F36B5BB-0800-44B8-ACB5-BA6FA9EB6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2-core + stop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1D1338A2-DE37-498A-9065-7C7A2D7D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E91ADE04-E0E2-418D-B6BD-B1B2FA138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BBC914A1-8EC8-4C94-91D5-9E9B5C48D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nenhuma chave necessária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FE67ABE8-AAC2-4D0C-B7ED-C5227F971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11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6A9E2D65-43F5-427E-B910-0F02169D5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9" name="" descr="Figura oficial da documentação dbt usada para explicar: O mesmo recurso afeta três decisões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89a58718714a95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32D4B3E-4338-4CFD-B334-DC878ACC8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39CBEBA9-44D1-4380-B3E3-31A0AA9C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B7413BA-66B3-439F-8990-C1E2A9BDF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18/22</a:t>
            </a:r>
          </a:p>
        </p:txBody>
      </p:sp>
    </p:spTree>
    <p:extLst>
      <p:ext uri="{BB962C8B-B14F-4D97-AF65-F5344CB8AC3E}">
        <p14:creationId xmlns:p14="http://schemas.microsoft.com/office/powerpoint/2010/main" val="368034344"/>
      </p:ext>
    </p:extLst>
  </p:cSld>
</p:sld>
</file>

<file path=ppt/slides/slide1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ase-number">
            <a:extLst xmlns:a="http://schemas.openxmlformats.org/drawingml/2006/main">
              <a:ext uri="{FF2B5EF4-FFF2-40B4-BE49-F238E27FC236}">
                <a16:creationId xmlns:a16="http://schemas.microsoft.com/office/drawing/2014/main" id="{4B90CF87-9DF6-469E-9312-0CFBA2885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46 recursos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48C47351-1317-4DDF-8CA5-EC4BDA11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baseline dbt validado localmente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E060D826-BE5E-4357-A986-5F692F5A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23018F2D-2A36-4981-A838-B86F78EE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Resultado do laboratório, não benchmark de produção.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A3B2BFBC-BE1C-4274-B523-3408C8BA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6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43C559E1-2B9F-4481-8535-16AC0BC1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9" name="" descr="Figura oficial da documentação dbt usada para explicar: 46 recursos — baseline dbt validado localmente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0b16d889244802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8FFC82A-1BDA-4614-B5A5-04915554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6DFA3B4A-3E49-4316-AECA-DFBDDC6B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FC90003-92FB-43C4-8D67-F9C5C5E89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19/22</a:t>
            </a:r>
          </a:p>
        </p:txBody>
      </p:sp>
    </p:spTree>
    <p:extLst>
      <p:ext uri="{BB962C8B-B14F-4D97-AF65-F5344CB8AC3E}">
        <p14:creationId xmlns:p14="http://schemas.microsoft.com/office/powerpoint/2010/main" val="35142773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5F7FF97-C422-4782-8FFF-355A99322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3C47ACB8-BB62-4560-9733-0209A86B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Codespaces exige internet e conta pessoal GitHub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Franquias e cobrança podem mudar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Explorador autoral é propositalmente simples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UI oficial exige GitHub CLI local e escopo codespace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A4D96368-0525-4C02-81CC-AF26EC81B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4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82E3056D-3999-4E81-8C18-BFF14455A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5" name="" descr="Figura oficial da documentação dbt usada para explicar: Limitações que precisam permanecer visíveis — • Codespaces exige internet e conta pessoal GitHub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1d2e9e1f7a4eab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D79BBD0-F094-422C-9F94-8000310C5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95CF58C5-8A2F-4911-AD7B-4D405C2E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09EDF0B-4E34-4E2C-814D-338022B42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20/22</a:t>
            </a:r>
          </a:p>
        </p:txBody>
      </p:sp>
    </p:spTree>
    <p:extLst>
      <p:ext uri="{BB962C8B-B14F-4D97-AF65-F5344CB8AC3E}">
        <p14:creationId xmlns:p14="http://schemas.microsoft.com/office/powerpoint/2010/main" val="1916589029"/>
      </p:ext>
    </p:extLst>
  </p:cSld>
</p:sld>
</file>

<file path=ppt/slides/slide2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adar-label">
            <a:extLst xmlns:a="http://schemas.openxmlformats.org/drawingml/2006/main">
              <a:ext uri="{FF2B5EF4-FFF2-40B4-BE49-F238E27FC236}">
                <a16:creationId xmlns:a16="http://schemas.microsoft.com/office/drawing/2014/main" id="{A717A873-F783-4F56-B2A9-F8738F2E4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175E6955-F92A-46DE-9C55-17E3B42B4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Core 2.0 e Fusion ficam apenas no Radar; a aula executa Core 1.12 estável.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CC75E362-78BC-49A8-A549-16DD34DB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5A0A5E6D-E2A7-4707-B3DC-036A56BD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754CEAE0-8431-42E2-9F42-8731AFCAE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B4B82208-222B-41EA-A3B3-E33BD0182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0D3CD07E-64DA-4E99-BF06-BBCDF745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1" name="" descr="Figura oficial da documentação dbt usada para explicar: RADAR — Core 2.0 e Fusion ficam apenas no Radar; a aula executa Core 1.12 estável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91da04fc1a4965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49D1CBA-9C93-4A19-93E2-0E7A73F6B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34B04E23-83D8-43D1-A8BB-56AAA65A8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22DD3DA-52B7-49F1-A26A-63154AB65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21/22</a:t>
            </a:r>
          </a:p>
        </p:txBody>
      </p:sp>
    </p:spTree>
    <p:extLst>
      <p:ext uri="{BB962C8B-B14F-4D97-AF65-F5344CB8AC3E}">
        <p14:creationId xmlns:p14="http://schemas.microsoft.com/office/powerpoint/2010/main" val="48741426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ta-label">
            <a:extLst xmlns:a="http://schemas.openxmlformats.org/drawingml/2006/main">
              <a:ext uri="{FF2B5EF4-FFF2-40B4-BE49-F238E27FC236}">
                <a16:creationId xmlns:a16="http://schemas.microsoft.com/office/drawing/2014/main" id="{59679F8B-FAC4-4C4C-99A9-A4FC3951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D02B1AF4-EC93-4FD5-9FE3-A9889595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Abra o Codespace em 2-core, execute checkpoint 01 e use a UI oficial por túnel somente como bônus.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E6FC82E0-75C4-49A8-B2B6-1649E5A6D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01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7B21A6CF-41EE-43AA-912A-6CFBDD947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5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27E7C5F4-6D13-4D10-B716-9E5436D1F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7" name="" descr="Figura oficial da documentação dbt usada para explicar: PRÓXIMO PASSO — Abra o Codespace em 2-core, execute checkpoint 01 e use a UI oficial por túnel somente como bônus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4c1958e8074b27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00D2EFA-741E-402B-A4A2-A3E9DB2CB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FEA72C91-63C4-4405-9E4E-4EE365E61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D5C4185-AFE5-4947-8B50-E2112F234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22/22</a:t>
            </a:r>
          </a:p>
        </p:txBody>
      </p:sp>
    </p:spTree>
    <p:extLst>
      <p:ext uri="{BB962C8B-B14F-4D97-AF65-F5344CB8AC3E}">
        <p14:creationId xmlns:p14="http://schemas.microsoft.com/office/powerpoint/2010/main" val="18089402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2026-09-02T16:14:49.1510000Z</dcterms:created>
  <dcterms:modified xsi:type="dcterms:W3CDTF">2026-09-02T16:14:49.1510000Z</dcterms:modified>
</coreProperties>
</file>