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20187ea31f47f6" /><Relationship Type="http://schemas.openxmlformats.org/officeDocument/2006/relationships/extended-properties" Target="/docProps/app.xml" Id="R3cda5c408d4f411c" /><Relationship Type="http://schemas.openxmlformats.org/officeDocument/2006/relationships/officeDocument" Target="/ppt/presentation.xml" Id="R8402c56027004c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e5172c51af42a3"/>
    <p:sldMasterId xmlns:r="http://schemas.openxmlformats.org/officeDocument/2006/relationships" id="2147483650" r:id="R3ed0c62bd35b4fa7"/>
  </p:sldMasterIdLst>
  <p:notesMasterIdLst>
    <p:notesMasterId xmlns:r="http://schemas.openxmlformats.org/officeDocument/2006/relationships" r:id="R39726bc2e8264eb3"/>
  </p:notesMasterIdLst>
  <p:sldIdLst>
    <p:sldId xmlns:r="http://schemas.openxmlformats.org/officeDocument/2006/relationships" id="256" r:id="R5686984863e44c85"/>
    <p:sldId xmlns:r="http://schemas.openxmlformats.org/officeDocument/2006/relationships" id="257" r:id="R0ad09488d3e04fd8"/>
    <p:sldId xmlns:r="http://schemas.openxmlformats.org/officeDocument/2006/relationships" id="258" r:id="Rf7b2810f451a450c"/>
    <p:sldId xmlns:r="http://schemas.openxmlformats.org/officeDocument/2006/relationships" id="259" r:id="R674110ee85e546f5"/>
    <p:sldId xmlns:r="http://schemas.openxmlformats.org/officeDocument/2006/relationships" id="260" r:id="R4917cd22ed024e29"/>
    <p:sldId xmlns:r="http://schemas.openxmlformats.org/officeDocument/2006/relationships" id="261" r:id="Ra015d4441b374914"/>
    <p:sldId xmlns:r="http://schemas.openxmlformats.org/officeDocument/2006/relationships" id="262" r:id="R77aa314ef1294e6a"/>
    <p:sldId xmlns:r="http://schemas.openxmlformats.org/officeDocument/2006/relationships" id="263" r:id="R4a7c9184ab4c4105"/>
    <p:sldId xmlns:r="http://schemas.openxmlformats.org/officeDocument/2006/relationships" id="264" r:id="R9ae0a9882fec42c4"/>
    <p:sldId xmlns:r="http://schemas.openxmlformats.org/officeDocument/2006/relationships" id="265" r:id="R42d6045d2fd44126"/>
    <p:sldId xmlns:r="http://schemas.openxmlformats.org/officeDocument/2006/relationships" id="266" r:id="R5a31ae384f07426b"/>
    <p:sldId xmlns:r="http://schemas.openxmlformats.org/officeDocument/2006/relationships" id="267" r:id="R248ba1084aaa47df"/>
    <p:sldId xmlns:r="http://schemas.openxmlformats.org/officeDocument/2006/relationships" id="268" r:id="R688eb6b52e294d8d"/>
    <p:sldId xmlns:r="http://schemas.openxmlformats.org/officeDocument/2006/relationships" id="269" r:id="Rb5e45949629c489b"/>
    <p:sldId xmlns:r="http://schemas.openxmlformats.org/officeDocument/2006/relationships" id="270" r:id="Ra40aede61e5d42f3"/>
    <p:sldId xmlns:r="http://schemas.openxmlformats.org/officeDocument/2006/relationships" id="271" r:id="R798871a3b4684975"/>
    <p:sldId xmlns:r="http://schemas.openxmlformats.org/officeDocument/2006/relationships" id="272" r:id="R76e46bcd57764ffe"/>
    <p:sldId xmlns:r="http://schemas.openxmlformats.org/officeDocument/2006/relationships" id="273" r:id="R28dda564b5df4152"/>
    <p:sldId xmlns:r="http://schemas.openxmlformats.org/officeDocument/2006/relationships" id="274" r:id="Refd5d44827094f9d"/>
    <p:sldId xmlns:r="http://schemas.openxmlformats.org/officeDocument/2006/relationships" id="275" r:id="R04e40a93714c4f7c"/>
    <p:sldId xmlns:r="http://schemas.openxmlformats.org/officeDocument/2006/relationships" id="276" r:id="R20a50ae290574228"/>
    <p:sldId xmlns:r="http://schemas.openxmlformats.org/officeDocument/2006/relationships" id="277" r:id="R9b11fae998424c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80b3d615fc422e" /><Relationship Type="http://schemas.openxmlformats.org/officeDocument/2006/relationships/slideMaster" Target="/ppt/slideMasters/slideMaster1.xml" Id="R72e5172c51af42a3" /><Relationship Type="http://schemas.openxmlformats.org/officeDocument/2006/relationships/slideMaster" Target="/ppt/slideMasters/slideMaster2.xml" Id="R3ed0c62bd35b4fa7" /><Relationship Type="http://schemas.openxmlformats.org/officeDocument/2006/relationships/notesMaster" Target="/ppt/notesMasters/notesMaster1.xml" Id="R39726bc2e8264eb3" /><Relationship Type="http://schemas.openxmlformats.org/officeDocument/2006/relationships/presProps" Target="/ppt/presProps.xml" Id="R78ba2edda1084c5b" /><Relationship Type="http://schemas.openxmlformats.org/officeDocument/2006/relationships/tableStyles" Target="/ppt/tableStyles.xml" Id="R2884a9d4e19d48dd" /><Relationship Type="http://schemas.openxmlformats.org/officeDocument/2006/relationships/slide" Target="/ppt/slides/slide1.xml" Id="R5686984863e44c85" /><Relationship Type="http://schemas.openxmlformats.org/officeDocument/2006/relationships/slide" Target="/ppt/slides/slide2.xml" Id="R0ad09488d3e04fd8" /><Relationship Type="http://schemas.openxmlformats.org/officeDocument/2006/relationships/slide" Target="/ppt/slides/slide3.xml" Id="Rf7b2810f451a450c" /><Relationship Type="http://schemas.openxmlformats.org/officeDocument/2006/relationships/slide" Target="/ppt/slides/slide4.xml" Id="R674110ee85e546f5" /><Relationship Type="http://schemas.openxmlformats.org/officeDocument/2006/relationships/slide" Target="/ppt/slides/slide5.xml" Id="R4917cd22ed024e29" /><Relationship Type="http://schemas.openxmlformats.org/officeDocument/2006/relationships/slide" Target="/ppt/slides/slide6.xml" Id="Ra015d4441b374914" /><Relationship Type="http://schemas.openxmlformats.org/officeDocument/2006/relationships/slide" Target="/ppt/slides/slide7.xml" Id="R77aa314ef1294e6a" /><Relationship Type="http://schemas.openxmlformats.org/officeDocument/2006/relationships/slide" Target="/ppt/slides/slide8.xml" Id="R4a7c9184ab4c4105" /><Relationship Type="http://schemas.openxmlformats.org/officeDocument/2006/relationships/slide" Target="/ppt/slides/slide9.xml" Id="R9ae0a9882fec42c4" /><Relationship Type="http://schemas.openxmlformats.org/officeDocument/2006/relationships/slide" Target="/ppt/slides/slide10.xml" Id="R42d6045d2fd44126" /><Relationship Type="http://schemas.openxmlformats.org/officeDocument/2006/relationships/slide" Target="/ppt/slides/slide11.xml" Id="R5a31ae384f07426b" /><Relationship Type="http://schemas.openxmlformats.org/officeDocument/2006/relationships/slide" Target="/ppt/slides/slide12.xml" Id="R248ba1084aaa47df" /><Relationship Type="http://schemas.openxmlformats.org/officeDocument/2006/relationships/slide" Target="/ppt/slides/slide13.xml" Id="R688eb6b52e294d8d" /><Relationship Type="http://schemas.openxmlformats.org/officeDocument/2006/relationships/slide" Target="/ppt/slides/slide14.xml" Id="Rb5e45949629c489b" /><Relationship Type="http://schemas.openxmlformats.org/officeDocument/2006/relationships/slide" Target="/ppt/slides/slide15.xml" Id="Ra40aede61e5d42f3" /><Relationship Type="http://schemas.openxmlformats.org/officeDocument/2006/relationships/slide" Target="/ppt/slides/slide16.xml" Id="R798871a3b4684975" /><Relationship Type="http://schemas.openxmlformats.org/officeDocument/2006/relationships/slide" Target="/ppt/slides/slide17.xml" Id="R76e46bcd57764ffe" /><Relationship Type="http://schemas.openxmlformats.org/officeDocument/2006/relationships/slide" Target="/ppt/slides/slide18.xml" Id="R28dda564b5df4152" /><Relationship Type="http://schemas.openxmlformats.org/officeDocument/2006/relationships/slide" Target="/ppt/slides/slide19.xml" Id="Refd5d44827094f9d" /><Relationship Type="http://schemas.openxmlformats.org/officeDocument/2006/relationships/slide" Target="/ppt/slides/slide20.xml" Id="R04e40a93714c4f7c" /><Relationship Type="http://schemas.openxmlformats.org/officeDocument/2006/relationships/slide" Target="/ppt/slides/slide21.xml" Id="R20a50ae290574228" /><Relationship Type="http://schemas.openxmlformats.org/officeDocument/2006/relationships/slide" Target="/ppt/slides/slide22.xml" Id="R9b11fae998424c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80f77510c80b48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37fa308ef242b3" /><Relationship Type="http://schemas.openxmlformats.org/officeDocument/2006/relationships/notesMaster" Target="/ppt/notesMasters/notesMaster1.xml" Id="R84b7d94cba5940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5cf8d4fcba492f" /><Relationship Type="http://schemas.openxmlformats.org/officeDocument/2006/relationships/notesMaster" Target="/ppt/notesMasters/notesMaster1.xml" Id="Ra2f68319e8454c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7c969eb44b441d" /><Relationship Type="http://schemas.openxmlformats.org/officeDocument/2006/relationships/notesMaster" Target="/ppt/notesMasters/notesMaster1.xml" Id="R52d7798b46e847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727964d0314fbc" /><Relationship Type="http://schemas.openxmlformats.org/officeDocument/2006/relationships/notesMaster" Target="/ppt/notesMasters/notesMaster1.xml" Id="R98d8df3baaf04c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abe058e6664a54" /><Relationship Type="http://schemas.openxmlformats.org/officeDocument/2006/relationships/notesMaster" Target="/ppt/notesMasters/notesMaster1.xml" Id="Rb9bbf6cb5d4643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c6aef4f9454a32" /><Relationship Type="http://schemas.openxmlformats.org/officeDocument/2006/relationships/notesMaster" Target="/ppt/notesMasters/notesMaster1.xml" Id="R26ae9b4f2e2943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d9fe0dcf0e4b37" /><Relationship Type="http://schemas.openxmlformats.org/officeDocument/2006/relationships/notesMaster" Target="/ppt/notesMasters/notesMaster1.xml" Id="R87a93420c06a47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66b9dba13244ed" /><Relationship Type="http://schemas.openxmlformats.org/officeDocument/2006/relationships/notesMaster" Target="/ppt/notesMasters/notesMaster1.xml" Id="R5df04e4c79a845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761df34dfa405a" /><Relationship Type="http://schemas.openxmlformats.org/officeDocument/2006/relationships/notesMaster" Target="/ppt/notesMasters/notesMaster1.xml" Id="Rd7de73cda84e4a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0cd095005c4a45" /><Relationship Type="http://schemas.openxmlformats.org/officeDocument/2006/relationships/notesMaster" Target="/ppt/notesMasters/notesMaster1.xml" Id="R21324493ca2e453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848700509db4b18" /><Relationship Type="http://schemas.openxmlformats.org/officeDocument/2006/relationships/notesMaster" Target="/ppt/notesMasters/notesMaster1.xml" Id="R78fac2839d1d498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f5cf00ba8014e39" /><Relationship Type="http://schemas.openxmlformats.org/officeDocument/2006/relationships/notesMaster" Target="/ppt/notesMasters/notesMaster1.xml" Id="R81e73eedbbd9450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b66424ebb0d4057" /><Relationship Type="http://schemas.openxmlformats.org/officeDocument/2006/relationships/notesMaster" Target="/ppt/notesMasters/notesMaster1.xml" Id="R60e18fa087014c7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0ce91f6c2064f2c" /><Relationship Type="http://schemas.openxmlformats.org/officeDocument/2006/relationships/notesMaster" Target="/ppt/notesMasters/notesMaster1.xml" Id="R2ba80299cd7942b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4170deead774635" /><Relationship Type="http://schemas.openxmlformats.org/officeDocument/2006/relationships/notesMaster" Target="/ppt/notesMasters/notesMaster1.xml" Id="R990aa13533004b0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4d6bbf75e8d4321" /><Relationship Type="http://schemas.openxmlformats.org/officeDocument/2006/relationships/notesMaster" Target="/ppt/notesMasters/notesMaster1.xml" Id="Raf80f4e59e354e9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2e6c302e54f443f" /><Relationship Type="http://schemas.openxmlformats.org/officeDocument/2006/relationships/notesMaster" Target="/ppt/notesMasters/notesMaster1.xml" Id="R4e2fb7401ee9426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8dbb4ff17344ffb" /><Relationship Type="http://schemas.openxmlformats.org/officeDocument/2006/relationships/notesMaster" Target="/ppt/notesMasters/notesMaster1.xml" Id="Raf408dc829d6433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e5a9b7ffa404e6a" /><Relationship Type="http://schemas.openxmlformats.org/officeDocument/2006/relationships/notesMaster" Target="/ppt/notesMasters/notesMaster1.xml" Id="Ra59cfe70954948e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f2fcf378bf44b9b" /><Relationship Type="http://schemas.openxmlformats.org/officeDocument/2006/relationships/notesMaster" Target="/ppt/notesMasters/notesMaster1.xml" Id="R66366aedd05b418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0073b530d8844d7" /><Relationship Type="http://schemas.openxmlformats.org/officeDocument/2006/relationships/notesMaster" Target="/ppt/notesMasters/notesMaster1.xml" Id="R3205c11ded2a47c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09aa4c8195f495a" /><Relationship Type="http://schemas.openxmlformats.org/officeDocument/2006/relationships/notesMaster" Target="/ppt/notesMasters/notesMaster1.xml" Id="Rbae15da9b7274e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00:45]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Bem-vindo à aula 0 do dbt Moderno na Prática. Hoje vamos trabalhar o tema “Prepare seu laboratório dbt no Codespaces”. Rota recomendada no navegador; instalação local continua disponível. O objetivo não é apenas conhecer o conceito: vamos conectá-lo ao laboratório e terminar com uma evidência que você consegue reproduzir no seu próprio ambiente. Ao longo da aula, separe sempre o que é recurso aberto e estável daquilo que aparecerá apenas no Radar.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Apresente o título, situe o checkpoint 01 e deixe claro que a aula faz parte da trilha open/stable.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“Um ambiente padronizado reduz o suporte e deixa a aula começar pelo dbt — não pela instalação.”.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https://docs.github.com/en/codespaces/developing-in-a-codespace/creating-a-codespace-for-a-repository</a:t>
            </a:r>
          </a:p>
          <a:p xmlns:a="http://schemas.openxmlformats.org/drawingml/2006/main">
            <a:r>
              <a:t>- https://docs.github.com/en/billing/concepts/product-billing/github-codespaces</a:t>
            </a:r>
          </a:p>
          <a:p xmlns:a="http://schemas.openxmlformats.org/drawingml/2006/main">
            <a:r>
              <a:t>- https://docs.github.com/en/codespaces/troubleshooting/troubleshooting-included-usage</a:t>
            </a:r>
          </a:p>
          <a:p xmlns:a="http://schemas.openxmlformats.org/drawingml/2006/main">
            <a:r>
              <a:t>- https://docs.github.com/en/codespaces/developing-in-a-codespace/stopping-and-starting-a-codespace</a:t>
            </a:r>
          </a:p>
          <a:p xmlns:a="http://schemas.openxmlformats.org/drawingml/2006/main">
            <a:r>
              <a:t>- https://docs.getdbt.com/guides/manual-install?step=1</a:t>
            </a:r>
          </a:p>
          <a:p xmlns:a="http://schemas.openxmlformats.org/drawingml/2006/main">
            <a:r>
              <a:t>- https://github.com/dbt-labs/jaffle_shop_duckdb</a:t>
            </a:r>
          </a:p>
          <a:p xmlns:a="http://schemas.openxmlformats.org/drawingml/2006/main">
            <a:r>
              <a:t>- https://github.com/AnselmoBorges/dbt-moderno-na-pratica/blob/main/roteiros/aula-00-ambiente.md</a:t>
            </a:r>
          </a:p>
          <a:p xmlns:a="http://schemas.openxmlformats.org/drawingml/2006/main">
            <a:r>
              <a:t>- repo://laboratorio/checkpoints/ep01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01:00]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Quero começar com uma provocação: Um ambiente padronizado reduz o suporte e deixa a aula começar pelo dbt — não pela instalação. Essa pergunta orienta toda a aula. Em vez de aceitar uma afirmação porque ela parece correta, vamos procurar uma definição verificável e uma demonstração executável. Guarde essa tensão, porque voltaremos a ela quando compararmos o conceito com o resultado do laboratório.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Dê uma pausa depois da provocação e use o diagrama como mapa do problema, sem explicar todas as etapas ainda.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“Ao final, você consegue...”.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https://docs.github.com/en/codespaces/developing-in-a-codespace/creating-a-codespace-for-a-repository</a:t>
            </a:r>
          </a:p>
          <a:p xmlns:a="http://schemas.openxmlformats.org/drawingml/2006/main">
            <a:r>
              <a:t>- https://docs.github.com/en/billing/concepts/product-billing/github-codespaces</a:t>
            </a:r>
          </a:p>
          <a:p xmlns:a="http://schemas.openxmlformats.org/drawingml/2006/main">
            <a:r>
              <a:t>- https://docs.github.com/en/codespaces/troubleshooting/troubleshooting-included-usage</a:t>
            </a:r>
          </a:p>
          <a:p xmlns:a="http://schemas.openxmlformats.org/drawingml/2006/main">
            <a:r>
              <a:t>- https://docs.github.com/en/codespaces/developing-in-a-codespace/stopping-and-starting-a-codespace</a:t>
            </a:r>
          </a:p>
          <a:p xmlns:a="http://schemas.openxmlformats.org/drawingml/2006/main">
            <a:r>
              <a:t>- https://docs.getdbt.com/guides/manual-install?step=1</a:t>
            </a:r>
          </a:p>
          <a:p xmlns:a="http://schemas.openxmlformats.org/drawingml/2006/main">
            <a:r>
              <a:t>- https://github.com/dbt-labs/jaffle_shop_duckdb</a:t>
            </a:r>
          </a:p>
          <a:p xmlns:a="http://schemas.openxmlformats.org/drawingml/2006/main">
            <a:r>
              <a:t>- https://github.com/AnselmoBorges/dbt-moderno-na-pratica/blob/main/roteiros/aula-00-ambiente.md</a:t>
            </a:r>
          </a:p>
          <a:p xmlns:a="http://schemas.openxmlformats.org/drawingml/2006/main">
            <a:r>
              <a:t>- repo://laboratorio/checkpoints/ep01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01:00]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Ao final desta aula, você deverá conseguir criar um Codespace 2-core, Validar o setup automático e Fechar o checkpoint 01. Esses resultados formam uma sequência: primeiro entendemos a regra, depois observamos sua representação no projeto e, por fim, comprovamos o comportamento no checkpoint. Se alguma dessas três partes não estiver clara, volte ao slide correspondente antes de executar a demonstração.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Percorra os objetivos da esquerda para a direita e apresente-os como resultados observáveis, não como uma agenda abstrata.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“SQL básico basta para começar”.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https://docs.github.com/en/codespaces/developing-in-a-codespace/creating-a-codespace-for-a-repository</a:t>
            </a:r>
          </a:p>
          <a:p xmlns:a="http://schemas.openxmlformats.org/drawingml/2006/main">
            <a:r>
              <a:t>- https://docs.github.com/en/billing/concepts/product-billing/github-codespaces</a:t>
            </a:r>
          </a:p>
          <a:p xmlns:a="http://schemas.openxmlformats.org/drawingml/2006/main">
            <a:r>
              <a:t>- https://docs.github.com/en/codespaces/troubleshooting/troubleshooting-included-usage</a:t>
            </a:r>
          </a:p>
          <a:p xmlns:a="http://schemas.openxmlformats.org/drawingml/2006/main">
            <a:r>
              <a:t>- https://docs.github.com/en/codespaces/developing-in-a-codespace/stopping-and-starting-a-codespace</a:t>
            </a:r>
          </a:p>
          <a:p xmlns:a="http://schemas.openxmlformats.org/drawingml/2006/main">
            <a:r>
              <a:t>- https://docs.getdbt.com/guides/manual-install?step=1</a:t>
            </a:r>
          </a:p>
          <a:p xmlns:a="http://schemas.openxmlformats.org/drawingml/2006/main">
            <a:r>
              <a:t>- https://github.com/dbt-labs/jaffle_shop_duckdb</a:t>
            </a:r>
          </a:p>
          <a:p xmlns:a="http://schemas.openxmlformats.org/drawingml/2006/main">
            <a:r>
              <a:t>- https://github.com/AnselmoBorges/dbt-moderno-na-pratica/blob/main/roteiros/aula-00-ambiente.md</a:t>
            </a:r>
          </a:p>
          <a:p xmlns:a="http://schemas.openxmlformats.org/drawingml/2006/main">
            <a:r>
              <a:t>- repo://laboratorio/checkpoints/ep01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 mensagem principal deste slide é: Terminal, Git, Python e dbt entram passo a passo. Para tornar isso concreto, observe SELECT, JOIN, GROUP BY, SUM e COUNT, Nenhuma experiência prévia com dbt e Comandos completos em todas as aulas. Esses pontos devem ser entendidos em conjunto; não são funcionalidades isoladas. No projeto, essa combinação transforma uma convenção informal em algo que pode ser revisado, testado ou consumido de maneira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Comece pelo título, leia a afirmação abaixo dele e depois desenvolva os itens sem repetir o texto palavra por palavra.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“Codespaces é a rota recomendada”.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https://docs.github.com/en/codespaces/developing-in-a-codespace/creating-a-codespace-for-a-repository</a:t>
            </a:r>
          </a:p>
          <a:p xmlns:a="http://schemas.openxmlformats.org/drawingml/2006/main">
            <a:r>
              <a:t>- https://docs.github.com/en/billing/concepts/product-billing/github-codespaces</a:t>
            </a:r>
          </a:p>
          <a:p xmlns:a="http://schemas.openxmlformats.org/drawingml/2006/main">
            <a:r>
              <a:t>- https://docs.github.com/en/codespaces/troubleshooting/troubleshooting-included-usage</a:t>
            </a:r>
          </a:p>
          <a:p xmlns:a="http://schemas.openxmlformats.org/drawingml/2006/main">
            <a:r>
              <a:t>- https://docs.github.com/en/codespaces/developing-in-a-codespace/stopping-and-starting-a-codespace</a:t>
            </a:r>
          </a:p>
          <a:p xmlns:a="http://schemas.openxmlformats.org/drawingml/2006/main">
            <a:r>
              <a:t>- https://docs.getdbt.com/guides/manual-install?step=1</a:t>
            </a:r>
          </a:p>
          <a:p xmlns:a="http://schemas.openxmlformats.org/drawingml/2006/main">
            <a:r>
              <a:t>- https://github.com/dbt-labs/jaffle_shop_duckdb</a:t>
            </a:r>
          </a:p>
          <a:p xmlns:a="http://schemas.openxmlformats.org/drawingml/2006/main">
            <a:r>
              <a:t>- https://github.com/AnselmoBorges/dbt-moderno-na-pratica/blob/main/roteiros/aula-00-ambiente.md</a:t>
            </a:r>
          </a:p>
          <a:p xmlns:a="http://schemas.openxmlformats.org/drawingml/2006/main">
            <a:r>
              <a:t>- repo://laboratorio/checkpoints/ep01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 mensagem principal deste slide é: Code → Codespaces → Create codespace on main abre o laboratório no navegador. Para tornar isso concreto, observe conta pessoal GitHub, Sem instalar Python ou Git e Mesmo ambiente para todos. Esses pontos devem ser entendidos em conjunto; não são funcionalidades isoladas. No projeto, essa combinação transforma uma convenção informal em algo que pode ser revisado, testado ou consumido de maneira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Comece pelo título, leia a afirmação abaixo dele e depois desenvolva os itens sem repetir o texto palavra por palavra.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“Codespaces é a rota recomendada”.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https://docs.github.com/en/codespaces/developing-in-a-codespace/creating-a-codespace-for-a-repository</a:t>
            </a:r>
          </a:p>
          <a:p xmlns:a="http://schemas.openxmlformats.org/drawingml/2006/main">
            <a:r>
              <a:t>- https://docs.github.com/en/billing/concepts/product-billing/github-codespaces</a:t>
            </a:r>
          </a:p>
          <a:p xmlns:a="http://schemas.openxmlformats.org/drawingml/2006/main">
            <a:r>
              <a:t>- https://docs.github.com/en/codespaces/troubleshooting/troubleshooting-included-usage</a:t>
            </a:r>
          </a:p>
          <a:p xmlns:a="http://schemas.openxmlformats.org/drawingml/2006/main">
            <a:r>
              <a:t>- https://docs.github.com/en/codespaces/developing-in-a-codespace/stopping-and-starting-a-codespace</a:t>
            </a:r>
          </a:p>
          <a:p xmlns:a="http://schemas.openxmlformats.org/drawingml/2006/main">
            <a:r>
              <a:t>- https://docs.getdbt.com/guides/manual-install?step=1</a:t>
            </a:r>
          </a:p>
          <a:p xmlns:a="http://schemas.openxmlformats.org/drawingml/2006/main">
            <a:r>
              <a:t>- https://github.com/dbt-labs/jaffle_shop_duckdb</a:t>
            </a:r>
          </a:p>
          <a:p xmlns:a="http://schemas.openxmlformats.org/drawingml/2006/main">
            <a:r>
              <a:t>- https://github.com/AnselmoBorges/dbt-moderno-na-pratica/blob/main/roteiros/aula-00-ambiente.md</a:t>
            </a:r>
          </a:p>
          <a:p xmlns:a="http://schemas.openxmlformats.org/drawingml/2006/main">
            <a:r>
              <a:t>- repo://laboratorio/checkpoints/ep01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Agora vamos ler a ideia visualmente. Code → Codespaces → Create codespace on main abre o laboratório no navegador. Siga a composição na ordem mostrada e conecte os elementos principais. A imagem ou o fluxo não cria uma regra nova; ele torna visível a relação que acabamos de explicar. A figura é identificada como captura sanitizada do GitHub.com — 2026-09-01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Aponte a legenda e deixe explícito quando a figura é oficial; as anotações do curso ficam fora da imagem.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“2-core preserva a franquia gratuita”.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https://docs.github.com/en/codespaces/developing-in-a-codespace/creating-a-codespace-for-a-repository</a:t>
            </a:r>
          </a:p>
          <a:p xmlns:a="http://schemas.openxmlformats.org/drawingml/2006/main">
            <a:r>
              <a:t>- https://docs.github.com/en/billing/concepts/product-billing/github-codespaces</a:t>
            </a:r>
          </a:p>
          <a:p xmlns:a="http://schemas.openxmlformats.org/drawingml/2006/main">
            <a:r>
              <a:t>- https://docs.github.com/en/codespaces/troubleshooting/troubleshooting-included-usage</a:t>
            </a:r>
          </a:p>
          <a:p xmlns:a="http://schemas.openxmlformats.org/drawingml/2006/main">
            <a:r>
              <a:t>- https://docs.github.com/en/codespaces/developing-in-a-codespace/stopping-and-starting-a-codespace</a:t>
            </a:r>
          </a:p>
          <a:p xmlns:a="http://schemas.openxmlformats.org/drawingml/2006/main">
            <a:r>
              <a:t>- https://docs.getdbt.com/guides/manual-install?step=1</a:t>
            </a:r>
          </a:p>
          <a:p xmlns:a="http://schemas.openxmlformats.org/drawingml/2006/main">
            <a:r>
              <a:t>- https://github.com/dbt-labs/jaffle_shop_duckdb</a:t>
            </a:r>
          </a:p>
          <a:p xmlns:a="http://schemas.openxmlformats.org/drawingml/2006/main">
            <a:r>
              <a:t>- https://github.com/AnselmoBorges/dbt-moderno-na-pratica/blob/main/roteiros/aula-00-ambiente.md</a:t>
            </a:r>
          </a:p>
          <a:p xmlns:a="http://schemas.openxmlformats.org/drawingml/2006/main">
            <a:r>
              <a:t>- repo://laboratorio/checkpoints/ep01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  <a:p xmlns:a="http://schemas.openxmlformats.org/drawingml/2006/main">
            <a:r>
              <a:t>- https://github.com/AnselmoBorges/dbt-moderno-na-pratica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 mensagem principal deste slide é: GitHub Free inclui 120 core-hours e 15 GB-mês; em 2-core, são cerca de 60 horas ativas. Para tornar isso concreto, observe branch main, Dev container do curso, Máquina 2-core e Pare o ambiente ao terminar. Esses pontos devem ser entendidos em conjunto; não são funcionalidades isoladas. No projeto, essa combinação transforma uma convenção informal em algo que pode ser revisado, testado ou consumido de maneira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Comece pelo título, leia a afirmação abaixo dele e depois desenvolva os itens sem repetir o texto palavra por palavra.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“2-core preserva a franquia gratuita”.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https://docs.github.com/en/codespaces/developing-in-a-codespace/creating-a-codespace-for-a-repository</a:t>
            </a:r>
          </a:p>
          <a:p xmlns:a="http://schemas.openxmlformats.org/drawingml/2006/main">
            <a:r>
              <a:t>- https://docs.github.com/en/billing/concepts/product-billing/github-codespaces</a:t>
            </a:r>
          </a:p>
          <a:p xmlns:a="http://schemas.openxmlformats.org/drawingml/2006/main">
            <a:r>
              <a:t>- https://docs.github.com/en/codespaces/troubleshooting/troubleshooting-included-usage</a:t>
            </a:r>
          </a:p>
          <a:p xmlns:a="http://schemas.openxmlformats.org/drawingml/2006/main">
            <a:r>
              <a:t>- https://docs.github.com/en/codespaces/developing-in-a-codespace/stopping-and-starting-a-codespace</a:t>
            </a:r>
          </a:p>
          <a:p xmlns:a="http://schemas.openxmlformats.org/drawingml/2006/main">
            <a:r>
              <a:t>- https://docs.getdbt.com/guides/manual-install?step=1</a:t>
            </a:r>
          </a:p>
          <a:p xmlns:a="http://schemas.openxmlformats.org/drawingml/2006/main">
            <a:r>
              <a:t>- https://github.com/dbt-labs/jaffle_shop_duckdb</a:t>
            </a:r>
          </a:p>
          <a:p xmlns:a="http://schemas.openxmlformats.org/drawingml/2006/main">
            <a:r>
              <a:t>- https://github.com/AnselmoBorges/dbt-moderno-na-pratica/blob/main/roteiros/aula-00-ambiente.md</a:t>
            </a:r>
          </a:p>
          <a:p xmlns:a="http://schemas.openxmlformats.org/drawingml/2006/main">
            <a:r>
              <a:t>- repo://laboratorio/checkpoints/ep01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Agora vamos ler a ideia visualmente. GitHub Free inclui 120 core-hours e 15 GB-mês; em 2-core, são cerca de 60 horas ativas. Siga a composição na ordem mostrada e conecte os elementos principais. A imagem ou o fluxo não cria uma regra nova; ele torna visível a relação que acabamos de explicar. A figura é identificada como captura sanitizada do GitHub.com — 2026-09-01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Aponte a legenda e deixe explícito quando a figura é oficial; as anotações do curso ficam fora da imagem.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“O repositório prepara o ambiente”.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https://docs.github.com/en/codespaces/developing-in-a-codespace/creating-a-codespace-for-a-repository</a:t>
            </a:r>
          </a:p>
          <a:p xmlns:a="http://schemas.openxmlformats.org/drawingml/2006/main">
            <a:r>
              <a:t>- https://docs.github.com/en/billing/concepts/product-billing/github-codespaces</a:t>
            </a:r>
          </a:p>
          <a:p xmlns:a="http://schemas.openxmlformats.org/drawingml/2006/main">
            <a:r>
              <a:t>- https://docs.github.com/en/codespaces/troubleshooting/troubleshooting-included-usage</a:t>
            </a:r>
          </a:p>
          <a:p xmlns:a="http://schemas.openxmlformats.org/drawingml/2006/main">
            <a:r>
              <a:t>- https://docs.github.com/en/codespaces/developing-in-a-codespace/stopping-and-starting-a-codespace</a:t>
            </a:r>
          </a:p>
          <a:p xmlns:a="http://schemas.openxmlformats.org/drawingml/2006/main">
            <a:r>
              <a:t>- https://docs.getdbt.com/guides/manual-install?step=1</a:t>
            </a:r>
          </a:p>
          <a:p xmlns:a="http://schemas.openxmlformats.org/drawingml/2006/main">
            <a:r>
              <a:t>- https://github.com/dbt-labs/jaffle_shop_duckdb</a:t>
            </a:r>
          </a:p>
          <a:p xmlns:a="http://schemas.openxmlformats.org/drawingml/2006/main">
            <a:r>
              <a:t>- https://github.com/AnselmoBorges/dbt-moderno-na-pratica/blob/main/roteiros/aula-00-ambiente.md</a:t>
            </a:r>
          </a:p>
          <a:p xmlns:a="http://schemas.openxmlformats.org/drawingml/2006/main">
            <a:r>
              <a:t>- repo://laboratorio/checkpoints/ep01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  <a:p xmlns:a="http://schemas.openxmlformats.org/drawingml/2006/main">
            <a:r>
              <a:t>- https://github.com/codespaces/new?hide_repo_select=true&amp;ref=main&amp;repo=1354054687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 mensagem principal deste slide é: O dev container executa setup na criação e doctor a cada abertura. Para tornar isso concreto, observe python 3.12 fixado, dbt + DuckDB instalados, Nenhuma ativação manual e Checkpoint reproduzível. Esses pontos devem ser entendidos em conjunto; não são funcionalidades isoladas. No projeto, essa combinação transforma uma convenção informal em algo que pode ser revisado, testado ou consumido de maneira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Comece pelo título, leia a afirmação abaixo dele e depois desenvolva os itens sem repetir o texto palavra por palavra.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“O repositório prepara o ambiente”.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https://docs.github.com/en/codespaces/developing-in-a-codespace/creating-a-codespace-for-a-repository</a:t>
            </a:r>
          </a:p>
          <a:p xmlns:a="http://schemas.openxmlformats.org/drawingml/2006/main">
            <a:r>
              <a:t>- https://docs.github.com/en/billing/concepts/product-billing/github-codespaces</a:t>
            </a:r>
          </a:p>
          <a:p xmlns:a="http://schemas.openxmlformats.org/drawingml/2006/main">
            <a:r>
              <a:t>- https://docs.github.com/en/codespaces/troubleshooting/troubleshooting-included-usage</a:t>
            </a:r>
          </a:p>
          <a:p xmlns:a="http://schemas.openxmlformats.org/drawingml/2006/main">
            <a:r>
              <a:t>- https://docs.github.com/en/codespaces/developing-in-a-codespace/stopping-and-starting-a-codespace</a:t>
            </a:r>
          </a:p>
          <a:p xmlns:a="http://schemas.openxmlformats.org/drawingml/2006/main">
            <a:r>
              <a:t>- https://docs.getdbt.com/guides/manual-install?step=1</a:t>
            </a:r>
          </a:p>
          <a:p xmlns:a="http://schemas.openxmlformats.org/drawingml/2006/main">
            <a:r>
              <a:t>- https://github.com/dbt-labs/jaffle_shop_duckdb</a:t>
            </a:r>
          </a:p>
          <a:p xmlns:a="http://schemas.openxmlformats.org/drawingml/2006/main">
            <a:r>
              <a:t>- https://github.com/AnselmoBorges/dbt-moderno-na-pratica/blob/main/roteiros/aula-00-ambiente.md</a:t>
            </a:r>
          </a:p>
          <a:p xmlns:a="http://schemas.openxmlformats.org/drawingml/2006/main">
            <a:r>
              <a:t>- repo://laboratorio/checkpoints/ep01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Agora vamos ler a ideia visualmente. O dev container executa setup na criação e doctor a cada abertura. Siga a composição na ordem mostrada e conecte create, setup, doctor e checkpoint. A imagem ou o fluxo não cria uma regra nova; ele torna visível a relação que acabamos de explicar. Use a disposição dos elementos para reforçar causa, dependência ou comparação.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Acompanhe o fluxo ou a comparação com o cursor e preserve a ordem de leitura do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“Parar evita consumo de processamento”.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https://docs.github.com/en/codespaces/developing-in-a-codespace/creating-a-codespace-for-a-repository</a:t>
            </a:r>
          </a:p>
          <a:p xmlns:a="http://schemas.openxmlformats.org/drawingml/2006/main">
            <a:r>
              <a:t>- https://docs.github.com/en/billing/concepts/product-billing/github-codespaces</a:t>
            </a:r>
          </a:p>
          <a:p xmlns:a="http://schemas.openxmlformats.org/drawingml/2006/main">
            <a:r>
              <a:t>- https://docs.github.com/en/codespaces/troubleshooting/troubleshooting-included-usage</a:t>
            </a:r>
          </a:p>
          <a:p xmlns:a="http://schemas.openxmlformats.org/drawingml/2006/main">
            <a:r>
              <a:t>- https://docs.github.com/en/codespaces/developing-in-a-codespace/stopping-and-starting-a-codespace</a:t>
            </a:r>
          </a:p>
          <a:p xmlns:a="http://schemas.openxmlformats.org/drawingml/2006/main">
            <a:r>
              <a:t>- https://docs.getdbt.com/guides/manual-install?step=1</a:t>
            </a:r>
          </a:p>
          <a:p xmlns:a="http://schemas.openxmlformats.org/drawingml/2006/main">
            <a:r>
              <a:t>- https://github.com/dbt-labs/jaffle_shop_duckdb</a:t>
            </a:r>
          </a:p>
          <a:p xmlns:a="http://schemas.openxmlformats.org/drawingml/2006/main">
            <a:r>
              <a:t>- https://github.com/AnselmoBorges/dbt-moderno-na-pratica/blob/main/roteiros/aula-00-ambiente.md</a:t>
            </a:r>
          </a:p>
          <a:p xmlns:a="http://schemas.openxmlformats.org/drawingml/2006/main">
            <a:r>
              <a:t>- repo://laboratorio/checkpoints/ep01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 mensagem principal deste slide é: Stop codespace interrompe core-hours; armazenamento continua até excluir o ambiente. Para tornar isso concreto, observe pare ao terminar cada aula, Reabra o mesmo ambiente e Exclua quando não precisar dos arquivos. Esses pontos devem ser entendidos em conjunto; não são funcionalidades isoladas. No projeto, essa combinação transforma uma convenção informal em algo que pode ser revisado, testado ou consumido de maneira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Comece pelo título, leia a afirmação abaixo dele e depois desenvolva os itens sem repetir o texto palavra por palavra.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“Parar evita consumo de processamento”.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https://docs.github.com/en/codespaces/developing-in-a-codespace/creating-a-codespace-for-a-repository</a:t>
            </a:r>
          </a:p>
          <a:p xmlns:a="http://schemas.openxmlformats.org/drawingml/2006/main">
            <a:r>
              <a:t>- https://docs.github.com/en/billing/concepts/product-billing/github-codespaces</a:t>
            </a:r>
          </a:p>
          <a:p xmlns:a="http://schemas.openxmlformats.org/drawingml/2006/main">
            <a:r>
              <a:t>- https://docs.github.com/en/codespaces/troubleshooting/troubleshooting-included-usage</a:t>
            </a:r>
          </a:p>
          <a:p xmlns:a="http://schemas.openxmlformats.org/drawingml/2006/main">
            <a:r>
              <a:t>- https://docs.github.com/en/codespaces/developing-in-a-codespace/stopping-and-starting-a-codespace</a:t>
            </a:r>
          </a:p>
          <a:p xmlns:a="http://schemas.openxmlformats.org/drawingml/2006/main">
            <a:r>
              <a:t>- https://docs.getdbt.com/guides/manual-install?step=1</a:t>
            </a:r>
          </a:p>
          <a:p xmlns:a="http://schemas.openxmlformats.org/drawingml/2006/main">
            <a:r>
              <a:t>- https://github.com/dbt-labs/jaffle_shop_duckdb</a:t>
            </a:r>
          </a:p>
          <a:p xmlns:a="http://schemas.openxmlformats.org/drawingml/2006/main">
            <a:r>
              <a:t>- https://github.com/AnselmoBorges/dbt-moderno-na-pratica/blob/main/roteiros/aula-00-ambiente.md</a:t>
            </a:r>
          </a:p>
          <a:p xmlns:a="http://schemas.openxmlformats.org/drawingml/2006/main">
            <a:r>
              <a:t>- repo://laboratorio/checkpoints/ep01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Agora vamos ler a ideia visualmente. Stop codespace interrompe core-hours; armazenamento continua até excluir o ambiente. Siga a composição na ordem mostrada e conecte os elementos principais. A imagem ou o fluxo não cria uma regra nova; ele torna visível a relação que acabamos de explicar. A figura é identificada como gitHub Docs — CC BY 4.0 — commit 484d28e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Aponte a legenda e deixe explícito quando a figura é oficial; as anotações do curso ficam fora da imagem.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“Local continua sendo a rota alternativa”.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https://docs.github.com/en/codespaces/developing-in-a-codespace/creating-a-codespace-for-a-repository</a:t>
            </a:r>
          </a:p>
          <a:p xmlns:a="http://schemas.openxmlformats.org/drawingml/2006/main">
            <a:r>
              <a:t>- https://docs.github.com/en/billing/concepts/product-billing/github-codespaces</a:t>
            </a:r>
          </a:p>
          <a:p xmlns:a="http://schemas.openxmlformats.org/drawingml/2006/main">
            <a:r>
              <a:t>- https://docs.github.com/en/codespaces/troubleshooting/troubleshooting-included-usage</a:t>
            </a:r>
          </a:p>
          <a:p xmlns:a="http://schemas.openxmlformats.org/drawingml/2006/main">
            <a:r>
              <a:t>- https://docs.github.com/en/codespaces/developing-in-a-codespace/stopping-and-starting-a-codespace</a:t>
            </a:r>
          </a:p>
          <a:p xmlns:a="http://schemas.openxmlformats.org/drawingml/2006/main">
            <a:r>
              <a:t>- https://docs.getdbt.com/guides/manual-install?step=1</a:t>
            </a:r>
          </a:p>
          <a:p xmlns:a="http://schemas.openxmlformats.org/drawingml/2006/main">
            <a:r>
              <a:t>- https://github.com/dbt-labs/jaffle_shop_duckdb</a:t>
            </a:r>
          </a:p>
          <a:p xmlns:a="http://schemas.openxmlformats.org/drawingml/2006/main">
            <a:r>
              <a:t>- https://github.com/AnselmoBorges/dbt-moderno-na-pratica/blob/main/roteiros/aula-00-ambiente.md</a:t>
            </a:r>
          </a:p>
          <a:p xmlns:a="http://schemas.openxmlformats.org/drawingml/2006/main">
            <a:r>
              <a:t>- repo://laboratorio/checkpoints/ep01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  <a:p xmlns:a="http://schemas.openxmlformats.org/drawingml/2006/main">
            <a:r>
              <a:t>- https://github.com/github/docs/blob/484d28e95db7c592c368da359ff1a9fecb08a08a/assets/images/help/codespaces/stop-codespace-webui.png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 mensagem principal deste slide é: O launcher mantém o mesmo resultado quando Codespaces ou internet não estão disponíveis. Para tornar isso concreto, observe windows, macOS e Linux documentados, doctor encontra bloqueios e support-report sanitiza a ajuda. Esses pontos devem ser entendidos em conjunto; não são funcionalidades isoladas. No projeto, essa combinação transforma uma convenção informal em algo que pode ser revisado, testado ou consumido de maneira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Comece pelo título, leia a afirmação abaixo dele e depois desenvolva os itens sem repetir o texto palavra por palavra.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“Local continua sendo a rota alternativa”.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https://docs.github.com/en/codespaces/developing-in-a-codespace/creating-a-codespace-for-a-repository</a:t>
            </a:r>
          </a:p>
          <a:p xmlns:a="http://schemas.openxmlformats.org/drawingml/2006/main">
            <a:r>
              <a:t>- https://docs.github.com/en/billing/concepts/product-billing/github-codespaces</a:t>
            </a:r>
          </a:p>
          <a:p xmlns:a="http://schemas.openxmlformats.org/drawingml/2006/main">
            <a:r>
              <a:t>- https://docs.github.com/en/codespaces/troubleshooting/troubleshooting-included-usage</a:t>
            </a:r>
          </a:p>
          <a:p xmlns:a="http://schemas.openxmlformats.org/drawingml/2006/main">
            <a:r>
              <a:t>- https://docs.github.com/en/codespaces/developing-in-a-codespace/stopping-and-starting-a-codespace</a:t>
            </a:r>
          </a:p>
          <a:p xmlns:a="http://schemas.openxmlformats.org/drawingml/2006/main">
            <a:r>
              <a:t>- https://docs.getdbt.com/guides/manual-install?step=1</a:t>
            </a:r>
          </a:p>
          <a:p xmlns:a="http://schemas.openxmlformats.org/drawingml/2006/main">
            <a:r>
              <a:t>- https://github.com/dbt-labs/jaffle_shop_duckdb</a:t>
            </a:r>
          </a:p>
          <a:p xmlns:a="http://schemas.openxmlformats.org/drawingml/2006/main">
            <a:r>
              <a:t>- https://github.com/AnselmoBorges/dbt-moderno-na-pratica/blob/main/roteiros/aula-00-ambiente.md</a:t>
            </a:r>
          </a:p>
          <a:p xmlns:a="http://schemas.openxmlformats.org/drawingml/2006/main">
            <a:r>
              <a:t>- repo://laboratorio/checkpoints/ep01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Agora vamos ler a ideia visualmente. O launcher mantém o mesmo resultado quando Codespaces ou internet não estão disponíveis. Siga a composição na ordem mostrada e conecte codespaces: recomendado, Local: alternativa e Suporte: diagnóstico. A imagem ou o fluxo não cria uma regra nova; ele torna visível a relação que acabamos de explicar. Use a disposição dos elementos para reforçar causa, dependência ou comparação.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Acompanhe o fluxo ou a comparação com o cursor e preserve a ordem de leitura do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“Demonstração — execute”.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https://docs.github.com/en/codespaces/developing-in-a-codespace/creating-a-codespace-for-a-repository</a:t>
            </a:r>
          </a:p>
          <a:p xmlns:a="http://schemas.openxmlformats.org/drawingml/2006/main">
            <a:r>
              <a:t>- https://docs.github.com/en/billing/concepts/product-billing/github-codespaces</a:t>
            </a:r>
          </a:p>
          <a:p xmlns:a="http://schemas.openxmlformats.org/drawingml/2006/main">
            <a:r>
              <a:t>- https://docs.github.com/en/codespaces/troubleshooting/troubleshooting-included-usage</a:t>
            </a:r>
          </a:p>
          <a:p xmlns:a="http://schemas.openxmlformats.org/drawingml/2006/main">
            <a:r>
              <a:t>- https://docs.github.com/en/codespaces/developing-in-a-codespace/stopping-and-starting-a-codespace</a:t>
            </a:r>
          </a:p>
          <a:p xmlns:a="http://schemas.openxmlformats.org/drawingml/2006/main">
            <a:r>
              <a:t>- https://docs.getdbt.com/guides/manual-install?step=1</a:t>
            </a:r>
          </a:p>
          <a:p xmlns:a="http://schemas.openxmlformats.org/drawingml/2006/main">
            <a:r>
              <a:t>- https://github.com/dbt-labs/jaffle_shop_duckdb</a:t>
            </a:r>
          </a:p>
          <a:p xmlns:a="http://schemas.openxmlformats.org/drawingml/2006/main">
            <a:r>
              <a:t>- https://github.com/AnselmoBorges/dbt-moderno-na-pratica/blob/main/roteiros/aula-00-ambiente.md</a:t>
            </a:r>
          </a:p>
          <a:p xmlns:a="http://schemas.openxmlformats.org/drawingml/2006/main">
            <a:r>
              <a:t>- repo://laboratorio/checkpoints/ep01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01:20]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Agora vamos sair da explicação e comprovar o comportamento. Execute os comandos exatamente como aparecem: python course.py doctor, depois python course.py checkpoint 01. Não é necessário ativar o ambiente virtual manualmente; o launcher do curso seleciona o ambiente correto. Antes de avançar, confirme que o comando iniciou sem erro e dê tempo para o aluno acompanhar a mesma etapa.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Mostre o comando completo, execute uma linha por vez quando houver mais de uma e mantenha o terminal visível.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“Demonstração — observe”.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https://docs.github.com/en/codespaces/developing-in-a-codespace/creating-a-codespace-for-a-repository</a:t>
            </a:r>
          </a:p>
          <a:p xmlns:a="http://schemas.openxmlformats.org/drawingml/2006/main">
            <a:r>
              <a:t>- https://docs.github.com/en/billing/concepts/product-billing/github-codespaces</a:t>
            </a:r>
          </a:p>
          <a:p xmlns:a="http://schemas.openxmlformats.org/drawingml/2006/main">
            <a:r>
              <a:t>- https://docs.github.com/en/codespaces/troubleshooting/troubleshooting-included-usage</a:t>
            </a:r>
          </a:p>
          <a:p xmlns:a="http://schemas.openxmlformats.org/drawingml/2006/main">
            <a:r>
              <a:t>- https://docs.github.com/en/codespaces/developing-in-a-codespace/stopping-and-starting-a-codespace</a:t>
            </a:r>
          </a:p>
          <a:p xmlns:a="http://schemas.openxmlformats.org/drawingml/2006/main">
            <a:r>
              <a:t>- https://docs.getdbt.com/guides/manual-install?step=1</a:t>
            </a:r>
          </a:p>
          <a:p xmlns:a="http://schemas.openxmlformats.org/drawingml/2006/main">
            <a:r>
              <a:t>- https://github.com/dbt-labs/jaffle_shop_duckdb</a:t>
            </a:r>
          </a:p>
          <a:p xmlns:a="http://schemas.openxmlformats.org/drawingml/2006/main">
            <a:r>
              <a:t>- https://github.com/AnselmoBorges/dbt-moderno-na-pratica/blob/main/roteiros/aula-00-ambiente.md</a:t>
            </a:r>
          </a:p>
          <a:p xmlns:a="http://schemas.openxmlformats.org/drawingml/2006/main">
            <a:r>
              <a:t>- repo://laboratorio/checkpoints/ep01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Enquanto a execução acontece, não olhe apenas para a mensagem final. Observe python 3.12 e Git OK, dbt build concluído e Seeds e artifacts executados. Cada sinal responde a uma pergunta diferente sobre o pipeline. Se um deles divergir, interrompa a demonstração e investigue; o objetivo do hands-on é produzir evidência, não apenas chegar rapidamente a uma tela verde.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Marque cada observação quando ela aparecer no terminal ou no artifact correspondente.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“RESULTADO ESPERADO”.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https://docs.github.com/en/codespaces/developing-in-a-codespace/creating-a-codespace-for-a-repository</a:t>
            </a:r>
          </a:p>
          <a:p xmlns:a="http://schemas.openxmlformats.org/drawingml/2006/main">
            <a:r>
              <a:t>- https://docs.github.com/en/billing/concepts/product-billing/github-codespaces</a:t>
            </a:r>
          </a:p>
          <a:p xmlns:a="http://schemas.openxmlformats.org/drawingml/2006/main">
            <a:r>
              <a:t>- https://docs.github.com/en/codespaces/troubleshooting/troubleshooting-included-usage</a:t>
            </a:r>
          </a:p>
          <a:p xmlns:a="http://schemas.openxmlformats.org/drawingml/2006/main">
            <a:r>
              <a:t>- https://docs.github.com/en/codespaces/developing-in-a-codespace/stopping-and-starting-a-codespace</a:t>
            </a:r>
          </a:p>
          <a:p xmlns:a="http://schemas.openxmlformats.org/drawingml/2006/main">
            <a:r>
              <a:t>- https://docs.getdbt.com/guides/manual-install?step=1</a:t>
            </a:r>
          </a:p>
          <a:p xmlns:a="http://schemas.openxmlformats.org/drawingml/2006/main">
            <a:r>
              <a:t>- https://github.com/dbt-labs/jaffle_shop_duckdb</a:t>
            </a:r>
          </a:p>
          <a:p xmlns:a="http://schemas.openxmlformats.org/drawingml/2006/main">
            <a:r>
              <a:t>- https://github.com/AnselmoBorges/dbt-moderno-na-pratica/blob/main/roteiros/aula-00-ambiente.md</a:t>
            </a:r>
          </a:p>
          <a:p xmlns:a="http://schemas.openxmlformats.org/drawingml/2006/main">
            <a:r>
              <a:t>- repo://laboratorio/checkpoints/ep01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00:45]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Este é o ponto de parada da demonstração: Checkpoint 01 OK. Esse resultado confirma que a etapa executada produziu a evidência esperada para o checkpoint 01. Se o valor, o status ou o artifact estiver diferente, não trate a divergência como detalhe de ambiente. Use o diagnóstico do curso e só avance quando a causa estiver compreendida.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Compare o resultado do terminal com a frase central do slide e registre a evidência antes de continuar.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“O mesmo recurso afeta três decisões”.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https://docs.github.com/en/codespaces/developing-in-a-codespace/creating-a-codespace-for-a-repository</a:t>
            </a:r>
          </a:p>
          <a:p xmlns:a="http://schemas.openxmlformats.org/drawingml/2006/main">
            <a:r>
              <a:t>- https://docs.github.com/en/billing/concepts/product-billing/github-codespaces</a:t>
            </a:r>
          </a:p>
          <a:p xmlns:a="http://schemas.openxmlformats.org/drawingml/2006/main">
            <a:r>
              <a:t>- https://docs.github.com/en/codespaces/troubleshooting/troubleshooting-included-usage</a:t>
            </a:r>
          </a:p>
          <a:p xmlns:a="http://schemas.openxmlformats.org/drawingml/2006/main">
            <a:r>
              <a:t>- https://docs.github.com/en/codespaces/developing-in-a-codespace/stopping-and-starting-a-codespace</a:t>
            </a:r>
          </a:p>
          <a:p xmlns:a="http://schemas.openxmlformats.org/drawingml/2006/main">
            <a:r>
              <a:t>- https://docs.getdbt.com/guides/manual-install?step=1</a:t>
            </a:r>
          </a:p>
          <a:p xmlns:a="http://schemas.openxmlformats.org/drawingml/2006/main">
            <a:r>
              <a:t>- https://github.com/dbt-labs/jaffle_shop_duckdb</a:t>
            </a:r>
          </a:p>
          <a:p xmlns:a="http://schemas.openxmlformats.org/drawingml/2006/main">
            <a:r>
              <a:t>- https://github.com/AnselmoBorges/dbt-moderno-na-pratica/blob/main/roteiros/aula-00-ambiente.md</a:t>
            </a:r>
          </a:p>
          <a:p xmlns:a="http://schemas.openxmlformats.org/drawingml/2006/main">
            <a:r>
              <a:t>- repo://laboratorio/checkpoints/ep01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01:00]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Antes de seguir, conecte a técnica às decisões que ela afeta: Governança: ambiente versionado, FinOps: 2-core + stop e IA: nenhuma chave necessária. Governança define responsabilidade e consistência; FinOps pergunta quanto trabalho estamos repetindo; e IA depende do contexto que decidimos expor. A mesma implementação pode melhorar os três eixos, mas os ganhos devem ser medidos separadamente.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Percorra os três eixos e evite apresentar economia ou acurácia como consequência automática.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“46 recursos”.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https://docs.github.com/en/codespaces/developing-in-a-codespace/creating-a-codespace-for-a-repository</a:t>
            </a:r>
          </a:p>
          <a:p xmlns:a="http://schemas.openxmlformats.org/drawingml/2006/main">
            <a:r>
              <a:t>- https://docs.github.com/en/billing/concepts/product-billing/github-codespaces</a:t>
            </a:r>
          </a:p>
          <a:p xmlns:a="http://schemas.openxmlformats.org/drawingml/2006/main">
            <a:r>
              <a:t>- https://docs.github.com/en/codespaces/troubleshooting/troubleshooting-included-usage</a:t>
            </a:r>
          </a:p>
          <a:p xmlns:a="http://schemas.openxmlformats.org/drawingml/2006/main">
            <a:r>
              <a:t>- https://docs.github.com/en/codespaces/developing-in-a-codespace/stopping-and-starting-a-codespace</a:t>
            </a:r>
          </a:p>
          <a:p xmlns:a="http://schemas.openxmlformats.org/drawingml/2006/main">
            <a:r>
              <a:t>- https://docs.getdbt.com/guides/manual-install?step=1</a:t>
            </a:r>
          </a:p>
          <a:p xmlns:a="http://schemas.openxmlformats.org/drawingml/2006/main">
            <a:r>
              <a:t>- https://github.com/dbt-labs/jaffle_shop_duckdb</a:t>
            </a:r>
          </a:p>
          <a:p xmlns:a="http://schemas.openxmlformats.org/drawingml/2006/main">
            <a:r>
              <a:t>- https://github.com/AnselmoBorges/dbt-moderno-na-pratica/blob/main/roteiros/aula-00-ambiente.md</a:t>
            </a:r>
          </a:p>
          <a:p xmlns:a="http://schemas.openxmlformats.org/drawingml/2006/main">
            <a:r>
              <a:t>- repo://laboratorio/checkpoints/ep01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Aqui temos 46 recursos: baseline dbt validado localmente. O número ajuda a dimensionar o exemplo, mas precisa ser lido com a ressalva correta. Resultado do laboratório, não benchmark de produção. Use o case como evidência contextual e não como promessa de que outro projeto repetirá o mesmo resultado sem as mesmas condições.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Apresente primeiro o número, depois a definição e termine obrigatoriamente com a ressalva.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“Limitações que precisam permanecer visíveis”.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https://docs.github.com/en/codespaces/developing-in-a-codespace/creating-a-codespace-for-a-repository</a:t>
            </a:r>
          </a:p>
          <a:p xmlns:a="http://schemas.openxmlformats.org/drawingml/2006/main">
            <a:r>
              <a:t>- https://docs.github.com/en/billing/concepts/product-billing/github-codespaces</a:t>
            </a:r>
          </a:p>
          <a:p xmlns:a="http://schemas.openxmlformats.org/drawingml/2006/main">
            <a:r>
              <a:t>- https://docs.github.com/en/codespaces/troubleshooting/troubleshooting-included-usage</a:t>
            </a:r>
          </a:p>
          <a:p xmlns:a="http://schemas.openxmlformats.org/drawingml/2006/main">
            <a:r>
              <a:t>- https://docs.github.com/en/codespaces/developing-in-a-codespace/stopping-and-starting-a-codespace</a:t>
            </a:r>
          </a:p>
          <a:p xmlns:a="http://schemas.openxmlformats.org/drawingml/2006/main">
            <a:r>
              <a:t>- https://docs.getdbt.com/guides/manual-install?step=1</a:t>
            </a:r>
          </a:p>
          <a:p xmlns:a="http://schemas.openxmlformats.org/drawingml/2006/main">
            <a:r>
              <a:t>- https://github.com/dbt-labs/jaffle_shop_duckdb</a:t>
            </a:r>
          </a:p>
          <a:p xmlns:a="http://schemas.openxmlformats.org/drawingml/2006/main">
            <a:r>
              <a:t>- https://github.com/AnselmoBorges/dbt-moderno-na-pratica/blob/main/roteiros/aula-00-ambiente.md</a:t>
            </a:r>
          </a:p>
          <a:p xmlns:a="http://schemas.openxmlformats.org/drawingml/2006/main">
            <a:r>
              <a:t>- repo://laboratorio/checkpoints/ep01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01:00]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Também precisamos declarar os limites da recomendação. Neste cenário, considere codespaces exige internet e conta pessoal GitHub, Franquias e cobrança podem mudar, Ambiente parado ainda consome armazenamento e Instalação local permanece disponível. Esses pontos não anulam a técnica; eles delimitam onde a demonstração é válida e quais condições precisam ser verificadas antes de levar o padrão para produção. Tratar limites como parte do design evita transformar uma boa prática em regra universal.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Leia os limites com o mesmo peso dado aos benefícios e diferencie restrição do laboratório de restrição do produto.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“RADAR”.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https://docs.github.com/en/codespaces/developing-in-a-codespace/creating-a-codespace-for-a-repository</a:t>
            </a:r>
          </a:p>
          <a:p xmlns:a="http://schemas.openxmlformats.org/drawingml/2006/main">
            <a:r>
              <a:t>- https://docs.github.com/en/billing/concepts/product-billing/github-codespaces</a:t>
            </a:r>
          </a:p>
          <a:p xmlns:a="http://schemas.openxmlformats.org/drawingml/2006/main">
            <a:r>
              <a:t>- https://docs.github.com/en/codespaces/troubleshooting/troubleshooting-included-usage</a:t>
            </a:r>
          </a:p>
          <a:p xmlns:a="http://schemas.openxmlformats.org/drawingml/2006/main">
            <a:r>
              <a:t>- https://docs.github.com/en/codespaces/developing-in-a-codespace/stopping-and-starting-a-codespace</a:t>
            </a:r>
          </a:p>
          <a:p xmlns:a="http://schemas.openxmlformats.org/drawingml/2006/main">
            <a:r>
              <a:t>- https://docs.getdbt.com/guides/manual-install?step=1</a:t>
            </a:r>
          </a:p>
          <a:p xmlns:a="http://schemas.openxmlformats.org/drawingml/2006/main">
            <a:r>
              <a:t>- https://github.com/dbt-labs/jaffle_shop_duckdb</a:t>
            </a:r>
          </a:p>
          <a:p xmlns:a="http://schemas.openxmlformats.org/drawingml/2006/main">
            <a:r>
              <a:t>- https://github.com/AnselmoBorges/dbt-moderno-na-pratica/blob/main/roteiros/aula-00-ambiente.md</a:t>
            </a:r>
          </a:p>
          <a:p xmlns:a="http://schemas.openxmlformats.org/drawingml/2006/main">
            <a:r>
              <a:t>- repo://laboratorio/checkpoints/ep01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Este é o nosso Radar: Core 2.0 e Fusion ficam apenas no Radar; a aula executa Core 1.12 estável. A intenção é mostrar a direção da ferramenta sem misturar preview com o caminho suportado da aula. Novidade observada não é recomendação de produção. Para adotar qualquer recurso futuro, confirme maturidade, adaptador, documentação e impacto sobre o projeto antes de alterar o baseline estável.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Reforce visualmente a regra do rodapé e não execute comandos beta ou preview como parte obrigatória da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“PRÓXIMO PASSO”.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https://docs.github.com/en/codespaces/developing-in-a-codespace/creating-a-codespace-for-a-repository</a:t>
            </a:r>
          </a:p>
          <a:p xmlns:a="http://schemas.openxmlformats.org/drawingml/2006/main">
            <a:r>
              <a:t>- https://docs.github.com/en/billing/concepts/product-billing/github-codespaces</a:t>
            </a:r>
          </a:p>
          <a:p xmlns:a="http://schemas.openxmlformats.org/drawingml/2006/main">
            <a:r>
              <a:t>- https://docs.github.com/en/codespaces/troubleshooting/troubleshooting-included-usage</a:t>
            </a:r>
          </a:p>
          <a:p xmlns:a="http://schemas.openxmlformats.org/drawingml/2006/main">
            <a:r>
              <a:t>- https://docs.github.com/en/codespaces/developing-in-a-codespace/stopping-and-starting-a-codespace</a:t>
            </a:r>
          </a:p>
          <a:p xmlns:a="http://schemas.openxmlformats.org/drawingml/2006/main">
            <a:r>
              <a:t>- https://docs.getdbt.com/guides/manual-install?step=1</a:t>
            </a:r>
          </a:p>
          <a:p xmlns:a="http://schemas.openxmlformats.org/drawingml/2006/main">
            <a:r>
              <a:t>- https://github.com/dbt-labs/jaffle_shop_duckdb</a:t>
            </a:r>
          </a:p>
          <a:p xmlns:a="http://schemas.openxmlformats.org/drawingml/2006/main">
            <a:r>
              <a:t>- https://github.com/AnselmoBorges/dbt-moderno-na-pratica/blob/main/roteiros/aula-00-ambiente.md</a:t>
            </a:r>
          </a:p>
          <a:p xmlns:a="http://schemas.openxmlformats.org/drawingml/2006/main">
            <a:r>
              <a:t>- repo://laboratorio/checkpoints/ep01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00:40]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Abra o Codespace em 2-core, execute doctor e checkpoint 01 e pare ao terminar. Faça essa etapa antes de seguir para o próximo episódio, porque o curso é cumulativo e o checkpoint atual se torna a base da aula seguinte. Se houver divergência, use o relatório de suporte e registre o que foi observado. O objetivo é avançar com um estado conhecido e reproduzível, não apenas assistir ao conteúdo.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Mostre o checkpoint e indique no repositório onde ficam o roteiro, os comandos e as referências da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Encerre retomando a pergunta inicial e confirme que o aluno sabe qual ação executar depois da aula 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https://docs.github.com/en/codespaces/developing-in-a-codespace/creating-a-codespace-for-a-repository</a:t>
            </a:r>
          </a:p>
          <a:p xmlns:a="http://schemas.openxmlformats.org/drawingml/2006/main">
            <a:r>
              <a:t>- https://docs.github.com/en/billing/concepts/product-billing/github-codespaces</a:t>
            </a:r>
          </a:p>
          <a:p xmlns:a="http://schemas.openxmlformats.org/drawingml/2006/main">
            <a:r>
              <a:t>- https://docs.github.com/en/codespaces/troubleshooting/troubleshooting-included-usage</a:t>
            </a:r>
          </a:p>
          <a:p xmlns:a="http://schemas.openxmlformats.org/drawingml/2006/main">
            <a:r>
              <a:t>- https://docs.github.com/en/codespaces/developing-in-a-codespace/stopping-and-starting-a-codespace</a:t>
            </a:r>
          </a:p>
          <a:p xmlns:a="http://schemas.openxmlformats.org/drawingml/2006/main">
            <a:r>
              <a:t>- https://docs.getdbt.com/guides/manual-install?step=1</a:t>
            </a:r>
          </a:p>
          <a:p xmlns:a="http://schemas.openxmlformats.org/drawingml/2006/main">
            <a:r>
              <a:t>- https://github.com/dbt-labs/jaffle_shop_duckdb</a:t>
            </a:r>
          </a:p>
          <a:p xmlns:a="http://schemas.openxmlformats.org/drawingml/2006/main">
            <a:r>
              <a:t>- https://github.com/AnselmoBorges/dbt-moderno-na-pratica/blob/main/roteiros/aula-00-ambiente.md</a:t>
            </a:r>
          </a:p>
          <a:p xmlns:a="http://schemas.openxmlformats.org/drawingml/2006/main">
            <a:r>
              <a:t>- repo://laboratorio/checkpoints/ep01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eb95b50473474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0c15cdcfa24459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822e6ee3a8d44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Rescue Point Dar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>
  <p:cSld name="Rescue Point Ligh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59a3497ed64a7d" /><Relationship Type="http://schemas.openxmlformats.org/officeDocument/2006/relationships/slideLayout" Target="/ppt/slideLayouts/slideLayout1.xml" Id="R4ea469d7206d4c8d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40ed7675d5284947" /><Relationship Type="http://schemas.openxmlformats.org/officeDocument/2006/relationships/slideLayout" Target="/ppt/slideLayouts/slideLayout2.xml" Id="R2785c02e93ad42c1" /><Relationship Type="http://schemas.openxmlformats.org/officeDocument/2006/relationships/slideLayout" Target="/ppt/slideLayouts/slideLayout3.xml" Id="R602fbad24d204a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a469d7206d4c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Rescue Point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2785c02e93ad42c1"/>
    <p:sldLayoutId xmlns:r="http://schemas.openxmlformats.org/officeDocument/2006/relationships" id="2147483652" r:id="R602fbad24d204a98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5c8d72241c4f63" /><Relationship Type="http://schemas.openxmlformats.org/officeDocument/2006/relationships/image" Target="/ppt/media/image.jpeg" Id="R8dbc156259084f17" /><Relationship Type="http://schemas.openxmlformats.org/officeDocument/2006/relationships/notesSlide" Target="/ppt/notesSlides/notesSlide1.xml" Id="Rd7452013b7774c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b60dee127434c49" /><Relationship Type="http://schemas.openxmlformats.org/officeDocument/2006/relationships/image" Target="/ppt/media/image.png" Id="R894027929c6d43f3" /><Relationship Type="http://schemas.openxmlformats.org/officeDocument/2006/relationships/notesSlide" Target="/ppt/notesSlides/notesSlide2.xml" Id="R29be6fc0ef9f40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13b718960a45ef" /><Relationship Type="http://schemas.openxmlformats.org/officeDocument/2006/relationships/notesSlide" Target="/ppt/notesSlides/notesSlide3.xml" Id="R41866533d47642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72021208e84912" /><Relationship Type="http://schemas.openxmlformats.org/officeDocument/2006/relationships/notesSlide" Target="/ppt/notesSlides/notesSlide4.xml" Id="R61efed19c9e44f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45e493c599d4705" /><Relationship Type="http://schemas.openxmlformats.org/officeDocument/2006/relationships/notesSlide" Target="/ppt/notesSlides/notesSlide5.xml" Id="R2fb027b7905d40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78d219f0c44a65" /><Relationship Type="http://schemas.openxmlformats.org/officeDocument/2006/relationships/image" Target="/ppt/media/image2.png" Id="Rc200fedfeb5f46da" /><Relationship Type="http://schemas.openxmlformats.org/officeDocument/2006/relationships/notesSlide" Target="/ppt/notesSlides/notesSlide6.xml" Id="Rf7a276d2ed2d44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2f963abbf244b9" /><Relationship Type="http://schemas.openxmlformats.org/officeDocument/2006/relationships/notesSlide" Target="/ppt/notesSlides/notesSlide7.xml" Id="R33290b718e214b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991ff9c48384289" /><Relationship Type="http://schemas.openxmlformats.org/officeDocument/2006/relationships/image" Target="/ppt/media/image3.png" Id="R6726bc8d537a42c4" /><Relationship Type="http://schemas.openxmlformats.org/officeDocument/2006/relationships/notesSlide" Target="/ppt/notesSlides/notesSlide8.xml" Id="R25ff4977d13d4b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c927bdc6c524ef4" /><Relationship Type="http://schemas.openxmlformats.org/officeDocument/2006/relationships/notesSlide" Target="/ppt/notesSlides/notesSlide9.xml" Id="Ref844b76444344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8fc05b053d4161" /><Relationship Type="http://schemas.openxmlformats.org/officeDocument/2006/relationships/notesSlide" Target="/ppt/notesSlides/notesSlide10.xml" Id="R65fa8ee613f349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092cbe87ab4684" /><Relationship Type="http://schemas.openxmlformats.org/officeDocument/2006/relationships/notesSlide" Target="/ppt/notesSlides/notesSlide11.xml" Id="Rd5c27c612c194f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92fd8f633bf4bfb" /><Relationship Type="http://schemas.openxmlformats.org/officeDocument/2006/relationships/image" Target="/ppt/media/image4.png" Id="Ra47b57dec0564c7f" /><Relationship Type="http://schemas.openxmlformats.org/officeDocument/2006/relationships/notesSlide" Target="/ppt/notesSlides/notesSlide12.xml" Id="R62881eccf45c4cd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05216f90665416e" /><Relationship Type="http://schemas.openxmlformats.org/officeDocument/2006/relationships/notesSlide" Target="/ppt/notesSlides/notesSlide13.xml" Id="R23a96823e649404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756294cf944db6" /><Relationship Type="http://schemas.openxmlformats.org/officeDocument/2006/relationships/notesSlide" Target="/ppt/notesSlides/notesSlide14.xml" Id="Rfdc887362dfe415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794a48f902467d" /><Relationship Type="http://schemas.openxmlformats.org/officeDocument/2006/relationships/notesSlide" Target="/ppt/notesSlides/notesSlide15.xml" Id="R5d8d412bc02e469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36dbb81d53045a7" /><Relationship Type="http://schemas.openxmlformats.org/officeDocument/2006/relationships/notesSlide" Target="/ppt/notesSlides/notesSlide16.xml" Id="R3c622d1e96a44dc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a3975971a84da7" /><Relationship Type="http://schemas.openxmlformats.org/officeDocument/2006/relationships/notesSlide" Target="/ppt/notesSlides/notesSlide17.xml" Id="Ra61dbf593e0841f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45bd85b27ef4f42" /><Relationship Type="http://schemas.openxmlformats.org/officeDocument/2006/relationships/notesSlide" Target="/ppt/notesSlides/notesSlide18.xml" Id="R4a34b40d25524d2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819b273d714acb" /><Relationship Type="http://schemas.openxmlformats.org/officeDocument/2006/relationships/notesSlide" Target="/ppt/notesSlides/notesSlide19.xml" Id="Rd2203035cfd4434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a0ea0b5b7484c33" /><Relationship Type="http://schemas.openxmlformats.org/officeDocument/2006/relationships/notesSlide" Target="/ppt/notesSlides/notesSlide20.xml" Id="R35e2b0f49b354a8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4231c1659d4ab1" /><Relationship Type="http://schemas.openxmlformats.org/officeDocument/2006/relationships/notesSlide" Target="/ppt/notesSlides/notesSlide21.xml" Id="R68f3868e19da4b0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50643c9bd0742aa" /><Relationship Type="http://schemas.openxmlformats.org/officeDocument/2006/relationships/notesSlide" Target="/ppt/notesSlides/notesSlide22.xml" Id="Rc7d32f8f7476440c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 descr="Ilustração conceitual autoral da capa: AULA 0 — Prepare seu laboratório dbt no Codespace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bc156259084f17"/>
          <a:srcRect xmlns:a="http://schemas.openxmlformats.org/drawingml/2006/main" l="19785" t="0" r="197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0"/>
            <a:ext cx="7429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text-surface">
            <a:extLst xmlns:a="http://schemas.openxmlformats.org/drawingml/2006/main">
              <a:ext uri="{FF2B5EF4-FFF2-40B4-BE49-F238E27FC236}">
                <a16:creationId xmlns:a16="http://schemas.microsoft.com/office/drawing/2014/main" id="{40862A8D-4C2E-4BA2-B43E-273AED5A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334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42E"/>
          </a:solidFill>
          <a:ln xmlns:a="http://schemas.openxmlformats.org/drawingml/2006/main" w="0">
            <a:solidFill>
              <a:srgbClr val="06142E"/>
            </a:solidFill>
            <a:prstDash val="solid"/>
          </a:ln>
        </p:spPr>
      </p:sp>
      <p:sp>
        <p:nvSpPr>
          <p:cNvPr id="3" name="cover-divider">
            <a:extLst xmlns:a="http://schemas.openxmlformats.org/drawingml/2006/main">
              <a:ext uri="{FF2B5EF4-FFF2-40B4-BE49-F238E27FC236}">
                <a16:creationId xmlns:a16="http://schemas.microsoft.com/office/drawing/2014/main" id="{BD541A9C-1890-4E07-AB85-F13C6066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742950"/>
            <a:ext cx="0" cy="5372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4" name="cover-episode">
            <a:extLst xmlns:a="http://schemas.openxmlformats.org/drawingml/2006/main">
              <a:ext uri="{FF2B5EF4-FFF2-40B4-BE49-F238E27FC236}">
                <a16:creationId xmlns:a16="http://schemas.microsoft.com/office/drawing/2014/main" id="{0BC3D243-2E6C-4E4E-BEAE-15D8D3C6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EC5FF"/>
                </a:solidFill>
              </a:defRPr>
            </a:pPr>
            <a:r>
              <a:rPr sz="1350" b="1">
                <a:solidFill>
                  <a:srgbClr val="1EC5FF"/>
                </a:solidFill>
              </a:rPr>
              <a:t>AULA 0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C16D8C3-F32F-442C-98EC-01FB1AF9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Prepare seu laboratório dbt no Codespaces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304A9D2-C308-4D09-A6D9-3E93DFF3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E2F2FF"/>
                </a:solidFill>
              </a:defRPr>
            </a:pPr>
            <a:r>
              <a:rPr sz="1800">
                <a:solidFill>
                  <a:srgbClr val="E2F2FF"/>
                </a:solidFill>
              </a:rPr>
              <a:t>Rota recomendada no navegador; instalação local continua disponível</a:t>
            </a:r>
          </a:p>
        </p:txBody>
      </p:sp>
      <p:sp>
        <p:nvSpPr>
          <p:cNvPr id="7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57F0C15D-3E29-42E4-AFDE-70E98CDE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EC5FF"/>
            </a:solidFill>
            <a:prstDash val="solid"/>
          </a:ln>
        </p:spPr>
      </p:sp>
      <p:sp>
        <p:nvSpPr>
          <p:cNvPr id="8" name="cover-meta">
            <a:extLst xmlns:a="http://schemas.openxmlformats.org/drawingml/2006/main">
              <a:ext uri="{FF2B5EF4-FFF2-40B4-BE49-F238E27FC236}">
                <a16:creationId xmlns:a16="http://schemas.microsoft.com/office/drawing/2014/main" id="{C9811158-564A-4657-9C7F-10A5D662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>
                    <a:alpha val="66667"/>
                  </a:srgbClr>
                </a:solidFill>
              </a:defRPr>
            </a:pPr>
            <a:r>
              <a:rPr sz="1200" b="1">
                <a:solidFill>
                  <a:srgbClr val="FFFFFF">
                    <a:alpha val="66667"/>
                  </a:srgbClr>
                </a:solidFill>
              </a:rPr>
              <a:t>Checkpoint 01 • DuckDB local • sem cloud</a:t>
            </a:r>
          </a:p>
        </p:txBody>
      </p:sp>
    </p:spTree>
    <p:extLst>
      <p:ext uri="{BB962C8B-B14F-4D97-AF65-F5344CB8AC3E}">
        <p14:creationId xmlns:p14="http://schemas.microsoft.com/office/powerpoint/2010/main" val="13680424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ook">
            <a:extLst xmlns:a="http://schemas.openxmlformats.org/drawingml/2006/main">
              <a:ext uri="{FF2B5EF4-FFF2-40B4-BE49-F238E27FC236}">
                <a16:creationId xmlns:a16="http://schemas.microsoft.com/office/drawing/2014/main" id="{1B5E19D9-B5E2-4382-B92F-C3CED575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Um ambiente padronizado reduz o suporte e deixa a aula começar pelo dbt — não pela instalação.</a:t>
            </a:r>
          </a:p>
        </p:txBody>
      </p:sp>
      <p:sp>
        <p:nvSpPr>
          <p:cNvPr id="2" name="hook-rule">
            <a:extLst xmlns:a="http://schemas.openxmlformats.org/drawingml/2006/main">
              <a:ext uri="{FF2B5EF4-FFF2-40B4-BE49-F238E27FC236}">
                <a16:creationId xmlns:a16="http://schemas.microsoft.com/office/drawing/2014/main" id="{4A992075-43FE-4999-9565-8CB24E88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65C0"/>
            </a:solidFill>
            <a:prstDash val="solid"/>
          </a:ln>
        </p:spPr>
      </p:sp>
      <p:sp>
        <p:nvSpPr>
          <p:cNvPr id="3" name="hook-label">
            <a:extLst xmlns:a="http://schemas.openxmlformats.org/drawingml/2006/main">
              <a:ext uri="{FF2B5EF4-FFF2-40B4-BE49-F238E27FC236}">
                <a16:creationId xmlns:a16="http://schemas.microsoft.com/office/drawing/2014/main" id="{FF6F477D-0D32-4262-9E1F-4981836C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565C0"/>
                </a:solidFill>
              </a:defRPr>
            </a:pPr>
            <a:r>
              <a:rPr sz="1425" b="1">
                <a:solidFill>
                  <a:srgbClr val="1565C0"/>
                </a:solidFill>
              </a:rPr>
              <a:t>A pergunta que guia a aula</a:t>
            </a:r>
          </a:p>
        </p:txBody>
      </p:sp>
      <p:sp>
        <p:nvSpPr>
          <p:cNvPr id="4" name="diagram-surface">
            <a:extLst xmlns:a="http://schemas.openxmlformats.org/drawingml/2006/main">
              <a:ext uri="{FF2B5EF4-FFF2-40B4-BE49-F238E27FC236}">
                <a16:creationId xmlns:a16="http://schemas.microsoft.com/office/drawing/2014/main" id="{AD609A19-0C1B-4DB8-8598-74B43F78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8204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7EA"/>
            </a:solidFill>
            <a:prstDash val="solid"/>
          </a:ln>
        </p:spPr>
      </p:sp>
      <p:pic>
        <p:nvPicPr>
          <p:cNvPr id="16" name="" descr="Diagrama didático autoral que apresenta: Um ambiente padronizado reduz o suporte e deixa a aula começar pelo dbt — não pela instalação. — A pergunta que guia a aul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4027929c6d43f3"/>
          <a:stretch xmlns:a="http://schemas.openxmlformats.org/drawingml/2006/main"/>
        </p:blipFill>
        <p:spPr>
          <a:xfrm xmlns:a="http://schemas.openxmlformats.org/drawingml/2006/main">
            <a:off x="990600" y="4135697"/>
            <a:ext cx="10210800" cy="872607"/>
          </a:xfrm>
          <a:prstGeom xmlns:a="http://schemas.openxmlformats.org/drawingml/2006/main" prst="rect">
            <a:avLst/>
          </a:prstGeom>
        </p:spPr>
      </p:pic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F363A4B1-8500-42A6-ACE0-BEAC26F0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AULA 0  •  OPEN / CORE 1.12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6F731C0-6739-4CB1-89A4-B52178C1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9234F859-E287-4DAB-B6E0-3373A19B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6355F33-2029-4C32-B48C-2FABBFFF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2/22</a:t>
            </a:r>
          </a:p>
        </p:txBody>
      </p:sp>
    </p:spTree>
    <p:extLst>
      <p:ext uri="{BB962C8B-B14F-4D97-AF65-F5344CB8AC3E}">
        <p14:creationId xmlns:p14="http://schemas.microsoft.com/office/powerpoint/2010/main" val="108394242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502C1E-D20C-4288-8B7C-007C8007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Ao final, você consegue...</a:t>
            </a:r>
          </a:p>
        </p:txBody>
      </p:sp>
      <p:sp>
        <p:nvSpPr>
          <p:cNvPr id="2" name="step-num-1">
            <a:extLst xmlns:a="http://schemas.openxmlformats.org/drawingml/2006/main">
              <a:ext uri="{FF2B5EF4-FFF2-40B4-BE49-F238E27FC236}">
                <a16:creationId xmlns:a16="http://schemas.microsoft.com/office/drawing/2014/main" id="{FB52A709-DCAC-4A7B-A1E3-E14343E6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01</a:t>
            </a:r>
          </a:p>
        </p:txBody>
      </p:sp>
      <p:sp>
        <p:nvSpPr>
          <p:cNvPr id="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29FB2D61-97A5-41AD-8B26-02C81FB0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Criar um Codespace 2-core</a:t>
            </a:r>
          </a:p>
        </p:txBody>
      </p:sp>
      <p:sp>
        <p:nvSpPr>
          <p:cNvPr id="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6E1A68C7-5FC4-4D72-A959-0D530E04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5" name="step-num-2">
            <a:extLst xmlns:a="http://schemas.openxmlformats.org/drawingml/2006/main">
              <a:ext uri="{FF2B5EF4-FFF2-40B4-BE49-F238E27FC236}">
                <a16:creationId xmlns:a16="http://schemas.microsoft.com/office/drawing/2014/main" id="{769C0E6D-9EE1-47A5-871E-E9A909D2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02</a:t>
            </a:r>
          </a:p>
        </p:txBody>
      </p:sp>
      <p:sp>
        <p:nvSpPr>
          <p:cNvPr id="6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65F515DF-29A3-4F8C-8BBC-34B10FA5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Validar o setup automático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FF0B6EF0-67D8-4543-AEC3-C1C0FA5A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8" name="step-num-3">
            <a:extLst xmlns:a="http://schemas.openxmlformats.org/drawingml/2006/main">
              <a:ext uri="{FF2B5EF4-FFF2-40B4-BE49-F238E27FC236}">
                <a16:creationId xmlns:a16="http://schemas.microsoft.com/office/drawing/2014/main" id="{DBBC1E3F-92F3-4C4B-B202-27E04518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03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46EA92D4-DE3C-49E8-AE23-F7EF1D00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Fechar o checkpoint 01</a:t>
            </a:r>
          </a:p>
        </p:txBody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B36E4EEC-CF88-4199-9D88-F2A95620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AULA 0  •  OPEN / CORE 1.12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AD27AEB-DDD8-43C6-B383-61E6D773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90B4291F-4EB9-405E-BC2A-386B1FE9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C678EC4-C919-4DF8-89BD-4EA04235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3/22</a:t>
            </a:r>
          </a:p>
        </p:txBody>
      </p:sp>
    </p:spTree>
    <p:extLst>
      <p:ext uri="{BB962C8B-B14F-4D97-AF65-F5344CB8AC3E}">
        <p14:creationId xmlns:p14="http://schemas.microsoft.com/office/powerpoint/2010/main" val="441653147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78BB0D-FE8F-45FB-B11D-1B29562F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SQL básico basta para começar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95B84FA-6A43-4F81-B878-AB801399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Terminal, Git, Python e dbt entram passo a passo.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88027922-9394-45D6-A1BA-9A35D9EA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SELECT, JOIN, GROUP BY, SUM e COUNT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Nenhuma experiência prévia com dbt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Comandos completos em todas as aulas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B02DEB73-FDAC-46D9-8292-FF74CACC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C5C8DEF5-9EBD-4F8B-A3BD-06C914D9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18E77AF5-E8EC-4607-9318-C2CB753B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1EC5FF"/>
                </a:solidFill>
              </a:defRPr>
            </a:pPr>
            <a:r>
              <a:rPr sz="4650" b="1">
                <a:solidFill>
                  <a:srgbClr val="1EC5FF"/>
                </a:solidFill>
              </a:rPr>
              <a:t>01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4C59FFFD-CD84-44A7-A5D6-7D9F4FA1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AULA 0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5DE666B-ED6F-4F8B-BAAC-6FBBCC81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0109B334-F055-4055-9F4B-3DD7F9D6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72347E5-A701-457D-B93E-C6016203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4/22</a:t>
            </a:r>
          </a:p>
        </p:txBody>
      </p:sp>
    </p:spTree>
    <p:extLst>
      <p:ext uri="{BB962C8B-B14F-4D97-AF65-F5344CB8AC3E}">
        <p14:creationId xmlns:p14="http://schemas.microsoft.com/office/powerpoint/2010/main" val="13871533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331583-117B-4BF4-A10B-F51E0224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Codespaces é a rota recomendada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A998E6A-8668-420C-B173-D7F30720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5C6F86"/>
                </a:solidFill>
              </a:defRPr>
            </a:pPr>
            <a:r>
              <a:rPr sz="1650">
                <a:solidFill>
                  <a:srgbClr val="5C6F86"/>
                </a:solidFill>
              </a:rPr>
              <a:t>Code → Codespaces → Create codespace on main abre o laboratório no navegador.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EDE636CD-7D46-4C80-AAA9-6C57E0A1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Conta pessoal GitHub</a:t>
            </a:r>
          </a:p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Sem instalar Python ou Git</a:t>
            </a:r>
          </a:p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Mesmo ambiente para todos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4C7FD777-4661-4811-B6A2-0A7BD161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4A704329-5312-4642-9C88-5F6C3D28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32D7488E-2B6D-4AC6-97AC-8F808C04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1565C0"/>
                </a:solidFill>
              </a:defRPr>
            </a:pPr>
            <a:r>
              <a:rPr sz="4650" b="1">
                <a:solidFill>
                  <a:srgbClr val="1565C0"/>
                </a:solidFill>
              </a:rPr>
              <a:t>02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2A359F8F-F571-4B57-8BB6-407967C4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AULA 0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E8A445A-F4F3-4913-8A3C-A7CDCC58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B33E9855-993E-4EC7-9111-40531734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03473DB-E234-4DDF-966B-57509D99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5/22</a:t>
            </a:r>
          </a:p>
        </p:txBody>
      </p:sp>
    </p:spTree>
    <p:extLst>
      <p:ext uri="{BB962C8B-B14F-4D97-AF65-F5344CB8AC3E}">
        <p14:creationId xmlns:p14="http://schemas.microsoft.com/office/powerpoint/2010/main" val="1759563327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DF262B-A713-4562-BD27-513469E4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Codespaces é a rota recomendada</a:t>
            </a:r>
          </a:p>
        </p:txBody>
      </p:sp>
      <p:sp>
        <p:nvSpPr>
          <p:cNvPr id="2" name="visual-claim">
            <a:extLst xmlns:a="http://schemas.openxmlformats.org/drawingml/2006/main">
              <a:ext uri="{FF2B5EF4-FFF2-40B4-BE49-F238E27FC236}">
                <a16:creationId xmlns:a16="http://schemas.microsoft.com/office/drawing/2014/main" id="{5F2E69DF-B981-44C7-B168-532A11C0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905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Code → Codespaces → Create codespace on main abre o laboratório no navegador.</a:t>
            </a:r>
          </a:p>
        </p:txBody>
      </p:sp>
      <p:sp>
        <p:nvSpPr>
          <p:cNvPr id="3" name="image-surface">
            <a:extLst xmlns:a="http://schemas.openxmlformats.org/drawingml/2006/main">
              <a:ext uri="{FF2B5EF4-FFF2-40B4-BE49-F238E27FC236}">
                <a16:creationId xmlns:a16="http://schemas.microsoft.com/office/drawing/2014/main" id="{C4C7E2EB-E3B9-486E-9B13-14358D47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00200"/>
            <a:ext cx="63627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15" name="" descr="Figura oficial da documentação dbt usada para explicar: Codespaces é a rota recomendada — Code → Codespaces → Create codespace on main abre o laboratório no navegador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00fedfeb5f46da"/>
          <a:stretch xmlns:a="http://schemas.openxmlformats.org/drawingml/2006/main"/>
        </p:blipFill>
        <p:spPr>
          <a:xfrm xmlns:a="http://schemas.openxmlformats.org/drawingml/2006/main">
            <a:off x="6464152" y="1809750"/>
            <a:ext cx="3721395" cy="3333750"/>
          </a:xfrm>
          <a:prstGeom xmlns:a="http://schemas.openxmlformats.org/drawingml/2006/main" prst="rect">
            <a:avLst/>
          </a:prstGeom>
        </p:spPr>
      </p:pic>
      <p:sp>
        <p:nvSpPr>
          <p:cNvPr id="5" name="image-caption">
            <a:extLst xmlns:a="http://schemas.openxmlformats.org/drawingml/2006/main">
              <a:ext uri="{FF2B5EF4-FFF2-40B4-BE49-F238E27FC236}">
                <a16:creationId xmlns:a16="http://schemas.microsoft.com/office/drawing/2014/main" id="{81C988AD-DAC3-471B-AE72-65BC97C3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19700"/>
            <a:ext cx="579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i="1">
                <a:solidFill>
                  <a:srgbClr val="5C6F86"/>
                </a:solidFill>
              </a:defRPr>
            </a:pPr>
            <a:r>
              <a:rPr sz="900" i="1">
                <a:solidFill>
                  <a:srgbClr val="5C6F86"/>
                </a:solidFill>
              </a:rPr>
              <a:t>Captura sanitizada do GitHub.com — 2026-09-01</a:t>
            </a:r>
          </a:p>
        </p:txBody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8F53556B-C04C-4C7D-B704-33EA6700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AULA 0  •  OPEN / CORE 1.12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EDA4103-85C7-4FE4-A469-1BC2BA2F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4F3CAA9B-8C12-40BC-9E66-A7C54116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A2927B1-670C-4BB3-9F20-BDEF931A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6/22</a:t>
            </a:r>
          </a:p>
        </p:txBody>
      </p:sp>
    </p:spTree>
    <p:extLst>
      <p:ext uri="{BB962C8B-B14F-4D97-AF65-F5344CB8AC3E}">
        <p14:creationId xmlns:p14="http://schemas.microsoft.com/office/powerpoint/2010/main" val="1001539075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B8B6AE-D908-4052-9274-6D66924E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2-core preserva a franquia gratuita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23A5ED4-5A81-4D47-9C19-21D9735F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GitHub Free inclui 120 core-hours e 15 GB-mês; em 2-core, são cerca de 60 horas ativas.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DD56709E-2147-44CE-AC9D-4AB722AC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Branch main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Dev container do curso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Máquina 2-core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Pare o ambiente ao terminar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8F1341FD-167F-4994-8343-E5FF4D92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A309DAF9-7DB7-4B0F-9F5D-386DF20C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F6A4CA87-C5E8-4AA3-84B3-3B965AAE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1EC5FF"/>
                </a:solidFill>
              </a:defRPr>
            </a:pPr>
            <a:r>
              <a:rPr sz="4650" b="1">
                <a:solidFill>
                  <a:srgbClr val="1EC5FF"/>
                </a:solidFill>
              </a:rPr>
              <a:t>03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33067564-595D-4FAB-B404-C9AA6245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AULA 0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3425ABE-830E-4FD0-AF5B-957A7DD2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DCDD5674-6524-404C-A4E5-9091DBA5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83D1E07-EAE6-4C1B-AA91-A0BC99D0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7/22</a:t>
            </a:r>
          </a:p>
        </p:txBody>
      </p:sp>
    </p:spTree>
    <p:extLst>
      <p:ext uri="{BB962C8B-B14F-4D97-AF65-F5344CB8AC3E}">
        <p14:creationId xmlns:p14="http://schemas.microsoft.com/office/powerpoint/2010/main" val="6945159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3DBC0E-0E28-4733-8BE5-C930B6DA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2-core preserva a franquia gratuita</a:t>
            </a:r>
          </a:p>
        </p:txBody>
      </p:sp>
      <p:sp>
        <p:nvSpPr>
          <p:cNvPr id="2" name="visual-claim">
            <a:extLst xmlns:a="http://schemas.openxmlformats.org/drawingml/2006/main">
              <a:ext uri="{FF2B5EF4-FFF2-40B4-BE49-F238E27FC236}">
                <a16:creationId xmlns:a16="http://schemas.microsoft.com/office/drawing/2014/main" id="{37D4B9C8-C0C8-4439-8202-BFC70529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905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F3A"/>
                </a:solidFill>
              </a:defRPr>
            </a:pPr>
            <a:r>
              <a:rPr sz="1950" b="1">
                <a:solidFill>
                  <a:srgbClr val="0B1F3A"/>
                </a:solidFill>
              </a:rPr>
              <a:t>GitHub Free inclui 120 core-hours e 15 GB-mês; em 2-core, são cerca de 60 horas ativas.</a:t>
            </a:r>
          </a:p>
        </p:txBody>
      </p:sp>
      <p:sp>
        <p:nvSpPr>
          <p:cNvPr id="3" name="image-surface">
            <a:extLst xmlns:a="http://schemas.openxmlformats.org/drawingml/2006/main">
              <a:ext uri="{FF2B5EF4-FFF2-40B4-BE49-F238E27FC236}">
                <a16:creationId xmlns:a16="http://schemas.microsoft.com/office/drawing/2014/main" id="{289D4479-F5E0-4723-B7C2-21246C48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00200"/>
            <a:ext cx="63627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DD7EA"/>
            </a:solidFill>
            <a:prstDash val="solid"/>
          </a:ln>
        </p:spPr>
      </p:sp>
      <p:pic>
        <p:nvPicPr>
          <p:cNvPr id="15" name="" descr="Figura oficial da documentação dbt usada para explicar: 2-core preserva a franquia gratuita — GitHub Free inclui 120 core-hours e 15 GB-mês; em 2-core, são cerca de 60 horas ativas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26bc8d537a42c4"/>
          <a:stretch xmlns:a="http://schemas.openxmlformats.org/drawingml/2006/main"/>
        </p:blipFill>
        <p:spPr>
          <a:xfrm xmlns:a="http://schemas.openxmlformats.org/drawingml/2006/main">
            <a:off x="5429250" y="2148056"/>
            <a:ext cx="5791200" cy="2657139"/>
          </a:xfrm>
          <a:prstGeom xmlns:a="http://schemas.openxmlformats.org/drawingml/2006/main" prst="rect">
            <a:avLst/>
          </a:prstGeom>
        </p:spPr>
      </p:pic>
      <p:sp>
        <p:nvSpPr>
          <p:cNvPr id="5" name="image-caption">
            <a:extLst xmlns:a="http://schemas.openxmlformats.org/drawingml/2006/main">
              <a:ext uri="{FF2B5EF4-FFF2-40B4-BE49-F238E27FC236}">
                <a16:creationId xmlns:a16="http://schemas.microsoft.com/office/drawing/2014/main" id="{F1895B36-B910-4C06-BEF3-D66FD733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19700"/>
            <a:ext cx="579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i="1">
                <a:solidFill>
                  <a:srgbClr val="5C6F86"/>
                </a:solidFill>
              </a:defRPr>
            </a:pPr>
            <a:r>
              <a:rPr sz="900" i="1">
                <a:solidFill>
                  <a:srgbClr val="5C6F86"/>
                </a:solidFill>
              </a:rPr>
              <a:t>Captura sanitizada do GitHub.com — 2026-09-01</a:t>
            </a:r>
          </a:p>
        </p:txBody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2BB2CBA5-3832-4AC7-A394-F1F26598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AULA 0  •  OPEN / CORE 1.12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A83F12A-24F1-45B3-998B-F9EB1525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878A7016-9E08-499C-9C79-6FAE9689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4C1088B-C2E9-4789-89D3-FD9856AF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8/22</a:t>
            </a:r>
          </a:p>
        </p:txBody>
      </p:sp>
    </p:spTree>
    <p:extLst>
      <p:ext uri="{BB962C8B-B14F-4D97-AF65-F5344CB8AC3E}">
        <p14:creationId xmlns:p14="http://schemas.microsoft.com/office/powerpoint/2010/main" val="17104708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0476F5-1A8E-4D46-83D5-B50B0B06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O repositório prepara o ambiente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4BBC15B-CD3C-415B-98E3-0632A659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5C6F86"/>
                </a:solidFill>
              </a:defRPr>
            </a:pPr>
            <a:r>
              <a:rPr sz="1650">
                <a:solidFill>
                  <a:srgbClr val="5C6F86"/>
                </a:solidFill>
              </a:rPr>
              <a:t>O dev container executa setup na criação e doctor a cada abertura.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FFD36E0E-E87E-4724-BB78-96EFD18F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Python 3.12 fixado</a:t>
            </a:r>
          </a:p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dbt + DuckDB instalados</a:t>
            </a:r>
          </a:p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Nenhuma ativação manual</a:t>
            </a:r>
          </a:p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Checkpoint reproduzível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D4A2377B-6C00-4E40-AF74-DFF52304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99CF857B-F32B-49F7-9850-0EEAC283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0321FF22-5183-4834-A0AE-72F03F04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1565C0"/>
                </a:solidFill>
              </a:defRPr>
            </a:pPr>
            <a:r>
              <a:rPr sz="4650" b="1">
                <a:solidFill>
                  <a:srgbClr val="1565C0"/>
                </a:solidFill>
              </a:rPr>
              <a:t>04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CFB4D109-C812-4CE9-9B91-A15A37B8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AULA 0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00056DF-B640-4D17-B1A6-CA638699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1B94D0EC-D96F-462F-BACE-D9CDA5AE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0C4AD29-E891-42FE-B864-FC5E77EA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9/22</a:t>
            </a:r>
          </a:p>
        </p:txBody>
      </p:sp>
    </p:spTree>
    <p:extLst>
      <p:ext uri="{BB962C8B-B14F-4D97-AF65-F5344CB8AC3E}">
        <p14:creationId xmlns:p14="http://schemas.microsoft.com/office/powerpoint/2010/main" val="934032630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346A7F-294E-4069-B52C-DF85B1CA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O repositório prepara o ambiente</a:t>
            </a:r>
          </a:p>
        </p:txBody>
      </p:sp>
      <p:sp>
        <p:nvSpPr>
          <p:cNvPr id="2" name="flow-1">
            <a:extLst xmlns:a="http://schemas.openxmlformats.org/drawingml/2006/main">
              <a:ext uri="{FF2B5EF4-FFF2-40B4-BE49-F238E27FC236}">
                <a16:creationId xmlns:a16="http://schemas.microsoft.com/office/drawing/2014/main" id="{23DE3314-3ACB-4ACB-9B54-AD6187AC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244316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3260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Create</a:t>
            </a:r>
          </a:p>
        </p:txBody>
      </p:sp>
      <p:sp>
        <p:nvSpPr>
          <p:cNvPr id="3" name="flow-2">
            <a:extLst xmlns:a="http://schemas.openxmlformats.org/drawingml/2006/main">
              <a:ext uri="{FF2B5EF4-FFF2-40B4-BE49-F238E27FC236}">
                <a16:creationId xmlns:a16="http://schemas.microsoft.com/office/drawing/2014/main" id="{8174DFE1-AD7E-4882-A258-DEE1500A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3429000"/>
            <a:ext cx="244316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3260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setup</a:t>
            </a:r>
          </a:p>
        </p:txBody>
      </p:sp>
      <p:sp>
        <p:nvSpPr>
          <p:cNvPr id="4" name="flow-3">
            <a:extLst xmlns:a="http://schemas.openxmlformats.org/drawingml/2006/main">
              <a:ext uri="{FF2B5EF4-FFF2-40B4-BE49-F238E27FC236}">
                <a16:creationId xmlns:a16="http://schemas.microsoft.com/office/drawing/2014/main" id="{3636FDDC-F50C-4AB3-B1C7-4CB25571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29000"/>
            <a:ext cx="244316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3260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doctor</a:t>
            </a:r>
          </a:p>
        </p:txBody>
      </p:sp>
      <p:sp>
        <p:nvSpPr>
          <p:cNvPr id="5" name="flow-4">
            <a:extLst xmlns:a="http://schemas.openxmlformats.org/drawingml/2006/main">
              <a:ext uri="{FF2B5EF4-FFF2-40B4-BE49-F238E27FC236}">
                <a16:creationId xmlns:a16="http://schemas.microsoft.com/office/drawing/2014/main" id="{3FBE429F-C1E2-4B4B-8A24-C5DBE74F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3429000"/>
            <a:ext cx="244316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3260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checkpoint</a:t>
            </a:r>
          </a:p>
        </p:txBody>
      </p:sp>
      <p:cxnSp>
        <p:nvCxnSpPr>
          <p:cNvPr id="26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252788" y="3962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C5FF"/>
            </a:solidFill>
            <a:prstDash val="solid"/>
            <a:headEnd type="arrow" w="med" len="med"/>
          </a:ln>
        </p:spPr>
      </p:cxnSp>
      <p:cxnSp>
        <p:nvCxnSpPr>
          <p:cNvPr id="27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5962651" y="3962400"/>
            <a:ext cx="26669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C5FF"/>
            </a:solidFill>
            <a:prstDash val="solid"/>
            <a:headEnd type="arrow" w="med" len="med"/>
          </a:ln>
        </p:spPr>
      </p:cxnSp>
      <p:cxnSp>
        <p:nvCxnSpPr>
          <p:cNvPr id="2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8672513" y="3962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C5FF"/>
            </a:solidFill>
            <a:prstDash val="solid"/>
            <a:headEnd type="arrow" w="med" len="med"/>
          </a:ln>
        </p:spPr>
      </p:cxn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440EE247-82EA-4B25-B66A-4DD300EC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AULA 0  •  OPEN / CORE 1.12</a:t>
            </a:r>
          </a:p>
        </p:txBody>
      </p:sp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096A580-449A-4A1D-A81E-14A1D8C1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B9975CDB-2702-4137-9F1F-C4CB112A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633699B-0B6E-4C7A-9480-C3B2A253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10/22</a:t>
            </a:r>
          </a:p>
        </p:txBody>
      </p:sp>
    </p:spTree>
    <p:extLst>
      <p:ext uri="{BB962C8B-B14F-4D97-AF65-F5344CB8AC3E}">
        <p14:creationId xmlns:p14="http://schemas.microsoft.com/office/powerpoint/2010/main" val="593477345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106A77-9524-4CD0-AD23-47F4CE24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Parar evita consumo de processamento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3E336E1-E381-4917-97B7-420217B3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Stop codespace interrompe core-hours; armazenamento continua até excluir o ambiente.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CF941D06-9B10-4808-92CA-CD631250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Pare ao terminar cada aula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Reabra o mesmo ambiente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Exclua quando não precisar dos arquivos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3C8D8A0E-267F-49EA-8C9C-59F2BC49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DBA3F939-F7DA-41A0-B291-0F0148B2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21E39327-2796-497E-B1DF-3024614F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1EC5FF"/>
                </a:solidFill>
              </a:defRPr>
            </a:pPr>
            <a:r>
              <a:rPr sz="4650" b="1">
                <a:solidFill>
                  <a:srgbClr val="1EC5FF"/>
                </a:solidFill>
              </a:rPr>
              <a:t>05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26A7CC20-5B40-4C0D-B902-5E10AF4A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AULA 0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151FC66-7C53-4332-BA77-9F5425A6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CF6E77D8-E98C-4E90-9F3D-052D1864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B3357BD-CDE9-44E9-BD2F-E6EB03A4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11/22</a:t>
            </a:r>
          </a:p>
        </p:txBody>
      </p:sp>
    </p:spTree>
    <p:extLst>
      <p:ext uri="{BB962C8B-B14F-4D97-AF65-F5344CB8AC3E}">
        <p14:creationId xmlns:p14="http://schemas.microsoft.com/office/powerpoint/2010/main" val="14601194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4EAD4B-6E97-4990-8A63-8A5147F3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Parar evita consumo de processamento</a:t>
            </a:r>
          </a:p>
        </p:txBody>
      </p:sp>
      <p:sp>
        <p:nvSpPr>
          <p:cNvPr id="2" name="visual-claim">
            <a:extLst xmlns:a="http://schemas.openxmlformats.org/drawingml/2006/main">
              <a:ext uri="{FF2B5EF4-FFF2-40B4-BE49-F238E27FC236}">
                <a16:creationId xmlns:a16="http://schemas.microsoft.com/office/drawing/2014/main" id="{10A3085E-055C-4D1F-A3F2-0FA60325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905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F3A"/>
                </a:solidFill>
              </a:defRPr>
            </a:pPr>
            <a:r>
              <a:rPr sz="1950" b="1">
                <a:solidFill>
                  <a:srgbClr val="0B1F3A"/>
                </a:solidFill>
              </a:rPr>
              <a:t>Stop codespace interrompe core-hours; armazenamento continua até excluir o ambiente.</a:t>
            </a:r>
          </a:p>
        </p:txBody>
      </p:sp>
      <p:sp>
        <p:nvSpPr>
          <p:cNvPr id="3" name="image-surface">
            <a:extLst xmlns:a="http://schemas.openxmlformats.org/drawingml/2006/main">
              <a:ext uri="{FF2B5EF4-FFF2-40B4-BE49-F238E27FC236}">
                <a16:creationId xmlns:a16="http://schemas.microsoft.com/office/drawing/2014/main" id="{EFF2DC37-EF88-4AE8-A0E1-3F8547CD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00200"/>
            <a:ext cx="63627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DD7EA"/>
            </a:solidFill>
            <a:prstDash val="solid"/>
          </a:ln>
        </p:spPr>
      </p:sp>
      <p:pic>
        <p:nvPicPr>
          <p:cNvPr id="15" name="" descr="Figura oficial da documentação dbt usada para explicar: Parar evita consumo de processamento — Stop codespace interrompe core-hours; armazenamento continua até excluir o ambiente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7b57dec0564c7f"/>
          <a:stretch xmlns:a="http://schemas.openxmlformats.org/drawingml/2006/main"/>
        </p:blipFill>
        <p:spPr>
          <a:xfrm xmlns:a="http://schemas.openxmlformats.org/drawingml/2006/main">
            <a:off x="5429250" y="2370007"/>
            <a:ext cx="5791200" cy="2213235"/>
          </a:xfrm>
          <a:prstGeom xmlns:a="http://schemas.openxmlformats.org/drawingml/2006/main" prst="rect">
            <a:avLst/>
          </a:prstGeom>
        </p:spPr>
      </p:pic>
      <p:sp>
        <p:nvSpPr>
          <p:cNvPr id="5" name="image-caption">
            <a:extLst xmlns:a="http://schemas.openxmlformats.org/drawingml/2006/main">
              <a:ext uri="{FF2B5EF4-FFF2-40B4-BE49-F238E27FC236}">
                <a16:creationId xmlns:a16="http://schemas.microsoft.com/office/drawing/2014/main" id="{FE69EE92-59E5-4BB7-9E1F-D56CC271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19700"/>
            <a:ext cx="579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i="1">
                <a:solidFill>
                  <a:srgbClr val="5C6F86"/>
                </a:solidFill>
              </a:defRPr>
            </a:pPr>
            <a:r>
              <a:rPr sz="900" i="1">
                <a:solidFill>
                  <a:srgbClr val="5C6F86"/>
                </a:solidFill>
              </a:rPr>
              <a:t>GitHub Docs — CC BY 4.0 — commit 484d28e</a:t>
            </a:r>
          </a:p>
        </p:txBody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8134BC02-DA58-4A6B-8EC0-509957B3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AULA 0  •  OPEN / CORE 1.12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83DEEE1-61A8-4FA7-B200-47EBC06E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714CB105-E374-4059-B421-832C94FA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81C5C6B-7723-4F3C-A889-A64E30FB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12/22</a:t>
            </a:r>
          </a:p>
        </p:txBody>
      </p:sp>
    </p:spTree>
    <p:extLst>
      <p:ext uri="{BB962C8B-B14F-4D97-AF65-F5344CB8AC3E}">
        <p14:creationId xmlns:p14="http://schemas.microsoft.com/office/powerpoint/2010/main" val="9475733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C1E5B7-2E9B-4665-925E-9EFE7E65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Local continua sendo a rota alternativa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82E5C5F-4AB2-40FA-86E6-4929429E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5C6F86"/>
                </a:solidFill>
              </a:defRPr>
            </a:pPr>
            <a:r>
              <a:rPr sz="1650">
                <a:solidFill>
                  <a:srgbClr val="5C6F86"/>
                </a:solidFill>
              </a:rPr>
              <a:t>O launcher mantém o mesmo resultado quando Codespaces ou internet não estão disponíveis.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CD855CF9-48BA-4C5D-849C-C3FE7C3D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Windows, macOS e Linux documentados</a:t>
            </a:r>
          </a:p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doctor encontra bloqueios</a:t>
            </a:r>
          </a:p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support-report sanitiza a ajuda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9B278757-64DE-435B-A5E5-3EA3918A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44E154DD-7F3C-4EAB-9DEA-2D698A00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514569F6-F399-464F-9B95-5B04B746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1565C0"/>
                </a:solidFill>
              </a:defRPr>
            </a:pPr>
            <a:r>
              <a:rPr sz="4650" b="1">
                <a:solidFill>
                  <a:srgbClr val="1565C0"/>
                </a:solidFill>
              </a:rPr>
              <a:t>06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CE8DD9F8-7292-4F7A-8038-97304A19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AULA 0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E9C23FF-24A7-40DB-BABD-6808F04F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97385242-CEF1-42D7-8C1B-5F9B470B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549871B-3DF6-4F3A-A6EE-C05EAE93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13/22</a:t>
            </a:r>
          </a:p>
        </p:txBody>
      </p:sp>
    </p:spTree>
    <p:extLst>
      <p:ext uri="{BB962C8B-B14F-4D97-AF65-F5344CB8AC3E}">
        <p14:creationId xmlns:p14="http://schemas.microsoft.com/office/powerpoint/2010/main" val="1614947613"/>
      </p:ext>
    </p:extLst>
  </p:cSld>
</p:sld>
</file>

<file path=ppt/slides/slide1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B82FB4-4D1E-4BAB-822A-99440B4E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Local continua sendo a rota alternativa</a:t>
            </a:r>
          </a:p>
        </p:txBody>
      </p:sp>
      <p:sp>
        <p:nvSpPr>
          <p:cNvPr id="2" name="status-dot-1">
            <a:extLst xmlns:a="http://schemas.openxmlformats.org/drawingml/2006/main">
              <a:ext uri="{FF2B5EF4-FFF2-40B4-BE49-F238E27FC236}">
                <a16:creationId xmlns:a16="http://schemas.microsoft.com/office/drawing/2014/main" id="{ED1DDFE0-F0C1-4691-8901-3B40D0CD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105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BE8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" name="status-label-1">
            <a:extLst xmlns:a="http://schemas.openxmlformats.org/drawingml/2006/main">
              <a:ext uri="{FF2B5EF4-FFF2-40B4-BE49-F238E27FC236}">
                <a16:creationId xmlns:a16="http://schemas.microsoft.com/office/drawing/2014/main" id="{7573F831-8065-43A9-B795-A188164C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Codespaces: recomendado</a:t>
            </a:r>
          </a:p>
        </p:txBody>
      </p:sp>
      <p:sp>
        <p:nvSpPr>
          <p:cNvPr id="4" name="status-dot-2">
            <a:extLst xmlns:a="http://schemas.openxmlformats.org/drawingml/2006/main">
              <a:ext uri="{FF2B5EF4-FFF2-40B4-BE49-F238E27FC236}">
                <a16:creationId xmlns:a16="http://schemas.microsoft.com/office/drawing/2014/main" id="{B4F8F521-4833-4868-8299-BEB65265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105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status-label-2">
            <a:extLst xmlns:a="http://schemas.openxmlformats.org/drawingml/2006/main">
              <a:ext uri="{FF2B5EF4-FFF2-40B4-BE49-F238E27FC236}">
                <a16:creationId xmlns:a16="http://schemas.microsoft.com/office/drawing/2014/main" id="{6D6B98DE-3624-4416-9013-A99641DC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100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Local: alternativa</a:t>
            </a:r>
          </a:p>
        </p:txBody>
      </p:sp>
      <p:sp>
        <p:nvSpPr>
          <p:cNvPr id="6" name="status-dot-3">
            <a:extLst xmlns:a="http://schemas.openxmlformats.org/drawingml/2006/main">
              <a:ext uri="{FF2B5EF4-FFF2-40B4-BE49-F238E27FC236}">
                <a16:creationId xmlns:a16="http://schemas.microsoft.com/office/drawing/2014/main" id="{932864F4-1C8C-4C22-83AD-246B7411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05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B5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status-label-3">
            <a:extLst xmlns:a="http://schemas.openxmlformats.org/drawingml/2006/main">
              <a:ext uri="{FF2B5EF4-FFF2-40B4-BE49-F238E27FC236}">
                <a16:creationId xmlns:a16="http://schemas.microsoft.com/office/drawing/2014/main" id="{93A6C014-443C-4C6A-90BB-3481FDED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Suporte: diagnóstico</a:t>
            </a:r>
          </a:p>
        </p:txBody>
      </p:sp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35EF1011-C474-400A-9052-E1A280BB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AULA 0  •  OPEN / CORE 1.12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ECDFC25-290F-4988-8535-59C80801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65A8EE9E-15A1-4A66-BB2A-A4AB2A58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6984D09-0943-4973-8E26-77DBEEFF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14/22</a:t>
            </a:r>
          </a:p>
        </p:txBody>
      </p:sp>
    </p:spTree>
    <p:extLst>
      <p:ext uri="{BB962C8B-B14F-4D97-AF65-F5344CB8AC3E}">
        <p14:creationId xmlns:p14="http://schemas.microsoft.com/office/powerpoint/2010/main" val="985147844"/>
      </p:ext>
    </p:extLst>
  </p:cSld>
</p:sld>
</file>

<file path=ppt/slides/slide1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59517F-EB97-49D2-845F-D7C89E70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Demonstração — execute</a:t>
            </a:r>
          </a:p>
        </p:txBody>
      </p:sp>
      <p:sp>
        <p:nvSpPr>
          <p:cNvPr id="2" name="code-surface">
            <a:extLst xmlns:a="http://schemas.openxmlformats.org/drawingml/2006/main">
              <a:ext uri="{FF2B5EF4-FFF2-40B4-BE49-F238E27FC236}">
                <a16:creationId xmlns:a16="http://schemas.microsoft.com/office/drawing/2014/main" id="{E0B02AF8-8F19-418B-9DF9-01CFAFCA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9715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31021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</p:sp>
      <p:sp>
        <p:nvSpPr>
          <p:cNvPr id="3" name="command">
            <a:extLst xmlns:a="http://schemas.openxmlformats.org/drawingml/2006/main">
              <a:ext uri="{FF2B5EF4-FFF2-40B4-BE49-F238E27FC236}">
                <a16:creationId xmlns:a16="http://schemas.microsoft.com/office/drawing/2014/main" id="{9F240185-320D-455B-929B-DBFA539D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00375"/>
            <a:ext cx="885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EC5FF"/>
                </a:solidFill>
              </a:defRPr>
            </a:pPr>
            <a:r>
              <a:rPr sz="1875" b="1">
                <a:solidFill>
                  <a:srgbClr val="1EC5FF"/>
                </a:solidFill>
              </a:rPr>
              <a:t>python course.py doctor</a:t>
            </a:r>
          </a:p>
          <a:p xmlns:a="http://schemas.openxmlformats.org/drawingml/2006/main">
            <a:pPr>
              <a:buNone/>
              <a:defRPr sz="1875" b="1">
                <a:solidFill>
                  <a:srgbClr val="1EC5FF"/>
                </a:solidFill>
              </a:defRPr>
            </a:pPr>
            <a:r>
              <a:rPr sz="1875" b="1">
                <a:solidFill>
                  <a:srgbClr val="1EC5FF"/>
                </a:solidFill>
              </a:rPr>
              <a:t>python course.py checkpoint 01</a:t>
            </a:r>
          </a:p>
        </p:txBody>
      </p:sp>
      <p:sp>
        <p:nvSpPr>
          <p:cNvPr id="4" name="command-help">
            <a:extLst xmlns:a="http://schemas.openxmlformats.org/drawingml/2006/main">
              <a:ext uri="{FF2B5EF4-FFF2-40B4-BE49-F238E27FC236}">
                <a16:creationId xmlns:a16="http://schemas.microsoft.com/office/drawing/2014/main" id="{20ECB557-E71E-434A-A5C7-1D29EFA6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1962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E2F2FF"/>
                </a:solidFill>
              </a:defRPr>
            </a:pPr>
            <a:r>
              <a:rPr sz="1425">
                <a:solidFill>
                  <a:srgbClr val="E2F2FF"/>
                </a:solidFill>
              </a:rPr>
              <a:t>Copie exatamente como aparece. O launcher escolhe o ambiente correto.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D65120BA-D228-43B0-8081-A6420024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AULA 0  •  OPEN / CORE 1.12</a:t>
            </a:r>
          </a:p>
        </p:txBody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DD922C6-EAA6-4A06-99B9-E456C62D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12CCC7E6-6F04-4DC6-8147-CECE254A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47DDEE7-D8D0-4655-ABE3-9491FAF9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15/22</a:t>
            </a:r>
          </a:p>
        </p:txBody>
      </p:sp>
    </p:spTree>
    <p:extLst>
      <p:ext uri="{BB962C8B-B14F-4D97-AF65-F5344CB8AC3E}">
        <p14:creationId xmlns:p14="http://schemas.microsoft.com/office/powerpoint/2010/main" val="19106353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03B6D6-3A4B-46F0-93F7-75689169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Demonstração — observe</a:t>
            </a:r>
          </a:p>
        </p:txBody>
      </p:sp>
      <p:sp>
        <p:nvSpPr>
          <p:cNvPr id="2" name="step-num-1">
            <a:extLst xmlns:a="http://schemas.openxmlformats.org/drawingml/2006/main">
              <a:ext uri="{FF2B5EF4-FFF2-40B4-BE49-F238E27FC236}">
                <a16:creationId xmlns:a16="http://schemas.microsoft.com/office/drawing/2014/main" id="{5D834206-EBCD-4778-BC85-531B8F55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01</a:t>
            </a:r>
          </a:p>
        </p:txBody>
      </p:sp>
      <p:sp>
        <p:nvSpPr>
          <p:cNvPr id="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6B2EDE68-B5FF-4E43-8A18-5AB5CE41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Python 3.12 e Git OK</a:t>
            </a:r>
          </a:p>
        </p:txBody>
      </p:sp>
      <p:sp>
        <p:nvSpPr>
          <p:cNvPr id="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5126FE72-95A7-4904-8042-04C43994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5" name="step-num-2">
            <a:extLst xmlns:a="http://schemas.openxmlformats.org/drawingml/2006/main">
              <a:ext uri="{FF2B5EF4-FFF2-40B4-BE49-F238E27FC236}">
                <a16:creationId xmlns:a16="http://schemas.microsoft.com/office/drawing/2014/main" id="{90C223A8-7F92-4B17-8C1B-9690A4C9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02</a:t>
            </a:r>
          </a:p>
        </p:txBody>
      </p:sp>
      <p:sp>
        <p:nvSpPr>
          <p:cNvPr id="6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E22406AE-248C-45BE-B315-D8009F12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dbt build concluído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BC08B669-A71F-4963-A265-671B9166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8" name="step-num-3">
            <a:extLst xmlns:a="http://schemas.openxmlformats.org/drawingml/2006/main">
              <a:ext uri="{FF2B5EF4-FFF2-40B4-BE49-F238E27FC236}">
                <a16:creationId xmlns:a16="http://schemas.microsoft.com/office/drawing/2014/main" id="{4CC7A6FC-A092-43B1-8E67-87B8A41B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03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D93D64DC-C8CE-4921-988E-721A8A81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Seeds e artifacts executados</a:t>
            </a:r>
          </a:p>
        </p:txBody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1D7B19C6-3F30-4BA5-9991-E0200AD2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AULA 0  •  OPEN / CORE 1.12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430F6FE-F6CA-4166-A329-14C433DB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DB1626F8-002B-426C-B4FE-371C679A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D289A09-95ED-4372-8FB9-0212A084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16/22</a:t>
            </a:r>
          </a:p>
        </p:txBody>
      </p:sp>
    </p:spTree>
    <p:extLst>
      <p:ext uri="{BB962C8B-B14F-4D97-AF65-F5344CB8AC3E}">
        <p14:creationId xmlns:p14="http://schemas.microsoft.com/office/powerpoint/2010/main" val="1327261736"/>
      </p:ext>
    </p:extLst>
  </p:cSld>
</p:sld>
</file>

<file path=ppt/slides/slide1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9B959EB1-BB17-4C02-994E-0A57A723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EC5FF"/>
                </a:solidFill>
              </a:defRPr>
            </a:pPr>
            <a:r>
              <a:rPr sz="1350" b="1">
                <a:solidFill>
                  <a:srgbClr val="1EC5FF"/>
                </a:solidFill>
              </a:rPr>
              <a:t>RESULTADO ESPERADO</a:t>
            </a:r>
          </a:p>
        </p:txBody>
      </p:sp>
      <p:sp>
        <p:nvSpPr>
          <p:cNvPr id="2" name="result">
            <a:extLst xmlns:a="http://schemas.openxmlformats.org/drawingml/2006/main">
              <a:ext uri="{FF2B5EF4-FFF2-40B4-BE49-F238E27FC236}">
                <a16:creationId xmlns:a16="http://schemas.microsoft.com/office/drawing/2014/main" id="{A7286693-D8C2-4454-98DD-497B8E8B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Checkpoint 01 OK</a:t>
            </a:r>
          </a:p>
        </p:txBody>
      </p:sp>
      <p:sp>
        <p:nvSpPr>
          <p:cNvPr id="3" name="result-meta">
            <a:extLst xmlns:a="http://schemas.openxmlformats.org/drawingml/2006/main">
              <a:ext uri="{FF2B5EF4-FFF2-40B4-BE49-F238E27FC236}">
                <a16:creationId xmlns:a16="http://schemas.microsoft.com/office/drawing/2014/main" id="{7C0B2DF3-B2A5-4227-986F-C24C009D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Checkpoint 01 • evidência reproduzível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798FF95A-D388-44B6-944D-0E3CC8A8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3DBE866F-59A2-4D36-B9D7-D8825843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3370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D25E33C7-C2CE-47A1-A469-A71392F0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AULA 0  •  OPEN / CORE 1.12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B8394E0-1AD1-4A4E-A9C6-6728FA0F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8A8CC110-CC09-453E-B3D5-85051BEC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0FE8340-3F63-4842-89BD-7070DA15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17/22</a:t>
            </a:r>
          </a:p>
        </p:txBody>
      </p:sp>
    </p:spTree>
    <p:extLst>
      <p:ext uri="{BB962C8B-B14F-4D97-AF65-F5344CB8AC3E}">
        <p14:creationId xmlns:p14="http://schemas.microsoft.com/office/powerpoint/2010/main" val="8632851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100A73-2AAE-4E6D-AB7D-FF371380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O mesmo recurso afeta três decisões</a:t>
            </a:r>
          </a:p>
        </p:txBody>
      </p:sp>
      <p:sp>
        <p:nvSpPr>
          <p:cNvPr id="2" name="step-num-1">
            <a:extLst xmlns:a="http://schemas.openxmlformats.org/drawingml/2006/main">
              <a:ext uri="{FF2B5EF4-FFF2-40B4-BE49-F238E27FC236}">
                <a16:creationId xmlns:a16="http://schemas.microsoft.com/office/drawing/2014/main" id="{5B6B3F24-0DF4-4C5D-992D-7ED9B740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01</a:t>
            </a:r>
          </a:p>
        </p:txBody>
      </p:sp>
      <p:sp>
        <p:nvSpPr>
          <p:cNvPr id="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FCF3991D-CFEE-4171-9111-3962E164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Governança: ambiente versionado</a:t>
            </a:r>
          </a:p>
        </p:txBody>
      </p:sp>
      <p:sp>
        <p:nvSpPr>
          <p:cNvPr id="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8B5E4D2B-071B-4B2F-B0EE-812627E1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5" name="step-num-2">
            <a:extLst xmlns:a="http://schemas.openxmlformats.org/drawingml/2006/main">
              <a:ext uri="{FF2B5EF4-FFF2-40B4-BE49-F238E27FC236}">
                <a16:creationId xmlns:a16="http://schemas.microsoft.com/office/drawing/2014/main" id="{C77282B8-EEB8-4C5A-97EB-A680118B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02</a:t>
            </a:r>
          </a:p>
        </p:txBody>
      </p:sp>
      <p:sp>
        <p:nvSpPr>
          <p:cNvPr id="6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A6ACD77D-6EE9-4402-B110-B2B589E2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FinOps: 2-core + stop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7BE773B3-14CF-46AC-A33E-ABC4DFFB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8" name="step-num-3">
            <a:extLst xmlns:a="http://schemas.openxmlformats.org/drawingml/2006/main">
              <a:ext uri="{FF2B5EF4-FFF2-40B4-BE49-F238E27FC236}">
                <a16:creationId xmlns:a16="http://schemas.microsoft.com/office/drawing/2014/main" id="{F1E46750-1937-4164-AFEF-11FB8239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03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014AF72B-547F-4398-9C08-9EB025E6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IA: nenhuma chave necessária</a:t>
            </a:r>
          </a:p>
        </p:txBody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BAB03EC0-B3AE-40A8-B2CA-33B32170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AULA 0  •  OPEN / CORE 1.12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1CAF173-9DDA-4A8A-AB0D-39AFF83E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01E6D4AE-3599-4905-8CE3-82FD2B7A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8A67382-784E-4EDA-A0E1-6970BC52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18/22</a:t>
            </a:r>
          </a:p>
        </p:txBody>
      </p:sp>
    </p:spTree>
    <p:extLst>
      <p:ext uri="{BB962C8B-B14F-4D97-AF65-F5344CB8AC3E}">
        <p14:creationId xmlns:p14="http://schemas.microsoft.com/office/powerpoint/2010/main" val="1764335913"/>
      </p:ext>
    </p:extLst>
  </p:cSld>
</p:sld>
</file>

<file path=ppt/slides/slide1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ase-number">
            <a:extLst xmlns:a="http://schemas.openxmlformats.org/drawingml/2006/main">
              <a:ext uri="{FF2B5EF4-FFF2-40B4-BE49-F238E27FC236}">
                <a16:creationId xmlns:a16="http://schemas.microsoft.com/office/drawing/2014/main" id="{EDF88376-E200-4E40-882E-9AB700E7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550" b="1">
                <a:solidFill>
                  <a:srgbClr val="1EC5FF"/>
                </a:solidFill>
              </a:defRPr>
            </a:pPr>
            <a:r>
              <a:rPr sz="5550" b="1">
                <a:solidFill>
                  <a:srgbClr val="1EC5FF"/>
                </a:solidFill>
              </a:rPr>
              <a:t>46 recursos</a:t>
            </a:r>
          </a:p>
        </p:txBody>
      </p:sp>
      <p:sp>
        <p:nvSpPr>
          <p:cNvPr id="2" name="case-label">
            <a:extLst xmlns:a="http://schemas.openxmlformats.org/drawingml/2006/main">
              <a:ext uri="{FF2B5EF4-FFF2-40B4-BE49-F238E27FC236}">
                <a16:creationId xmlns:a16="http://schemas.microsoft.com/office/drawing/2014/main" id="{1F2B22B3-BEBB-4784-9BF9-C0F0FE24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baseline dbt validado localmente</a:t>
            </a:r>
          </a:p>
        </p:txBody>
      </p:sp>
      <p:sp>
        <p:nvSpPr>
          <p:cNvPr id="3" name="case-divider">
            <a:extLst xmlns:a="http://schemas.openxmlformats.org/drawingml/2006/main">
              <a:ext uri="{FF2B5EF4-FFF2-40B4-BE49-F238E27FC236}">
                <a16:creationId xmlns:a16="http://schemas.microsoft.com/office/drawing/2014/main" id="{A08BC553-5E28-4365-A018-A5B7CE3C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7059"/>
              </a:srgbClr>
            </a:solidFill>
            <a:prstDash val="solid"/>
          </a:ln>
        </p:spPr>
      </p:sp>
      <p:sp>
        <p:nvSpPr>
          <p:cNvPr id="4" name="case-caveat">
            <a:extLst xmlns:a="http://schemas.openxmlformats.org/drawingml/2006/main">
              <a:ext uri="{FF2B5EF4-FFF2-40B4-BE49-F238E27FC236}">
                <a16:creationId xmlns:a16="http://schemas.microsoft.com/office/drawing/2014/main" id="{64943E90-A623-4F6B-80C6-E8E840A0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333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E2F2FF"/>
                </a:solidFill>
              </a:defRPr>
            </a:pPr>
            <a:r>
              <a:rPr sz="1800">
                <a:solidFill>
                  <a:srgbClr val="E2F2FF"/>
                </a:solidFill>
              </a:rPr>
              <a:t>Resultado do laboratório, não benchmark de produção.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57E2A924-5DC7-4820-90ED-C371D3F1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AULA 0  •  OPEN / CORE 1.12</a:t>
            </a:r>
          </a:p>
        </p:txBody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D131AE4-B17C-40CA-A3FD-73DBD0D9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781098B4-2E2F-4579-BD43-AE3EB13D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9CE600F-6B06-40C6-B3B6-9A56C8FD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19/22</a:t>
            </a:r>
          </a:p>
        </p:txBody>
      </p:sp>
    </p:spTree>
    <p:extLst>
      <p:ext uri="{BB962C8B-B14F-4D97-AF65-F5344CB8AC3E}">
        <p14:creationId xmlns:p14="http://schemas.microsoft.com/office/powerpoint/2010/main" val="198471739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A9A708-195C-4D77-A75F-B92BBBB0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Limitações que precisam permanecer visíveis</a:t>
            </a:r>
          </a:p>
        </p:txBody>
      </p:sp>
      <p:sp>
        <p:nvSpPr>
          <p:cNvPr id="2" name="bullets">
            <a:extLst xmlns:a="http://schemas.openxmlformats.org/drawingml/2006/main">
              <a:ext uri="{FF2B5EF4-FFF2-40B4-BE49-F238E27FC236}">
                <a16:creationId xmlns:a16="http://schemas.microsoft.com/office/drawing/2014/main" id="{DAA3C579-C222-4843-97DA-3FB64752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9906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rgbClr val="0B1F3A"/>
                </a:solidFill>
              </a:defRPr>
            </a:pPr>
            <a:r>
              <a:rPr sz="1950">
                <a:solidFill>
                  <a:srgbClr val="0B1F3A"/>
                </a:solidFill>
              </a:rPr>
              <a:t>• Codespaces exige internet e conta pessoal GitHub</a:t>
            </a:r>
          </a:p>
          <a:p xmlns:a="http://schemas.openxmlformats.org/drawingml/2006/main">
            <a:pPr>
              <a:buNone/>
              <a:defRPr sz="1950">
                <a:solidFill>
                  <a:srgbClr val="0B1F3A"/>
                </a:solidFill>
              </a:defRPr>
            </a:pPr>
            <a:r>
              <a:rPr sz="1950">
                <a:solidFill>
                  <a:srgbClr val="0B1F3A"/>
                </a:solidFill>
              </a:rPr>
              <a:t>• Franquias e cobrança podem mudar</a:t>
            </a:r>
          </a:p>
          <a:p xmlns:a="http://schemas.openxmlformats.org/drawingml/2006/main">
            <a:pPr>
              <a:buNone/>
              <a:defRPr sz="1950">
                <a:solidFill>
                  <a:srgbClr val="0B1F3A"/>
                </a:solidFill>
              </a:defRPr>
            </a:pPr>
            <a:r>
              <a:rPr sz="1950">
                <a:solidFill>
                  <a:srgbClr val="0B1F3A"/>
                </a:solidFill>
              </a:rPr>
              <a:t>• Ambiente parado ainda consome armazenamento</a:t>
            </a:r>
          </a:p>
          <a:p xmlns:a="http://schemas.openxmlformats.org/drawingml/2006/main">
            <a:pPr>
              <a:buNone/>
              <a:defRPr sz="1950">
                <a:solidFill>
                  <a:srgbClr val="0B1F3A"/>
                </a:solidFill>
              </a:defRPr>
            </a:pPr>
            <a:r>
              <a:rPr sz="1950">
                <a:solidFill>
                  <a:srgbClr val="0B1F3A"/>
                </a:solidFill>
              </a:rPr>
              <a:t>• Instalação local permanece disponível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16CA9D44-3BA7-4515-B7B0-B342789A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AULA 0  •  OPEN / CORE 1.12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705C198-3633-4D23-AB2D-A402E1FF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88D18BE-C645-4FD0-80F5-95C2F7EE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B8F1F31-4E92-4570-B331-D1787390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20/22</a:t>
            </a:r>
          </a:p>
        </p:txBody>
      </p:sp>
    </p:spTree>
    <p:extLst>
      <p:ext uri="{BB962C8B-B14F-4D97-AF65-F5344CB8AC3E}">
        <p14:creationId xmlns:p14="http://schemas.microsoft.com/office/powerpoint/2010/main" val="1347022493"/>
      </p:ext>
    </p:extLst>
  </p:cSld>
</p:sld>
</file>

<file path=ppt/slides/slide2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adar-label">
            <a:extLst xmlns:a="http://schemas.openxmlformats.org/drawingml/2006/main">
              <a:ext uri="{FF2B5EF4-FFF2-40B4-BE49-F238E27FC236}">
                <a16:creationId xmlns:a16="http://schemas.microsoft.com/office/drawing/2014/main" id="{09ADC651-2E9D-4429-930F-3EF13D66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EC5FF"/>
                </a:solidFill>
              </a:defRPr>
            </a:pPr>
            <a:r>
              <a:rPr sz="1500" b="1">
                <a:solidFill>
                  <a:srgbClr val="1EC5FF"/>
                </a:solidFill>
              </a:rPr>
              <a:t>RADAR</a:t>
            </a:r>
          </a:p>
        </p:txBody>
      </p:sp>
      <p:sp>
        <p:nvSpPr>
          <p:cNvPr id="2" name="radar-text">
            <a:extLst xmlns:a="http://schemas.openxmlformats.org/drawingml/2006/main">
              <a:ext uri="{FF2B5EF4-FFF2-40B4-BE49-F238E27FC236}">
                <a16:creationId xmlns:a16="http://schemas.microsoft.com/office/drawing/2014/main" id="{4919899A-087E-4E53-B9DD-53F77DA5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933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Core 2.0 e Fusion ficam apenas no Radar; a aula executa Core 1.12 estável.</a:t>
            </a:r>
          </a:p>
        </p:txBody>
      </p:sp>
      <p:sp>
        <p:nvSpPr>
          <p:cNvPr id="3" name="radar-rule">
            <a:extLst xmlns:a="http://schemas.openxmlformats.org/drawingml/2006/main">
              <a:ext uri="{FF2B5EF4-FFF2-40B4-BE49-F238E27FC236}">
                <a16:creationId xmlns:a16="http://schemas.microsoft.com/office/drawing/2014/main" id="{31A3E4E1-E1F0-4B3C-AC2E-ADB0A322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E2F2FF"/>
                </a:solidFill>
              </a:defRPr>
            </a:pPr>
            <a:r>
              <a:rPr sz="1500">
                <a:solidFill>
                  <a:srgbClr val="E2F2FF"/>
                </a:solidFill>
              </a:rPr>
              <a:t>Novidade observada ≠ recomendação de produção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D64D0F29-314F-4697-83E5-3C87992D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622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07B388CF-B339-454C-9ED0-5B5177DF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1945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D28C190E-BEAA-4205-8204-133CC9B3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AULA 0  •  OPEN / CORE 1.12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3EDC77D-DD60-457F-8302-BA455652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A89C1B96-6689-47E0-B0C1-822C76B5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65EF6C8-0E84-4254-B081-C4773A4F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21/22</a:t>
            </a:r>
          </a:p>
        </p:txBody>
      </p:sp>
    </p:spTree>
    <p:extLst>
      <p:ext uri="{BB962C8B-B14F-4D97-AF65-F5344CB8AC3E}">
        <p14:creationId xmlns:p14="http://schemas.microsoft.com/office/powerpoint/2010/main" val="168795072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ta-label">
            <a:extLst xmlns:a="http://schemas.openxmlformats.org/drawingml/2006/main">
              <a:ext uri="{FF2B5EF4-FFF2-40B4-BE49-F238E27FC236}">
                <a16:creationId xmlns:a16="http://schemas.microsoft.com/office/drawing/2014/main" id="{23177492-679A-43A0-BD98-B312ABCF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565C0"/>
                </a:solidFill>
              </a:defRPr>
            </a:pPr>
            <a:r>
              <a:rPr sz="1350" b="1">
                <a:solidFill>
                  <a:srgbClr val="1565C0"/>
                </a:solidFill>
              </a:rPr>
              <a:t>PRÓXIMO PASSO</a:t>
            </a:r>
          </a:p>
        </p:txBody>
      </p:sp>
      <p:sp>
        <p:nvSpPr>
          <p:cNvPr id="2" name="cta">
            <a:extLst xmlns:a="http://schemas.openxmlformats.org/drawingml/2006/main">
              <a:ext uri="{FF2B5EF4-FFF2-40B4-BE49-F238E27FC236}">
                <a16:creationId xmlns:a16="http://schemas.microsoft.com/office/drawing/2014/main" id="{5F924FF1-A852-4A77-98E6-33811ABE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0B1F3A"/>
                </a:solidFill>
              </a:defRPr>
            </a:pPr>
            <a:r>
              <a:rPr sz="3300" b="1">
                <a:solidFill>
                  <a:srgbClr val="0B1F3A"/>
                </a:solidFill>
              </a:rPr>
              <a:t>Abra o Codespace em 2-core, execute doctor e checkpoint 01 e pare ao terminar.</a:t>
            </a:r>
          </a:p>
        </p:txBody>
      </p:sp>
      <p:sp>
        <p:nvSpPr>
          <p:cNvPr id="3" name="cta-meta">
            <a:extLst xmlns:a="http://schemas.openxmlformats.org/drawingml/2006/main">
              <a:ext uri="{FF2B5EF4-FFF2-40B4-BE49-F238E27FC236}">
                <a16:creationId xmlns:a16="http://schemas.microsoft.com/office/drawing/2014/main" id="{E8C3589B-B596-437F-AF6F-F9CE9A23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5C6F86"/>
                </a:solidFill>
              </a:defRPr>
            </a:pPr>
            <a:r>
              <a:rPr sz="1500">
                <a:solidFill>
                  <a:srgbClr val="5C6F86"/>
                </a:solidFill>
              </a:rPr>
              <a:t>Checkpoint 01 • roteiro completo no repositório</a:t>
            </a:r>
          </a:p>
        </p:txBody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D36C2CD5-75A0-4294-88AF-F270D4B0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AULA 0  •  OPEN / CORE 1.12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544D283-DE9A-4034-986E-A73FF9CA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D1A27543-A1EB-4FB4-A405-30B5A27C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17B60ED-2CBB-44B2-BA74-C10C8E5D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22/22</a:t>
            </a:r>
          </a:p>
        </p:txBody>
      </p:sp>
    </p:spTree>
    <p:extLst>
      <p:ext uri="{BB962C8B-B14F-4D97-AF65-F5344CB8AC3E}">
        <p14:creationId xmlns:p14="http://schemas.microsoft.com/office/powerpoint/2010/main" val="11455820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2026-09-02T01:42:56.9000000Z</dcterms:created>
  <dcterms:modified xsi:type="dcterms:W3CDTF">2026-09-02T01:42:56.9000000Z</dcterms:modified>
</coreProperties>
</file>