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6ca0af717d4f61" /><Relationship Type="http://schemas.openxmlformats.org/officeDocument/2006/relationships/extended-properties" Target="/docProps/app.xml" Id="R5f4276e6e138402b" /><Relationship Type="http://schemas.openxmlformats.org/officeDocument/2006/relationships/officeDocument" Target="/ppt/presentation.xml" Id="R1f32dc21eb644c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6e3c2aa5b5421b"/>
  </p:sldMasterIdLst>
  <p:notesMasterIdLst>
    <p:notesMasterId xmlns:r="http://schemas.openxmlformats.org/officeDocument/2006/relationships" r:id="R797d220b2e3c430e"/>
  </p:notesMasterIdLst>
  <p:sldIdLst>
    <p:sldId xmlns:r="http://schemas.openxmlformats.org/officeDocument/2006/relationships" id="256" r:id="Rfcd46549bfde457f"/>
    <p:sldId xmlns:r="http://schemas.openxmlformats.org/officeDocument/2006/relationships" id="257" r:id="R44664eaab895411b"/>
    <p:sldId xmlns:r="http://schemas.openxmlformats.org/officeDocument/2006/relationships" id="258" r:id="Rffda6439b9284998"/>
    <p:sldId xmlns:r="http://schemas.openxmlformats.org/officeDocument/2006/relationships" id="259" r:id="Rf9ecf59475734069"/>
    <p:sldId xmlns:r="http://schemas.openxmlformats.org/officeDocument/2006/relationships" id="260" r:id="R892d3cdad4824431"/>
    <p:sldId xmlns:r="http://schemas.openxmlformats.org/officeDocument/2006/relationships" id="261" r:id="R1f97cfe7173143eb"/>
    <p:sldId xmlns:r="http://schemas.openxmlformats.org/officeDocument/2006/relationships" id="262" r:id="Rf0cd8eab71ab4489"/>
    <p:sldId xmlns:r="http://schemas.openxmlformats.org/officeDocument/2006/relationships" id="263" r:id="R64e2476b30534dd9"/>
    <p:sldId xmlns:r="http://schemas.openxmlformats.org/officeDocument/2006/relationships" id="264" r:id="Recf451c460024410"/>
    <p:sldId xmlns:r="http://schemas.openxmlformats.org/officeDocument/2006/relationships" id="265" r:id="R885cda6ebbf344be"/>
    <p:sldId xmlns:r="http://schemas.openxmlformats.org/officeDocument/2006/relationships" id="266" r:id="R477e468175584d7b"/>
    <p:sldId xmlns:r="http://schemas.openxmlformats.org/officeDocument/2006/relationships" id="267" r:id="R9ef3e1e2cef342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6f57d0b2cc4f60" /><Relationship Type="http://schemas.openxmlformats.org/officeDocument/2006/relationships/slideMaster" Target="/ppt/slideMasters/slideMaster1.xml" Id="R516e3c2aa5b5421b" /><Relationship Type="http://schemas.openxmlformats.org/officeDocument/2006/relationships/notesMaster" Target="/ppt/notesMasters/notesMaster1.xml" Id="R797d220b2e3c430e" /><Relationship Type="http://schemas.openxmlformats.org/officeDocument/2006/relationships/presProps" Target="/ppt/presProps.xml" Id="R563812b5cff34f04" /><Relationship Type="http://schemas.openxmlformats.org/officeDocument/2006/relationships/tableStyles" Target="/ppt/tableStyles.xml" Id="Recc19c4b890a44a6" /><Relationship Type="http://schemas.openxmlformats.org/officeDocument/2006/relationships/slide" Target="/ppt/slides/slide1.xml" Id="Rfcd46549bfde457f" /><Relationship Type="http://schemas.openxmlformats.org/officeDocument/2006/relationships/slide" Target="/ppt/slides/slide2.xml" Id="R44664eaab895411b" /><Relationship Type="http://schemas.openxmlformats.org/officeDocument/2006/relationships/slide" Target="/ppt/slides/slide3.xml" Id="Rffda6439b9284998" /><Relationship Type="http://schemas.openxmlformats.org/officeDocument/2006/relationships/slide" Target="/ppt/slides/slide4.xml" Id="Rf9ecf59475734069" /><Relationship Type="http://schemas.openxmlformats.org/officeDocument/2006/relationships/slide" Target="/ppt/slides/slide5.xml" Id="R892d3cdad4824431" /><Relationship Type="http://schemas.openxmlformats.org/officeDocument/2006/relationships/slide" Target="/ppt/slides/slide6.xml" Id="R1f97cfe7173143eb" /><Relationship Type="http://schemas.openxmlformats.org/officeDocument/2006/relationships/slide" Target="/ppt/slides/slide7.xml" Id="Rf0cd8eab71ab4489" /><Relationship Type="http://schemas.openxmlformats.org/officeDocument/2006/relationships/slide" Target="/ppt/slides/slide8.xml" Id="R64e2476b30534dd9" /><Relationship Type="http://schemas.openxmlformats.org/officeDocument/2006/relationships/slide" Target="/ppt/slides/slide9.xml" Id="Recf451c460024410" /><Relationship Type="http://schemas.openxmlformats.org/officeDocument/2006/relationships/slide" Target="/ppt/slides/slide10.xml" Id="R885cda6ebbf344be" /><Relationship Type="http://schemas.openxmlformats.org/officeDocument/2006/relationships/slide" Target="/ppt/slides/slide11.xml" Id="R477e468175584d7b" /><Relationship Type="http://schemas.openxmlformats.org/officeDocument/2006/relationships/slide" Target="/ppt/slides/slide12.xml" Id="R9ef3e1e2cef342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53c148c7b34f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ae3ae4caff41c3" /><Relationship Type="http://schemas.openxmlformats.org/officeDocument/2006/relationships/notesMaster" Target="/ppt/notesMasters/notesMaster1.xml" Id="R761eefe566244b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7e1a78bfe54872" /><Relationship Type="http://schemas.openxmlformats.org/officeDocument/2006/relationships/notesMaster" Target="/ppt/notesMasters/notesMaster1.xml" Id="R6bf2aa40ec904f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4275a723da4697" /><Relationship Type="http://schemas.openxmlformats.org/officeDocument/2006/relationships/notesMaster" Target="/ppt/notesMasters/notesMaster1.xml" Id="Ra13829923d2145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35e1740f774206" /><Relationship Type="http://schemas.openxmlformats.org/officeDocument/2006/relationships/notesMaster" Target="/ppt/notesMasters/notesMaster1.xml" Id="R92b0e9dc6ff14a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4ae806542b459d" /><Relationship Type="http://schemas.openxmlformats.org/officeDocument/2006/relationships/notesMaster" Target="/ppt/notesMasters/notesMaster1.xml" Id="R492a58fac4684f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dcd2011aef4e8a" /><Relationship Type="http://schemas.openxmlformats.org/officeDocument/2006/relationships/notesMaster" Target="/ppt/notesMasters/notesMaster1.xml" Id="Rddec9662df894c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e698cb56c94a66" /><Relationship Type="http://schemas.openxmlformats.org/officeDocument/2006/relationships/notesMaster" Target="/ppt/notesMasters/notesMaster1.xml" Id="R1ba12af770c944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1b2a6bb6fd493c" /><Relationship Type="http://schemas.openxmlformats.org/officeDocument/2006/relationships/notesMaster" Target="/ppt/notesMasters/notesMaster1.xml" Id="R4d70d45bf3f242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42141c1216451b" /><Relationship Type="http://schemas.openxmlformats.org/officeDocument/2006/relationships/notesMaster" Target="/ppt/notesMasters/notesMaster1.xml" Id="R47ddd26ce21740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34b0a51e0e4b9e" /><Relationship Type="http://schemas.openxmlformats.org/officeDocument/2006/relationships/notesMaster" Target="/ppt/notesMasters/notesMaster1.xml" Id="R45a0a8e2d3ab4e4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1c7fdceee54698" /><Relationship Type="http://schemas.openxmlformats.org/officeDocument/2006/relationships/notesMaster" Target="/ppt/notesMasters/notesMaster1.xml" Id="Reeb001b3d49e4d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fc411148849e1" /><Relationship Type="http://schemas.openxmlformats.org/officeDocument/2006/relationships/notesMaster" Target="/ppt/notesMasters/notesMaster1.xml" Id="R5704a87627864f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 mostrando o resultado: qualquer aluno deve chegar ao mesmo checkpoint, independentemente do sistema. Explique que esta aula reduz atrito; ela não exige conhecimento prévio de Python ou Git.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a pasta target somente depois de executar. Não presuma que o aluno sabe o que é artifact; diga que são arquivos de evidência do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https://docs.getdbt.com/reference/artifacts/dbt-artifacts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 autoquestionário do guia. Se o aluno não souber join, recomende revisão curta, mas não bloqueie o setup.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Recomende local como caminho principal e Codespaces como alternativa oficial. Não diga que Codespaces é ilimitado ou sempre gratuito.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https://docs.github.com/en/billing/managing-billing-for-your-products/managing-billing-for-github-codespaces/about-billing-for-github-codespaces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Windows pode ser py -3.12; em macOS/Linux, python3.12. Depois, o launcher resolve venv e executáveis corretamente.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https://docs.python.org/3/library/venv.html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apenas o caminho do sistema usado na gravação e aponte os outros guias. Não ensine ativação manual da venv.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https://docs.python.org/3/using/windows.html</a:t>
            </a:r>
          </a:p>
          <a:p xmlns:a="http://schemas.openxmlformats.org/drawingml/2006/main">
            <a:r>
              <a:t>- https://docs.python.org/3/using/mac.html</a:t>
            </a:r>
          </a:p>
          <a:p xmlns:a="http://schemas.openxmlformats.org/drawingml/2006/main">
            <a:r>
              <a:t>- https://docs.python.org/3/using/unix.html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ao vivo. Explique cada OK. Se houver erro, mostre a mensagem corretiva e consulte o guia do sistema.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primeira execução precisa de internet. Repetir é seguro. Destaque que nenhuma credencial cloud é solicitada.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https://docs.getdbt.com/reference/commands/debug</a:t>
            </a:r>
          </a:p>
          <a:p xmlns:a="http://schemas.openxmlformats.org/drawingml/2006/main">
            <a:r>
              <a:t>- https://docs.python.org/3/library/venv.html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 o repositório e conecte cada pasta a uma necessidade do aluno. Não explore arquivos internos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https://github.com/AnselmoBorges/dbt-moderno-na-pratica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ao vivo e espere a conclusão. Mostre o status final e os artifacts, não leia cada linha do 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https://docs.getdbt.com/reference/commands/build</a:t>
            </a:r>
          </a:p>
          <a:p xmlns:a="http://schemas.openxmlformats.org/drawingml/2006/main">
            <a:r>
              <a:t>- https://docs.getdbt.com/reference/artifacts/dbt-artifacts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Evite a frase 'ignore warnings'. Ensine o aluno a separar aviso de depreciação, falha técnica e resultado de teste.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https://docs.getdbt.com/reference/commands/build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Demonstre o relatório JSON. Mostre que ele não contém ambiente completo nem caminho pessoal.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https://docs.getdbt.com/community/resources/getting-help</a:t>
            </a:r>
          </a:p>
          <a:p xmlns:a="http://schemas.openxmlformats.org/drawingml/2006/main">
            <a:r>
              <a:t>- https://duckdb.org/docs/stable/connect/concurrency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d722cf533d46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99e60313df45cb" /><Relationship Type="http://schemas.openxmlformats.org/officeDocument/2006/relationships/slideLayout" Target="/ppt/slideLayouts/slideLayout1.xml" Id="Rdfa77c5efceb44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a77c5efceb44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10c489dce45ba" /><Relationship Type="http://schemas.openxmlformats.org/officeDocument/2006/relationships/notesSlide" Target="/ppt/notesSlides/notesSlide1.xml" Id="Rc88eefc1b2e746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b70b30c774895" /><Relationship Type="http://schemas.openxmlformats.org/officeDocument/2006/relationships/notesSlide" Target="/ppt/notesSlides/notesSlide2.xml" Id="Rb14767ea3c0443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ff1f7f59441fd" /><Relationship Type="http://schemas.openxmlformats.org/officeDocument/2006/relationships/notesSlide" Target="/ppt/notesSlides/notesSlide3.xml" Id="Rc46dfa6774334d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fdfe006014914" /><Relationship Type="http://schemas.openxmlformats.org/officeDocument/2006/relationships/notesSlide" Target="/ppt/notesSlides/notesSlide4.xml" Id="R0b320637f7ad49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fb05eaec049b8" /><Relationship Type="http://schemas.openxmlformats.org/officeDocument/2006/relationships/notesSlide" Target="/ppt/notesSlides/notesSlide5.xml" Id="Rdb04fa3c877e44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3879c7b44456b" /><Relationship Type="http://schemas.openxmlformats.org/officeDocument/2006/relationships/notesSlide" Target="/ppt/notesSlides/notesSlide6.xml" Id="Rcfe5a1215d2442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cd98289f4473b" /><Relationship Type="http://schemas.openxmlformats.org/officeDocument/2006/relationships/notesSlide" Target="/ppt/notesSlides/notesSlide7.xml" Id="R3382d44930e54a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7bdcf2d28a40f9" /><Relationship Type="http://schemas.openxmlformats.org/officeDocument/2006/relationships/notesSlide" Target="/ppt/notesSlides/notesSlide8.xml" Id="Ra11abae6da4649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2ee0b281f4855" /><Relationship Type="http://schemas.openxmlformats.org/officeDocument/2006/relationships/notesSlide" Target="/ppt/notesSlides/notesSlide9.xml" Id="R00efce1ef6174c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48e94b93f49b0" /><Relationship Type="http://schemas.openxmlformats.org/officeDocument/2006/relationships/notesSlide" Target="/ppt/notesSlides/notesSlide10.xml" Id="R73614330e31449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65fc39739f404f" /><Relationship Type="http://schemas.openxmlformats.org/officeDocument/2006/relationships/notesSlide" Target="/ppt/notesSlides/notesSlide11.xml" Id="R5dd09576826740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23cdda3894acf" /><Relationship Type="http://schemas.openxmlformats.org/officeDocument/2006/relationships/notesSlide" Target="/ppt/notesSlides/notesSlide12.xml" Id="Rc3e9fa9790f6451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4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8FEF43-6975-4742-953D-4341FAED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"/>
            <a:ext cx="285750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1E6CC8-2147-4D5C-8C44-43E8A448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2900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9CC43C47-A2C2-45FA-A736-E60F95AB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191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AAEA5CC6-966D-43E5-897B-F333FF52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</a:defRPr>
            </a:pPr>
            <a:r>
              <a:rPr sz="4950" b="1">
                <a:solidFill>
                  <a:srgbClr val="FFFFFF"/>
                </a:solidFill>
              </a:rPr>
              <a:t>Seu laboratório dbt, pronto para aprender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22D00C9-63D7-4E93-AE7C-5FE5B5E7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2F2FF"/>
                </a:solidFill>
              </a:defRPr>
            </a:pPr>
            <a:r>
              <a:rPr sz="2025">
                <a:solidFill>
                  <a:srgbClr val="E2F2FF"/>
                </a:solidFill>
              </a:rPr>
              <a:t>Windows, macOS, Linux ou Codespaces — sem cloud e sem ativação manual</a:t>
            </a:r>
          </a:p>
        </p:txBody>
      </p:sp>
      <p:sp>
        <p:nvSpPr>
          <p:cNvPr id="6" name="episode">
            <a:extLst xmlns:a="http://schemas.openxmlformats.org/drawingml/2006/main">
              <a:ext uri="{FF2B5EF4-FFF2-40B4-BE49-F238E27FC236}">
                <a16:creationId xmlns:a16="http://schemas.microsoft.com/office/drawing/2014/main" id="{AD1AC7CC-A161-43DC-B021-627E3ACF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Preparação do ambiente  •  dbt Moderno na Prática</a:t>
            </a:r>
          </a:p>
        </p:txBody>
      </p:sp>
    </p:spTree>
    <p:extLst>
      <p:ext uri="{BB962C8B-B14F-4D97-AF65-F5344CB8AC3E}">
        <p14:creationId xmlns:p14="http://schemas.microsoft.com/office/powerpoint/2010/main" val="184223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4DD8E-7BD1-4073-B0F7-013AF1F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BF334D4-A257-4872-B958-34241ECE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RESULTADO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73DEAB-272C-4754-9B7C-D1C4C4A0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Você termina com evidência, não com promessa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B79DA21-05D5-43DA-BE93-3E7006FD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02</a:t>
            </a:r>
          </a:p>
        </p:txBody>
      </p:sp>
      <p:sp>
        <p:nvSpPr>
          <p:cNvPr id="5" name="statement">
            <a:extLst xmlns:a="http://schemas.openxmlformats.org/drawingml/2006/main">
              <a:ext uri="{FF2B5EF4-FFF2-40B4-BE49-F238E27FC236}">
                <a16:creationId xmlns:a16="http://schemas.microsoft.com/office/drawing/2014/main" id="{778D397B-4190-495B-BE83-626B4F11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723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1 build local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+ testes</a:t>
            </a:r>
          </a:p>
          <a:p xmlns:a="http://schemas.openxmlformats.org/drawingml/2006/main">
            <a:pPr>
              <a:defRPr sz="3600" b="1">
                <a:solidFill>
                  <a:srgbClr val="06142E"/>
                </a:solidFill>
              </a:defRPr>
            </a:pPr>
            <a:r>
              <a:rPr sz="3600" b="1">
                <a:solidFill>
                  <a:srgbClr val="06142E"/>
                </a:solidFill>
              </a:rPr>
              <a:t>+ artifacts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A9FC4-48DB-461B-86F1-E5E49914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114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upport">
            <a:extLst xmlns:a="http://schemas.openxmlformats.org/drawingml/2006/main">
              <a:ext uri="{FF2B5EF4-FFF2-40B4-BE49-F238E27FC236}">
                <a16:creationId xmlns:a16="http://schemas.microsoft.com/office/drawing/2014/main" id="{2972C2E8-B6F6-4C18-8029-0A3BB39A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Sem conta dbt Platform.</a:t>
            </a:r>
          </a:p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Sem Databricks.</a:t>
            </a:r>
          </a:p>
          <a:p xmlns:a="http://schemas.openxmlformats.org/drawingml/2006/main">
            <a:pPr>
              <a:defRPr sz="1800">
                <a:solidFill>
                  <a:srgbClr val="52657F"/>
                </a:solidFill>
              </a:defRPr>
            </a:pPr>
            <a:r>
              <a:rPr sz="1800">
                <a:solidFill>
                  <a:srgbClr val="52657F"/>
                </a:solidFill>
              </a:rPr>
              <a:t>Sem chave de IA.</a:t>
            </a:r>
          </a:p>
        </p:txBody>
      </p:sp>
    </p:spTree>
    <p:extLst>
      <p:ext uri="{BB962C8B-B14F-4D97-AF65-F5344CB8AC3E}">
        <p14:creationId xmlns:p14="http://schemas.microsoft.com/office/powerpoint/2010/main" val="19857799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302AD-5D74-4165-A0FC-0C0E6DAD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680DB47-017D-46CD-AEF1-9EFA7777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PRÉ-REQUISITOS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3868AD-E0FD-4B4A-AC26-8993524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SQL básico basta para começar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CDD2843-1F58-4BC5-B115-C898F849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03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59DD872D-51AD-4886-B802-4DFDAC04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Você já traz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85A28AB7-FBFA-408C-828B-95808E17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O curso ensina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AF209A16-DDDB-490A-A906-0D5674B3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SELECT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JOIN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GROUP BY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SUM e COUNT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67F671E3-A82C-462B-87FC-56F2CE14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Terminal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Git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Python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dbt passo a passo</a:t>
            </a:r>
          </a:p>
        </p:txBody>
      </p:sp>
    </p:spTree>
    <p:extLst>
      <p:ext uri="{BB962C8B-B14F-4D97-AF65-F5344CB8AC3E}">
        <p14:creationId xmlns:p14="http://schemas.microsoft.com/office/powerpoint/2010/main" val="16191080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F9FEF-88C2-444A-9BC4-813CEA8B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113A494-D389-4980-852E-A3C76C7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ESCOLHA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36F3FF-8B26-432C-A139-B733C54A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Local e Codespaces chegam ao mesmo laboratório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FAF23D7-F317-42A9-901B-7750DA76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04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A2BC0E46-989E-4A06-8E97-9071E84B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AE9C5E70-5103-4194-A0F3-36F88DA0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Codespaces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155FD2C6-7F8F-4315-B3D8-4041BD1A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Funciona offline depois do setup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Sem consumo de Codespaces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Exige instalar Python e Git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E85C6C45-430D-4074-AD91-1D765545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Ambiente pronto no navegador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Bom para desbloquear o início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Depende da conta e da franquia</a:t>
            </a:r>
          </a:p>
        </p:txBody>
      </p:sp>
    </p:spTree>
    <p:extLst>
      <p:ext uri="{BB962C8B-B14F-4D97-AF65-F5344CB8AC3E}">
        <p14:creationId xmlns:p14="http://schemas.microsoft.com/office/powerpoint/2010/main" val="750722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532E5-E453-4961-93EA-AC924F86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6C7B411-4471-4238-AB18-2E6E4A12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ARQUITETURA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554081-DD78-46E1-80B6-4FD764FE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Um launcher esconde diferenças do sistema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4C30F12-B413-4233-8822-54965734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05</a:t>
            </a:r>
          </a:p>
        </p:txBody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6A17D5D0-7D04-4832-AFB8-3D7CDF03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Seu sistema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CBE87E6B-65E4-4097-8D77-93E29C5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course.py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BDADD950-DE81-4749-B54E-E7E81047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dbt + DuckDB</a:t>
            </a:r>
          </a:p>
        </p:txBody>
      </p:sp>
      <p:sp>
        <p:nvSpPr>
          <p:cNvPr id="8" name="node-4">
            <a:extLst xmlns:a="http://schemas.openxmlformats.org/drawingml/2006/main">
              <a:ext uri="{FF2B5EF4-FFF2-40B4-BE49-F238E27FC236}">
                <a16:creationId xmlns:a16="http://schemas.microsoft.com/office/drawing/2014/main" id="{AC93BF5A-F19E-4DA9-ADCD-C19690B2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checkpoints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1943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34063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54868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sp>
        <p:nvSpPr>
          <p:cNvPr id="12" name="caption">
            <a:extLst xmlns:a="http://schemas.openxmlformats.org/drawingml/2006/main">
              <a:ext uri="{FF2B5EF4-FFF2-40B4-BE49-F238E27FC236}">
                <a16:creationId xmlns:a16="http://schemas.microsoft.com/office/drawing/2014/main" id="{61387A44-42C2-4D6B-9354-DEAF344A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52657F"/>
                </a:solidFill>
              </a:defRPr>
            </a:pPr>
            <a:r>
              <a:rPr sz="1875">
                <a:solidFill>
                  <a:srgbClr val="52657F"/>
                </a:solidFill>
              </a:rPr>
              <a:t>O comando muda no início; o laboratório permanece igual.</a:t>
            </a:r>
          </a:p>
        </p:txBody>
      </p:sp>
    </p:spTree>
    <p:extLst>
      <p:ext uri="{BB962C8B-B14F-4D97-AF65-F5344CB8AC3E}">
        <p14:creationId xmlns:p14="http://schemas.microsoft.com/office/powerpoint/2010/main" val="319132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7A892-7C70-41D0-BC9C-491F544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1E28E0-424A-4403-8A37-339A08A3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INSTALAÇÃO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841C16-DE5B-47DF-AB7A-52D14EBE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Três caminhos, a mesma sequência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D8EBA072-49CB-45F8-8425-A4CD7E19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E499-F7D1-426B-8547-ABCDF886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2DB8D076-D3AC-469A-8BB0-AC22371C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Windows</a:t>
            </a:r>
          </a:p>
        </p:txBody>
      </p:sp>
      <p:sp>
        <p:nvSpPr>
          <p:cNvPr id="7" name="step-body-1">
            <a:extLst xmlns:a="http://schemas.openxmlformats.org/drawingml/2006/main">
              <a:ext uri="{FF2B5EF4-FFF2-40B4-BE49-F238E27FC236}">
                <a16:creationId xmlns:a16="http://schemas.microsoft.com/office/drawing/2014/main" id="{9178F22E-90EB-4D63-A72A-D0145DFB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Python oficial + Git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Use py -3.12 se necessário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20FF8-4215-4B79-A87E-A57F7ABE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6438767B-DDA2-470A-84BB-06941E4A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macOS/Linux</a:t>
            </a:r>
          </a:p>
        </p:txBody>
      </p:sp>
      <p:sp>
        <p:nvSpPr>
          <p:cNvPr id="10" name="step-body-2">
            <a:extLst xmlns:a="http://schemas.openxmlformats.org/drawingml/2006/main">
              <a:ext uri="{FF2B5EF4-FFF2-40B4-BE49-F238E27FC236}">
                <a16:creationId xmlns:a16="http://schemas.microsoft.com/office/drawing/2014/main" id="{200E3796-EE12-4BC9-873E-08FE5870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Python 3.12/3.13 + Git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Use python3.12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DAF21-FE90-4EE8-B4DA-F3897E4F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53399588-F096-4490-89ED-7952A73A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Codespaces</a:t>
            </a:r>
          </a:p>
        </p:txBody>
      </p:sp>
      <p:sp>
        <p:nvSpPr>
          <p:cNvPr id="13" name="step-body-3">
            <a:extLst xmlns:a="http://schemas.openxmlformats.org/drawingml/2006/main">
              <a:ext uri="{FF2B5EF4-FFF2-40B4-BE49-F238E27FC236}">
                <a16:creationId xmlns:a16="http://schemas.microsoft.com/office/drawing/2014/main" id="{0464EF9C-AF74-41C0-AEB3-D5ADC73B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Abra no navegador</a:t>
            </a:r>
          </a:p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Setup automático</a:t>
            </a:r>
          </a:p>
        </p:txBody>
      </p:sp>
    </p:spTree>
    <p:extLst>
      <p:ext uri="{BB962C8B-B14F-4D97-AF65-F5344CB8AC3E}">
        <p14:creationId xmlns:p14="http://schemas.microsoft.com/office/powerpoint/2010/main" val="981501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BF0F6-4BA6-4D4C-BACF-294B93D2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C878599-8FE5-4D1E-AA92-8A3C5999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DIAGNÓSTICO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57DCD1-61B4-45D4-8774-6848742B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Descubra o bloqueio antes de instalar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52442E98-A45D-40B1-96DA-E9AE25E4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07</a:t>
            </a:r>
          </a:p>
        </p:txBody>
      </p:sp>
      <p:sp>
        <p:nvSpPr>
          <p:cNvPr id="5" name="command">
            <a:extLst xmlns:a="http://schemas.openxmlformats.org/drawingml/2006/main">
              <a:ext uri="{FF2B5EF4-FFF2-40B4-BE49-F238E27FC236}">
                <a16:creationId xmlns:a16="http://schemas.microsoft.com/office/drawing/2014/main" id="{7C7AB8A9-3B78-4041-B6FF-824477F1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0382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EC5FF"/>
                </a:solidFill>
              </a:defRPr>
            </a:pPr>
            <a:r>
              <a:rPr sz="2250" b="1">
                <a:solidFill>
                  <a:srgbClr val="1EC5FF"/>
                </a:solidFill>
              </a:rPr>
              <a:t>python course.py doctor</a:t>
            </a:r>
          </a:p>
        </p:txBody>
      </p:sp>
      <p:sp>
        <p:nvSpPr>
          <p:cNvPr id="6" name="command-explanation">
            <a:extLst xmlns:a="http://schemas.openxmlformats.org/drawingml/2006/main">
              <a:ext uri="{FF2B5EF4-FFF2-40B4-BE49-F238E27FC236}">
                <a16:creationId xmlns:a16="http://schemas.microsoft.com/office/drawing/2014/main" id="{00219458-8BD6-47EB-B89F-C059B638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Verifica Python, Git, espaço, permissão e arquivos do curso.</a:t>
            </a:r>
          </a:p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Não instala nem altera o ambiente.</a:t>
            </a:r>
          </a:p>
        </p:txBody>
      </p:sp>
    </p:spTree>
    <p:extLst>
      <p:ext uri="{BB962C8B-B14F-4D97-AF65-F5344CB8AC3E}">
        <p14:creationId xmlns:p14="http://schemas.microsoft.com/office/powerpoint/2010/main" val="1179064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7ADA8-4C59-42AA-913B-1BA134C5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FD88276-1D9C-422F-B077-AC4A439B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SETUP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6A9A09-9690-408C-A0DE-2DB885F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Um comando prepara o ambiente isolado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D58355A9-DDBF-468C-862B-1ED9884D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08</a:t>
            </a:r>
          </a:p>
        </p:txBody>
      </p:sp>
      <p:sp>
        <p:nvSpPr>
          <p:cNvPr id="5" name="command">
            <a:extLst xmlns:a="http://schemas.openxmlformats.org/drawingml/2006/main">
              <a:ext uri="{FF2B5EF4-FFF2-40B4-BE49-F238E27FC236}">
                <a16:creationId xmlns:a16="http://schemas.microsoft.com/office/drawing/2014/main" id="{00EB8BCD-8F16-45B6-8E90-AEF53E3D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0382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EC5FF"/>
                </a:solidFill>
              </a:defRPr>
            </a:pPr>
            <a:r>
              <a:rPr sz="2250" b="1">
                <a:solidFill>
                  <a:srgbClr val="1EC5FF"/>
                </a:solidFill>
              </a:rPr>
              <a:t>python course.py setup</a:t>
            </a:r>
          </a:p>
        </p:txBody>
      </p:sp>
      <p:sp>
        <p:nvSpPr>
          <p:cNvPr id="6" name="command-explanation">
            <a:extLst xmlns:a="http://schemas.openxmlformats.org/drawingml/2006/main">
              <a:ext uri="{FF2B5EF4-FFF2-40B4-BE49-F238E27FC236}">
                <a16:creationId xmlns:a16="http://schemas.microsoft.com/office/drawing/2014/main" id="{80C0FECD-945A-4591-9D8D-6C46D09A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Cria .venv, instala versões fixadas, baixa packages e executa dbt debug.</a:t>
            </a:r>
          </a:p>
        </p:txBody>
      </p:sp>
    </p:spTree>
    <p:extLst>
      <p:ext uri="{BB962C8B-B14F-4D97-AF65-F5344CB8AC3E}">
        <p14:creationId xmlns:p14="http://schemas.microsoft.com/office/powerpoint/2010/main" val="2895124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92BBB-0F68-48EE-A11A-F4D18661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E4B952-B0A7-4CE3-81F4-AE74F20A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MAPA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EDDD98-BD3B-4760-946F-E00D6F01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Saiba onde procurar antes de editar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D0E69B9-90D8-4B22-8162-A08B0BEB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09</a:t>
            </a:r>
          </a:p>
        </p:txBody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F1061AC4-AEC4-4410-B7DA-01B23E7B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docs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FFFE0140-D33D-4B98-9964-A66D50AE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31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roteiros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63C8BD6A-FCA7-4AFB-85BE-1DC8ED9E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13D"/>
                </a:solidFill>
              </a:defRPr>
            </a:pPr>
            <a:r>
              <a:rPr sz="1650" b="1">
                <a:solidFill>
                  <a:srgbClr val="10213D"/>
                </a:solidFill>
              </a:rPr>
              <a:t>lab</a:t>
            </a:r>
          </a:p>
        </p:txBody>
      </p:sp>
      <p:sp>
        <p:nvSpPr>
          <p:cNvPr id="8" name="node-4">
            <a:extLst xmlns:a="http://schemas.openxmlformats.org/drawingml/2006/main">
              <a:ext uri="{FF2B5EF4-FFF2-40B4-BE49-F238E27FC236}">
                <a16:creationId xmlns:a16="http://schemas.microsoft.com/office/drawing/2014/main" id="{CC5E3A0A-0264-4438-B550-B598456E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563" y="2619375"/>
            <a:ext cx="21907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assets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11943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34063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cxnSp>
        <p:nvCxnSpPr>
          <p:cNvPr id="23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548688" y="3214688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EC5FF"/>
            </a:solidFill>
            <a:prstDash val="solid"/>
            <a:tailEnd type="arrow" w="med" len="med"/>
          </a:ln>
        </p:spPr>
      </p:cxnSp>
      <p:sp>
        <p:nvSpPr>
          <p:cNvPr id="12" name="caption">
            <a:extLst xmlns:a="http://schemas.openxmlformats.org/drawingml/2006/main">
              <a:ext uri="{FF2B5EF4-FFF2-40B4-BE49-F238E27FC236}">
                <a16:creationId xmlns:a16="http://schemas.microsoft.com/office/drawing/2014/main" id="{8022C168-46C6-4C45-9FF6-723927E0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914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52657F"/>
                </a:solidFill>
              </a:defRPr>
            </a:pPr>
            <a:r>
              <a:rPr sz="1875">
                <a:solidFill>
                  <a:srgbClr val="52657F"/>
                </a:solidFill>
              </a:rPr>
              <a:t>Aprender → acompanhar → executar → visualizar</a:t>
            </a:r>
          </a:p>
        </p:txBody>
      </p:sp>
    </p:spTree>
    <p:extLst>
      <p:ext uri="{BB962C8B-B14F-4D97-AF65-F5344CB8AC3E}">
        <p14:creationId xmlns:p14="http://schemas.microsoft.com/office/powerpoint/2010/main" val="13901633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C85C7-2F32-4936-AFDD-1C292127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E510AAC-DB95-4392-BD70-FEC66291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PRIMEIRO BUILD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7B5719-6F59-4674-A147-199B7FF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O primeiro checkpoint fecha o circuito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1C4AB81-C28B-4E7E-A4F7-EA56A4DF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10</a:t>
            </a:r>
          </a:p>
        </p:txBody>
      </p:sp>
      <p:sp>
        <p:nvSpPr>
          <p:cNvPr id="5" name="command">
            <a:extLst xmlns:a="http://schemas.openxmlformats.org/drawingml/2006/main">
              <a:ext uri="{FF2B5EF4-FFF2-40B4-BE49-F238E27FC236}">
                <a16:creationId xmlns:a16="http://schemas.microsoft.com/office/drawing/2014/main" id="{68C652E5-8C45-43C9-8F9D-AB80ED45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0382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EC5FF"/>
                </a:solidFill>
              </a:defRPr>
            </a:pPr>
            <a:r>
              <a:rPr sz="2250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6" name="command-explanation">
            <a:extLst xmlns:a="http://schemas.openxmlformats.org/drawingml/2006/main">
              <a:ext uri="{FF2B5EF4-FFF2-40B4-BE49-F238E27FC236}">
                <a16:creationId xmlns:a16="http://schemas.microsoft.com/office/drawing/2014/main" id="{303702BB-175D-41F2-9656-4F4104C1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67125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Seeds → parse → build → docs → artifacts</a:t>
            </a:r>
          </a:p>
          <a:p xmlns:a="http://schemas.openxmlformats.org/drawingml/2006/main">
            <a:pPr algn="ctr">
              <a:defRPr sz="2025">
                <a:solidFill>
                  <a:srgbClr val="10213D"/>
                </a:solidFill>
              </a:defRPr>
            </a:pPr>
            <a:r>
              <a:rPr sz="2025">
                <a:solidFill>
                  <a:srgbClr val="10213D"/>
                </a:solidFill>
              </a:rPr>
              <a:t>Resultado esperado: Checkpoint 01 OK</a:t>
            </a:r>
          </a:p>
        </p:txBody>
      </p:sp>
    </p:spTree>
    <p:extLst>
      <p:ext uri="{BB962C8B-B14F-4D97-AF65-F5344CB8AC3E}">
        <p14:creationId xmlns:p14="http://schemas.microsoft.com/office/powerpoint/2010/main" val="15567122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1FC04-2361-4309-B865-CB8204D6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41D5155-61D2-4ABD-8D2A-02605A21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LEITURA DA SAÍDA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358455-FD9A-4FA6-A990-24C2B272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Verde comprova; amarelo orienta; vermelho bloqueia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1C8CFBB-0326-47B3-9EAE-FE0BF7AD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11</a:t>
            </a:r>
          </a:p>
        </p:txBody>
      </p:sp>
      <p:sp>
        <p:nvSpPr>
          <p:cNvPr id="5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D7A78FF8-88A9-4CAC-A691-2AFCBE12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19050">
            <a:solidFill>
              <a:srgbClr val="0614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Siga</a:t>
            </a:r>
          </a:p>
        </p:txBody>
      </p:sp>
      <p:sp>
        <p:nvSpPr>
          <p:cNvPr id="6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DFF21B36-EE89-4891-B1AF-86AF9C12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953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565C0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Pare e investigue</a:t>
            </a:r>
          </a:p>
        </p:txBody>
      </p:sp>
      <p:sp>
        <p:nvSpPr>
          <p:cNvPr id="7" name="left-body">
            <a:extLst xmlns:a="http://schemas.openxmlformats.org/drawingml/2006/main">
              <a:ext uri="{FF2B5EF4-FFF2-40B4-BE49-F238E27FC236}">
                <a16:creationId xmlns:a16="http://schemas.microsoft.com/office/drawing/2014/main" id="{30C50560-7B42-4621-B626-DEA97CE1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Checkpoint OK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Testes pass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Artifacts presentes</a:t>
            </a:r>
          </a:p>
        </p:txBody>
      </p:sp>
      <p:sp>
        <p:nvSpPr>
          <p:cNvPr id="8" name="right-body">
            <a:extLst xmlns:a="http://schemas.openxmlformats.org/drawingml/2006/main">
              <a:ext uri="{FF2B5EF4-FFF2-40B4-BE49-F238E27FC236}">
                <a16:creationId xmlns:a16="http://schemas.microsoft.com/office/drawing/2014/main" id="{1B0D236A-B9EA-42BB-AE63-392C95F5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57500"/>
            <a:ext cx="4524375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ERRO no doctor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Falha de conexão</a:t>
            </a:r>
          </a:p>
          <a:p xmlns:a="http://schemas.openxmlformats.org/drawingml/2006/main">
            <a:pPr>
              <a:defRPr sz="1800">
                <a:solidFill>
                  <a:srgbClr val="10213D"/>
                </a:solidFill>
              </a:defRPr>
            </a:pPr>
            <a:r>
              <a:rPr sz="1800">
                <a:solidFill>
                  <a:srgbClr val="10213D"/>
                </a:solidFill>
              </a:rPr>
              <a:t>Teste ou contrato quebrado</a:t>
            </a:r>
          </a:p>
        </p:txBody>
      </p:sp>
    </p:spTree>
    <p:extLst>
      <p:ext uri="{BB962C8B-B14F-4D97-AF65-F5344CB8AC3E}">
        <p14:creationId xmlns:p14="http://schemas.microsoft.com/office/powerpoint/2010/main" val="14514339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9492A-6CDB-48F9-8BF6-1764F609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523B652-E3CF-4660-AACE-B5822853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65C0"/>
                </a:solidFill>
              </a:defRPr>
            </a:pPr>
            <a:r>
              <a:rPr sz="1125" b="1">
                <a:solidFill>
                  <a:srgbClr val="1565C0"/>
                </a:solidFill>
              </a:rPr>
              <a:t>AJUDA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643D7C-6E59-42BF-A212-64BC458C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142E"/>
                </a:solidFill>
              </a:defRPr>
            </a:pPr>
            <a:r>
              <a:rPr sz="3150" b="1">
                <a:solidFill>
                  <a:srgbClr val="06142E"/>
                </a:solidFill>
              </a:rPr>
              <a:t>Resolva sem expor segredos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02F0DB0-3EE8-4CF8-8BA6-52964BB7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2657F"/>
                </a:solidFill>
              </a:defRPr>
            </a:pPr>
            <a:r>
              <a:rPr sz="900">
                <a:solidFill>
                  <a:srgbClr val="52657F"/>
                </a:solidFill>
              </a:rPr>
              <a:t>RESCUE POINT  •  CURSO INDEPENDENTE  • 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65DC1-9663-4AD1-8E7A-EB77D289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8045C9CB-5B02-4972-B5F3-E0F071E5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Diagnostique</a:t>
            </a:r>
          </a:p>
        </p:txBody>
      </p:sp>
      <p:sp>
        <p:nvSpPr>
          <p:cNvPr id="7" name="step-body-1">
            <a:extLst xmlns:a="http://schemas.openxmlformats.org/drawingml/2006/main">
              <a:ext uri="{FF2B5EF4-FFF2-40B4-BE49-F238E27FC236}">
                <a16:creationId xmlns:a16="http://schemas.microsoft.com/office/drawing/2014/main" id="{A16F3BC2-25E0-409F-A6D1-54D6D7C3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support-report gera versões e checks sanitizados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BA79D-1F4D-4E2D-B4F2-FFD0E324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8AA0C105-074E-477C-B130-8A1551A4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Consulte</a:t>
            </a:r>
          </a:p>
        </p:txBody>
      </p:sp>
      <p:sp>
        <p:nvSpPr>
          <p:cNvPr id="10" name="step-body-2">
            <a:extLst xmlns:a="http://schemas.openxmlformats.org/drawingml/2006/main">
              <a:ext uri="{FF2B5EF4-FFF2-40B4-BE49-F238E27FC236}">
                <a16:creationId xmlns:a16="http://schemas.microsoft.com/office/drawing/2014/main" id="{B3095BB7-C6FF-4BFF-9B7B-7BF68003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FAQ cobre Python, proxy, permissão e DuckDB lock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9D939-5829-4795-BDC7-EBCA9A41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6DBB9F90-FFD8-4B1D-B0C8-04C538F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85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142E"/>
                </a:solidFill>
              </a:defRPr>
            </a:pPr>
            <a:r>
              <a:rPr sz="2025" b="1">
                <a:solidFill>
                  <a:srgbClr val="06142E"/>
                </a:solidFill>
              </a:rPr>
              <a:t>Peça ajuda</a:t>
            </a:r>
          </a:p>
        </p:txBody>
      </p:sp>
      <p:sp>
        <p:nvSpPr>
          <p:cNvPr id="13" name="step-body-3">
            <a:extLst xmlns:a="http://schemas.openxmlformats.org/drawingml/2006/main">
              <a:ext uri="{FF2B5EF4-FFF2-40B4-BE49-F238E27FC236}">
                <a16:creationId xmlns:a16="http://schemas.microsoft.com/office/drawing/2014/main" id="{37C091B2-53E6-4862-A73D-9730E449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2425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57F"/>
                </a:solidFill>
              </a:defRPr>
            </a:pPr>
            <a:r>
              <a:rPr sz="1650">
                <a:solidFill>
                  <a:srgbClr val="52657F"/>
                </a:solidFill>
              </a:rPr>
              <a:t>Issue com comando, erro e relatório — nunca tokens</a:t>
            </a:r>
          </a:p>
        </p:txBody>
      </p:sp>
    </p:spTree>
    <p:extLst>
      <p:ext uri="{BB962C8B-B14F-4D97-AF65-F5344CB8AC3E}">
        <p14:creationId xmlns:p14="http://schemas.microsoft.com/office/powerpoint/2010/main" val="1803811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2026-09-01T22:27:10.7980000Z</dcterms:created>
  <dcterms:modified xsi:type="dcterms:W3CDTF">2026-09-01T22:27:10.7980000Z</dcterms:modified>
</coreProperties>
</file>