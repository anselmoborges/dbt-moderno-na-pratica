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99bc4d411dd4535" /><Relationship Type="http://schemas.openxmlformats.org/officeDocument/2006/relationships/extended-properties" Target="/docProps/app.xml" Id="R8df6d8634b2b403b" /><Relationship Type="http://schemas.openxmlformats.org/officeDocument/2006/relationships/officeDocument" Target="/ppt/presentation.xml" Id="R1494bd0bd1a1496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0f8e71a7024410c"/>
    <p:sldMasterId xmlns:r="http://schemas.openxmlformats.org/officeDocument/2006/relationships" id="2147483650" r:id="R14cbf583ce314ae0"/>
  </p:sldMasterIdLst>
  <p:notesMasterIdLst>
    <p:notesMasterId xmlns:r="http://schemas.openxmlformats.org/officeDocument/2006/relationships" r:id="Rc03f8807c30e487e"/>
  </p:notesMasterIdLst>
  <p:sldIdLst>
    <p:sldId xmlns:r="http://schemas.openxmlformats.org/officeDocument/2006/relationships" id="256" r:id="R95796218cc37415b"/>
    <p:sldId xmlns:r="http://schemas.openxmlformats.org/officeDocument/2006/relationships" id="257" r:id="R86a26f9a8b7b4c5b"/>
    <p:sldId xmlns:r="http://schemas.openxmlformats.org/officeDocument/2006/relationships" id="258" r:id="R4832c7d4d5294e57"/>
    <p:sldId xmlns:r="http://schemas.openxmlformats.org/officeDocument/2006/relationships" id="259" r:id="Rffea5490777347ba"/>
    <p:sldId xmlns:r="http://schemas.openxmlformats.org/officeDocument/2006/relationships" id="260" r:id="R5fcdf9e5e05f403c"/>
    <p:sldId xmlns:r="http://schemas.openxmlformats.org/officeDocument/2006/relationships" id="261" r:id="Rabdcf25f3a424415"/>
    <p:sldId xmlns:r="http://schemas.openxmlformats.org/officeDocument/2006/relationships" id="262" r:id="R60bdbfa943b241e9"/>
    <p:sldId xmlns:r="http://schemas.openxmlformats.org/officeDocument/2006/relationships" id="263" r:id="R702a3001b837406c"/>
    <p:sldId xmlns:r="http://schemas.openxmlformats.org/officeDocument/2006/relationships" id="264" r:id="Rb1b53e49ec724493"/>
    <p:sldId xmlns:r="http://schemas.openxmlformats.org/officeDocument/2006/relationships" id="265" r:id="Rea4215a3142e427c"/>
    <p:sldId xmlns:r="http://schemas.openxmlformats.org/officeDocument/2006/relationships" id="266" r:id="Rd0cf62f191d24b68"/>
    <p:sldId xmlns:r="http://schemas.openxmlformats.org/officeDocument/2006/relationships" id="267" r:id="Rc59fd015e16b491e"/>
    <p:sldId xmlns:r="http://schemas.openxmlformats.org/officeDocument/2006/relationships" id="268" r:id="R054c3884a2a241e0"/>
    <p:sldId xmlns:r="http://schemas.openxmlformats.org/officeDocument/2006/relationships" id="269" r:id="R8fb70749c78c401c"/>
    <p:sldId xmlns:r="http://schemas.openxmlformats.org/officeDocument/2006/relationships" id="270" r:id="Rf1c98e335fc34d00"/>
    <p:sldId xmlns:r="http://schemas.openxmlformats.org/officeDocument/2006/relationships" id="271" r:id="Ra09408fb205846a4"/>
    <p:sldId xmlns:r="http://schemas.openxmlformats.org/officeDocument/2006/relationships" id="272" r:id="R5b1d7a9210b7487c"/>
    <p:sldId xmlns:r="http://schemas.openxmlformats.org/officeDocument/2006/relationships" id="273" r:id="Rff188005b8284a37"/>
    <p:sldId xmlns:r="http://schemas.openxmlformats.org/officeDocument/2006/relationships" id="274" r:id="R2c1fa2dc15c04232"/>
    <p:sldId xmlns:r="http://schemas.openxmlformats.org/officeDocument/2006/relationships" id="275" r:id="R44a5027d8fde4b61"/>
    <p:sldId xmlns:r="http://schemas.openxmlformats.org/officeDocument/2006/relationships" id="276" r:id="R89aa6a2afa4e4760"/>
    <p:sldId xmlns:r="http://schemas.openxmlformats.org/officeDocument/2006/relationships" id="277" r:id="Rc501fc345aca4c3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5d071d6a53b47db" /><Relationship Type="http://schemas.openxmlformats.org/officeDocument/2006/relationships/slideMaster" Target="/ppt/slideMasters/slideMaster1.xml" Id="R60f8e71a7024410c" /><Relationship Type="http://schemas.openxmlformats.org/officeDocument/2006/relationships/slideMaster" Target="/ppt/slideMasters/slideMaster2.xml" Id="R14cbf583ce314ae0" /><Relationship Type="http://schemas.openxmlformats.org/officeDocument/2006/relationships/notesMaster" Target="/ppt/notesMasters/notesMaster1.xml" Id="Rc03f8807c30e487e" /><Relationship Type="http://schemas.openxmlformats.org/officeDocument/2006/relationships/presProps" Target="/ppt/presProps.xml" Id="R2f33aeccff074319" /><Relationship Type="http://schemas.openxmlformats.org/officeDocument/2006/relationships/tableStyles" Target="/ppt/tableStyles.xml" Id="R93edef320fbc4dba" /><Relationship Type="http://schemas.openxmlformats.org/officeDocument/2006/relationships/slide" Target="/ppt/slides/slide1.xml" Id="R95796218cc37415b" /><Relationship Type="http://schemas.openxmlformats.org/officeDocument/2006/relationships/slide" Target="/ppt/slides/slide2.xml" Id="R86a26f9a8b7b4c5b" /><Relationship Type="http://schemas.openxmlformats.org/officeDocument/2006/relationships/slide" Target="/ppt/slides/slide3.xml" Id="R4832c7d4d5294e57" /><Relationship Type="http://schemas.openxmlformats.org/officeDocument/2006/relationships/slide" Target="/ppt/slides/slide4.xml" Id="Rffea5490777347ba" /><Relationship Type="http://schemas.openxmlformats.org/officeDocument/2006/relationships/slide" Target="/ppt/slides/slide5.xml" Id="R5fcdf9e5e05f403c" /><Relationship Type="http://schemas.openxmlformats.org/officeDocument/2006/relationships/slide" Target="/ppt/slides/slide6.xml" Id="Rabdcf25f3a424415" /><Relationship Type="http://schemas.openxmlformats.org/officeDocument/2006/relationships/slide" Target="/ppt/slides/slide7.xml" Id="R60bdbfa943b241e9" /><Relationship Type="http://schemas.openxmlformats.org/officeDocument/2006/relationships/slide" Target="/ppt/slides/slide8.xml" Id="R702a3001b837406c" /><Relationship Type="http://schemas.openxmlformats.org/officeDocument/2006/relationships/slide" Target="/ppt/slides/slide9.xml" Id="Rb1b53e49ec724493" /><Relationship Type="http://schemas.openxmlformats.org/officeDocument/2006/relationships/slide" Target="/ppt/slides/slide10.xml" Id="Rea4215a3142e427c" /><Relationship Type="http://schemas.openxmlformats.org/officeDocument/2006/relationships/slide" Target="/ppt/slides/slide11.xml" Id="Rd0cf62f191d24b68" /><Relationship Type="http://schemas.openxmlformats.org/officeDocument/2006/relationships/slide" Target="/ppt/slides/slide12.xml" Id="Rc59fd015e16b491e" /><Relationship Type="http://schemas.openxmlformats.org/officeDocument/2006/relationships/slide" Target="/ppt/slides/slide13.xml" Id="R054c3884a2a241e0" /><Relationship Type="http://schemas.openxmlformats.org/officeDocument/2006/relationships/slide" Target="/ppt/slides/slide14.xml" Id="R8fb70749c78c401c" /><Relationship Type="http://schemas.openxmlformats.org/officeDocument/2006/relationships/slide" Target="/ppt/slides/slide15.xml" Id="Rf1c98e335fc34d00" /><Relationship Type="http://schemas.openxmlformats.org/officeDocument/2006/relationships/slide" Target="/ppt/slides/slide16.xml" Id="Ra09408fb205846a4" /><Relationship Type="http://schemas.openxmlformats.org/officeDocument/2006/relationships/slide" Target="/ppt/slides/slide17.xml" Id="R5b1d7a9210b7487c" /><Relationship Type="http://schemas.openxmlformats.org/officeDocument/2006/relationships/slide" Target="/ppt/slides/slide18.xml" Id="Rff188005b8284a37" /><Relationship Type="http://schemas.openxmlformats.org/officeDocument/2006/relationships/slide" Target="/ppt/slides/slide19.xml" Id="R2c1fa2dc15c04232" /><Relationship Type="http://schemas.openxmlformats.org/officeDocument/2006/relationships/slide" Target="/ppt/slides/slide20.xml" Id="R44a5027d8fde4b61" /><Relationship Type="http://schemas.openxmlformats.org/officeDocument/2006/relationships/slide" Target="/ppt/slides/slide21.xml" Id="R89aa6a2afa4e4760" /><Relationship Type="http://schemas.openxmlformats.org/officeDocument/2006/relationships/slide" Target="/ppt/slides/slide22.xml" Id="Rc501fc345aca4c3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4fbd58f675dd453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2867a8f57114b07" /><Relationship Type="http://schemas.openxmlformats.org/officeDocument/2006/relationships/notesMaster" Target="/ppt/notesMasters/notesMaster1.xml" Id="R7ed10ac24aad4f7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16c5b41989a45d0" /><Relationship Type="http://schemas.openxmlformats.org/officeDocument/2006/relationships/notesMaster" Target="/ppt/notesMasters/notesMaster1.xml" Id="Rbf196b524458494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bbebcfb87db403c" /><Relationship Type="http://schemas.openxmlformats.org/officeDocument/2006/relationships/notesMaster" Target="/ppt/notesMasters/notesMaster1.xml" Id="R4f3ee9fed89b494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9cd53fa2b214fe9" /><Relationship Type="http://schemas.openxmlformats.org/officeDocument/2006/relationships/notesMaster" Target="/ppt/notesMasters/notesMaster1.xml" Id="R3e95cee39094436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3ec93d73a26425b" /><Relationship Type="http://schemas.openxmlformats.org/officeDocument/2006/relationships/notesMaster" Target="/ppt/notesMasters/notesMaster1.xml" Id="R9d4fc1b9aeb4463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c25f4d0929848b1" /><Relationship Type="http://schemas.openxmlformats.org/officeDocument/2006/relationships/notesMaster" Target="/ppt/notesMasters/notesMaster1.xml" Id="Rf98992b3c6084c0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6351b99a04f4975" /><Relationship Type="http://schemas.openxmlformats.org/officeDocument/2006/relationships/notesMaster" Target="/ppt/notesMasters/notesMaster1.xml" Id="Ra0479fc9aea3472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92aa0da4a9c4789" /><Relationship Type="http://schemas.openxmlformats.org/officeDocument/2006/relationships/notesMaster" Target="/ppt/notesMasters/notesMaster1.xml" Id="Re524797ec3be43f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b4f8191cfd54f03" /><Relationship Type="http://schemas.openxmlformats.org/officeDocument/2006/relationships/notesMaster" Target="/ppt/notesMasters/notesMaster1.xml" Id="R5e976cefea4d416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ea1267acc9b4a01" /><Relationship Type="http://schemas.openxmlformats.org/officeDocument/2006/relationships/notesMaster" Target="/ppt/notesMasters/notesMaster1.xml" Id="Rd3fe49e28d0b490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389b4adb1a8496c" /><Relationship Type="http://schemas.openxmlformats.org/officeDocument/2006/relationships/notesMaster" Target="/ppt/notesMasters/notesMaster1.xml" Id="Ref0adda7a7ef469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557b66f687e49d9" /><Relationship Type="http://schemas.openxmlformats.org/officeDocument/2006/relationships/notesMaster" Target="/ppt/notesMasters/notesMaster1.xml" Id="Rcd1bc4b925554e3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0e66cd5f8c54828" /><Relationship Type="http://schemas.openxmlformats.org/officeDocument/2006/relationships/notesMaster" Target="/ppt/notesMasters/notesMaster1.xml" Id="R9af763a998d944b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d2c55c185264cad" /><Relationship Type="http://schemas.openxmlformats.org/officeDocument/2006/relationships/notesMaster" Target="/ppt/notesMasters/notesMaster1.xml" Id="Rd403b1b45c3d4e9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2aad6a6399e4a43" /><Relationship Type="http://schemas.openxmlformats.org/officeDocument/2006/relationships/notesMaster" Target="/ppt/notesMasters/notesMaster1.xml" Id="Re7591c8208984dd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71bd60249ac4220" /><Relationship Type="http://schemas.openxmlformats.org/officeDocument/2006/relationships/notesMaster" Target="/ppt/notesMasters/notesMaster1.xml" Id="R7096277dd0324d9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a3f1b8645064ab0" /><Relationship Type="http://schemas.openxmlformats.org/officeDocument/2006/relationships/notesMaster" Target="/ppt/notesMasters/notesMaster1.xml" Id="Re678062d8f104a4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7a82c6017d243e6" /><Relationship Type="http://schemas.openxmlformats.org/officeDocument/2006/relationships/notesMaster" Target="/ppt/notesMasters/notesMaster1.xml" Id="R1a85d5d749bf429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da191b392374c90" /><Relationship Type="http://schemas.openxmlformats.org/officeDocument/2006/relationships/notesMaster" Target="/ppt/notesMasters/notesMaster1.xml" Id="R105fe66cd0184c6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2634032bf33423b" /><Relationship Type="http://schemas.openxmlformats.org/officeDocument/2006/relationships/notesMaster" Target="/ppt/notesMasters/notesMaster1.xml" Id="Rf510a49c79494a6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27386e3f6ed4da3" /><Relationship Type="http://schemas.openxmlformats.org/officeDocument/2006/relationships/notesMaster" Target="/ppt/notesMasters/notesMaster1.xml" Id="R0b1cee4d7af14a27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967fd46ec2140cd" /><Relationship Type="http://schemas.openxmlformats.org/officeDocument/2006/relationships/notesMaster" Target="/ppt/notesMasters/notesMaster1.xml" Id="R0d2df5d9afd9474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Bem-vindo à aula 0 do dbt Moderno na Prática. Hoje vamos trabalhar o tema “Prepare seu laboratório dbt no Codespaces”. Rota recomendada no navegador; instalação local continua disponível. O objetivo não é apenas conhecer o conceito: vamos conectá-lo ao laboratório e terminar com uma evidência que você consegue reproduzir no seu próprio ambiente. Ao longo da aula, separe sempre o que é recurso aberto e estável daquilo que aparecerá apenas no Radar.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o título, situe o checkpoint 01 e deixe claro que a aula faz parte da trilha open/stable.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“Um ambiente padronizado reduz o suporte e deixa a aula começar pelo dbt — não pela instalação.”.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Quero começar com uma provocação: Um ambiente padronizado reduz o suporte e deixa a aula começar pelo dbt — não pela instalação. Essa pergunta orienta toda a aula. Em vez de aceitar uma afirmação porque ela parece correta, vamos procurar uma definição verificável e uma demonstração executável. Guarde essa tensão, porque voltaremos a ela quando compararmos o conceito com o resultado do laboratório.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Dê uma pausa depois da provocação e use o diagrama como mapa do problema, sem explicar todas as etapas ainda.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“Ao final, você consegue...”.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Ao final desta aula, você deverá conseguir criar um Codespace 2-core, Validar o setup automático e Fechar o checkpoint 01. Esses resultados formam uma sequência: primeiro entendemos a regra, depois observamos sua representação no projeto e, por fim, comprovamos o comportamento no checkpoint. Se alguma dessas três partes não estiver clara, volte ao slide correspondente antes de executar a demonstração.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objetivos da esquerda para a direita e apresente-os como resultados observáveis, não como uma agenda abstrata.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“SQL básico basta para começar”.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Terminal, Git, Python e dbt entram passo a passo. Para tornar isso concreto, observe SELECT, JOIN, GROUP BY, SUM e COUNT, Nenhuma experiência prévia com dbt e Comandos completos em todas as aulas.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“Codespaces é a rota recomendada”.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Code → Codespaces → Create codespace on main abre o laboratório no navegador. Para tornar isso concreto, observe conta pessoal GitHub, Sem instalar Python ou Git e Mesmo ambiente para todos.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“Codespaces é a rota recomendada”.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Code → Codespaces → Create codespace on main abre o laboratório no navegador. Siga a composição na ordem mostrada e conecte os elementos principais. A imagem ou o fluxo não cria uma regra nova; ele torna visível a relação que acabamos de explicar. A figura é identificada como captura sanitizada do GitHub.com — 2026-09-01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Aponte a legenda e deixe explícito quando a figura é oficial; as anotações do curso ficam fora da imagem.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“2-core preserva a franquia gratuita”.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  <a:p xmlns:a="http://schemas.openxmlformats.org/drawingml/2006/main">
            <a:r>
              <a:t>- https://github.com/AnselmoBorges/dbt-moderno-na-pratica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GitHub Free inclui 120 core-hours e 15 GB-mês; em 2-core, são cerca de 60 horas ativas. Para tornar isso concreto, observe branch main, Dev container do curso, Máquina 2-core e Pare o ambiente ao terminar.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“2-core preserva a franquia gratuita”.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GitHub Free inclui 120 core-hours e 15 GB-mês; em 2-core, são cerca de 60 horas ativas. Siga a composição na ordem mostrada e conecte os elementos principais. A imagem ou o fluxo não cria uma regra nova; ele torna visível a relação que acabamos de explicar. A figura é identificada como captura sanitizada do GitHub.com — 2026-09-01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Aponte a legenda e deixe explícito quando a figura é oficial; as anotações do curso ficam fora da imagem.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 repositório restaura o ambiente”.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  <a:p xmlns:a="http://schemas.openxmlformats.org/drawingml/2006/main">
            <a:r>
              <a:t>- https://github.com/codespaces/new?hide_repo_select=true&amp;ref=main&amp;repo=1354054687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Setup instala uma vez; a reabertura restaura PATH, profile e caminhos detectados. Para tornar isso concreto, observe python 3.12 fixado, dbt Core 1.12.3, DuckDB 1.5.5 e Sem ativação manual.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 repositório restaura o ambiente”.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Setup instala uma vez; a reabertura restaura PATH, profile e caminhos detectados. Siga a composição na ordem mostrada e conecte create, setup, paths e checkpoint.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“Parar evita consumo de processamento”.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Stop codespace interrompe core-hours; armazenamento continua até excluir o ambiente. Para tornar isso concreto, observe pare ao terminar cada aula, Reabra o mesmo ambiente e Exclua quando não precisar dos arquivos.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“Parar evita consumo de processamento”.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Stop codespace interrompe core-hours; armazenamento continua até excluir o ambiente. Siga a composição na ordem mostrada e conecte os elementos principais. A imagem ou o fluxo não cria uma regra nova; ele torna visível a relação que acabamos de explicar. A figura é identificada como gitHub Docs — CC BY 4.0 — commit 484d28e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Aponte a legenda e deixe explícito quando a figura é oficial; as anotações do curso ficam fora da imagem.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“Escolha a interface certa para cada ambiente”.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  <a:p xmlns:a="http://schemas.openxmlformats.org/drawingml/2006/main">
            <a:r>
              <a:t>- https://github.com/github/docs/blob/484d28e95db7c592c368da359ff1a9fecb08a08a/assets/images/help/codespaces/stop-codespace-webui.png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O explorador do curso funciona no navegador; a UI oficial exige um túnel que preserve localhost. Para tornar isso concreto, observe codespaces: python course.py official-data-ui, Local: gh auth refresh -h github.com -s codespace, Local: python course.py codespace-ui-tunnel e Navegador: http://localhost:4213.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“Escolha a interface certa para cada ambiente”.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O explorador do curso funciona no navegador; a UI oficial exige um túnel que preserve localhost. Siga a composição na ordem mostrada e conecte duckDB, UI oficial, túnel e localhost.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execute”.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01:20]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sair da explicação e comprovar o comportamento. Execute os comandos exatamente como aparecem: python course.py paths, depois python course.py checkpoint 01, depois python course.py data-ui. Não é necessário ativar o ambiente virtual manualmente; o launcher do curso seleciona o ambiente correto. Antes de avançar, confirme que o comando iniciou sem erro e dê tempo para o aluno acompanhar a mesma etapa.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comando completo, execute uma linha por vez quando houver mais de uma e mantenha o terminal visível.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observe”.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Enquanto a execução acontece, não olhe apenas para a mensagem final. Observe dbt e DuckDB do ambiente isolado, Seeds e artifacts executados e Explorador na porta privada 4213. Cada sinal responde a uma pergunta diferente sobre o pipeline. Se um deles divergir, interrompa a demonstração e investigue; o objetivo do hands-on é produzir evidência, não apenas chegar rapidamente a uma tela verde.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Marque cada observação quando ela aparecer no terminal ou no artifact correspondente.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“RESULTADO ESPERADO”.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ponto de parada da demonstração: Checkpoint 01 OK + exploração gráfica opcional. Esse resultado confirma que a etapa executada produziu a evidência esperada para o checkpoint 01. Se o valor, o status ou o artifact estiver diferente, não trate a divergência como detalhe de ambiente. Use o diagnóstico do curso e só avance quando a causa estiver compreendida.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Compare o resultado do terminal com a frase central do slide e registre a evidência antes de continuar.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 mesmo recurso afeta três decisões”.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Antes de seguir, conecte a técnica às decisões que ela afeta: Governança: ambiente versionado, FinOps: 2-core + stop e IA: nenhuma chave necessária. Governança define responsabilidade e consistência; FinOps pergunta quanto trabalho estamos repetindo; e IA depende do contexto que decidimos expor. A mesma implementação pode melhorar os três eixos, mas os ganhos devem ser medidos separadamente.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três eixos e evite apresentar economia ou acurácia como consequência automática.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“46 recursos”.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Aqui temos 46 recursos: baseline dbt validado localmente. O número ajuda a dimensionar o exemplo, mas precisa ser lido com a ressalva correta. Resultado do laboratório, não benchmark de produção. Use o case como evidência contextual e não como promessa de que outro projeto repetirá o mesmo resultado sem as mesmas condições.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primeiro o número, depois a definição e termine obrigatoriamente com a ressalva.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“Limitações que precisam permanecer visíveis”.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Também precisamos declarar os limites da recomendação. Neste cenário, considere codespaces exige internet e conta pessoal GitHub, Franquias e cobrança podem mudar, Explorador autoral é propositalmente simples e UI oficial exige GitHub CLI local e escopo codespace. Esses pontos não anulam a técnica; eles delimitam onde a demonstração é válida e quais condições precisam ser verificadas antes de levar o padrão para produção. Tratar limites como parte do design evita transformar uma boa prática em regra universal.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Leia os limites com o mesmo peso dado aos benefícios e diferencie restrição do laboratório de restrição do produto.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“RADAR”.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nosso Radar: Core 2.0 e Fusion ficam apenas no Radar; a aula executa Core 1.12 estável. A intenção é mostrar a direção da ferramenta sem misturar preview com o caminho suportado da aula. Novidade observada não é recomendação de produção. Para adotar qualquer recurso futuro, confirme maturidade, adaptador, documentação e impacto sobre o projeto antes de alterar o baseline estável.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Reforce visualmente a regra do rodapé e não execute comandos beta ou preview como parte obrigatória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“PRÓXIMO PASSO”.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Abra o Codespace em 2-core, execute checkpoint 01 e use a UI oficial por túnel somente como bônus. Faça essa etapa antes de seguir para o próximo episódio, porque o curso é cumulativo e o checkpoint atual se torna a base da aula seguinte. Se houver divergência, use o relatório de suporte e registre o que foi observado. O objetivo é avançar com um estado conhecido e reproduzível, não apenas assistir ao conteúdo.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checkpoint e indique no repositório onde ficam o roteiro, os comandos e as referências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Encerre retomando a pergunta inicial e confirme que o aluno sabe qual ação executar depois da aula 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7c9d331ed94d5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169b743cecc9434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82112a604f6240c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>
  <p:cSld name="Rescue Point Dar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>
  <p:cSld name="Rescue Point Ligh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1b762a683b148dd" /><Relationship Type="http://schemas.openxmlformats.org/officeDocument/2006/relationships/slideLayout" Target="/ppt/slideLayouts/slideLayout1.xml" Id="R0d214ca5f853403d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6e270b16dc7a49db" /><Relationship Type="http://schemas.openxmlformats.org/officeDocument/2006/relationships/slideLayout" Target="/ppt/slideLayouts/slideLayout2.xml" Id="Ra13f49743dbf4c4e" /><Relationship Type="http://schemas.openxmlformats.org/officeDocument/2006/relationships/slideLayout" Target="/ppt/slideLayouts/slideLayout3.xml" Id="R82eb701f764e48a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d214ca5f853403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Rescue Point Master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a13f49743dbf4c4e"/>
    <p:sldLayoutId xmlns:r="http://schemas.openxmlformats.org/officeDocument/2006/relationships" id="2147483652" r:id="R82eb701f764e48a2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50a9adf31a84da1" /><Relationship Type="http://schemas.openxmlformats.org/officeDocument/2006/relationships/image" Target="/ppt/media/image.jpeg" Id="R948b56e378644f06" /><Relationship Type="http://schemas.openxmlformats.org/officeDocument/2006/relationships/notesSlide" Target="/ppt/notesSlides/notesSlide1.xml" Id="R9b265f617f6e4d5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31997db222c44d0" /><Relationship Type="http://schemas.openxmlformats.org/officeDocument/2006/relationships/image" Target="/ppt/media/image.png" Id="Rf0ef289c8e7f4577" /><Relationship Type="http://schemas.openxmlformats.org/officeDocument/2006/relationships/notesSlide" Target="/ppt/notesSlides/notesSlide2.xml" Id="Raf4d34d6f263480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cdb8a111c774221" /><Relationship Type="http://schemas.openxmlformats.org/officeDocument/2006/relationships/notesSlide" Target="/ppt/notesSlides/notesSlide3.xml" Id="Re93045a95f3349f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da9f1744f034aa9" /><Relationship Type="http://schemas.openxmlformats.org/officeDocument/2006/relationships/notesSlide" Target="/ppt/notesSlides/notesSlide4.xml" Id="Rea6477a976f2494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894c33437834a93" /><Relationship Type="http://schemas.openxmlformats.org/officeDocument/2006/relationships/notesSlide" Target="/ppt/notesSlides/notesSlide5.xml" Id="Ra321c9d0b0c140a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816429184a0435e" /><Relationship Type="http://schemas.openxmlformats.org/officeDocument/2006/relationships/image" Target="/ppt/media/image2.png" Id="Radc9b64350214638" /><Relationship Type="http://schemas.openxmlformats.org/officeDocument/2006/relationships/notesSlide" Target="/ppt/notesSlides/notesSlide6.xml" Id="R1b40a79cbae24fd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6370cbf17234c7a" /><Relationship Type="http://schemas.openxmlformats.org/officeDocument/2006/relationships/notesSlide" Target="/ppt/notesSlides/notesSlide7.xml" Id="R7485aa2e826c477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0d05ca4f29143bb" /><Relationship Type="http://schemas.openxmlformats.org/officeDocument/2006/relationships/image" Target="/ppt/media/image3.png" Id="Ra710b4a6a85243ba" /><Relationship Type="http://schemas.openxmlformats.org/officeDocument/2006/relationships/notesSlide" Target="/ppt/notesSlides/notesSlide8.xml" Id="R94176e358c504cb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20f99c1a4144c22" /><Relationship Type="http://schemas.openxmlformats.org/officeDocument/2006/relationships/notesSlide" Target="/ppt/notesSlides/notesSlide9.xml" Id="R6c28bc39cb1b475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e0c96a9cf5c42c2" /><Relationship Type="http://schemas.openxmlformats.org/officeDocument/2006/relationships/notesSlide" Target="/ppt/notesSlides/notesSlide10.xml" Id="R7a7f4272ceca44c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3040aa534664600" /><Relationship Type="http://schemas.openxmlformats.org/officeDocument/2006/relationships/notesSlide" Target="/ppt/notesSlides/notesSlide11.xml" Id="R88ce8d5c343a441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60e8d915df14c99" /><Relationship Type="http://schemas.openxmlformats.org/officeDocument/2006/relationships/image" Target="/ppt/media/image4.png" Id="R0b833951581d44bb" /><Relationship Type="http://schemas.openxmlformats.org/officeDocument/2006/relationships/notesSlide" Target="/ppt/notesSlides/notesSlide12.xml" Id="R556221504c384a5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d79aafb0dcd4b38" /><Relationship Type="http://schemas.openxmlformats.org/officeDocument/2006/relationships/notesSlide" Target="/ppt/notesSlides/notesSlide13.xml" Id="R8e888de8ff674ee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3db711411bb4f01" /><Relationship Type="http://schemas.openxmlformats.org/officeDocument/2006/relationships/notesSlide" Target="/ppt/notesSlides/notesSlide14.xml" Id="R43e12ea83f384e4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462495bb1b44c0f" /><Relationship Type="http://schemas.openxmlformats.org/officeDocument/2006/relationships/notesSlide" Target="/ppt/notesSlides/notesSlide15.xml" Id="R0cf8e1c0abe1422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327363ff1144dd5" /><Relationship Type="http://schemas.openxmlformats.org/officeDocument/2006/relationships/notesSlide" Target="/ppt/notesSlides/notesSlide16.xml" Id="R5e9df0843be5481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90a91f577cb40fe" /><Relationship Type="http://schemas.openxmlformats.org/officeDocument/2006/relationships/notesSlide" Target="/ppt/notesSlides/notesSlide17.xml" Id="R261b2d806b474f6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2b2111758a84081" /><Relationship Type="http://schemas.openxmlformats.org/officeDocument/2006/relationships/notesSlide" Target="/ppt/notesSlides/notesSlide18.xml" Id="R40882850710a4a1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b9feaf20c9b43b5" /><Relationship Type="http://schemas.openxmlformats.org/officeDocument/2006/relationships/notesSlide" Target="/ppt/notesSlides/notesSlide19.xml" Id="Ra9d0458ac1aa44f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a205aec0249489e" /><Relationship Type="http://schemas.openxmlformats.org/officeDocument/2006/relationships/notesSlide" Target="/ppt/notesSlides/notesSlide20.xml" Id="R3dc606603d234d7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f06cc1f193947bc" /><Relationship Type="http://schemas.openxmlformats.org/officeDocument/2006/relationships/notesSlide" Target="/ppt/notesSlides/notesSlide21.xml" Id="R14ff453f854c419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e3e5f1d430b48d2" /><Relationship Type="http://schemas.openxmlformats.org/officeDocument/2006/relationships/notesSlide" Target="/ppt/notesSlides/notesSlide22.xml" Id="Ra390dc6894bf4148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 descr="Ilustração conceitual autoral da capa: AULA 0 — Prepare seu laboratório dbt no Codespaces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8b56e378644f06"/>
          <a:srcRect xmlns:a="http://schemas.openxmlformats.org/drawingml/2006/main" l="19785" t="0" r="1978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2500" y="0"/>
            <a:ext cx="74295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text-surface">
            <a:extLst xmlns:a="http://schemas.openxmlformats.org/drawingml/2006/main">
              <a:ext uri="{FF2B5EF4-FFF2-40B4-BE49-F238E27FC236}">
                <a16:creationId xmlns:a16="http://schemas.microsoft.com/office/drawing/2014/main" id="{46F41A0E-E27B-4DC0-A5D5-3DFCF7D11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334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42E"/>
          </a:solidFill>
          <a:ln xmlns:a="http://schemas.openxmlformats.org/drawingml/2006/main" w="0">
            <a:solidFill>
              <a:srgbClr val="06142E"/>
            </a:solidFill>
            <a:prstDash val="solid"/>
          </a:ln>
        </p:spPr>
      </p:sp>
      <p:sp>
        <p:nvSpPr>
          <p:cNvPr id="3" name="cover-divider">
            <a:extLst xmlns:a="http://schemas.openxmlformats.org/drawingml/2006/main">
              <a:ext uri="{FF2B5EF4-FFF2-40B4-BE49-F238E27FC236}">
                <a16:creationId xmlns:a16="http://schemas.microsoft.com/office/drawing/2014/main" id="{179214D2-D2FC-4E7E-8598-D9916C749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742950"/>
            <a:ext cx="0" cy="5372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4" name="cover-episode">
            <a:extLst xmlns:a="http://schemas.openxmlformats.org/drawingml/2006/main">
              <a:ext uri="{FF2B5EF4-FFF2-40B4-BE49-F238E27FC236}">
                <a16:creationId xmlns:a16="http://schemas.microsoft.com/office/drawing/2014/main" id="{B5707B2C-39D1-4F5B-BBD9-40BB5BEF5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AULA 0</a:t>
            </a:r>
          </a:p>
        </p:txBody>
      </p:sp>
      <p:sp>
        <p:nvSpPr>
          <p:cNvPr id="5" name="cover-title">
            <a:extLst xmlns:a="http://schemas.openxmlformats.org/drawingml/2006/main">
              <a:ext uri="{FF2B5EF4-FFF2-40B4-BE49-F238E27FC236}">
                <a16:creationId xmlns:a16="http://schemas.microsoft.com/office/drawing/2014/main" id="{7D43DC55-1E7B-4BAF-AC3A-3EC76708E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Prepare seu laboratório dbt no Codespaces</a:t>
            </a:r>
          </a:p>
        </p:txBody>
      </p:sp>
      <p:sp>
        <p:nvSpPr>
          <p:cNvPr id="6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682AD644-F92F-471B-A71D-158B8FF7F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4857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Rota recomendada no navegador; instalação local continua disponível</a:t>
            </a:r>
          </a:p>
        </p:txBody>
      </p:sp>
      <p:sp>
        <p:nvSpPr>
          <p:cNvPr id="7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E808C68C-927A-4E31-92EA-060AB3B7C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EC5FF"/>
            </a:solidFill>
            <a:prstDash val="solid"/>
          </a:ln>
        </p:spPr>
      </p:sp>
      <p:sp>
        <p:nvSpPr>
          <p:cNvPr id="8" name="cover-meta">
            <a:extLst xmlns:a="http://schemas.openxmlformats.org/drawingml/2006/main">
              <a:ext uri="{FF2B5EF4-FFF2-40B4-BE49-F238E27FC236}">
                <a16:creationId xmlns:a16="http://schemas.microsoft.com/office/drawing/2014/main" id="{6DD5FEB8-3D6B-4E01-A5BF-EC8B9F90D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>
                    <a:alpha val="66667"/>
                  </a:srgbClr>
                </a:solidFill>
              </a:defRPr>
            </a:pPr>
            <a:r>
              <a:rPr sz="1200" b="1">
                <a:solidFill>
                  <a:srgbClr val="FFFFFF">
                    <a:alpha val="66667"/>
                  </a:srgbClr>
                </a:solidFill>
              </a:rPr>
              <a:t>Checkpoint 01 • DuckDB local • sem cloud</a:t>
            </a:r>
          </a:p>
        </p:txBody>
      </p:sp>
    </p:spTree>
    <p:extLst>
      <p:ext uri="{BB962C8B-B14F-4D97-AF65-F5344CB8AC3E}">
        <p14:creationId xmlns:p14="http://schemas.microsoft.com/office/powerpoint/2010/main" val="5937620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hook">
            <a:extLst xmlns:a="http://schemas.openxmlformats.org/drawingml/2006/main">
              <a:ext uri="{FF2B5EF4-FFF2-40B4-BE49-F238E27FC236}">
                <a16:creationId xmlns:a16="http://schemas.microsoft.com/office/drawing/2014/main" id="{637B2E66-0F74-4EAA-BB62-7EBC2C5D5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Um ambiente padronizado reduz o suporte e deixa a aula começar pelo dbt — não pela instalação.</a:t>
            </a:r>
          </a:p>
        </p:txBody>
      </p:sp>
      <p:sp>
        <p:nvSpPr>
          <p:cNvPr id="2" name="hook-rule">
            <a:extLst xmlns:a="http://schemas.openxmlformats.org/drawingml/2006/main">
              <a:ext uri="{FF2B5EF4-FFF2-40B4-BE49-F238E27FC236}">
                <a16:creationId xmlns:a16="http://schemas.microsoft.com/office/drawing/2014/main" id="{B116CDF8-6D98-415D-8CB5-754A0FFA9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65C0"/>
            </a:solidFill>
            <a:prstDash val="solid"/>
          </a:ln>
        </p:spPr>
      </p:sp>
      <p:sp>
        <p:nvSpPr>
          <p:cNvPr id="3" name="hook-label">
            <a:extLst xmlns:a="http://schemas.openxmlformats.org/drawingml/2006/main">
              <a:ext uri="{FF2B5EF4-FFF2-40B4-BE49-F238E27FC236}">
                <a16:creationId xmlns:a16="http://schemas.microsoft.com/office/drawing/2014/main" id="{4DA801B0-380E-40DF-BDCB-869DF442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565C0"/>
                </a:solidFill>
              </a:defRPr>
            </a:pPr>
            <a:r>
              <a:rPr sz="1425" b="1">
                <a:solidFill>
                  <a:srgbClr val="1565C0"/>
                </a:solidFill>
              </a:rPr>
              <a:t>A pergunta que guia a aula</a:t>
            </a:r>
          </a:p>
        </p:txBody>
      </p:sp>
      <p:sp>
        <p:nvSpPr>
          <p:cNvPr id="4" name="diagram-surface">
            <a:extLst xmlns:a="http://schemas.openxmlformats.org/drawingml/2006/main">
              <a:ext uri="{FF2B5EF4-FFF2-40B4-BE49-F238E27FC236}">
                <a16:creationId xmlns:a16="http://schemas.microsoft.com/office/drawing/2014/main" id="{9A6A8C62-C8C9-421B-B7D2-549691500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108204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7EA"/>
            </a:solidFill>
            <a:prstDash val="solid"/>
          </a:ln>
        </p:spPr>
      </p:sp>
      <p:pic>
        <p:nvPicPr>
          <p:cNvPr id="16" name="" descr="Diagrama didático autoral que apresenta: Um ambiente padronizado reduz o suporte e deixa a aula começar pelo dbt — não pela instalação. — A pergunta que guia a aul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ef289c8e7f4577"/>
          <a:stretch xmlns:a="http://schemas.openxmlformats.org/drawingml/2006/main"/>
        </p:blipFill>
        <p:spPr>
          <a:xfrm xmlns:a="http://schemas.openxmlformats.org/drawingml/2006/main">
            <a:off x="990600" y="4135697"/>
            <a:ext cx="10210800" cy="872607"/>
          </a:xfrm>
          <a:prstGeom xmlns:a="http://schemas.openxmlformats.org/drawingml/2006/main" prst="rect">
            <a:avLst/>
          </a:prstGeom>
        </p:spPr>
      </p:pic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597BBD45-A1D7-4241-84FC-06F52C0C8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E48ED884-3351-4567-A5F5-B781B0937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5685C86F-77E9-44AF-91F4-0F1B6FF1B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EDDDF3B-1966-4445-8B89-4091FEDA1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2/22</a:t>
            </a:r>
          </a:p>
        </p:txBody>
      </p:sp>
    </p:spTree>
    <p:extLst>
      <p:ext uri="{BB962C8B-B14F-4D97-AF65-F5344CB8AC3E}">
        <p14:creationId xmlns:p14="http://schemas.microsoft.com/office/powerpoint/2010/main" val="964765875"/>
      </p:ext>
    </p:extLst>
  </p:cSld>
</p:sld>
</file>

<file path=ppt/slides/slide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EF21087-6A7B-4232-81B1-2E19A7351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Ao final, você consegue...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84E2AC29-112D-4BD8-AF37-867115B83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36A57930-90B5-4E1A-A913-E52515F2F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Criar um Codespace 2-core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35831776-3402-48F6-8DA3-71413597B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7FE98E1B-001E-40C9-8894-513EC80BE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410096DC-44A8-48A8-8868-ECDEF15E7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Validar o setup automático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55F49E86-8925-4FFB-A42E-540A25149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33319D71-821B-4A93-ACD4-A51C1357A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FA7A5B7A-4096-482F-9629-45E0887C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Fechar o checkpoint 01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66B09C49-213A-4288-997E-9BFEC27F9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08CD6733-558B-4734-B12D-704F6C57B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5538C2AE-ACC3-47E4-828C-86605FB16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A0D6462-2C35-47BD-919D-31D808651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3/22</a:t>
            </a:r>
          </a:p>
        </p:txBody>
      </p:sp>
    </p:spTree>
    <p:extLst>
      <p:ext uri="{BB962C8B-B14F-4D97-AF65-F5344CB8AC3E}">
        <p14:creationId xmlns:p14="http://schemas.microsoft.com/office/powerpoint/2010/main" val="148335205"/>
      </p:ext>
    </p:extLst>
  </p:cSld>
</p:sld>
</file>

<file path=ppt/slides/slide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C205F40-367C-4C5E-BA01-E4DB22B6A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SQL básico basta para começar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CF628AC-A006-4871-831C-EE2892D1B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Terminal, Git, Python e dbt entram passo a passo.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2210262F-EFF1-4419-9CDC-68ECACE5C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SELECT, JOIN, GROUP BY, SUM e COUNT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Nenhuma experiência prévia com dbt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Comandos completos em todas as aulas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2E228503-AB3E-4F11-8E31-16BA9D094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38239922-86FF-4E60-884B-C9610C69C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EE333610-B8F0-4F64-8276-5572A1682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B320C635-8CEE-4597-9337-6ABB0E8D8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359A9C30-23E9-4033-8CD1-3DF1F7B07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978AF699-FD7C-4A97-83E8-8A117B4D8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6A98224-1A82-490D-A7D8-A579DC0B3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4/22</a:t>
            </a:r>
          </a:p>
        </p:txBody>
      </p:sp>
    </p:spTree>
    <p:extLst>
      <p:ext uri="{BB962C8B-B14F-4D97-AF65-F5344CB8AC3E}">
        <p14:creationId xmlns:p14="http://schemas.microsoft.com/office/powerpoint/2010/main" val="127225240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35CB3EF-349E-4055-BA00-B70F579A4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Codespaces é a rota recomendada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30162A6-B3D9-4115-AF37-C61F37FEB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Code → Codespaces → Create codespace on main abre o laboratório no navegador.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A3CDD556-E808-42BD-9A96-FF7962152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Conta pessoal GitHub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Sem instalar Python ou Git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Mesmo ambiente para todos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1D4FA262-458E-442E-91CB-47E01456D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BA33EA68-6EE2-4472-BC89-461C434E4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89DC2A82-67EF-4DE5-866D-20F83F0EF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65749AB4-CAFE-48F8-BE9F-59C37FC4F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C54E99B-B3F7-42CE-B586-17C92097A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C46C7262-7ED9-4C96-B265-CE32F9D40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6870789-9892-432D-B794-EAA5A9782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5/22</a:t>
            </a:r>
          </a:p>
        </p:txBody>
      </p:sp>
    </p:spTree>
    <p:extLst>
      <p:ext uri="{BB962C8B-B14F-4D97-AF65-F5344CB8AC3E}">
        <p14:creationId xmlns:p14="http://schemas.microsoft.com/office/powerpoint/2010/main" val="1406880801"/>
      </p:ext>
    </p:extLst>
  </p:cSld>
</p:sld>
</file>

<file path=ppt/slides/slide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7A40CB5-2945-4B7F-910F-81CF05B27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Codespaces é a rota recomendada</a:t>
            </a:r>
          </a:p>
        </p:txBody>
      </p:sp>
      <p:sp>
        <p:nvSpPr>
          <p:cNvPr id="2" name="visual-claim">
            <a:extLst xmlns:a="http://schemas.openxmlformats.org/drawingml/2006/main">
              <a:ext uri="{FF2B5EF4-FFF2-40B4-BE49-F238E27FC236}">
                <a16:creationId xmlns:a16="http://schemas.microsoft.com/office/drawing/2014/main" id="{B804B8C4-AF1F-454E-9EDD-2C23A1628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905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Code → Codespaces → Create codespace on main abre o laboratório no navegador.</a:t>
            </a:r>
          </a:p>
        </p:txBody>
      </p:sp>
      <p:sp>
        <p:nvSpPr>
          <p:cNvPr id="3" name="image-surface">
            <a:extLst xmlns:a="http://schemas.openxmlformats.org/drawingml/2006/main">
              <a:ext uri="{FF2B5EF4-FFF2-40B4-BE49-F238E27FC236}">
                <a16:creationId xmlns:a16="http://schemas.microsoft.com/office/drawing/2014/main" id="{F6CBC4CE-A089-43DC-9CC7-65997C39D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600200"/>
            <a:ext cx="636270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5" name="" descr="Figura oficial da documentação dbt usada para explicar: Codespaces é a rota recomendada — Code → Codespaces → Create codespace on main abre o laboratório no navegador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c9b64350214638"/>
          <a:stretch xmlns:a="http://schemas.openxmlformats.org/drawingml/2006/main"/>
        </p:blipFill>
        <p:spPr>
          <a:xfrm xmlns:a="http://schemas.openxmlformats.org/drawingml/2006/main">
            <a:off x="6464152" y="1809750"/>
            <a:ext cx="3721395" cy="3333750"/>
          </a:xfrm>
          <a:prstGeom xmlns:a="http://schemas.openxmlformats.org/drawingml/2006/main" prst="rect">
            <a:avLst/>
          </a:prstGeom>
        </p:spPr>
      </p:pic>
      <p:sp>
        <p:nvSpPr>
          <p:cNvPr id="5" name="image-caption">
            <a:extLst xmlns:a="http://schemas.openxmlformats.org/drawingml/2006/main">
              <a:ext uri="{FF2B5EF4-FFF2-40B4-BE49-F238E27FC236}">
                <a16:creationId xmlns:a16="http://schemas.microsoft.com/office/drawing/2014/main" id="{E61F62D8-104A-4100-A6AA-A2D0B6DE6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219700"/>
            <a:ext cx="579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i="1">
                <a:solidFill>
                  <a:srgbClr val="5C6F86"/>
                </a:solidFill>
              </a:defRPr>
            </a:pPr>
            <a:r>
              <a:rPr sz="900" i="1">
                <a:solidFill>
                  <a:srgbClr val="5C6F86"/>
                </a:solidFill>
              </a:rPr>
              <a:t>Captura sanitizada do GitHub.com — 2026-09-01</a:t>
            </a:r>
          </a:p>
        </p:txBody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F06B60A7-1305-4D5F-9894-146B9AA91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9263CEE-DE3F-460B-A2DE-11AC00CC4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D9CD25F7-BC22-41A9-860D-AF3A34F3F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B801A05-47A3-4376-A566-F5108D0A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6/22</a:t>
            </a:r>
          </a:p>
        </p:txBody>
      </p:sp>
    </p:spTree>
    <p:extLst>
      <p:ext uri="{BB962C8B-B14F-4D97-AF65-F5344CB8AC3E}">
        <p14:creationId xmlns:p14="http://schemas.microsoft.com/office/powerpoint/2010/main" val="37331508"/>
      </p:ext>
    </p:extLst>
  </p:cSld>
</p:sld>
</file>

<file path=ppt/slides/slide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8886520-DF39-448A-A0C9-C7238D0EC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2-core preserva a franquia gratuita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CDF48FAD-0D99-4379-8EAA-8BD4BEB79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GitHub Free inclui 120 core-hours e 15 GB-mês; em 2-core, são cerca de 60 horas ativas.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61A20AE3-708C-4EFB-8AED-D91A85C2D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Branch main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Dev container do curso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Máquina 2-core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Pare o ambiente ao terminar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7D5E3581-4D02-4803-9B59-307668283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32B1D452-C31B-4677-A17E-27D93959F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1840F980-4393-4E79-9ABC-DBACB3D3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5C1B52D9-B47B-4A2D-A803-604E939D1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CA6F433-D8F9-402C-AB38-F4F42ECEE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71DB4F32-F85A-4137-88A1-F31D7CD60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5D45D84-0824-417D-A841-421277619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7/22</a:t>
            </a:r>
          </a:p>
        </p:txBody>
      </p:sp>
    </p:spTree>
    <p:extLst>
      <p:ext uri="{BB962C8B-B14F-4D97-AF65-F5344CB8AC3E}">
        <p14:creationId xmlns:p14="http://schemas.microsoft.com/office/powerpoint/2010/main" val="185066662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971B1FB-659A-4397-9A08-8E15088F1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2-core preserva a franquia gratuita</a:t>
            </a:r>
          </a:p>
        </p:txBody>
      </p:sp>
      <p:sp>
        <p:nvSpPr>
          <p:cNvPr id="2" name="visual-claim">
            <a:extLst xmlns:a="http://schemas.openxmlformats.org/drawingml/2006/main">
              <a:ext uri="{FF2B5EF4-FFF2-40B4-BE49-F238E27FC236}">
                <a16:creationId xmlns:a16="http://schemas.microsoft.com/office/drawing/2014/main" id="{73BA4EA2-CDC3-49AF-B35C-A6585CD86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905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0B1F3A"/>
                </a:solidFill>
              </a:defRPr>
            </a:pPr>
            <a:r>
              <a:rPr sz="1950" b="1">
                <a:solidFill>
                  <a:srgbClr val="0B1F3A"/>
                </a:solidFill>
              </a:rPr>
              <a:t>GitHub Free inclui 120 core-hours e 15 GB-mês; em 2-core, são cerca de 60 horas ativas.</a:t>
            </a:r>
          </a:p>
        </p:txBody>
      </p:sp>
      <p:sp>
        <p:nvSpPr>
          <p:cNvPr id="3" name="image-surface">
            <a:extLst xmlns:a="http://schemas.openxmlformats.org/drawingml/2006/main">
              <a:ext uri="{FF2B5EF4-FFF2-40B4-BE49-F238E27FC236}">
                <a16:creationId xmlns:a16="http://schemas.microsoft.com/office/drawing/2014/main" id="{9A864C97-FCAF-4F61-8C68-C1015264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600200"/>
            <a:ext cx="636270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DD7EA"/>
            </a:solidFill>
            <a:prstDash val="solid"/>
          </a:ln>
        </p:spPr>
      </p:sp>
      <p:pic>
        <p:nvPicPr>
          <p:cNvPr id="15" name="" descr="Figura oficial da documentação dbt usada para explicar: 2-core preserva a franquia gratuita — GitHub Free inclui 120 core-hours e 15 GB-mês; em 2-core, são cerca de 60 horas ativas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10b4a6a85243ba"/>
          <a:stretch xmlns:a="http://schemas.openxmlformats.org/drawingml/2006/main"/>
        </p:blipFill>
        <p:spPr>
          <a:xfrm xmlns:a="http://schemas.openxmlformats.org/drawingml/2006/main">
            <a:off x="5429250" y="2148056"/>
            <a:ext cx="5791200" cy="2657139"/>
          </a:xfrm>
          <a:prstGeom xmlns:a="http://schemas.openxmlformats.org/drawingml/2006/main" prst="rect">
            <a:avLst/>
          </a:prstGeom>
        </p:spPr>
      </p:pic>
      <p:sp>
        <p:nvSpPr>
          <p:cNvPr id="5" name="image-caption">
            <a:extLst xmlns:a="http://schemas.openxmlformats.org/drawingml/2006/main">
              <a:ext uri="{FF2B5EF4-FFF2-40B4-BE49-F238E27FC236}">
                <a16:creationId xmlns:a16="http://schemas.microsoft.com/office/drawing/2014/main" id="{AD4F9E01-1BEE-40BD-B0AA-48C44CDC0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219700"/>
            <a:ext cx="579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i="1">
                <a:solidFill>
                  <a:srgbClr val="5C6F86"/>
                </a:solidFill>
              </a:defRPr>
            </a:pPr>
            <a:r>
              <a:rPr sz="900" i="1">
                <a:solidFill>
                  <a:srgbClr val="5C6F86"/>
                </a:solidFill>
              </a:rPr>
              <a:t>Captura sanitizada do GitHub.com — 2026-09-01</a:t>
            </a:r>
          </a:p>
        </p:txBody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597B0722-A03F-4EFE-8193-CA813E2C1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55402EE-9589-4BBC-91BD-E409F1745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0EE65EB3-52F7-4AD5-B97A-A09DA9C7A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B593467-9DFF-405B-86A1-3F713AEC5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8/22</a:t>
            </a:r>
          </a:p>
        </p:txBody>
      </p:sp>
    </p:spTree>
    <p:extLst>
      <p:ext uri="{BB962C8B-B14F-4D97-AF65-F5344CB8AC3E}">
        <p14:creationId xmlns:p14="http://schemas.microsoft.com/office/powerpoint/2010/main" val="176367616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9F26365-4A10-4AF4-97F5-000B8D9DA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 repositório restaura o ambiente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7E41C31-D30C-4A76-BAD6-91AAC9803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Setup instala uma vez; a reabertura restaura PATH, profile e caminhos detectados.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95E880E8-F380-4377-8BE3-829143FF5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Python 3.12 fixado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dbt Core 1.12.3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DuckDB 1.5.5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Sem ativação manual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8FCA8A02-C9A0-4C68-9FB5-6010C3DAE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A223EC8C-9C4F-49C2-9AE0-DAD3B01DB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E6E5B8C6-F82D-4908-A6B4-22D9ADDE5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04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82176A70-7A61-4EB6-A52E-9E5A53577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283226F-C17E-4041-8601-048F76ADA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5F8EC1F8-6083-4A74-AF32-870551F46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07C0B84-5CEA-4C6B-91D3-0775F9743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9/22</a:t>
            </a:r>
          </a:p>
        </p:txBody>
      </p:sp>
    </p:spTree>
    <p:extLst>
      <p:ext uri="{BB962C8B-B14F-4D97-AF65-F5344CB8AC3E}">
        <p14:creationId xmlns:p14="http://schemas.microsoft.com/office/powerpoint/2010/main" val="1996774623"/>
      </p:ext>
    </p:extLst>
  </p:cSld>
</p:sld>
</file>

<file path=ppt/slides/slide1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F41C7E6-88D0-4FD1-8BC6-52A57F751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O repositório restaura o ambiente</a:t>
            </a:r>
          </a:p>
        </p:txBody>
      </p:sp>
      <p:sp>
        <p:nvSpPr>
          <p:cNvPr id="2" name="flow-1">
            <a:extLst xmlns:a="http://schemas.openxmlformats.org/drawingml/2006/main">
              <a:ext uri="{FF2B5EF4-FFF2-40B4-BE49-F238E27FC236}">
                <a16:creationId xmlns:a16="http://schemas.microsoft.com/office/drawing/2014/main" id="{35A95312-8E85-4E8A-BB02-E690870AC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Create</a:t>
            </a:r>
          </a:p>
        </p:txBody>
      </p:sp>
      <p:sp>
        <p:nvSpPr>
          <p:cNvPr id="3" name="flow-2">
            <a:extLst xmlns:a="http://schemas.openxmlformats.org/drawingml/2006/main">
              <a:ext uri="{FF2B5EF4-FFF2-40B4-BE49-F238E27FC236}">
                <a16:creationId xmlns:a16="http://schemas.microsoft.com/office/drawing/2014/main" id="{69B44238-1DEC-4AA4-92F0-0B3E88C4E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9488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setup</a:t>
            </a:r>
          </a:p>
        </p:txBody>
      </p:sp>
      <p:sp>
        <p:nvSpPr>
          <p:cNvPr id="4" name="flow-3">
            <a:extLst xmlns:a="http://schemas.openxmlformats.org/drawingml/2006/main">
              <a:ext uri="{FF2B5EF4-FFF2-40B4-BE49-F238E27FC236}">
                <a16:creationId xmlns:a16="http://schemas.microsoft.com/office/drawing/2014/main" id="{C6D76D01-FCA2-4164-843B-5611483F6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paths</a:t>
            </a:r>
          </a:p>
        </p:txBody>
      </p:sp>
      <p:sp>
        <p:nvSpPr>
          <p:cNvPr id="5" name="flow-4">
            <a:extLst xmlns:a="http://schemas.openxmlformats.org/drawingml/2006/main">
              <a:ext uri="{FF2B5EF4-FFF2-40B4-BE49-F238E27FC236}">
                <a16:creationId xmlns:a16="http://schemas.microsoft.com/office/drawing/2014/main" id="{32F85C49-A50A-4966-997A-3308BE267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checkpoint</a:t>
            </a:r>
          </a:p>
        </p:txBody>
      </p:sp>
      <p:cxnSp>
        <p:nvCxnSpPr>
          <p:cNvPr id="26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3252788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27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5962651" y="3962400"/>
            <a:ext cx="266699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28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8672513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sp>
        <p:nvSpPr>
          <p:cNvPr id="9" name="eyebrow">
            <a:extLst xmlns:a="http://schemas.openxmlformats.org/drawingml/2006/main">
              <a:ext uri="{FF2B5EF4-FFF2-40B4-BE49-F238E27FC236}">
                <a16:creationId xmlns:a16="http://schemas.microsoft.com/office/drawing/2014/main" id="{E25625CA-44A6-4647-8B1D-BAD6AF97D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3BCBAB5F-B376-4859-A841-BD044E729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C3438BB7-E096-4149-81A1-4C07E106E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CC08BBB-0228-4D8C-9D0B-79EBEC64B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10/22</a:t>
            </a:r>
          </a:p>
        </p:txBody>
      </p:sp>
    </p:spTree>
    <p:extLst>
      <p:ext uri="{BB962C8B-B14F-4D97-AF65-F5344CB8AC3E}">
        <p14:creationId xmlns:p14="http://schemas.microsoft.com/office/powerpoint/2010/main" val="1163550133"/>
      </p:ext>
    </p:extLst>
  </p:cSld>
</p:sld>
</file>

<file path=ppt/slides/slide1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2557948-B184-4126-8328-045FAFD11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Parar evita consumo de processamento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F1A18877-3E51-4C0C-B2B5-349822438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Stop codespace interrompe core-hours; armazenamento continua até excluir o ambiente.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6C780FB6-3278-4DD9-80D8-2D5F4EF34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Pare ao terminar cada aula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Reabra o mesmo ambiente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Exclua quando não precisar dos arquivos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9F7A8F7D-EEE1-412C-AF9A-720E886FA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1DFB3262-A5EB-4693-BEF0-74D6B7328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4BF063A6-A050-4C14-93A9-DD91D450C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05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8E74EDD5-72E8-4358-8342-34B178151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0B3B0886-F433-437F-AA2B-AC0CAFA91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0838FDD8-C991-497C-8A75-25855FCBA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4AFEAF0-F163-4E80-96C5-D44121B98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11/22</a:t>
            </a:r>
          </a:p>
        </p:txBody>
      </p:sp>
    </p:spTree>
    <p:extLst>
      <p:ext uri="{BB962C8B-B14F-4D97-AF65-F5344CB8AC3E}">
        <p14:creationId xmlns:p14="http://schemas.microsoft.com/office/powerpoint/2010/main" val="172734634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DBF96AD-2A7E-47E6-8FBC-4D40AF041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Parar evita consumo de processamento</a:t>
            </a:r>
          </a:p>
        </p:txBody>
      </p:sp>
      <p:sp>
        <p:nvSpPr>
          <p:cNvPr id="2" name="visual-claim">
            <a:extLst xmlns:a="http://schemas.openxmlformats.org/drawingml/2006/main">
              <a:ext uri="{FF2B5EF4-FFF2-40B4-BE49-F238E27FC236}">
                <a16:creationId xmlns:a16="http://schemas.microsoft.com/office/drawing/2014/main" id="{157DCA50-A058-42BD-AA6B-02A03CD30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905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0B1F3A"/>
                </a:solidFill>
              </a:defRPr>
            </a:pPr>
            <a:r>
              <a:rPr sz="1950" b="1">
                <a:solidFill>
                  <a:srgbClr val="0B1F3A"/>
                </a:solidFill>
              </a:rPr>
              <a:t>Stop codespace interrompe core-hours; armazenamento continua até excluir o ambiente.</a:t>
            </a:r>
          </a:p>
        </p:txBody>
      </p:sp>
      <p:sp>
        <p:nvSpPr>
          <p:cNvPr id="3" name="image-surface">
            <a:extLst xmlns:a="http://schemas.openxmlformats.org/drawingml/2006/main">
              <a:ext uri="{FF2B5EF4-FFF2-40B4-BE49-F238E27FC236}">
                <a16:creationId xmlns:a16="http://schemas.microsoft.com/office/drawing/2014/main" id="{88585342-3893-4687-99C5-F1EE32834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600200"/>
            <a:ext cx="636270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DD7EA"/>
            </a:solidFill>
            <a:prstDash val="solid"/>
          </a:ln>
        </p:spPr>
      </p:sp>
      <p:pic>
        <p:nvPicPr>
          <p:cNvPr id="15" name="" descr="Figura oficial da documentação dbt usada para explicar: Parar evita consumo de processamento — Stop codespace interrompe core-hours; armazenamento continua até excluir o ambiente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833951581d44bb"/>
          <a:stretch xmlns:a="http://schemas.openxmlformats.org/drawingml/2006/main"/>
        </p:blipFill>
        <p:spPr>
          <a:xfrm xmlns:a="http://schemas.openxmlformats.org/drawingml/2006/main">
            <a:off x="5429250" y="2370007"/>
            <a:ext cx="5791200" cy="2213235"/>
          </a:xfrm>
          <a:prstGeom xmlns:a="http://schemas.openxmlformats.org/drawingml/2006/main" prst="rect">
            <a:avLst/>
          </a:prstGeom>
        </p:spPr>
      </p:pic>
      <p:sp>
        <p:nvSpPr>
          <p:cNvPr id="5" name="image-caption">
            <a:extLst xmlns:a="http://schemas.openxmlformats.org/drawingml/2006/main">
              <a:ext uri="{FF2B5EF4-FFF2-40B4-BE49-F238E27FC236}">
                <a16:creationId xmlns:a16="http://schemas.microsoft.com/office/drawing/2014/main" id="{6B3FA25E-B0AB-46C1-9BCD-B5AEDB8D7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219700"/>
            <a:ext cx="579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i="1">
                <a:solidFill>
                  <a:srgbClr val="5C6F86"/>
                </a:solidFill>
              </a:defRPr>
            </a:pPr>
            <a:r>
              <a:rPr sz="900" i="1">
                <a:solidFill>
                  <a:srgbClr val="5C6F86"/>
                </a:solidFill>
              </a:rPr>
              <a:t>GitHub Docs — CC BY 4.0 — commit 484d28e</a:t>
            </a:r>
          </a:p>
        </p:txBody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A6CB3BE4-9A44-4F11-95EA-DD85EA569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86BE7C73-74EC-4494-ADA4-D1F6CB966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E51FFC39-D749-4DA5-B310-5C2C9F833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EDDE50D-3E57-4E38-8E15-7BB3372D6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12/22</a:t>
            </a:r>
          </a:p>
        </p:txBody>
      </p:sp>
    </p:spTree>
    <p:extLst>
      <p:ext uri="{BB962C8B-B14F-4D97-AF65-F5344CB8AC3E}">
        <p14:creationId xmlns:p14="http://schemas.microsoft.com/office/powerpoint/2010/main" val="156911845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5EC33CF-773C-4403-97EC-7A1088BC2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Escolha a interface certa para cada ambiente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2D1F61FE-99FA-467F-BADF-0387BD770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O explorador do curso funciona no navegador; a UI oficial exige um túnel que preserve localhost.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4E6B70CC-FB09-42F4-BF9D-503927640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Codespaces: python course.py official-data-ui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Local: gh auth refresh -h github.com -s codespace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Local: python course.py codespace-ui-tunnel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Navegador: http://localhost:4213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D8F54495-688E-46DF-8588-535814F4B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7D8BFF9E-FC8F-4E65-8272-5F950A03B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5DC9BAB4-D31A-4112-8898-78153897B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06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3F69F428-A49E-46C1-9969-8333B70F1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020A5464-9C0A-4AC7-BCF8-711FE10C3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37004183-3B9E-434B-B202-0F9B57464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44DB15B-7B67-4C75-843F-DBF1F1CDC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13/22</a:t>
            </a:r>
          </a:p>
        </p:txBody>
      </p:sp>
    </p:spTree>
    <p:extLst>
      <p:ext uri="{BB962C8B-B14F-4D97-AF65-F5344CB8AC3E}">
        <p14:creationId xmlns:p14="http://schemas.microsoft.com/office/powerpoint/2010/main" val="1283717871"/>
      </p:ext>
    </p:extLst>
  </p:cSld>
</p:sld>
</file>

<file path=ppt/slides/slide1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F0F218F-143F-4C7E-A636-0F137A9C0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Escolha a interface certa para cada ambiente</a:t>
            </a:r>
          </a:p>
        </p:txBody>
      </p:sp>
      <p:sp>
        <p:nvSpPr>
          <p:cNvPr id="2" name="flow-1">
            <a:extLst xmlns:a="http://schemas.openxmlformats.org/drawingml/2006/main">
              <a:ext uri="{FF2B5EF4-FFF2-40B4-BE49-F238E27FC236}">
                <a16:creationId xmlns:a16="http://schemas.microsoft.com/office/drawing/2014/main" id="{B2307041-C83B-413B-BECF-2BFC41AD5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DuckDB</a:t>
            </a:r>
          </a:p>
        </p:txBody>
      </p:sp>
      <p:sp>
        <p:nvSpPr>
          <p:cNvPr id="3" name="flow-2">
            <a:extLst xmlns:a="http://schemas.openxmlformats.org/drawingml/2006/main">
              <a:ext uri="{FF2B5EF4-FFF2-40B4-BE49-F238E27FC236}">
                <a16:creationId xmlns:a16="http://schemas.microsoft.com/office/drawing/2014/main" id="{B1DD4D67-AE07-4DE2-BE5A-C191F5BF1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9488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UI oficial</a:t>
            </a:r>
          </a:p>
        </p:txBody>
      </p:sp>
      <p:sp>
        <p:nvSpPr>
          <p:cNvPr id="4" name="flow-3">
            <a:extLst xmlns:a="http://schemas.openxmlformats.org/drawingml/2006/main">
              <a:ext uri="{FF2B5EF4-FFF2-40B4-BE49-F238E27FC236}">
                <a16:creationId xmlns:a16="http://schemas.microsoft.com/office/drawing/2014/main" id="{7A768B33-64EC-42B1-ACD9-CDCD7230D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túnel</a:t>
            </a:r>
          </a:p>
        </p:txBody>
      </p:sp>
      <p:sp>
        <p:nvSpPr>
          <p:cNvPr id="5" name="flow-4">
            <a:extLst xmlns:a="http://schemas.openxmlformats.org/drawingml/2006/main">
              <a:ext uri="{FF2B5EF4-FFF2-40B4-BE49-F238E27FC236}">
                <a16:creationId xmlns:a16="http://schemas.microsoft.com/office/drawing/2014/main" id="{5B860EEA-08A5-46C9-821E-F2860873B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localhost</a:t>
            </a:r>
          </a:p>
        </p:txBody>
      </p:sp>
      <p:cxnSp>
        <p:nvCxnSpPr>
          <p:cNvPr id="26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3252788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27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5962651" y="3962400"/>
            <a:ext cx="266699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28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8672513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sp>
        <p:nvSpPr>
          <p:cNvPr id="9" name="eyebrow">
            <a:extLst xmlns:a="http://schemas.openxmlformats.org/drawingml/2006/main">
              <a:ext uri="{FF2B5EF4-FFF2-40B4-BE49-F238E27FC236}">
                <a16:creationId xmlns:a16="http://schemas.microsoft.com/office/drawing/2014/main" id="{D563FCA4-69CB-4CF4-A82A-E0BBEAB4C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CC6D0BE-9D96-49F5-9F8A-865C3A62A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B019CF45-B3CC-4633-BBF5-C1C811558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216E70A-8E7C-45B9-A1C2-5969E8FD1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14/22</a:t>
            </a:r>
          </a:p>
        </p:txBody>
      </p:sp>
    </p:spTree>
    <p:extLst>
      <p:ext uri="{BB962C8B-B14F-4D97-AF65-F5344CB8AC3E}">
        <p14:creationId xmlns:p14="http://schemas.microsoft.com/office/powerpoint/2010/main" val="584638055"/>
      </p:ext>
    </p:extLst>
  </p:cSld>
</p:sld>
</file>

<file path=ppt/slides/slide1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B27AAD6-BC47-44FC-8798-69018D36B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Demonstração — execute</a:t>
            </a:r>
          </a:p>
        </p:txBody>
      </p:sp>
      <p:sp>
        <p:nvSpPr>
          <p:cNvPr id="2" name="code-surface">
            <a:extLst xmlns:a="http://schemas.openxmlformats.org/drawingml/2006/main">
              <a:ext uri="{FF2B5EF4-FFF2-40B4-BE49-F238E27FC236}">
                <a16:creationId xmlns:a16="http://schemas.microsoft.com/office/drawing/2014/main" id="{DBEF3606-D9CE-4AFB-8C55-B15D580A5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71750"/>
            <a:ext cx="97155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31021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</p:sp>
      <p:sp>
        <p:nvSpPr>
          <p:cNvPr id="3" name="command">
            <a:extLst xmlns:a="http://schemas.openxmlformats.org/drawingml/2006/main">
              <a:ext uri="{FF2B5EF4-FFF2-40B4-BE49-F238E27FC236}">
                <a16:creationId xmlns:a16="http://schemas.microsoft.com/office/drawing/2014/main" id="{50EA78D7-F2A2-4315-986B-7AD7F9D63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00375"/>
            <a:ext cx="8858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EC5FF"/>
                </a:solidFill>
              </a:defRPr>
            </a:pPr>
            <a:r>
              <a:rPr sz="1875" b="1">
                <a:solidFill>
                  <a:srgbClr val="1EC5FF"/>
                </a:solidFill>
              </a:rPr>
              <a:t>python course.py paths</a:t>
            </a:r>
          </a:p>
          <a:p xmlns:a="http://schemas.openxmlformats.org/drawingml/2006/main">
            <a:pPr>
              <a:buNone/>
              <a:defRPr sz="1875" b="1">
                <a:solidFill>
                  <a:srgbClr val="1EC5FF"/>
                </a:solidFill>
              </a:defRPr>
            </a:pPr>
            <a:r>
              <a:rPr sz="1875" b="1">
                <a:solidFill>
                  <a:srgbClr val="1EC5FF"/>
                </a:solidFill>
              </a:rPr>
              <a:t>python course.py checkpoint 01</a:t>
            </a:r>
          </a:p>
          <a:p xmlns:a="http://schemas.openxmlformats.org/drawingml/2006/main">
            <a:pPr>
              <a:buNone/>
              <a:defRPr sz="1875" b="1">
                <a:solidFill>
                  <a:srgbClr val="1EC5FF"/>
                </a:solidFill>
              </a:defRPr>
            </a:pPr>
            <a:r>
              <a:rPr sz="1875" b="1">
                <a:solidFill>
                  <a:srgbClr val="1EC5FF"/>
                </a:solidFill>
              </a:rPr>
              <a:t>python course.py data-ui</a:t>
            </a:r>
          </a:p>
        </p:txBody>
      </p:sp>
      <p:sp>
        <p:nvSpPr>
          <p:cNvPr id="4" name="command-help">
            <a:extLst xmlns:a="http://schemas.openxmlformats.org/drawingml/2006/main">
              <a:ext uri="{FF2B5EF4-FFF2-40B4-BE49-F238E27FC236}">
                <a16:creationId xmlns:a16="http://schemas.microsoft.com/office/drawing/2014/main" id="{BF86C0F5-6D15-445E-B6F6-DFA59936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619625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E2F2FF"/>
                </a:solidFill>
              </a:defRPr>
            </a:pPr>
            <a:r>
              <a:rPr sz="1425">
                <a:solidFill>
                  <a:srgbClr val="E2F2FF"/>
                </a:solidFill>
              </a:rPr>
              <a:t>Copie exatamente como aparece. O launcher escolhe o ambiente correto.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D5869A73-3F7F-4954-A935-30FE76F65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2F004C7-A625-42FE-B574-4DBBEE5EC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DC1521A5-7D45-41DB-A11F-3B6A38A72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4509C04-7617-49E5-9652-E95363DE9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15/22</a:t>
            </a:r>
          </a:p>
        </p:txBody>
      </p:sp>
    </p:spTree>
    <p:extLst>
      <p:ext uri="{BB962C8B-B14F-4D97-AF65-F5344CB8AC3E}">
        <p14:creationId xmlns:p14="http://schemas.microsoft.com/office/powerpoint/2010/main" val="18362336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71B79BC-AFA3-43D2-AE55-DB843E4F4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Demonstração — observe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48F29D56-884E-484D-B674-1C2C03237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6926A17C-4942-4E0C-BAB4-6D2D78734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dbt e DuckDB do ambiente isolado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D25B42F6-5983-468A-8320-46DF4E3D4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BA09BB11-9ABF-4BDE-845B-2C17D1907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5D47F47A-55A4-4334-B080-0BB0A9C64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Seeds e artifacts executados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A8EF5BDC-80CA-4D6D-B180-C3621A3B8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86BFE10A-1ACD-4FDA-A4DB-7D63DA6EE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0D7AC1FD-6B7C-4000-8A6D-660A17CE6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Explorador na porta privada 4213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6B8A3B21-B77C-45BC-B474-1E229C5C0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FC50AF5-CE5F-4606-8B19-D95D16D2E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F30F11B7-C666-438F-8AEE-06045BC7C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3F606E7-04C7-487A-ABE6-44026846E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16/22</a:t>
            </a:r>
          </a:p>
        </p:txBody>
      </p:sp>
    </p:spTree>
    <p:extLst>
      <p:ext uri="{BB962C8B-B14F-4D97-AF65-F5344CB8AC3E}">
        <p14:creationId xmlns:p14="http://schemas.microsoft.com/office/powerpoint/2010/main" val="1367337187"/>
      </p:ext>
    </p:extLst>
  </p:cSld>
</p:sld>
</file>

<file path=ppt/slides/slide1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sult-label">
            <a:extLst xmlns:a="http://schemas.openxmlformats.org/drawingml/2006/main">
              <a:ext uri="{FF2B5EF4-FFF2-40B4-BE49-F238E27FC236}">
                <a16:creationId xmlns:a16="http://schemas.microsoft.com/office/drawing/2014/main" id="{2861F17E-D08B-47D4-9EF1-F998A2928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RESULTADO ESPERADO</a:t>
            </a:r>
          </a:p>
        </p:txBody>
      </p:sp>
      <p:sp>
        <p:nvSpPr>
          <p:cNvPr id="2" name="result">
            <a:extLst xmlns:a="http://schemas.openxmlformats.org/drawingml/2006/main">
              <a:ext uri="{FF2B5EF4-FFF2-40B4-BE49-F238E27FC236}">
                <a16:creationId xmlns:a16="http://schemas.microsoft.com/office/drawing/2014/main" id="{A92D2D65-7DB8-4464-B4E1-92069795B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00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Checkpoint 01 OK + exploração gráfica opcional</a:t>
            </a:r>
          </a:p>
        </p:txBody>
      </p:sp>
      <p:sp>
        <p:nvSpPr>
          <p:cNvPr id="3" name="result-meta">
            <a:extLst xmlns:a="http://schemas.openxmlformats.org/drawingml/2006/main">
              <a:ext uri="{FF2B5EF4-FFF2-40B4-BE49-F238E27FC236}">
                <a16:creationId xmlns:a16="http://schemas.microsoft.com/office/drawing/2014/main" id="{C6A189D2-F68B-43F9-8B52-EAEC58BE0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Checkpoint 01 • evidência reproduzível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9B9E1ADC-B9E9-4AD2-B281-3F694EE69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A6A8C325-12D8-4C44-B6B7-ECA2472E0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93370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5F9821C5-5E45-4F5D-A9A1-3D13335E5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71E586D-31C8-4ED8-BD3B-C30A0D018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571362A0-D2DD-4820-9033-B52924CE0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EDD5DBE-533B-44D4-B3BA-A56E7D63F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17/22</a:t>
            </a:r>
          </a:p>
        </p:txBody>
      </p:sp>
    </p:spTree>
    <p:extLst>
      <p:ext uri="{BB962C8B-B14F-4D97-AF65-F5344CB8AC3E}">
        <p14:creationId xmlns:p14="http://schemas.microsoft.com/office/powerpoint/2010/main" val="135425510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C95BEDB-14F4-4A25-89C3-B01653FE9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 mesmo recurso afeta três decisões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0BAEACEC-F50A-4B56-93FD-FA6373E87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2EFD32BB-E41F-420A-81B9-5BF621C0D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Governança: ambiente versionado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73DA9AA0-9D0E-4661-89C1-723A478F8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76D1B589-14B2-48DE-96A2-15E43F607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1932228E-D658-4E4B-BB0E-E2C7CEBB2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FinOps: 2-core + stop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6ABA1B6B-2C33-4090-94ED-EE228890E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193AC7F8-F159-44C6-AEB0-01E931515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A87CC742-12DE-479A-B50E-83863E9D6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IA: nenhuma chave necessária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6F6852D6-2808-41DA-83DE-A9E41DEA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4A23026-8A30-48AF-BF98-31FEEA828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5024C753-3152-4839-8715-D02056A6D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2455E04-1C26-466F-998C-3B12F63A6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18/22</a:t>
            </a:r>
          </a:p>
        </p:txBody>
      </p:sp>
    </p:spTree>
    <p:extLst>
      <p:ext uri="{BB962C8B-B14F-4D97-AF65-F5344CB8AC3E}">
        <p14:creationId xmlns:p14="http://schemas.microsoft.com/office/powerpoint/2010/main" val="161006096"/>
      </p:ext>
    </p:extLst>
  </p:cSld>
</p:sld>
</file>

<file path=ppt/slides/slide19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ase-number">
            <a:extLst xmlns:a="http://schemas.openxmlformats.org/drawingml/2006/main">
              <a:ext uri="{FF2B5EF4-FFF2-40B4-BE49-F238E27FC236}">
                <a16:creationId xmlns:a16="http://schemas.microsoft.com/office/drawing/2014/main" id="{E3CEFC2A-AC69-4717-8712-FA78DA1B4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5550" b="1">
                <a:solidFill>
                  <a:srgbClr val="1EC5FF"/>
                </a:solidFill>
              </a:defRPr>
            </a:pPr>
            <a:r>
              <a:rPr sz="5550" b="1">
                <a:solidFill>
                  <a:srgbClr val="1EC5FF"/>
                </a:solidFill>
              </a:rPr>
              <a:t>46 recursos</a:t>
            </a:r>
          </a:p>
        </p:txBody>
      </p:sp>
      <p:sp>
        <p:nvSpPr>
          <p:cNvPr id="2" name="case-label">
            <a:extLst xmlns:a="http://schemas.openxmlformats.org/drawingml/2006/main">
              <a:ext uri="{FF2B5EF4-FFF2-40B4-BE49-F238E27FC236}">
                <a16:creationId xmlns:a16="http://schemas.microsoft.com/office/drawing/2014/main" id="{7CC40724-402D-4FA5-8F72-EF85B02AB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baseline dbt validado localmente</a:t>
            </a:r>
          </a:p>
        </p:txBody>
      </p:sp>
      <p:sp>
        <p:nvSpPr>
          <p:cNvPr id="3" name="case-divider">
            <a:extLst xmlns:a="http://schemas.openxmlformats.org/drawingml/2006/main">
              <a:ext uri="{FF2B5EF4-FFF2-40B4-BE49-F238E27FC236}">
                <a16:creationId xmlns:a16="http://schemas.microsoft.com/office/drawing/2014/main" id="{608792F7-8F46-4FDC-BBD1-91A942479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24000"/>
            <a:ext cx="0" cy="3143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27059"/>
              </a:srgbClr>
            </a:solidFill>
            <a:prstDash val="solid"/>
          </a:ln>
        </p:spPr>
      </p:sp>
      <p:sp>
        <p:nvSpPr>
          <p:cNvPr id="4" name="case-caveat">
            <a:extLst xmlns:a="http://schemas.openxmlformats.org/drawingml/2006/main">
              <a:ext uri="{FF2B5EF4-FFF2-40B4-BE49-F238E27FC236}">
                <a16:creationId xmlns:a16="http://schemas.microsoft.com/office/drawing/2014/main" id="{7ED7A4E5-4A6A-4E30-B542-889D967DE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90750"/>
            <a:ext cx="3333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Resultado do laboratório, não benchmark de produção.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8CC86997-197D-45C1-80FF-D7546D728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0FBFDAC5-437E-46CC-B54B-44D873023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3285A7A0-3A78-4D33-B665-C7141CBF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9F10D3B-CF84-43DC-B81D-DC3FB1D96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19/22</a:t>
            </a:r>
          </a:p>
        </p:txBody>
      </p:sp>
    </p:spTree>
    <p:extLst>
      <p:ext uri="{BB962C8B-B14F-4D97-AF65-F5344CB8AC3E}">
        <p14:creationId xmlns:p14="http://schemas.microsoft.com/office/powerpoint/2010/main" val="200879036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7BD6EBA-4456-4EB3-8FCB-FBB0EAF79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Limitações que precisam permanecer visíveis</a:t>
            </a:r>
          </a:p>
        </p:txBody>
      </p:sp>
      <p:sp>
        <p:nvSpPr>
          <p:cNvPr id="2" name="bullets">
            <a:extLst xmlns:a="http://schemas.openxmlformats.org/drawingml/2006/main">
              <a:ext uri="{FF2B5EF4-FFF2-40B4-BE49-F238E27FC236}">
                <a16:creationId xmlns:a16="http://schemas.microsoft.com/office/drawing/2014/main" id="{CD0408F1-46BB-4C3A-8875-80081CE08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9906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Codespaces exige internet e conta pessoal GitHub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Franquias e cobrança podem mudar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Explorador autoral é propositalmente simples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UI oficial exige GitHub CLI local e escopo codespace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1AE967C7-A0AB-400A-A8C3-5FD1A0ACA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53C1C44-C395-4619-B34D-6A7414D05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F5AFDDE2-B1B3-45CD-A23F-88771D7D8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8987D06-2561-494B-AAD0-09626DAA6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20/22</a:t>
            </a:r>
          </a:p>
        </p:txBody>
      </p:sp>
    </p:spTree>
    <p:extLst>
      <p:ext uri="{BB962C8B-B14F-4D97-AF65-F5344CB8AC3E}">
        <p14:creationId xmlns:p14="http://schemas.microsoft.com/office/powerpoint/2010/main" val="1593179968"/>
      </p:ext>
    </p:extLst>
  </p:cSld>
</p:sld>
</file>

<file path=ppt/slides/slide2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adar-label">
            <a:extLst xmlns:a="http://schemas.openxmlformats.org/drawingml/2006/main">
              <a:ext uri="{FF2B5EF4-FFF2-40B4-BE49-F238E27FC236}">
                <a16:creationId xmlns:a16="http://schemas.microsoft.com/office/drawing/2014/main" id="{16251EE7-598F-45B3-8EB7-D8F45419F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EC5FF"/>
                </a:solidFill>
              </a:defRPr>
            </a:pPr>
            <a:r>
              <a:rPr sz="1500" b="1">
                <a:solidFill>
                  <a:srgbClr val="1EC5FF"/>
                </a:solidFill>
              </a:rPr>
              <a:t>RADAR</a:t>
            </a:r>
          </a:p>
        </p:txBody>
      </p:sp>
      <p:sp>
        <p:nvSpPr>
          <p:cNvPr id="2" name="radar-text">
            <a:extLst xmlns:a="http://schemas.openxmlformats.org/drawingml/2006/main">
              <a:ext uri="{FF2B5EF4-FFF2-40B4-BE49-F238E27FC236}">
                <a16:creationId xmlns:a16="http://schemas.microsoft.com/office/drawing/2014/main" id="{C64A032F-DD98-4C1D-94F8-3B85465A8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334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Core 2.0 e Fusion ficam apenas no Radar; a aula executa Core 1.12 estável.</a:t>
            </a:r>
          </a:p>
        </p:txBody>
      </p:sp>
      <p:sp>
        <p:nvSpPr>
          <p:cNvPr id="3" name="radar-rule">
            <a:extLst xmlns:a="http://schemas.openxmlformats.org/drawingml/2006/main">
              <a:ext uri="{FF2B5EF4-FFF2-40B4-BE49-F238E27FC236}">
                <a16:creationId xmlns:a16="http://schemas.microsoft.com/office/drawing/2014/main" id="{46F0DE14-05E1-4B23-9678-29E55C671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E2F2FF"/>
                </a:solidFill>
              </a:defRPr>
            </a:pPr>
            <a:r>
              <a:rPr sz="1500">
                <a:solidFill>
                  <a:srgbClr val="E2F2FF"/>
                </a:solidFill>
              </a:rPr>
              <a:t>Novidade observada ≠ recomendação de produção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9016BDB6-FAF9-433B-A9B9-3E5970A3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62250"/>
            <a:ext cx="1809750" cy="1809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B1CEFF97-4664-4499-9AD7-29A2A6DF0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1945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84284907-CFE6-4351-BDC2-FB1C338D3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C32A775-BDEF-4C2A-9458-6E372B179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AC1A30B8-30A6-44B3-8801-A3D997685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3C5FF2D-6936-4468-BC35-90D0D21BD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21/22</a:t>
            </a:r>
          </a:p>
        </p:txBody>
      </p:sp>
    </p:spTree>
    <p:extLst>
      <p:ext uri="{BB962C8B-B14F-4D97-AF65-F5344CB8AC3E}">
        <p14:creationId xmlns:p14="http://schemas.microsoft.com/office/powerpoint/2010/main" val="173109596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ta-label">
            <a:extLst xmlns:a="http://schemas.openxmlformats.org/drawingml/2006/main">
              <a:ext uri="{FF2B5EF4-FFF2-40B4-BE49-F238E27FC236}">
                <a16:creationId xmlns:a16="http://schemas.microsoft.com/office/drawing/2014/main" id="{D839393D-9285-4469-8D57-1B532B477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565C0"/>
                </a:solidFill>
              </a:defRPr>
            </a:pPr>
            <a:r>
              <a:rPr sz="1350" b="1">
                <a:solidFill>
                  <a:srgbClr val="1565C0"/>
                </a:solidFill>
              </a:rPr>
              <a:t>PRÓXIMO PASSO</a:t>
            </a:r>
          </a:p>
        </p:txBody>
      </p:sp>
      <p:sp>
        <p:nvSpPr>
          <p:cNvPr id="2" name="cta">
            <a:extLst xmlns:a="http://schemas.openxmlformats.org/drawingml/2006/main">
              <a:ext uri="{FF2B5EF4-FFF2-40B4-BE49-F238E27FC236}">
                <a16:creationId xmlns:a16="http://schemas.microsoft.com/office/drawing/2014/main" id="{6F59B9D6-AC5D-4592-B931-AD0C817FC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715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B1F3A"/>
                </a:solidFill>
              </a:defRPr>
            </a:pPr>
            <a:r>
              <a:rPr sz="3300" b="1">
                <a:solidFill>
                  <a:srgbClr val="0B1F3A"/>
                </a:solidFill>
              </a:rPr>
              <a:t>Abra o Codespace em 2-core, execute checkpoint 01 e use a UI oficial por túnel somente como bônus.</a:t>
            </a:r>
          </a:p>
        </p:txBody>
      </p:sp>
      <p:sp>
        <p:nvSpPr>
          <p:cNvPr id="3" name="cta-meta">
            <a:extLst xmlns:a="http://schemas.openxmlformats.org/drawingml/2006/main">
              <a:ext uri="{FF2B5EF4-FFF2-40B4-BE49-F238E27FC236}">
                <a16:creationId xmlns:a16="http://schemas.microsoft.com/office/drawing/2014/main" id="{1BDFFB42-AC26-48BB-A0DA-09EA08517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5C6F86"/>
                </a:solidFill>
              </a:defRPr>
            </a:pPr>
            <a:r>
              <a:rPr sz="1500">
                <a:solidFill>
                  <a:srgbClr val="5C6F86"/>
                </a:solidFill>
              </a:rPr>
              <a:t>Checkpoint 01 • roteiro completo no repositório</a:t>
            </a:r>
          </a:p>
        </p:txBody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4E41AD3B-51F0-4279-96F5-1BC6CD6D8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5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31BB638-7D54-4F83-A1F2-98AEB4DB8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43D299E3-A291-41E7-9C4D-40429D6D9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4DA4D5C-2E0B-4EC1-9681-DE4EA58E7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22/22</a:t>
            </a:r>
          </a:p>
        </p:txBody>
      </p:sp>
    </p:spTree>
    <p:extLst>
      <p:ext uri="{BB962C8B-B14F-4D97-AF65-F5344CB8AC3E}">
        <p14:creationId xmlns:p14="http://schemas.microsoft.com/office/powerpoint/2010/main" val="108662321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2026-09-02T04:55:07.0700000Z</dcterms:created>
  <dcterms:modified xsi:type="dcterms:W3CDTF">2026-09-02T04:55:07.0700000Z</dcterms:modified>
</coreProperties>
</file>