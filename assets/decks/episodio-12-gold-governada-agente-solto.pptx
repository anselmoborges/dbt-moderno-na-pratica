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63ffd3c2514df3" /><Relationship Type="http://schemas.openxmlformats.org/officeDocument/2006/relationships/extended-properties" Target="/docProps/app.xml" Id="R67d2c10df64540d0" /><Relationship Type="http://schemas.openxmlformats.org/officeDocument/2006/relationships/officeDocument" Target="/ppt/presentation.xml" Id="R3ce5839234194a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3d16dfc9b74c5e"/>
    <p:sldMasterId xmlns:r="http://schemas.openxmlformats.org/officeDocument/2006/relationships" id="2147483650" r:id="R777c65c82d2b458f"/>
  </p:sldMasterIdLst>
  <p:notesMasterIdLst>
    <p:notesMasterId xmlns:r="http://schemas.openxmlformats.org/officeDocument/2006/relationships" r:id="R1ba79d83631141d4"/>
  </p:notesMasterIdLst>
  <p:sldIdLst>
    <p:sldId xmlns:r="http://schemas.openxmlformats.org/officeDocument/2006/relationships" id="256" r:id="Rbc89902cd54b4c51"/>
    <p:sldId xmlns:r="http://schemas.openxmlformats.org/officeDocument/2006/relationships" id="257" r:id="Rff67f6b95b7e42c8"/>
    <p:sldId xmlns:r="http://schemas.openxmlformats.org/officeDocument/2006/relationships" id="258" r:id="R1d1e3df214fa44cd"/>
    <p:sldId xmlns:r="http://schemas.openxmlformats.org/officeDocument/2006/relationships" id="259" r:id="R0837d6497a0e4591"/>
    <p:sldId xmlns:r="http://schemas.openxmlformats.org/officeDocument/2006/relationships" id="260" r:id="R2ccd786a20d5406b"/>
    <p:sldId xmlns:r="http://schemas.openxmlformats.org/officeDocument/2006/relationships" id="261" r:id="Rc9879d9f2af64a89"/>
    <p:sldId xmlns:r="http://schemas.openxmlformats.org/officeDocument/2006/relationships" id="262" r:id="R20053fb61c7647c4"/>
    <p:sldId xmlns:r="http://schemas.openxmlformats.org/officeDocument/2006/relationships" id="263" r:id="Rcfd0ceef604e4948"/>
    <p:sldId xmlns:r="http://schemas.openxmlformats.org/officeDocument/2006/relationships" id="264" r:id="R34e82d55fa124560"/>
    <p:sldId xmlns:r="http://schemas.openxmlformats.org/officeDocument/2006/relationships" id="265" r:id="R776cbf29a481419a"/>
    <p:sldId xmlns:r="http://schemas.openxmlformats.org/officeDocument/2006/relationships" id="266" r:id="R3b81ebdf469242e8"/>
    <p:sldId xmlns:r="http://schemas.openxmlformats.org/officeDocument/2006/relationships" id="267" r:id="R8e87bfd2ad5948af"/>
    <p:sldId xmlns:r="http://schemas.openxmlformats.org/officeDocument/2006/relationships" id="268" r:id="R602d64e7ba254fd0"/>
    <p:sldId xmlns:r="http://schemas.openxmlformats.org/officeDocument/2006/relationships" id="269" r:id="R2d8596d61b8a454b"/>
    <p:sldId xmlns:r="http://schemas.openxmlformats.org/officeDocument/2006/relationships" id="270" r:id="Rc68e4e1f3d684bdb"/>
    <p:sldId xmlns:r="http://schemas.openxmlformats.org/officeDocument/2006/relationships" id="271" r:id="R31295bc62f5d4e6a"/>
    <p:sldId xmlns:r="http://schemas.openxmlformats.org/officeDocument/2006/relationships" id="272" r:id="R125f8421ff3b4a39"/>
    <p:sldId xmlns:r="http://schemas.openxmlformats.org/officeDocument/2006/relationships" id="273" r:id="R932f8cba3ea04ecd"/>
    <p:sldId xmlns:r="http://schemas.openxmlformats.org/officeDocument/2006/relationships" id="274" r:id="R1edcd5e65fac4ccb"/>
    <p:sldId xmlns:r="http://schemas.openxmlformats.org/officeDocument/2006/relationships" id="275" r:id="Rcc823bf1f66a4813"/>
    <p:sldId xmlns:r="http://schemas.openxmlformats.org/officeDocument/2006/relationships" id="276" r:id="R6258d5c7dbcc47a7"/>
    <p:sldId xmlns:r="http://schemas.openxmlformats.org/officeDocument/2006/relationships" id="277" r:id="R775ab72a6a0f422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8ff03685015483c" /><Relationship Type="http://schemas.openxmlformats.org/officeDocument/2006/relationships/slideMaster" Target="/ppt/slideMasters/slideMaster1.xml" Id="Red3d16dfc9b74c5e" /><Relationship Type="http://schemas.openxmlformats.org/officeDocument/2006/relationships/slideMaster" Target="/ppt/slideMasters/slideMaster2.xml" Id="R777c65c82d2b458f" /><Relationship Type="http://schemas.openxmlformats.org/officeDocument/2006/relationships/notesMaster" Target="/ppt/notesMasters/notesMaster1.xml" Id="R1ba79d83631141d4" /><Relationship Type="http://schemas.openxmlformats.org/officeDocument/2006/relationships/presProps" Target="/ppt/presProps.xml" Id="R7f682d9cf670401a" /><Relationship Type="http://schemas.openxmlformats.org/officeDocument/2006/relationships/tableStyles" Target="/ppt/tableStyles.xml" Id="R897c636483cc411a" /><Relationship Type="http://schemas.openxmlformats.org/officeDocument/2006/relationships/slide" Target="/ppt/slides/slide1.xml" Id="Rbc89902cd54b4c51" /><Relationship Type="http://schemas.openxmlformats.org/officeDocument/2006/relationships/slide" Target="/ppt/slides/slide2.xml" Id="Rff67f6b95b7e42c8" /><Relationship Type="http://schemas.openxmlformats.org/officeDocument/2006/relationships/slide" Target="/ppt/slides/slide3.xml" Id="R1d1e3df214fa44cd" /><Relationship Type="http://schemas.openxmlformats.org/officeDocument/2006/relationships/slide" Target="/ppt/slides/slide4.xml" Id="R0837d6497a0e4591" /><Relationship Type="http://schemas.openxmlformats.org/officeDocument/2006/relationships/slide" Target="/ppt/slides/slide5.xml" Id="R2ccd786a20d5406b" /><Relationship Type="http://schemas.openxmlformats.org/officeDocument/2006/relationships/slide" Target="/ppt/slides/slide6.xml" Id="Rc9879d9f2af64a89" /><Relationship Type="http://schemas.openxmlformats.org/officeDocument/2006/relationships/slide" Target="/ppt/slides/slide7.xml" Id="R20053fb61c7647c4" /><Relationship Type="http://schemas.openxmlformats.org/officeDocument/2006/relationships/slide" Target="/ppt/slides/slide8.xml" Id="Rcfd0ceef604e4948" /><Relationship Type="http://schemas.openxmlformats.org/officeDocument/2006/relationships/slide" Target="/ppt/slides/slide9.xml" Id="R34e82d55fa124560" /><Relationship Type="http://schemas.openxmlformats.org/officeDocument/2006/relationships/slide" Target="/ppt/slides/slide10.xml" Id="R776cbf29a481419a" /><Relationship Type="http://schemas.openxmlformats.org/officeDocument/2006/relationships/slide" Target="/ppt/slides/slide11.xml" Id="R3b81ebdf469242e8" /><Relationship Type="http://schemas.openxmlformats.org/officeDocument/2006/relationships/slide" Target="/ppt/slides/slide12.xml" Id="R8e87bfd2ad5948af" /><Relationship Type="http://schemas.openxmlformats.org/officeDocument/2006/relationships/slide" Target="/ppt/slides/slide13.xml" Id="R602d64e7ba254fd0" /><Relationship Type="http://schemas.openxmlformats.org/officeDocument/2006/relationships/slide" Target="/ppt/slides/slide14.xml" Id="R2d8596d61b8a454b" /><Relationship Type="http://schemas.openxmlformats.org/officeDocument/2006/relationships/slide" Target="/ppt/slides/slide15.xml" Id="Rc68e4e1f3d684bdb" /><Relationship Type="http://schemas.openxmlformats.org/officeDocument/2006/relationships/slide" Target="/ppt/slides/slide16.xml" Id="R31295bc62f5d4e6a" /><Relationship Type="http://schemas.openxmlformats.org/officeDocument/2006/relationships/slide" Target="/ppt/slides/slide17.xml" Id="R125f8421ff3b4a39" /><Relationship Type="http://schemas.openxmlformats.org/officeDocument/2006/relationships/slide" Target="/ppt/slides/slide18.xml" Id="R932f8cba3ea04ecd" /><Relationship Type="http://schemas.openxmlformats.org/officeDocument/2006/relationships/slide" Target="/ppt/slides/slide19.xml" Id="R1edcd5e65fac4ccb" /><Relationship Type="http://schemas.openxmlformats.org/officeDocument/2006/relationships/slide" Target="/ppt/slides/slide20.xml" Id="Rcc823bf1f66a4813" /><Relationship Type="http://schemas.openxmlformats.org/officeDocument/2006/relationships/slide" Target="/ppt/slides/slide21.xml" Id="R6258d5c7dbcc47a7" /><Relationship Type="http://schemas.openxmlformats.org/officeDocument/2006/relationships/slide" Target="/ppt/slides/slide22.xml" Id="R775ab72a6a0f42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c25935bfe8b241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0ab3cbecdf40bc" /><Relationship Type="http://schemas.openxmlformats.org/officeDocument/2006/relationships/notesMaster" Target="/ppt/notesMasters/notesMaster1.xml" Id="R783856f46a4f4b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c629755bd94fd3" /><Relationship Type="http://schemas.openxmlformats.org/officeDocument/2006/relationships/notesMaster" Target="/ppt/notesMasters/notesMaster1.xml" Id="Ra83504139ff2481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bcc0e9237d04645" /><Relationship Type="http://schemas.openxmlformats.org/officeDocument/2006/relationships/notesMaster" Target="/ppt/notesMasters/notesMaster1.xml" Id="R28d4d4f010ae4b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d3a0f2b412408c" /><Relationship Type="http://schemas.openxmlformats.org/officeDocument/2006/relationships/notesMaster" Target="/ppt/notesMasters/notesMaster1.xml" Id="R108553e6767e4a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12c3aaf392463a" /><Relationship Type="http://schemas.openxmlformats.org/officeDocument/2006/relationships/notesMaster" Target="/ppt/notesMasters/notesMaster1.xml" Id="Re603e25b6ee248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3a9054dd9c4860" /><Relationship Type="http://schemas.openxmlformats.org/officeDocument/2006/relationships/notesMaster" Target="/ppt/notesMasters/notesMaster1.xml" Id="R4e0456171a70474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0c916434d34a9e" /><Relationship Type="http://schemas.openxmlformats.org/officeDocument/2006/relationships/notesMaster" Target="/ppt/notesMasters/notesMaster1.xml" Id="R99092d979e9f42a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2a67f5973b43a0" /><Relationship Type="http://schemas.openxmlformats.org/officeDocument/2006/relationships/notesMaster" Target="/ppt/notesMasters/notesMaster1.xml" Id="Rdabccdda817443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63a66beb1714de6" /><Relationship Type="http://schemas.openxmlformats.org/officeDocument/2006/relationships/notesMaster" Target="/ppt/notesMasters/notesMaster1.xml" Id="R6e401716db954fa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e006244b0634fac" /><Relationship Type="http://schemas.openxmlformats.org/officeDocument/2006/relationships/notesMaster" Target="/ppt/notesMasters/notesMaster1.xml" Id="R73707e8f6cf649a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216b2da1e74494c" /><Relationship Type="http://schemas.openxmlformats.org/officeDocument/2006/relationships/notesMaster" Target="/ppt/notesMasters/notesMaster1.xml" Id="R661a782037174a1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70773dcce7f4ade" /><Relationship Type="http://schemas.openxmlformats.org/officeDocument/2006/relationships/notesMaster" Target="/ppt/notesMasters/notesMaster1.xml" Id="Rb260f31bbeb0495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fce4f641c70431b" /><Relationship Type="http://schemas.openxmlformats.org/officeDocument/2006/relationships/notesMaster" Target="/ppt/notesMasters/notesMaster1.xml" Id="R6a0e43f74bfc469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96ae048e9034c4d" /><Relationship Type="http://schemas.openxmlformats.org/officeDocument/2006/relationships/notesMaster" Target="/ppt/notesMasters/notesMaster1.xml" Id="R182bf2b354be476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a0cd7dde5614506" /><Relationship Type="http://schemas.openxmlformats.org/officeDocument/2006/relationships/notesMaster" Target="/ppt/notesMasters/notesMaster1.xml" Id="R5bb5fdf8287e4c8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73d01747b7a424d" /><Relationship Type="http://schemas.openxmlformats.org/officeDocument/2006/relationships/notesMaster" Target="/ppt/notesMasters/notesMaster1.xml" Id="R07b2dd7d2ad645e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ce757143e9d41fb" /><Relationship Type="http://schemas.openxmlformats.org/officeDocument/2006/relationships/notesMaster" Target="/ppt/notesMasters/notesMaster1.xml" Id="Ref5e8d2ba3af44d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902b17495354575" /><Relationship Type="http://schemas.openxmlformats.org/officeDocument/2006/relationships/notesMaster" Target="/ppt/notesMasters/notesMaster1.xml" Id="Rc396efe8b8c0400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2a02173b45347c1" /><Relationship Type="http://schemas.openxmlformats.org/officeDocument/2006/relationships/notesMaster" Target="/ppt/notesMasters/notesMaster1.xml" Id="R6a212226e0cc4c0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079db289c6a4cd7" /><Relationship Type="http://schemas.openxmlformats.org/officeDocument/2006/relationships/notesMaster" Target="/ppt/notesMasters/notesMaster1.xml" Id="R7274d05050204eb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91459e8213e4ae5" /><Relationship Type="http://schemas.openxmlformats.org/officeDocument/2006/relationships/notesMaster" Target="/ppt/notesMasters/notesMaster1.xml" Id="Rd665b33a3c67489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cc5c2deb0d54a27" /><Relationship Type="http://schemas.openxmlformats.org/officeDocument/2006/relationships/notesMaster" Target="/ppt/notesMasters/notesMaster1.xml" Id="R11a39f1bdd8c49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12 do dbt Moderno na Prática. Hoje vamos trabalhar o tema “Gold governada versus agente solto”. Compare raw, manifest e métricas contra o mesmo ground truth.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12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agente não deve inventar as regras que o pipeline pode executar e testar.”.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O agente não deve inventar as regras que o pipeline pode executar e testar.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fixar ground truth, Comparar três tratamentos e Medir qualidade e custo normalizado.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“Três tratamentos, uma pergunta”.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Tudo permanece igual, exceto a interface oferecida ao agente. Para tornar isso concreto, observe a: schema bruto, B: manifest e docs e C: métricas governadas.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“Ground truth vem antes do LLM”.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pipeline calcula as respostas esperadas sem depender do modelo. Para tornar isso concreto, observe pergunta fixa, SQL conhecido e Resultado versionado.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“Ground truth vem antes do LLM”.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O pipeline calcula as respostas esperadas sem depender do modelo. Siga a composição na ordem mostrada e conecte pipeline, Ground truth e Avaliador.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“Trace transforma opinião em evidência”.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Resposta, SQL, resultado, tokens, tools e latência ficam no mesmo JSON. Para tornar isso concreto, observe input/output tokens, tool calls, joins inválidos e custo normalizado.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“Trace transforma opinião em evidência”.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Resposta, SQL, resultado, tokens, tools e latência ficam no mesmo JSON. Siga a composição na ordem mostrada e conecte pergunta, Trace, Score e Comparação.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“Fixture não é execução real”.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Traces gravados testam o avaliador; não provam desempenho de um LLM. Para tornar isso concreto, observe CI sem chave, Dados sintéticos e Execução real posterior.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“Fixture não é execução real”.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Traces gravados testam o avaliador; não provam desempenho de um LLM. Siga a composição na ordem mostrada e conecte fixture, Validação e LLM real.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 recomendação oficial favorece contexto semântico”.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Mais modelagem tende a ampliar precisão e segurança das respostas. Para tornar isso concreto, observe cobertura, Precisão e Confiabilidade.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 recomendação oficial favorece contexto semântico”.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Mais modelagem tende a ampliar precisão e segurança das respostas. Siga a composição na ordem mostrada e conecte os elementos principais. A imagem ou o fluxo não cria uma regra nova; ele torna visível a relação que acabamos de explicar. A figura é identificada como figura oficial dbt Labs — Apache 2.0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 arquitetura recomendada termina no agente”.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Regras ficam na Gold e nas métricas; o agente consome e explica. Para tornar isso concreto, observe silver prepara, Gold aplica regra, Métrica nomeia e MCP entrega contexto.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 arquitetura recomendada termina no agente”.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Regras ficam na Gold e nas métricas; o agente consome e explica. Siga a composição na ordem mostrada e conecte silver, Gold, Métricas, MCP e Agente.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12.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perguntas fixas, Traces gravados e Avaliador e ground truth.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Benchmark determinístico sem chave de LLM. Esse resultado confirma que a etapa executada produziu a evidência esperada para o checkpoint 12.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consenso em código, FinOps: custo normalizado e IA: consumidor, não inventor.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“80%”.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80%: redução de analytics reportada pela Bilt. O número ajuda a dimensionar o exemplo, mas precisa ser lido com a ressalva correta. Resultado reportado; o laboratório não generaliza o percentual.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fixtures não medem qualidade real do modelo, Tokens variam por cliente e Semântica não elimina toda ambiguidade.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dbt State e MCP gerenciado continuam fora da aceitação open.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Mova uma regra determinística do prompt para o pipeline e teste-a.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039f548a9743d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caf41ffd4734ff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306ee7d2ccc45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4da1c173d3433c" /><Relationship Type="http://schemas.openxmlformats.org/officeDocument/2006/relationships/slideLayout" Target="/ppt/slideLayouts/slideLayout1.xml" Id="R25c8416af81d4f89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49a56d97d5d74d40" /><Relationship Type="http://schemas.openxmlformats.org/officeDocument/2006/relationships/slideLayout" Target="/ppt/slideLayouts/slideLayout2.xml" Id="R6e7514f7d2394355" /><Relationship Type="http://schemas.openxmlformats.org/officeDocument/2006/relationships/slideLayout" Target="/ppt/slideLayouts/slideLayout3.xml" Id="R3e9963f68ef64a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c8416af81d4f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6e7514f7d2394355"/>
    <p:sldLayoutId xmlns:r="http://schemas.openxmlformats.org/officeDocument/2006/relationships" id="2147483652" r:id="R3e9963f68ef64af2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08c741800d411b" /><Relationship Type="http://schemas.openxmlformats.org/officeDocument/2006/relationships/image" Target="/ppt/media/image.jpeg" Id="Rb2fb2c3c80504e29" /><Relationship Type="http://schemas.openxmlformats.org/officeDocument/2006/relationships/image" Target="/ppt/media/image.png" Id="R972aee8efc694737" /><Relationship Type="http://schemas.openxmlformats.org/officeDocument/2006/relationships/notesSlide" Target="/ppt/notesSlides/notesSlide1.xml" Id="R3d0f0b50959441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ba158fedab7458a" /><Relationship Type="http://schemas.openxmlformats.org/officeDocument/2006/relationships/image" Target="/ppt/media/image2.png" Id="Rf7accfe40d4d4f0b" /><Relationship Type="http://schemas.openxmlformats.org/officeDocument/2006/relationships/image" Target="/ppt/media/image3.png" Id="R0ea3e878d0da4632" /><Relationship Type="http://schemas.openxmlformats.org/officeDocument/2006/relationships/notesSlide" Target="/ppt/notesSlides/notesSlide2.xml" Id="Rf9ca486011a04a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ed27cac35c4ec5" /><Relationship Type="http://schemas.openxmlformats.org/officeDocument/2006/relationships/image" Target="/ppt/media/image4.png" Id="R78ab23179c44433c" /><Relationship Type="http://schemas.openxmlformats.org/officeDocument/2006/relationships/notesSlide" Target="/ppt/notesSlides/notesSlide3.xml" Id="R911783d202cf4c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8fc4456da4465b" /><Relationship Type="http://schemas.openxmlformats.org/officeDocument/2006/relationships/image" Target="/ppt/media/image5.png" Id="R415e2608a1ff4f09" /><Relationship Type="http://schemas.openxmlformats.org/officeDocument/2006/relationships/notesSlide" Target="/ppt/notesSlides/notesSlide4.xml" Id="R51025532b95d402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cc3a6d0c5104c95" /><Relationship Type="http://schemas.openxmlformats.org/officeDocument/2006/relationships/image" Target="/ppt/media/image6.png" Id="R6d9439b0fd024811" /><Relationship Type="http://schemas.openxmlformats.org/officeDocument/2006/relationships/notesSlide" Target="/ppt/notesSlides/notesSlide5.xml" Id="R330ddd6e905f43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04328968d74ca4" /><Relationship Type="http://schemas.openxmlformats.org/officeDocument/2006/relationships/image" Target="/ppt/media/image7.png" Id="R87631b3d6af84765" /><Relationship Type="http://schemas.openxmlformats.org/officeDocument/2006/relationships/notesSlide" Target="/ppt/notesSlides/notesSlide6.xml" Id="R9d1068f500814b2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ef9115cb1c46fc" /><Relationship Type="http://schemas.openxmlformats.org/officeDocument/2006/relationships/image" Target="/ppt/media/image8.png" Id="Re570eea913f84f12" /><Relationship Type="http://schemas.openxmlformats.org/officeDocument/2006/relationships/notesSlide" Target="/ppt/notesSlides/notesSlide7.xml" Id="Rd3478737db2e42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4acc80c310b4452" /><Relationship Type="http://schemas.openxmlformats.org/officeDocument/2006/relationships/image" Target="/ppt/media/image9.png" Id="R545d4c4e7f6a4743" /><Relationship Type="http://schemas.openxmlformats.org/officeDocument/2006/relationships/notesSlide" Target="/ppt/notesSlides/notesSlide8.xml" Id="R81524b2683ca4e2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094a5b54d394191" /><Relationship Type="http://schemas.openxmlformats.org/officeDocument/2006/relationships/image" Target="/ppt/media/image10.png" Id="R8f4c227529844012" /><Relationship Type="http://schemas.openxmlformats.org/officeDocument/2006/relationships/notesSlide" Target="/ppt/notesSlides/notesSlide9.xml" Id="R1db508cb228d40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8dda86e08a414a" /><Relationship Type="http://schemas.openxmlformats.org/officeDocument/2006/relationships/image" Target="/ppt/media/image11.png" Id="R0f6df8528753446c" /><Relationship Type="http://schemas.openxmlformats.org/officeDocument/2006/relationships/notesSlide" Target="/ppt/notesSlides/notesSlide10.xml" Id="R61db080bf2ed41f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039cb58abb4fb0" /><Relationship Type="http://schemas.openxmlformats.org/officeDocument/2006/relationships/image" Target="/ppt/media/image12.png" Id="R64dfe94809944367" /><Relationship Type="http://schemas.openxmlformats.org/officeDocument/2006/relationships/notesSlide" Target="/ppt/notesSlides/notesSlide11.xml" Id="Rccbf65441511471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a7a91dd07144d9a" /><Relationship Type="http://schemas.openxmlformats.org/officeDocument/2006/relationships/image" Target="/ppt/media/image13.png" Id="R23507c6c873a45b8" /><Relationship Type="http://schemas.openxmlformats.org/officeDocument/2006/relationships/image" Target="/ppt/media/image14.png" Id="R9e5643e497ea4462" /><Relationship Type="http://schemas.openxmlformats.org/officeDocument/2006/relationships/notesSlide" Target="/ppt/notesSlides/notesSlide12.xml" Id="R89721863193b4ff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2f137ac492f4ce2" /><Relationship Type="http://schemas.openxmlformats.org/officeDocument/2006/relationships/image" Target="/ppt/media/image15.png" Id="Rf3e88a5a2aec49d2" /><Relationship Type="http://schemas.openxmlformats.org/officeDocument/2006/relationships/notesSlide" Target="/ppt/notesSlides/notesSlide13.xml" Id="Rf692b79d6f694d9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92b0f53bd4440f" /><Relationship Type="http://schemas.openxmlformats.org/officeDocument/2006/relationships/image" Target="/ppt/media/image16.png" Id="R1c438b35c05e4b4c" /><Relationship Type="http://schemas.openxmlformats.org/officeDocument/2006/relationships/notesSlide" Target="/ppt/notesSlides/notesSlide14.xml" Id="R7911414c963d498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1fcb21f191454e" /><Relationship Type="http://schemas.openxmlformats.org/officeDocument/2006/relationships/image" Target="/ppt/media/image17.png" Id="R01c898d57500405e" /><Relationship Type="http://schemas.openxmlformats.org/officeDocument/2006/relationships/notesSlide" Target="/ppt/notesSlides/notesSlide15.xml" Id="R355b16a71f33479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d90e8e38d04132" /><Relationship Type="http://schemas.openxmlformats.org/officeDocument/2006/relationships/image" Target="/ppt/media/image18.png" Id="Rcc03cba9c0b440e4" /><Relationship Type="http://schemas.openxmlformats.org/officeDocument/2006/relationships/notesSlide" Target="/ppt/notesSlides/notesSlide16.xml" Id="Rf565f431a8f7459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57240112b44d10" /><Relationship Type="http://schemas.openxmlformats.org/officeDocument/2006/relationships/image" Target="/ppt/media/image19.png" Id="R2dc855520fca4f98" /><Relationship Type="http://schemas.openxmlformats.org/officeDocument/2006/relationships/notesSlide" Target="/ppt/notesSlides/notesSlide17.xml" Id="R141dac37199d455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d0a2519874542c1" /><Relationship Type="http://schemas.openxmlformats.org/officeDocument/2006/relationships/image" Target="/ppt/media/image20.png" Id="R377f8c681eb941c4" /><Relationship Type="http://schemas.openxmlformats.org/officeDocument/2006/relationships/notesSlide" Target="/ppt/notesSlides/notesSlide18.xml" Id="R73cc15e01c694b0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b78d84cc804755" /><Relationship Type="http://schemas.openxmlformats.org/officeDocument/2006/relationships/image" Target="/ppt/media/image21.png" Id="R7f8b05be59764dec" /><Relationship Type="http://schemas.openxmlformats.org/officeDocument/2006/relationships/notesSlide" Target="/ppt/notesSlides/notesSlide19.xml" Id="Re032921ac87d4db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4d381d4a4bf425c" /><Relationship Type="http://schemas.openxmlformats.org/officeDocument/2006/relationships/image" Target="/ppt/media/image22.png" Id="Rc9b0c16af27547ed" /><Relationship Type="http://schemas.openxmlformats.org/officeDocument/2006/relationships/notesSlide" Target="/ppt/notesSlides/notesSlide20.xml" Id="R55e9652976fd466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e7cfd5fd8a4adb" /><Relationship Type="http://schemas.openxmlformats.org/officeDocument/2006/relationships/image" Target="/ppt/media/image23.png" Id="R57890e575e904ba8" /><Relationship Type="http://schemas.openxmlformats.org/officeDocument/2006/relationships/notesSlide" Target="/ppt/notesSlides/notesSlide21.xml" Id="Rd38dd1d423214c3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d526f87c80d4a80" /><Relationship Type="http://schemas.openxmlformats.org/officeDocument/2006/relationships/image" Target="/ppt/media/image24.png" Id="R552d4ac199ed4445" /><Relationship Type="http://schemas.openxmlformats.org/officeDocument/2006/relationships/notesSlide" Target="/ppt/notesSlides/notesSlide22.xml" Id="Rc8dfd79bf8504f75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 descr="Ilustração conceitual autoral da capa: EPISÓDIO 12 — Gold governada versus agente solt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fb2c3c80504e29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7D6F5656-FB44-4BE9-892A-D39F9377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F37B1CA6-4251-49EA-A364-5059B00F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A3E33AF8-4FDD-4AD6-971A-FAB2B325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12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63B56569-B1B6-46A8-AD0E-DA93DA4B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8" name="" descr="Ilustração conceitual autoral da capa: EPISÓDIO 12 — Gold governada versus agente solt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2aee8efc694737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81BC1CD-16C7-47D1-8DDF-0D990219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Gold governada versus agente solto</a:t>
            </a:r>
          </a:p>
        </p:txBody>
      </p:sp>
      <p:sp>
        <p:nvSpPr>
          <p:cNvPr id="8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2F74D2E-E7D2-4C0D-9784-5E80352E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Compare raw, manifest e métricas contra o mesmo ground truth</a:t>
            </a:r>
          </a:p>
        </p:txBody>
      </p:sp>
      <p:sp>
        <p:nvSpPr>
          <p:cNvPr id="9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DCAFDB19-5A8C-4536-895A-82D4A00B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10" name="cover-meta">
            <a:extLst xmlns:a="http://schemas.openxmlformats.org/drawingml/2006/main">
              <a:ext uri="{FF2B5EF4-FFF2-40B4-BE49-F238E27FC236}">
                <a16:creationId xmlns:a16="http://schemas.microsoft.com/office/drawing/2014/main" id="{10C8D0FF-4A95-4CB3-A30B-A9B06338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12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17873546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ok">
            <a:extLst xmlns:a="http://schemas.openxmlformats.org/drawingml/2006/main">
              <a:ext uri="{FF2B5EF4-FFF2-40B4-BE49-F238E27FC236}">
                <a16:creationId xmlns:a16="http://schemas.microsoft.com/office/drawing/2014/main" id="{5D3FA91F-EAD1-47FE-813E-DB32594C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O agente não deve inventar as regras que o pipeline pode executar e testar.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2C407628-B847-4807-ACFA-87DCD94B7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34D30D94-E900-49D7-B936-D46AD4C6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B441BF5F-A68F-4DF9-9242-2E0D04C6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9" name="" descr="Diagrama didático autoral que apresenta: O agente não deve inventar as regras que o pipeline pode executar e testar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accfe40d4d4f0b"/>
          <a:stretch xmlns:a="http://schemas.openxmlformats.org/drawingml/2006/main"/>
        </p:blipFill>
        <p:spPr>
          <a:xfrm xmlns:a="http://schemas.openxmlformats.org/drawingml/2006/main">
            <a:off x="4127857" y="3790950"/>
            <a:ext cx="3936285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0189E408-D173-440C-B2B8-0232657E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A1F4E377-F9F4-4634-99CC-9D1CBB09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Diagrama didático autoral que apresenta: O agente não deve inventar as regras que o pipeline pode executar e testar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a3e878d0da4632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A5596C3-7C38-43A8-B496-7B7003C6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260F7F3B-7C69-4A68-BB82-11BEB4BB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79CEB7-275C-4EF7-B66E-C6E3CEF1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2/22</a:t>
            </a:r>
          </a:p>
        </p:txBody>
      </p:sp>
    </p:spTree>
    <p:extLst>
      <p:ext uri="{BB962C8B-B14F-4D97-AF65-F5344CB8AC3E}">
        <p14:creationId xmlns:p14="http://schemas.microsoft.com/office/powerpoint/2010/main" val="426103403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96D562-CF73-43BF-A587-45F3DD5B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43628A81-DD22-4680-9080-53AAD095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F2B1E898-6868-4203-B91E-484ED354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Fixar ground truth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3F82DEFA-4B72-49FC-8C6B-24493981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4BF99071-3D0C-4BF4-85E6-EC895D82A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6E717412-3A24-426D-8555-AED951B3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Comparar três tratamentos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5161BE0E-8100-4A45-A757-A30AE38F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1FE10DB5-F7E1-444C-8355-E6CFE71A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3941964B-D964-4D69-847E-D460A463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Medir qualidade e custo normalizado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686C7562-3624-4B9F-98DF-0ACA1C82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C5CA23F-CBEE-4681-9BE2-0B3C2B5C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Ao final, você consegue...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ab23179c44433c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883C247-8160-410A-8FD1-79BD476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4ED96C98-C993-4E18-AC94-279BAD0A3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209DC19-59A2-4C11-AC59-8BA0434B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3/22</a:t>
            </a:r>
          </a:p>
        </p:txBody>
      </p:sp>
    </p:spTree>
    <p:extLst>
      <p:ext uri="{BB962C8B-B14F-4D97-AF65-F5344CB8AC3E}">
        <p14:creationId xmlns:p14="http://schemas.microsoft.com/office/powerpoint/2010/main" val="862206592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BD7DD6B-E5C9-46B2-84E8-411309582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Três tratamentos, uma pergunta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DABF4A3-E3A2-4235-9F5C-DAD02502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Tudo permanece igual, exceto a interface oferecida ao agente.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9A2F35F4-A4FE-4F37-B807-D273719C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A: schema bruto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B: manifest e docs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C: métricas governadas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0EFB6D1F-BDB1-41CA-9E33-7FC2215D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4907D197-4EDB-424D-9F52-BEEF8DB8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B7E5A93D-C4FB-4332-BAA8-4343282F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0D7C467-E0FC-4094-ABDC-B34EAFF1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912310E0-2157-47AD-95F0-FD5690F7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Três tratamentos, uma pergunta — Tudo permanece igual, exceto a interface oferecida ao agente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5e2608a1ff4f09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A014AA1-8F01-44E1-8C62-294E3AC8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83DB5C6F-4C32-4914-8D90-83D02506D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B6389D-91BF-4E29-BF1C-F0DE4524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4/22</a:t>
            </a:r>
          </a:p>
        </p:txBody>
      </p:sp>
    </p:spTree>
    <p:extLst>
      <p:ext uri="{BB962C8B-B14F-4D97-AF65-F5344CB8AC3E}">
        <p14:creationId xmlns:p14="http://schemas.microsoft.com/office/powerpoint/2010/main" val="12147783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8EA2B69-5826-42C9-BB1E-1263357F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Ground truth vem antes do LLM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1B93535-47B0-4D10-9F04-648DD9B7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 pipeline calcula as respostas esperadas sem depender do modelo.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FAD61805-076C-41C3-BEBE-94A7CBBFD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Pergunta fixa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SQL conhecido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Resultado versionado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B5EB498-7CBE-4C17-AFF2-7FCF6EAE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7EEAB35-EED2-4514-ABD3-9A70D849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290B8B4D-1BB7-4AF4-827F-CD7BD7172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D4CB5716-03EA-4F38-9401-BCFED734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E3EECC7E-8837-468D-A7C7-2510A77E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Ground truth vem antes do LLM — O pipeline calcula as respostas esperadas sem depender do model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439b0fd024811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FB39166-A70B-4778-8D0A-8DF2165B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178A84D8-D47F-4E8D-BC3C-80F6314A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99DD305-0C8F-420C-B1B0-6BE8F83FE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5/22</a:t>
            </a:r>
          </a:p>
        </p:txBody>
      </p:sp>
    </p:spTree>
    <p:extLst>
      <p:ext uri="{BB962C8B-B14F-4D97-AF65-F5344CB8AC3E}">
        <p14:creationId xmlns:p14="http://schemas.microsoft.com/office/powerpoint/2010/main" val="680681638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B85BB18-BF5C-4B46-AA41-0BCC39C7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Ground truth vem antes do LLM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122366AD-6971-4247-B7C2-1922FF16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3346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Pipeline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772CFB6F-4C86-41C8-8836-BB1CA7FE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2775" y="3429000"/>
            <a:ext cx="3346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Ground truth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4907A13B-1453-4E2D-A336-4CA3AF7C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5925" y="3429000"/>
            <a:ext cx="3346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Avaliador</a:t>
            </a:r>
          </a:p>
        </p:txBody>
      </p:sp>
      <p:cxnSp>
        <p:nvCxnSpPr>
          <p:cNvPr id="24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15607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5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776922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4B4F6598-0436-431B-924E-838C28A8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6D913C10-8BCE-4C0A-A2FF-79B98C69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8" name="" descr="Figura oficial da documentação dbt usada para explicar: Ground truth vem antes do LLM — Pipelin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31b3d6af84765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E9A6A6C-43EA-40C4-8F34-111DE795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8C4D1983-4003-4754-92E3-3143A96A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AAF633F-B046-4953-A1FA-3EB36C2B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6/22</a:t>
            </a:r>
          </a:p>
        </p:txBody>
      </p:sp>
    </p:spTree>
    <p:extLst>
      <p:ext uri="{BB962C8B-B14F-4D97-AF65-F5344CB8AC3E}">
        <p14:creationId xmlns:p14="http://schemas.microsoft.com/office/powerpoint/2010/main" val="1445144685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21091C-9686-4820-9794-7201208F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Trace transforma opinião em evidência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B7FF071-5ACE-483F-9BE9-535F77269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Resposta, SQL, resultado, tokens, tools e latência ficam no mesmo JSON.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BC9A85E9-350A-4BE2-940C-DE93D880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input/output tokens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tool calls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joins inválidos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custo normalizado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2553A123-C989-4946-A959-70B0E6E9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926014C-98B5-4FDB-B81D-6B8A6A5F6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3798E0EE-4EC6-4C09-BD10-16E9C4E6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CB86B60-4F5E-472E-850B-895CB44D0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06CE685D-6678-4B3E-9F75-5986A760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Trace transforma opinião em evidência — Resposta, SQL, resultado, tokens, tools e latência ficam no mesmo JSON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70eea913f84f12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D4692EE-C6A5-4C6E-9A58-422F930EF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617CDD0E-B61B-4882-A3D1-10D1BD1C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E8B64C1-7BF0-40FF-A174-7A5D9F27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7/22</a:t>
            </a:r>
          </a:p>
        </p:txBody>
      </p:sp>
    </p:spTree>
    <p:extLst>
      <p:ext uri="{BB962C8B-B14F-4D97-AF65-F5344CB8AC3E}">
        <p14:creationId xmlns:p14="http://schemas.microsoft.com/office/powerpoint/2010/main" val="12714589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A4F861A-50A3-45C2-AA48-F1BFB446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Trace transforma opinião em evidência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72167604-3D3C-4AC3-A136-FF87D40B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EE226BA2-38E2-429D-BB8A-34A58EE8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Pergunta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0583534D-B443-4B8E-8A4B-2009E909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40D41D75-7BBD-44B2-B61B-E3AB1AA8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87FD8809-B16F-412D-B538-85E23796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Trace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2E0251B6-B130-4E98-A4D9-9BB2ADC6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BAD8C2CB-015A-4295-AF0D-9E5322AE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89E324F8-DECE-42C6-B611-1865643F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Score</a:t>
            </a:r>
          </a:p>
        </p:txBody>
      </p:sp>
      <p:sp>
        <p:nvSpPr>
          <p:cNvPr id="10" name="step-line-3">
            <a:extLst xmlns:a="http://schemas.openxmlformats.org/drawingml/2006/main">
              <a:ext uri="{FF2B5EF4-FFF2-40B4-BE49-F238E27FC236}">
                <a16:creationId xmlns:a16="http://schemas.microsoft.com/office/drawing/2014/main" id="{3F43B983-2395-474C-9CFD-07A06BD94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11" name="step-num-4">
            <a:extLst xmlns:a="http://schemas.openxmlformats.org/drawingml/2006/main">
              <a:ext uri="{FF2B5EF4-FFF2-40B4-BE49-F238E27FC236}">
                <a16:creationId xmlns:a16="http://schemas.microsoft.com/office/drawing/2014/main" id="{09408B20-9980-4167-9BBC-2DF0DA00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12" name="step-label-4">
            <a:extLst xmlns:a="http://schemas.openxmlformats.org/drawingml/2006/main">
              <a:ext uri="{FF2B5EF4-FFF2-40B4-BE49-F238E27FC236}">
                <a16:creationId xmlns:a16="http://schemas.microsoft.com/office/drawing/2014/main" id="{8366BE1A-F4F6-48DA-A59B-47D13632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Comparação</a:t>
            </a:r>
          </a:p>
        </p:txBody>
      </p:sp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2C3F06DA-CD6C-40F5-BC42-4B2E6889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14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8EB3ED49-A02F-48C2-8442-9654B617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35" name="" descr="Figura oficial da documentação dbt usada para explicar: Trace transforma opinião em evidência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5d4c4e7f6a4743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0D5702D-B684-4598-9DED-F77E26EB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7" name="footer">
            <a:extLst xmlns:a="http://schemas.openxmlformats.org/drawingml/2006/main">
              <a:ext uri="{FF2B5EF4-FFF2-40B4-BE49-F238E27FC236}">
                <a16:creationId xmlns:a16="http://schemas.microsoft.com/office/drawing/2014/main" id="{EEE7FF50-7A09-471B-88C2-8E4F2CCE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7C37ABF-90E0-47DD-B3C1-071FAE46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8/22</a:t>
            </a:r>
          </a:p>
        </p:txBody>
      </p:sp>
    </p:spTree>
    <p:extLst>
      <p:ext uri="{BB962C8B-B14F-4D97-AF65-F5344CB8AC3E}">
        <p14:creationId xmlns:p14="http://schemas.microsoft.com/office/powerpoint/2010/main" val="18067967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6662F49-2BAD-4C71-AECF-C16361BD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Fixture não é execução real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911B1AE-2A33-4D12-82EA-2FB60FA6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Traces gravados testam o avaliador; não provam desempenho de um LLM.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A79773B5-AFAC-4D4A-8A32-1E65356A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CI sem chave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Dados sintéticos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Execução real posterior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30505BC-4D3F-4EE7-8CB2-CAF62B31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26E67530-6893-4A25-AE6C-F68A5587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678BFB9E-5022-4B69-AF7B-A51D61A5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74E2D9CD-8963-4D42-80B2-B32A4E0EE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4CBB7B1F-2572-4C8C-A69E-C9F99A47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Fixture não é execução real — Traces gravados testam o avaliador; não provam desempenho de um LLM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4c227529844012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3FE9504-D448-4583-80D1-67F98D38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F16A850C-3C84-41A6-9DE7-89D014CC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D802BBC-2425-4251-BC86-32635F14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9/22</a:t>
            </a:r>
          </a:p>
        </p:txBody>
      </p:sp>
    </p:spTree>
    <p:extLst>
      <p:ext uri="{BB962C8B-B14F-4D97-AF65-F5344CB8AC3E}">
        <p14:creationId xmlns:p14="http://schemas.microsoft.com/office/powerpoint/2010/main" val="2091693496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663EDA-B5F6-4AC2-B8A6-AB2BFA97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Fixture não é execução real</a:t>
            </a:r>
          </a:p>
        </p:txBody>
      </p:sp>
      <p:sp>
        <p:nvSpPr>
          <p:cNvPr id="2" name="status-dot-1">
            <a:extLst xmlns:a="http://schemas.openxmlformats.org/drawingml/2006/main">
              <a:ext uri="{FF2B5EF4-FFF2-40B4-BE49-F238E27FC236}">
                <a16:creationId xmlns:a16="http://schemas.microsoft.com/office/drawing/2014/main" id="{AEE82F13-D140-4A89-AD29-A3F9E4A80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BE8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" name="status-label-1">
            <a:extLst xmlns:a="http://schemas.openxmlformats.org/drawingml/2006/main">
              <a:ext uri="{FF2B5EF4-FFF2-40B4-BE49-F238E27FC236}">
                <a16:creationId xmlns:a16="http://schemas.microsoft.com/office/drawing/2014/main" id="{6BBF6E7E-1297-4D07-BCE0-01EFBC83B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Fixture</a:t>
            </a:r>
          </a:p>
        </p:txBody>
      </p:sp>
      <p:sp>
        <p:nvSpPr>
          <p:cNvPr id="4" name="status-dot-2">
            <a:extLst xmlns:a="http://schemas.openxmlformats.org/drawingml/2006/main">
              <a:ext uri="{FF2B5EF4-FFF2-40B4-BE49-F238E27FC236}">
                <a16:creationId xmlns:a16="http://schemas.microsoft.com/office/drawing/2014/main" id="{C5F98343-A6C6-446E-8214-4B728944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status-label-2">
            <a:extLst xmlns:a="http://schemas.openxmlformats.org/drawingml/2006/main">
              <a:ext uri="{FF2B5EF4-FFF2-40B4-BE49-F238E27FC236}">
                <a16:creationId xmlns:a16="http://schemas.microsoft.com/office/drawing/2014/main" id="{0F7C412A-FA2A-45AF-BB29-E5A96C18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Validação</a:t>
            </a:r>
          </a:p>
        </p:txBody>
      </p:sp>
      <p:sp>
        <p:nvSpPr>
          <p:cNvPr id="6" name="status-dot-3">
            <a:extLst xmlns:a="http://schemas.openxmlformats.org/drawingml/2006/main">
              <a:ext uri="{FF2B5EF4-FFF2-40B4-BE49-F238E27FC236}">
                <a16:creationId xmlns:a16="http://schemas.microsoft.com/office/drawing/2014/main" id="{D5B29349-DD25-403D-A418-E712710B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B5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status-label-3">
            <a:extLst xmlns:a="http://schemas.openxmlformats.org/drawingml/2006/main">
              <a:ext uri="{FF2B5EF4-FFF2-40B4-BE49-F238E27FC236}">
                <a16:creationId xmlns:a16="http://schemas.microsoft.com/office/drawing/2014/main" id="{2F95EC10-8806-440A-B4A0-E74D02BD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LLM real</a:t>
            </a:r>
          </a:p>
        </p:txBody>
      </p:sp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2BE2FF46-7CFD-435F-830D-BFFE10DF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9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89B6942-AE6E-4D22-BBCB-078FF672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5" name="" descr="Figura oficial da documentação dbt usada para explicar: Fixture não é execução real — Fixtur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6df8528753446c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A6E8942-D623-4732-9CCB-42CBE76A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0BEE199F-9499-447A-B56F-50A63028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BDF8944-44B7-4917-9418-566E2277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10/22</a:t>
            </a:r>
          </a:p>
        </p:txBody>
      </p:sp>
    </p:spTree>
    <p:extLst>
      <p:ext uri="{BB962C8B-B14F-4D97-AF65-F5344CB8AC3E}">
        <p14:creationId xmlns:p14="http://schemas.microsoft.com/office/powerpoint/2010/main" val="828710220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D3C02C1-E0AF-41A7-9E20-17A141DB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 recomendação oficial favorece contexto semântico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AFBC92C-2BC2-4E29-9067-CD7181E7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Mais modelagem tende a ampliar precisão e segurança das respostas.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68229744-421D-4504-B883-4243A054E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Cobertura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Precisão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Confiabilidade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9449B12-ECB0-4973-AA32-776EF62F1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01778B9-F1CB-48CB-8F3D-0F7848E0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20D2AD3-17D1-47C4-9233-770EFE51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0E135254-3FD9-4588-8FD9-1708A88C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3458F6AB-0D44-4282-8A52-A0A03815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A recomendação oficial favorece contexto semântico — Mais modelagem tende a ampliar precisão e segurança das resposta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dfe94809944367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37839E2-944C-4705-B9DB-3632A40E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864D2FAB-163D-43F9-BBB1-A7A591DE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EEBCB78-83B6-417B-8A8D-A7802030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11/22</a:t>
            </a:r>
          </a:p>
        </p:txBody>
      </p:sp>
    </p:spTree>
    <p:extLst>
      <p:ext uri="{BB962C8B-B14F-4D97-AF65-F5344CB8AC3E}">
        <p14:creationId xmlns:p14="http://schemas.microsoft.com/office/powerpoint/2010/main" val="17388831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2BBAEF-B482-4FD9-B6EC-524D17F1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A recomendação oficial favorece contexto semântico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0B532FFB-C183-48CD-B158-FC2C1E41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Mais modelagem tende a ampliar precisão e segurança das respostas.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D720DE8B-6DEE-4F1D-9CB7-80EDEC3A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8" name="" descr="Figura oficial da documentação dbt usada para explicar: A recomendação oficial favorece contexto semântico — Mais modelagem tende a ampliar precisão e segurança das resposta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507c6c873a45b8"/>
          <a:stretch xmlns:a="http://schemas.openxmlformats.org/drawingml/2006/main"/>
        </p:blipFill>
        <p:spPr>
          <a:xfrm xmlns:a="http://schemas.openxmlformats.org/drawingml/2006/main">
            <a:off x="5429250" y="1860476"/>
            <a:ext cx="5791200" cy="3232298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0024C966-E250-4A18-A7B0-F704F41E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dbt Labs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6CBC1DAD-83E7-4B48-A786-3A8A436C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24CD34F-B0E7-4DE0-B0A2-1C84DCCC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Figura oficial da documentação dbt usada para explicar: A recomendação oficial favorece contexto semântico — Mais modelagem tende a ampliar precisão e segurança das resposta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5643e497ea4462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F9FE027-417C-4A89-9AE2-82B0E9EE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AF6BC473-E56F-4C72-A9A0-0A3F2F46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7E93C80-91AC-4842-8C43-BED4FF63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12/22</a:t>
            </a:r>
          </a:p>
        </p:txBody>
      </p:sp>
    </p:spTree>
    <p:extLst>
      <p:ext uri="{BB962C8B-B14F-4D97-AF65-F5344CB8AC3E}">
        <p14:creationId xmlns:p14="http://schemas.microsoft.com/office/powerpoint/2010/main" val="10174333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38573B-9B20-42FD-9C46-0A924955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A arquitetura recomendada termina no agente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8CD6501-F7B0-4DFC-87A6-EC340F45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Regras ficam na Gold e nas métricas; o agente consome e explica.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E532DF11-8E5E-402D-ADFB-96A00D96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Silver prepara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Gold aplica regra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Métrica nomeia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MCP entrega contexto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DA80105-C410-4857-8AB3-966BB37F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1E94939-B772-4A5F-ADF8-C757B67E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F485157B-91F0-40D2-AD19-2E39FAD64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06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3FAB472-480D-4F42-8758-52D0D7D3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063A1AC4-1BFA-484C-9DFD-F7CE598B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A arquitetura recomendada termina no agente — Regras ficam na Gold e nas métricas; o agente consome e explic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e88a5a2aec49d2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D937D28-C587-4434-AD8D-992E2049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2729B1A9-9C2E-4424-892E-B4F6EAB4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FB5D7AD-998F-4D58-BB40-51A435FD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13/22</a:t>
            </a:r>
          </a:p>
        </p:txBody>
      </p:sp>
    </p:spTree>
    <p:extLst>
      <p:ext uri="{BB962C8B-B14F-4D97-AF65-F5344CB8AC3E}">
        <p14:creationId xmlns:p14="http://schemas.microsoft.com/office/powerpoint/2010/main" val="310726546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F20DC77-0594-4311-85F9-BCA928BE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 arquitetura recomendada termina no agente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738A5EA5-EB67-4A4E-8B83-4C281E00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Silver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345834F1-9DB9-4D75-9706-7B64FC3F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751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Gold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CC596352-DB98-4F31-9D3B-E05BF8EEA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540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Métricas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523831B5-972D-44EA-9794-DFDBF112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29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MCP</a:t>
            </a:r>
          </a:p>
        </p:txBody>
      </p:sp>
      <p:sp>
        <p:nvSpPr>
          <p:cNvPr id="6" name="flow-5">
            <a:extLst xmlns:a="http://schemas.openxmlformats.org/drawingml/2006/main">
              <a:ext uri="{FF2B5EF4-FFF2-40B4-BE49-F238E27FC236}">
                <a16:creationId xmlns:a16="http://schemas.microsoft.com/office/drawing/2014/main" id="{34CEF486-EB6A-4E5C-BBE9-9BCFB904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Agente</a:t>
            </a:r>
          </a:p>
        </p:txBody>
      </p:sp>
      <p:cxnSp>
        <p:nvCxnSpPr>
          <p:cNvPr id="34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271081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5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487870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6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04659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7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921448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BA592E84-C4B1-4189-B44D-9C2FDEC9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12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5B651C7-3FA6-46FA-9AA5-68FD7EE7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40" name="" descr="Figura oficial da documentação dbt usada para explicar: A arquitetura recomendada termina no agente — Silver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438b35c05e4b4c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032E889-3022-4CDF-B204-FC64D4E1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5" name="footer">
            <a:extLst xmlns:a="http://schemas.openxmlformats.org/drawingml/2006/main">
              <a:ext uri="{FF2B5EF4-FFF2-40B4-BE49-F238E27FC236}">
                <a16:creationId xmlns:a16="http://schemas.microsoft.com/office/drawing/2014/main" id="{CA32632A-760A-4275-9EB1-88C125D5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D4F79C2-66E0-4592-9267-FFFB225F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14/22</a:t>
            </a:r>
          </a:p>
        </p:txBody>
      </p:sp>
    </p:spTree>
    <p:extLst>
      <p:ext uri="{BB962C8B-B14F-4D97-AF65-F5344CB8AC3E}">
        <p14:creationId xmlns:p14="http://schemas.microsoft.com/office/powerpoint/2010/main" val="525835618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4C0247B-1250-4EF3-8C79-F2CEF91ED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35F7E344-7825-41C4-B0AC-6C8EDE9A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BF8B5A6E-28A8-4A0F-860E-C1A396BC9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12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0DF9035A-B035-43B8-A110-4D955442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99BC13AB-79C9-452D-B4A9-1160E7E0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962FAF5E-B4C4-43BF-B7D0-DDC0739D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Demonstração — execute — python course.py checkpoint 12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c898d57500405e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092F1C5-D62E-4583-9CF6-C1417816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41BFBC88-92B2-4100-868E-47DE8EA6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00895BF-D889-47AF-B35F-454A1EAC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15/22</a:t>
            </a:r>
          </a:p>
        </p:txBody>
      </p:sp>
    </p:spTree>
    <p:extLst>
      <p:ext uri="{BB962C8B-B14F-4D97-AF65-F5344CB8AC3E}">
        <p14:creationId xmlns:p14="http://schemas.microsoft.com/office/powerpoint/2010/main" val="177460218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F3996B-6080-463A-8EE9-B92535AD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CCD1548B-E849-446A-A4B5-457B38B1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81E0B74B-B57C-4B48-8286-7C0242D2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Perguntas fixas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03F3EEA0-724B-4222-BF81-9F94DD04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52F80038-9A11-4973-84A4-60D49F34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445F293F-CD08-4D9F-A154-86FE745C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Traces gravados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BCE054A3-78CD-4308-B7E2-81AD07FD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B36A0DF8-D8F7-45AC-8871-A459B3E0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45022A36-39B7-4F95-8285-9C0B931B9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Avaliador e ground truth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750D7870-3BED-4D82-853E-CBA44750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1E3B3541-74E0-498E-BAB9-765FE45C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Demonstração — observe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03cba9c0b440e4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8371A92-21EA-4A89-B8D6-45203519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26D9D88B-CE6B-42D9-BC95-62C30205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4D90E3-1449-45A9-A841-E802948C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16/22</a:t>
            </a:r>
          </a:p>
        </p:txBody>
      </p:sp>
    </p:spTree>
    <p:extLst>
      <p:ext uri="{BB962C8B-B14F-4D97-AF65-F5344CB8AC3E}">
        <p14:creationId xmlns:p14="http://schemas.microsoft.com/office/powerpoint/2010/main" val="228601334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3FFAC867-BDF9-4C6F-AAB2-CEC3EFF7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4FD11024-2C4B-471C-BD7D-63BAD401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Benchmark determinístico sem chave de LLM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1FA047D2-9962-4928-A4D9-CB63F198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12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48A44E6E-7653-4DF4-B151-B75618F8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E59FD33F-3EED-48B5-9A88-776DCEAD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00C51356-FED5-4F66-9A86-A88EAFD6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A138F1DA-4B1A-458E-91D4-0DAB03D5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ESULTADO ESPERADO — Benchmark determinístico sem chave de LLM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c855520fca4f98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FF36B4D-5BA1-43B1-B2A8-7207212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B512FF48-B34B-4979-81C1-97EB2970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8FBF440-CF09-45CE-BEBE-67FB0D77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17/22</a:t>
            </a:r>
          </a:p>
        </p:txBody>
      </p:sp>
    </p:spTree>
    <p:extLst>
      <p:ext uri="{BB962C8B-B14F-4D97-AF65-F5344CB8AC3E}">
        <p14:creationId xmlns:p14="http://schemas.microsoft.com/office/powerpoint/2010/main" val="29328228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75FC526-E649-4BF6-90B3-0D5D9EB1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74704659-3BF3-4BFC-958E-A26B30E22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35CD9F67-96A3-49FF-999C-79ADF18D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consenso em código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BC38736D-0FCD-4084-87F5-A1F81BF5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AC664BB0-FD0A-4555-BA87-FFC63052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96D18136-9282-4331-9417-0B04E277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custo normalizado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8A93F935-8AC5-4C1E-8548-18ABAEF6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55F222A2-DE50-4A8F-B7A0-563CC616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4054582B-041E-43A0-9A5B-0A1B4B72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consumidor, não inventor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E02C35A8-3308-4BA1-88C7-1B1D4302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60600965-38AD-40BD-8A5C-7F3E2AE3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O mesmo recurso afeta três decisões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7f8c681eb941c4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20A50B7-B66A-4554-B026-AA877451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6932C2AF-7F9B-4B3F-927B-A22663DA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04402AF-C36D-439B-9285-E76966D5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18/22</a:t>
            </a:r>
          </a:p>
        </p:txBody>
      </p:sp>
    </p:spTree>
    <p:extLst>
      <p:ext uri="{BB962C8B-B14F-4D97-AF65-F5344CB8AC3E}">
        <p14:creationId xmlns:p14="http://schemas.microsoft.com/office/powerpoint/2010/main" val="2103512770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ase-number">
            <a:extLst xmlns:a="http://schemas.openxmlformats.org/drawingml/2006/main">
              <a:ext uri="{FF2B5EF4-FFF2-40B4-BE49-F238E27FC236}">
                <a16:creationId xmlns:a16="http://schemas.microsoft.com/office/drawing/2014/main" id="{DA701192-1F4D-45FD-8D25-7817C2E3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80%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4D059A3A-05E6-427A-A0F5-3789E76C3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redução de analytics reportada pela Bilt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8D02E8B0-3E0C-4D58-B398-65C2BC29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4DE9CAFD-1500-43B3-83D5-EF89CCA9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Resultado reportado; o laboratório não generaliza o percentual.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297C7DBD-AECD-48E2-BEA0-97DD62D2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3AD67AFE-1E32-41E9-A763-E58B7652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80% — redução de analytics reportada pela Bilt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8b05be59764dec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B0A8833-005F-486E-90E3-894D97A3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636C7E52-3934-4FEC-A17B-B7DF9710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1D93EB3-25AB-4FCB-9818-A7A5343A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19/22</a:t>
            </a:r>
          </a:p>
        </p:txBody>
      </p:sp>
    </p:spTree>
    <p:extLst>
      <p:ext uri="{BB962C8B-B14F-4D97-AF65-F5344CB8AC3E}">
        <p14:creationId xmlns:p14="http://schemas.microsoft.com/office/powerpoint/2010/main" val="146837592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A4DBAA-BDB5-4EB4-8CAC-93740FE6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721BBF78-2CEF-4B0A-B203-E55E6D75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Fixtures não medem qualidade real do modelo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Tokens variam por cliente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Semântica não elimina toda ambiguidade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32E2921A-8B89-447F-8BED-2FBB0A57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4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7DCF810B-E362-473D-BCA5-896E3B939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Limitações que precisam permanecer visíveis — • Fixtures não medem qualidade real do model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b0c16af27547ed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C595258-7288-4B41-A58C-069F6DD46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6E6F78F-CF5D-44B9-BF3C-E83440EB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BF4079B-F7AB-4C09-9CAC-12EFCB92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20/22</a:t>
            </a:r>
          </a:p>
        </p:txBody>
      </p:sp>
    </p:spTree>
    <p:extLst>
      <p:ext uri="{BB962C8B-B14F-4D97-AF65-F5344CB8AC3E}">
        <p14:creationId xmlns:p14="http://schemas.microsoft.com/office/powerpoint/2010/main" val="2009730745"/>
      </p:ext>
    </p:extLst>
  </p:cSld>
</p:sld>
</file>

<file path=ppt/slides/slide2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adar-label">
            <a:extLst xmlns:a="http://schemas.openxmlformats.org/drawingml/2006/main">
              <a:ext uri="{FF2B5EF4-FFF2-40B4-BE49-F238E27FC236}">
                <a16:creationId xmlns:a16="http://schemas.microsoft.com/office/drawing/2014/main" id="{1D962F8E-1A24-4582-A79F-59A680C3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8F8035C3-DFC5-414F-89DB-7072F91F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dbt State e MCP gerenciado continuam fora da aceitação open.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A03B199F-ECBD-447E-8A75-45EEC89D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3187890-38D0-4C4F-8813-AB2B8A19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9E82E2B6-D17F-44FC-8A22-076FF1E2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29B58CEE-141E-4C13-9FD6-299D995E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22748454-E31F-4864-926A-DAA2A1B8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ADAR — dbt State e MCP gerenciado continuam fora da aceitação open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90e575e904ba8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8256D92-5674-40F8-A573-15EE62CF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474D357B-5F37-4950-B0ED-CEF4AA47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81B5486-1CA2-4B04-9913-3B2BE205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21/22</a:t>
            </a:r>
          </a:p>
        </p:txBody>
      </p:sp>
    </p:spTree>
    <p:extLst>
      <p:ext uri="{BB962C8B-B14F-4D97-AF65-F5344CB8AC3E}">
        <p14:creationId xmlns:p14="http://schemas.microsoft.com/office/powerpoint/2010/main" val="126290683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ta-label">
            <a:extLst xmlns:a="http://schemas.openxmlformats.org/drawingml/2006/main">
              <a:ext uri="{FF2B5EF4-FFF2-40B4-BE49-F238E27FC236}">
                <a16:creationId xmlns:a16="http://schemas.microsoft.com/office/drawing/2014/main" id="{00043C49-797F-40C2-89D6-91A9E389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472807EC-FEF0-4DEF-B33B-15AC02FE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Mova uma regra determinística do prompt para o pipeline e teste-a.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45045482-6322-4747-9854-59156B13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12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78F51FC4-F51A-4634-9671-102AC92FE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E2ED1193-D2E9-4240-B7C7-0BD8355F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7" name="" descr="Figura oficial da documentação dbt usada para explicar: PRÓXIMO PASSO — Mova uma regra determinística do prompt para o pipeline e teste-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2d4ac199ed4445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A84789E-DF52-4FAE-817B-1CD2C74A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D989F004-3DC0-4164-9021-99425FB9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50C7AC8-9DB0-402C-AE62-A92225D6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22/22</a:t>
            </a:r>
          </a:p>
        </p:txBody>
      </p:sp>
    </p:spTree>
    <p:extLst>
      <p:ext uri="{BB962C8B-B14F-4D97-AF65-F5344CB8AC3E}">
        <p14:creationId xmlns:p14="http://schemas.microsoft.com/office/powerpoint/2010/main" val="13086046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2026-09-02T16:14:53.3150000Z</dcterms:created>
  <dcterms:modified xsi:type="dcterms:W3CDTF">2026-09-02T16:14:53.3150000Z</dcterms:modified>
</coreProperties>
</file>