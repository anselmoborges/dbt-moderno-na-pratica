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f34aa1489c4964" /><Relationship Type="http://schemas.openxmlformats.org/officeDocument/2006/relationships/extended-properties" Target="/docProps/app.xml" Id="Re97e9b2fc95643e3" /><Relationship Type="http://schemas.openxmlformats.org/officeDocument/2006/relationships/officeDocument" Target="/ppt/presentation.xml" Id="R44c673b8b41b4f2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0203aa6f294d4b"/>
    <p:sldMasterId xmlns:r="http://schemas.openxmlformats.org/officeDocument/2006/relationships" id="2147483650" r:id="R996a1a408c834baa"/>
  </p:sldMasterIdLst>
  <p:notesMasterIdLst>
    <p:notesMasterId xmlns:r="http://schemas.openxmlformats.org/officeDocument/2006/relationships" r:id="R5e8e24c79cfc4de5"/>
  </p:notesMasterIdLst>
  <p:sldIdLst>
    <p:sldId xmlns:r="http://schemas.openxmlformats.org/officeDocument/2006/relationships" id="256" r:id="R14e99a6842d940dc"/>
    <p:sldId xmlns:r="http://schemas.openxmlformats.org/officeDocument/2006/relationships" id="257" r:id="R5353ad3ed3894d15"/>
    <p:sldId xmlns:r="http://schemas.openxmlformats.org/officeDocument/2006/relationships" id="258" r:id="R0eb1252d8a574a59"/>
    <p:sldId xmlns:r="http://schemas.openxmlformats.org/officeDocument/2006/relationships" id="259" r:id="Rac31f41641604064"/>
    <p:sldId xmlns:r="http://schemas.openxmlformats.org/officeDocument/2006/relationships" id="260" r:id="R21cf39f99c844e41"/>
    <p:sldId xmlns:r="http://schemas.openxmlformats.org/officeDocument/2006/relationships" id="261" r:id="Rf2e71317046f48b1"/>
    <p:sldId xmlns:r="http://schemas.openxmlformats.org/officeDocument/2006/relationships" id="262" r:id="Rfe515c82c7154900"/>
    <p:sldId xmlns:r="http://schemas.openxmlformats.org/officeDocument/2006/relationships" id="263" r:id="R023e1449fe31472b"/>
    <p:sldId xmlns:r="http://schemas.openxmlformats.org/officeDocument/2006/relationships" id="264" r:id="R49d9b9e5d80e42c9"/>
    <p:sldId xmlns:r="http://schemas.openxmlformats.org/officeDocument/2006/relationships" id="265" r:id="Rc2ac5cae72b54b55"/>
    <p:sldId xmlns:r="http://schemas.openxmlformats.org/officeDocument/2006/relationships" id="266" r:id="R96181344bbe543c5"/>
    <p:sldId xmlns:r="http://schemas.openxmlformats.org/officeDocument/2006/relationships" id="267" r:id="Re7b4a7c3cbd94a4a"/>
    <p:sldId xmlns:r="http://schemas.openxmlformats.org/officeDocument/2006/relationships" id="268" r:id="R2acbe646a006427e"/>
    <p:sldId xmlns:r="http://schemas.openxmlformats.org/officeDocument/2006/relationships" id="269" r:id="R2063284cf7644d46"/>
    <p:sldId xmlns:r="http://schemas.openxmlformats.org/officeDocument/2006/relationships" id="270" r:id="Rf8d82cf3193a4e57"/>
    <p:sldId xmlns:r="http://schemas.openxmlformats.org/officeDocument/2006/relationships" id="271" r:id="R2afb01d595614350"/>
    <p:sldId xmlns:r="http://schemas.openxmlformats.org/officeDocument/2006/relationships" id="272" r:id="R69bef8d237c2402d"/>
    <p:sldId xmlns:r="http://schemas.openxmlformats.org/officeDocument/2006/relationships" id="273" r:id="R4d3e9c288c9d4838"/>
    <p:sldId xmlns:r="http://schemas.openxmlformats.org/officeDocument/2006/relationships" id="274" r:id="R568724494cb24585"/>
    <p:sldId xmlns:r="http://schemas.openxmlformats.org/officeDocument/2006/relationships" id="275" r:id="Ra97fdbf0b0a64564"/>
    <p:sldId xmlns:r="http://schemas.openxmlformats.org/officeDocument/2006/relationships" id="276" r:id="R12a641f204124ab2"/>
    <p:sldId xmlns:r="http://schemas.openxmlformats.org/officeDocument/2006/relationships" id="277" r:id="Rc851f4cc00c841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6d29d8468f43ef" /><Relationship Type="http://schemas.openxmlformats.org/officeDocument/2006/relationships/slideMaster" Target="/ppt/slideMasters/slideMaster1.xml" Id="Rc10203aa6f294d4b" /><Relationship Type="http://schemas.openxmlformats.org/officeDocument/2006/relationships/slideMaster" Target="/ppt/slideMasters/slideMaster2.xml" Id="R996a1a408c834baa" /><Relationship Type="http://schemas.openxmlformats.org/officeDocument/2006/relationships/notesMaster" Target="/ppt/notesMasters/notesMaster1.xml" Id="R5e8e24c79cfc4de5" /><Relationship Type="http://schemas.openxmlformats.org/officeDocument/2006/relationships/presProps" Target="/ppt/presProps.xml" Id="R578f48a7ba8c4d03" /><Relationship Type="http://schemas.openxmlformats.org/officeDocument/2006/relationships/tableStyles" Target="/ppt/tableStyles.xml" Id="R51b44be2c4ae4811" /><Relationship Type="http://schemas.openxmlformats.org/officeDocument/2006/relationships/slide" Target="/ppt/slides/slide1.xml" Id="R14e99a6842d940dc" /><Relationship Type="http://schemas.openxmlformats.org/officeDocument/2006/relationships/slide" Target="/ppt/slides/slide2.xml" Id="R5353ad3ed3894d15" /><Relationship Type="http://schemas.openxmlformats.org/officeDocument/2006/relationships/slide" Target="/ppt/slides/slide3.xml" Id="R0eb1252d8a574a59" /><Relationship Type="http://schemas.openxmlformats.org/officeDocument/2006/relationships/slide" Target="/ppt/slides/slide4.xml" Id="Rac31f41641604064" /><Relationship Type="http://schemas.openxmlformats.org/officeDocument/2006/relationships/slide" Target="/ppt/slides/slide5.xml" Id="R21cf39f99c844e41" /><Relationship Type="http://schemas.openxmlformats.org/officeDocument/2006/relationships/slide" Target="/ppt/slides/slide6.xml" Id="Rf2e71317046f48b1" /><Relationship Type="http://schemas.openxmlformats.org/officeDocument/2006/relationships/slide" Target="/ppt/slides/slide7.xml" Id="Rfe515c82c7154900" /><Relationship Type="http://schemas.openxmlformats.org/officeDocument/2006/relationships/slide" Target="/ppt/slides/slide8.xml" Id="R023e1449fe31472b" /><Relationship Type="http://schemas.openxmlformats.org/officeDocument/2006/relationships/slide" Target="/ppt/slides/slide9.xml" Id="R49d9b9e5d80e42c9" /><Relationship Type="http://schemas.openxmlformats.org/officeDocument/2006/relationships/slide" Target="/ppt/slides/slide10.xml" Id="Rc2ac5cae72b54b55" /><Relationship Type="http://schemas.openxmlformats.org/officeDocument/2006/relationships/slide" Target="/ppt/slides/slide11.xml" Id="R96181344bbe543c5" /><Relationship Type="http://schemas.openxmlformats.org/officeDocument/2006/relationships/slide" Target="/ppt/slides/slide12.xml" Id="Re7b4a7c3cbd94a4a" /><Relationship Type="http://schemas.openxmlformats.org/officeDocument/2006/relationships/slide" Target="/ppt/slides/slide13.xml" Id="R2acbe646a006427e" /><Relationship Type="http://schemas.openxmlformats.org/officeDocument/2006/relationships/slide" Target="/ppt/slides/slide14.xml" Id="R2063284cf7644d46" /><Relationship Type="http://schemas.openxmlformats.org/officeDocument/2006/relationships/slide" Target="/ppt/slides/slide15.xml" Id="Rf8d82cf3193a4e57" /><Relationship Type="http://schemas.openxmlformats.org/officeDocument/2006/relationships/slide" Target="/ppt/slides/slide16.xml" Id="R2afb01d595614350" /><Relationship Type="http://schemas.openxmlformats.org/officeDocument/2006/relationships/slide" Target="/ppt/slides/slide17.xml" Id="R69bef8d237c2402d" /><Relationship Type="http://schemas.openxmlformats.org/officeDocument/2006/relationships/slide" Target="/ppt/slides/slide18.xml" Id="R4d3e9c288c9d4838" /><Relationship Type="http://schemas.openxmlformats.org/officeDocument/2006/relationships/slide" Target="/ppt/slides/slide19.xml" Id="R568724494cb24585" /><Relationship Type="http://schemas.openxmlformats.org/officeDocument/2006/relationships/slide" Target="/ppt/slides/slide20.xml" Id="Ra97fdbf0b0a64564" /><Relationship Type="http://schemas.openxmlformats.org/officeDocument/2006/relationships/slide" Target="/ppt/slides/slide21.xml" Id="R12a641f204124ab2" /><Relationship Type="http://schemas.openxmlformats.org/officeDocument/2006/relationships/slide" Target="/ppt/slides/slide22.xml" Id="Rc851f4cc00c841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a51ccec843d947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3b0501985140a1" /><Relationship Type="http://schemas.openxmlformats.org/officeDocument/2006/relationships/notesMaster" Target="/ppt/notesMasters/notesMaster1.xml" Id="R317fa46f9f10454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7aefb4b3bd4c59" /><Relationship Type="http://schemas.openxmlformats.org/officeDocument/2006/relationships/notesMaster" Target="/ppt/notesMasters/notesMaster1.xml" Id="R46126c8cb6c942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3ac0bc198d4b9a" /><Relationship Type="http://schemas.openxmlformats.org/officeDocument/2006/relationships/notesMaster" Target="/ppt/notesMasters/notesMaster1.xml" Id="R2f65a5d60f6742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38a8020fab48ae" /><Relationship Type="http://schemas.openxmlformats.org/officeDocument/2006/relationships/notesMaster" Target="/ppt/notesMasters/notesMaster1.xml" Id="Ree2133a618e446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59dd5014704b8c" /><Relationship Type="http://schemas.openxmlformats.org/officeDocument/2006/relationships/notesMaster" Target="/ppt/notesMasters/notesMaster1.xml" Id="R251fca70e6b84c8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9cca3dd32f485a" /><Relationship Type="http://schemas.openxmlformats.org/officeDocument/2006/relationships/notesMaster" Target="/ppt/notesMasters/notesMaster1.xml" Id="R7c4e8e34a06c46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4af3e487524512" /><Relationship Type="http://schemas.openxmlformats.org/officeDocument/2006/relationships/notesMaster" Target="/ppt/notesMasters/notesMaster1.xml" Id="R725dfaa0c4cc46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9544b5b50e04dcb" /><Relationship Type="http://schemas.openxmlformats.org/officeDocument/2006/relationships/notesMaster" Target="/ppt/notesMasters/notesMaster1.xml" Id="Rb36a9c275ab5410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d71eddace44c01" /><Relationship Type="http://schemas.openxmlformats.org/officeDocument/2006/relationships/notesMaster" Target="/ppt/notesMasters/notesMaster1.xml" Id="Rb072356542ac4ef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7718a98b864848" /><Relationship Type="http://schemas.openxmlformats.org/officeDocument/2006/relationships/notesMaster" Target="/ppt/notesMasters/notesMaster1.xml" Id="R5b7c2b6d28224c4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18e91d22d8f405d" /><Relationship Type="http://schemas.openxmlformats.org/officeDocument/2006/relationships/notesMaster" Target="/ppt/notesMasters/notesMaster1.xml" Id="Ra803e26b7fc046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d93a2fe17024c2c" /><Relationship Type="http://schemas.openxmlformats.org/officeDocument/2006/relationships/notesMaster" Target="/ppt/notesMasters/notesMaster1.xml" Id="R9f63b9b85ab8498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d35739acfc84a41" /><Relationship Type="http://schemas.openxmlformats.org/officeDocument/2006/relationships/notesMaster" Target="/ppt/notesMasters/notesMaster1.xml" Id="Rddd0dbaeea7249f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d23dd6945824916" /><Relationship Type="http://schemas.openxmlformats.org/officeDocument/2006/relationships/notesMaster" Target="/ppt/notesMasters/notesMaster1.xml" Id="Rc4e36b40de394b3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156be1b3e434fe6" /><Relationship Type="http://schemas.openxmlformats.org/officeDocument/2006/relationships/notesMaster" Target="/ppt/notesMasters/notesMaster1.xml" Id="R29c3fdda53cb4c6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00a5f481e654e27" /><Relationship Type="http://schemas.openxmlformats.org/officeDocument/2006/relationships/notesMaster" Target="/ppt/notesMasters/notesMaster1.xml" Id="R794cbd673e8c455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39c3ff3490946a0" /><Relationship Type="http://schemas.openxmlformats.org/officeDocument/2006/relationships/notesMaster" Target="/ppt/notesMasters/notesMaster1.xml" Id="Ra56d6152ac9e429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cfdec56ae414baa" /><Relationship Type="http://schemas.openxmlformats.org/officeDocument/2006/relationships/notesMaster" Target="/ppt/notesMasters/notesMaster1.xml" Id="R85b9ec399d1b404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814750ec7ae4737" /><Relationship Type="http://schemas.openxmlformats.org/officeDocument/2006/relationships/notesMaster" Target="/ppt/notesMasters/notesMaster1.xml" Id="Rc7877188df4341e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12b4f68ac8d465c" /><Relationship Type="http://schemas.openxmlformats.org/officeDocument/2006/relationships/notesMaster" Target="/ppt/notesMasters/notesMaster1.xml" Id="Reb9c9f22347c484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31f0e5b654f44c6" /><Relationship Type="http://schemas.openxmlformats.org/officeDocument/2006/relationships/notesMaster" Target="/ppt/notesMasters/notesMaster1.xml" Id="R33be557f45e741d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df1c02e1683409a" /><Relationship Type="http://schemas.openxmlformats.org/officeDocument/2006/relationships/notesMaster" Target="/ppt/notesMasters/notesMaster1.xml" Id="R9581a25758254b3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12 do dbt Moderno na Prática. Hoje vamos trabalhar o tema “Gold governada versus agente solto”. Compare raw, manifest e métricas contra o mesmo ground truth.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12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agente não deve inventar as regras que o pipeline pode executar e testar.”.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O agente não deve inventar as regras que o pipeline pode executar e testar.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fixar ground truth, Comparar três tratamentos e Medir qualidade e custo normalizado.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“Três tratamentos, uma pergunta”.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Tudo permanece igual, exceto a interface oferecida ao agente. Para tornar isso concreto, observe a: schema bruto, B: manifest e docs e C: métricas governadas.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“Ground truth vem antes do LLM”.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O pipeline calcula as respostas esperadas sem depender do modelo. Para tornar isso concreto, observe pergunta fixa, SQL conhecido e Resultado versionado.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“Ground truth vem antes do LLM”.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O pipeline calcula as respostas esperadas sem depender do modelo. Siga a composição na ordem mostrada e conecte pipeline, Ground truth e Avaliador.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“Trace transforma opinião em evidência”.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Resposta, SQL, resultado, tokens, tools e latência ficam no mesmo JSON. Para tornar isso concreto, observe input/output tokens, tool calls, joins inválidos e custo normalizado.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“Trace transforma opinião em evidência”.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Resposta, SQL, resultado, tokens, tools e latência ficam no mesmo JSON. Siga a composição na ordem mostrada e conecte pergunta, Trace, Score e Comparação.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“Fixture não é execução real”.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Traces gravados testam o avaliador; não provam desempenho de um LLM. Para tornar isso concreto, observe CI sem chave, Dados sintéticos e Execução real posterior.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“Fixture não é execução real”.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Traces gravados testam o avaliador; não provam desempenho de um LLM. Siga a composição na ordem mostrada e conecte fixture, Validação e LLM real.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recomendação oficial favorece contexto semântico”.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Mais modelagem tende a ampliar precisão e segurança das respostas. Para tornar isso concreto, observe cobertura, Precisão e Confiabilidade.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recomendação oficial favorece contexto semântico”.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Mais modelagem tende a ampliar precisão e segurança das respostas. Siga a composição na ordem mostrada e conecte os elementos principais. A imagem ou o fluxo não cria uma regra nova; ele torna visível a relação que acabamos de explicar. A figura é identificada como figura oficial dbt Labs — Apache 2.0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Aponte a legenda e deixe explícito quando a figura é oficial; as anotações do curso ficam fora da imagem.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arquitetura recomendada termina no agente”.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Regras ficam na Gold e nas métricas; o agente consome e explica. Para tornar isso concreto, observe silver prepara, Gold aplica regra, Métrica nomeia e MCP entrega contexto.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arquitetura recomendada termina no agente”.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Regras ficam na Gold e nas métricas; o agente consome e explica. Siga a composição na ordem mostrada e conecte silver, Gold, Métricas, MCP e Agente.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12.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perguntas fixas, Traces gravados e Avaliador e ground truth.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Benchmark determinístico sem chave de LLM. Esse resultado confirma que a etapa executada produziu a evidência esperada para o checkpoint 12.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consenso em código, FinOps: custo normalizado e IA: consumidor, não inventor.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“80%”.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80%: redução de analytics reportada pela Bilt. O número ajuda a dimensionar o exemplo, mas precisa ser lido com a ressalva correta. Resultado reportado; o laboratório não generaliza o percentual.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fixtures não medem qualidade real do modelo, Tokens variam por cliente e Semântica não elimina toda ambiguidade.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dbt State e MCP gerenciado continuam fora da aceitação open.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Mova uma regra determinística do prompt para o pipeline e teste-a.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https://docs.getdbt.com/docs/dbt-ai/about-mcp</a:t>
            </a:r>
          </a:p>
          <a:p xmlns:a="http://schemas.openxmlformats.org/drawingml/2006/main">
            <a:r>
              <a:t>- https://www.getdbt.com/case-studies/bilt-rewards</a:t>
            </a:r>
          </a:p>
          <a:p xmlns:a="http://schemas.openxmlformats.org/drawingml/2006/main">
            <a:r>
              <a:t>- https://www.getdbt.com/case-studies/impact.com</a:t>
            </a:r>
          </a:p>
          <a:p xmlns:a="http://schemas.openxmlformats.org/drawingml/2006/main">
            <a:r>
              <a:t>- https://github.com/AnselmoBorges/dbt-moderno-na-pratica/blob/main/roteiros/12-gold-governada-agente-solto.md</a:t>
            </a:r>
          </a:p>
          <a:p xmlns:a="http://schemas.openxmlformats.org/drawingml/2006/main">
            <a:r>
              <a:t>- repo://laboratorio/checkpoints/ep12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6fb28f39d2462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6e4968b96d244bc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a2dcdf00bcc4f1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4d768b8b85c47fa" /><Relationship Type="http://schemas.openxmlformats.org/officeDocument/2006/relationships/slideLayout" Target="/ppt/slideLayouts/slideLayout1.xml" Id="Ra05e491241bc40f1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b16fd01e22774710" /><Relationship Type="http://schemas.openxmlformats.org/officeDocument/2006/relationships/slideLayout" Target="/ppt/slideLayouts/slideLayout2.xml" Id="Rd7b932e783204509" /><Relationship Type="http://schemas.openxmlformats.org/officeDocument/2006/relationships/slideLayout" Target="/ppt/slideLayouts/slideLayout3.xml" Id="R991da4e698b644a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5e491241bc40f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d7b932e783204509"/>
    <p:sldLayoutId xmlns:r="http://schemas.openxmlformats.org/officeDocument/2006/relationships" id="2147483652" r:id="R991da4e698b644a2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d0c6a00ebf4dd8" /><Relationship Type="http://schemas.openxmlformats.org/officeDocument/2006/relationships/image" Target="/ppt/media/image.jpeg" Id="R90f847dfdd4a4e96" /><Relationship Type="http://schemas.openxmlformats.org/officeDocument/2006/relationships/notesSlide" Target="/ppt/notesSlides/notesSlide1.xml" Id="Re62c9e07b57b48a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b353659df03747ce" /><Relationship Type="http://schemas.openxmlformats.org/officeDocument/2006/relationships/image" Target="/ppt/media/image.png" Id="R5f079af318ab4faf" /><Relationship Type="http://schemas.openxmlformats.org/officeDocument/2006/relationships/notesSlide" Target="/ppt/notesSlides/notesSlide2.xml" Id="Rb66ac6948747483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b23324adb94730" /><Relationship Type="http://schemas.openxmlformats.org/officeDocument/2006/relationships/notesSlide" Target="/ppt/notesSlides/notesSlide3.xml" Id="R1c771a87687144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233608d27d4c78" /><Relationship Type="http://schemas.openxmlformats.org/officeDocument/2006/relationships/notesSlide" Target="/ppt/notesSlides/notesSlide4.xml" Id="R15c9bbe477b5458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17e663328c04ef1" /><Relationship Type="http://schemas.openxmlformats.org/officeDocument/2006/relationships/notesSlide" Target="/ppt/notesSlides/notesSlide5.xml" Id="Re1936e842ba84c8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8641fa53ef453e" /><Relationship Type="http://schemas.openxmlformats.org/officeDocument/2006/relationships/notesSlide" Target="/ppt/notesSlides/notesSlide6.xml" Id="Rf722ed38977141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9ead46d73c44a0" /><Relationship Type="http://schemas.openxmlformats.org/officeDocument/2006/relationships/notesSlide" Target="/ppt/notesSlides/notesSlide7.xml" Id="Rf16e39dab23048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dd772174edd4ffd" /><Relationship Type="http://schemas.openxmlformats.org/officeDocument/2006/relationships/notesSlide" Target="/ppt/notesSlides/notesSlide8.xml" Id="R2378f85a0f9241b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a35fae8bfab4b52" /><Relationship Type="http://schemas.openxmlformats.org/officeDocument/2006/relationships/notesSlide" Target="/ppt/notesSlides/notesSlide9.xml" Id="R917c2527125d40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7cf58b43ac49d8" /><Relationship Type="http://schemas.openxmlformats.org/officeDocument/2006/relationships/notesSlide" Target="/ppt/notesSlides/notesSlide10.xml" Id="R6ec3ba87e1644c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1dc2e1805f84702" /><Relationship Type="http://schemas.openxmlformats.org/officeDocument/2006/relationships/notesSlide" Target="/ppt/notesSlides/notesSlide11.xml" Id="R0a5f0072444f4a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23865d8af104ad5" /><Relationship Type="http://schemas.openxmlformats.org/officeDocument/2006/relationships/image" Target="/ppt/media/image2.png" Id="R72c26d719aa541f5" /><Relationship Type="http://schemas.openxmlformats.org/officeDocument/2006/relationships/notesSlide" Target="/ppt/notesSlides/notesSlide12.xml" Id="R515fbabae02e4e2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75ef8ad1c064b10" /><Relationship Type="http://schemas.openxmlformats.org/officeDocument/2006/relationships/notesSlide" Target="/ppt/notesSlides/notesSlide13.xml" Id="Rd3f32abde374495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33bab2088e43b1" /><Relationship Type="http://schemas.openxmlformats.org/officeDocument/2006/relationships/notesSlide" Target="/ppt/notesSlides/notesSlide14.xml" Id="R4ea0d3979030426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1daf029c914b72" /><Relationship Type="http://schemas.openxmlformats.org/officeDocument/2006/relationships/notesSlide" Target="/ppt/notesSlides/notesSlide15.xml" Id="R22c3da8d383447c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3f810b9602243bd" /><Relationship Type="http://schemas.openxmlformats.org/officeDocument/2006/relationships/notesSlide" Target="/ppt/notesSlides/notesSlide16.xml" Id="R9b5dbabfea444f9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1fc9d13ee14965" /><Relationship Type="http://schemas.openxmlformats.org/officeDocument/2006/relationships/notesSlide" Target="/ppt/notesSlides/notesSlide17.xml" Id="R3c6204b5d4814e9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af8e4e69d5e4421" /><Relationship Type="http://schemas.openxmlformats.org/officeDocument/2006/relationships/notesSlide" Target="/ppt/notesSlides/notesSlide18.xml" Id="Re91475dc0c57449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a6e8a265084519" /><Relationship Type="http://schemas.openxmlformats.org/officeDocument/2006/relationships/notesSlide" Target="/ppt/notesSlides/notesSlide19.xml" Id="R536a789a13a54d8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6889752360e41a5" /><Relationship Type="http://schemas.openxmlformats.org/officeDocument/2006/relationships/notesSlide" Target="/ppt/notesSlides/notesSlide20.xml" Id="Re3399f05a6604bb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dca1a2e0fd4aa2" /><Relationship Type="http://schemas.openxmlformats.org/officeDocument/2006/relationships/notesSlide" Target="/ppt/notesSlides/notesSlide21.xml" Id="R02999898cbfa4f8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c82f3a3121a4f11" /><Relationship Type="http://schemas.openxmlformats.org/officeDocument/2006/relationships/notesSlide" Target="/ppt/notesSlides/notesSlide22.xml" Id="R6e17c3c419d8491a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 descr="Ilustração conceitual autoral da capa: EPISÓDIO 12 — Gold governada versus agente solt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f847dfdd4a4e96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5DF47493-C011-4B2E-B3EA-E578BA7D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72983899-2265-4985-A9FF-5B1886B1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AE592D8B-C582-4DFD-BEE6-64D2AE029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12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9EAC6671-B7BE-49A8-B8FA-89F3B406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Gold governada versus agente solto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E18E20D-8A29-46D1-A2D3-B2A187AC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Compare raw, manifest e métricas contra o mesmo ground truth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21654A85-C216-4105-9F77-CA68D3F2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DD8F5B97-6DCD-4520-8081-C8168EED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12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15027444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0D1BBAAC-8A8C-4A04-9314-14650F32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O agente não deve inventar as regras que o pipeline pode executar e testar.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995B537B-3765-44B2-8E6F-A5F92403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ED91165E-D2A2-40E3-99D6-10659700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2CEBB954-0329-4E9C-8493-6BAEB081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6" name="" descr="Diagrama didático autoral que apresenta: O agente não deve inventar as regras que o pipeline pode executar e testar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079af318ab4faf"/>
          <a:stretch xmlns:a="http://schemas.openxmlformats.org/drawingml/2006/main"/>
        </p:blipFill>
        <p:spPr>
          <a:xfrm xmlns:a="http://schemas.openxmlformats.org/drawingml/2006/main">
            <a:off x="4127857" y="3790950"/>
            <a:ext cx="3936285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1DB829C-DDF8-49F5-BF15-55403079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C7A4249-B7F0-4761-BAA8-94CD8520F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4BE148DC-C856-43E8-A626-C0C2D2F5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E68CD4E-12A6-4A26-AADA-FB06AF0B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2/22</a:t>
            </a:r>
          </a:p>
        </p:txBody>
      </p:sp>
    </p:spTree>
    <p:extLst>
      <p:ext uri="{BB962C8B-B14F-4D97-AF65-F5344CB8AC3E}">
        <p14:creationId xmlns:p14="http://schemas.microsoft.com/office/powerpoint/2010/main" val="204315732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B3F278-4684-4A9F-9F3E-92962157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384C4C46-F8F6-4483-A2EB-6A32E204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0D6A836B-C17D-4B34-9D37-74D36E7B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Fixar ground truth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F80CEB3D-3C08-49C6-A17C-47A4C2B60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5FC2777-D056-4174-8F6E-F2871C0BA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9395651D-DE0C-4BEB-BF1A-0B66D17C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Comparar três tratamentos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CF58045A-3A04-4D9D-BDA2-12FB7E93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BB41FCB6-B03D-45DA-AEB2-96CF5267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26243B3D-0287-4486-8B68-5B4705F5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Medir qualidade e custo normalizado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9F32C969-44F5-472D-9DC3-8FD3E9FA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1B7FB87-714C-4BD2-B420-3CCF1D86E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FF6D1A98-C8E6-4436-B16D-C972C5B5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40AB92F-7A26-4783-B555-AB2D0418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3/22</a:t>
            </a:r>
          </a:p>
        </p:txBody>
      </p:sp>
    </p:spTree>
    <p:extLst>
      <p:ext uri="{BB962C8B-B14F-4D97-AF65-F5344CB8AC3E}">
        <p14:creationId xmlns:p14="http://schemas.microsoft.com/office/powerpoint/2010/main" val="1631010664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1586AA-D8B8-4775-9056-3894BAE4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Três tratamentos, uma pergunta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269241A-5854-412E-AA05-95B68F1B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Tudo permanece igual, exceto a interface oferecida ao agente.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79D76C0-0E6E-4C2C-BF62-66A0A1A0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A: schema bruto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B: manifest e docs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C: métricas governadas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D3072DB-8228-42FC-B5C1-7B73FC08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B760B36-AA11-48F6-B579-5D0D4281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F797759-ADE8-495E-B260-629654C4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65F9007-C206-4F33-A76D-6F9EDEFF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8073427-92A7-4426-BD2A-1166F881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E44C47C4-B209-43BC-A21E-25AED973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CB7FA8D-B3FB-4424-8993-FCD9DC08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4/22</a:t>
            </a:r>
          </a:p>
        </p:txBody>
      </p:sp>
    </p:spTree>
    <p:extLst>
      <p:ext uri="{BB962C8B-B14F-4D97-AF65-F5344CB8AC3E}">
        <p14:creationId xmlns:p14="http://schemas.microsoft.com/office/powerpoint/2010/main" val="2861959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174756-928A-4B71-8DBA-54396C47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Ground truth vem antes do LLM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66437D0-2090-4C66-BB97-835FBD7E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pipeline calcula as respostas esperadas sem depender do modelo.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002407E-E3DC-44E6-8F27-6B5A7FAC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Pergunta fixa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SQL conhecido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Resultado versionado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CD61FE0-840A-4000-A487-B8E5C8A2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1A9C8E1B-5BD3-4AD0-A711-790E1C84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DBBC0BC-D634-496C-825B-34AD0961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59C3C81E-3C43-4A11-94BD-FAC4591BE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7D79595-075F-43F4-9E06-7EFACDCC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75E1E81-928F-4F8C-BBF9-1B0983AA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020303-239C-4A53-B03D-317D23F3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5/22</a:t>
            </a:r>
          </a:p>
        </p:txBody>
      </p:sp>
    </p:spTree>
    <p:extLst>
      <p:ext uri="{BB962C8B-B14F-4D97-AF65-F5344CB8AC3E}">
        <p14:creationId xmlns:p14="http://schemas.microsoft.com/office/powerpoint/2010/main" val="2133685789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28BE5D3-79A2-4FC4-952E-81FBBBC7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Ground truth vem antes do LLM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3B0FDBE7-403E-4A4C-87E4-58319E64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Pipeline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D9CA30AA-B811-492E-BBE8-744EB6BA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77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Ground truth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7B8BB27E-3C0D-4CF3-8728-B91D23B7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925" y="3429000"/>
            <a:ext cx="33464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Avaliador</a:t>
            </a:r>
          </a:p>
        </p:txBody>
      </p:sp>
      <p:cxnSp>
        <p:nvCxnSpPr>
          <p:cNvPr id="21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15607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2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776922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C4BE114-4D15-4B5E-8E20-F523E9CC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7DB97C5-0419-439B-AC13-D19D650B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C791264-369D-43FF-83C5-95618E6EF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C4534D-A837-4346-A87E-78CC8F4F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6/22</a:t>
            </a:r>
          </a:p>
        </p:txBody>
      </p:sp>
    </p:spTree>
    <p:extLst>
      <p:ext uri="{BB962C8B-B14F-4D97-AF65-F5344CB8AC3E}">
        <p14:creationId xmlns:p14="http://schemas.microsoft.com/office/powerpoint/2010/main" val="88068566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F5A8A3-AB16-4FB4-8038-CFF5B3DE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Trace transforma opinião em evidência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6698D04-DCF7-45D7-98B7-FDE0536B5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Resposta, SQL, resultado, tokens, tools e latência ficam no mesmo JSON.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6E50591-E878-471E-AA21-1A19CAA3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input/output tokens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tool calls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joins inválidos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custo normalizado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6DF29EB-889D-4685-9C28-853F6AC6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3DC7B156-1D23-43FF-A4C5-827EEBB9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568DF72-99E2-437A-A78C-6553F4F7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206F3E84-7860-4154-AF38-6AB81285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0AF9E27-5744-4008-B104-D231EB263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A44C6BE-B6EE-408E-978E-D80C6048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2C5361D-2F0A-445D-A942-4E5D40E8E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7/22</a:t>
            </a:r>
          </a:p>
        </p:txBody>
      </p:sp>
    </p:spTree>
    <p:extLst>
      <p:ext uri="{BB962C8B-B14F-4D97-AF65-F5344CB8AC3E}">
        <p14:creationId xmlns:p14="http://schemas.microsoft.com/office/powerpoint/2010/main" val="13727624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FB9F59-D376-4B4B-AD59-03D7273D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Trace transforma opinião em evidência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C4ADAAA4-DF5E-4F3D-9B57-8C3E5CB0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D731B86E-DAC6-46B9-BF6D-7A0FF6DB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Pergunta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C55E4CD7-2FAF-46FA-BAE2-9118CA9C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1BD4DECB-4D74-4077-81C6-14985727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BD82C3B5-525B-4393-AD53-750B79983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Trace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DF509681-97E1-4ABA-9BBA-983A5D67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ED84E8FA-C15A-40EB-9061-651DC791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E10FBE7C-F95E-478D-9E56-C41918DB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Score</a:t>
            </a:r>
          </a:p>
        </p:txBody>
      </p:sp>
      <p:sp>
        <p:nvSpPr>
          <p:cNvPr id="10" name="step-line-3">
            <a:extLst xmlns:a="http://schemas.openxmlformats.org/drawingml/2006/main">
              <a:ext uri="{FF2B5EF4-FFF2-40B4-BE49-F238E27FC236}">
                <a16:creationId xmlns:a16="http://schemas.microsoft.com/office/drawing/2014/main" id="{6E9FEFEE-EC89-4BEC-8C05-AD678A0B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11" name="step-num-4">
            <a:extLst xmlns:a="http://schemas.openxmlformats.org/drawingml/2006/main">
              <a:ext uri="{FF2B5EF4-FFF2-40B4-BE49-F238E27FC236}">
                <a16:creationId xmlns:a16="http://schemas.microsoft.com/office/drawing/2014/main" id="{FFFABC0A-D7E5-40A9-97D6-95DBCB42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12" name="step-label-4">
            <a:extLst xmlns:a="http://schemas.openxmlformats.org/drawingml/2006/main">
              <a:ext uri="{FF2B5EF4-FFF2-40B4-BE49-F238E27FC236}">
                <a16:creationId xmlns:a16="http://schemas.microsoft.com/office/drawing/2014/main" id="{BC20A137-86D1-4497-9254-16D88FAB0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Comparação</a:t>
            </a:r>
          </a:p>
        </p:txBody>
      </p:sp>
      <p:sp>
        <p:nvSpPr>
          <p:cNvPr id="13" name="eyebrow">
            <a:extLst xmlns:a="http://schemas.openxmlformats.org/drawingml/2006/main">
              <a:ext uri="{FF2B5EF4-FFF2-40B4-BE49-F238E27FC236}">
                <a16:creationId xmlns:a16="http://schemas.microsoft.com/office/drawing/2014/main" id="{8AA56859-1379-4591-937A-7F02C27D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1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AE8C454-F6F6-48B2-A50C-C43CA94E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074799BF-DCFA-4A18-93E8-B5273B40D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5ABB9EC-467F-4FF4-9610-4C913119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8/22</a:t>
            </a:r>
          </a:p>
        </p:txBody>
      </p:sp>
    </p:spTree>
    <p:extLst>
      <p:ext uri="{BB962C8B-B14F-4D97-AF65-F5344CB8AC3E}">
        <p14:creationId xmlns:p14="http://schemas.microsoft.com/office/powerpoint/2010/main" val="1649212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5D0D74A-503E-44A0-9CD8-8FD80C46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Fixture não é execução real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C19559D-D5AE-46C8-B8DC-D93FF454E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Traces gravados testam o avaliador; não provam desempenho de um LLM.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BE3A678-9B9F-4789-ADEB-BFDD600B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CI sem chave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Dados sintéticos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Execução real posterior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BE7C3E8-9FA8-4AB2-AD52-57F23C9F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3EA7244-0A6C-4755-96C5-4BBAD2380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FB10F30-00EA-439A-A300-937CD69D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5B3178A-4FCC-4BE8-ADCD-FFFA7B68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6FC2597-F4EC-4BDA-BFF1-55266C3BC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8C78F331-C73E-4FA6-B551-CADF4323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0313CE5-B002-4957-9010-6FB4FBC36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9/22</a:t>
            </a:r>
          </a:p>
        </p:txBody>
      </p:sp>
    </p:spTree>
    <p:extLst>
      <p:ext uri="{BB962C8B-B14F-4D97-AF65-F5344CB8AC3E}">
        <p14:creationId xmlns:p14="http://schemas.microsoft.com/office/powerpoint/2010/main" val="743803112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C2AED1-EA17-4E4E-86DF-0111CF11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Fixture não é execução real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CF53DC1D-16DA-493F-8E03-DFD0030EC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813102CB-61C4-4410-AB4C-F2264E58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Fixture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BAFBEA50-6D91-4801-AF78-7F8329BA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E64F01F1-EA1C-47D1-A8DF-E6AF4C69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Validação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44253190-DDD7-4D55-934C-42058475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C2D2B534-3FA2-4335-A0C0-6C584F76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LLM real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19DD9351-FB26-4A2D-86E9-E06BF8FF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28C752C-5E01-4E55-923C-EC74C35A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BD3E3FC0-6EE3-43E3-8757-7FEE0A2C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B9C998-A6DC-4544-9645-1C41A82DF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10/22</a:t>
            </a:r>
          </a:p>
        </p:txBody>
      </p:sp>
    </p:spTree>
    <p:extLst>
      <p:ext uri="{BB962C8B-B14F-4D97-AF65-F5344CB8AC3E}">
        <p14:creationId xmlns:p14="http://schemas.microsoft.com/office/powerpoint/2010/main" val="1867787668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2E3E8C-9055-44E0-AA0A-F3D8A1D3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 recomendação oficial favorece contexto semântico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816D2D9-1FAA-4CE0-A585-DE04E597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Mais modelagem tende a ampliar precisão e segurança das respostas.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A44A22E-A90E-49CB-8CD6-B5BCA283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Cobertura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Precisão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Confiabilidade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04F0F8D4-27B3-48B2-8ED6-0E536D4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28CD9B0-CA04-43F5-9A77-635BBA39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E705F8E-0B7C-4041-9618-E7BC0376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456F2BAE-60A9-49CF-A586-BF38A899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FAEE1BC-2E27-465E-9502-99A6D61F7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24553964-5FC5-4BF0-AAC9-8449C3F3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8C22770-36E9-47E3-86C9-F58DD764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11/22</a:t>
            </a:r>
          </a:p>
        </p:txBody>
      </p:sp>
    </p:spTree>
    <p:extLst>
      <p:ext uri="{BB962C8B-B14F-4D97-AF65-F5344CB8AC3E}">
        <p14:creationId xmlns:p14="http://schemas.microsoft.com/office/powerpoint/2010/main" val="7794674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30E5E5-433B-4D34-9FEE-1524DEA6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 recomendação oficial favorece contexto semântico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FB549398-3BF5-46CE-AD09-8DEC4F99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B1F3A"/>
                </a:solidFill>
              </a:defRPr>
            </a:pPr>
            <a:r>
              <a:rPr sz="1950" b="1">
                <a:solidFill>
                  <a:srgbClr val="0B1F3A"/>
                </a:solidFill>
              </a:rPr>
              <a:t>Mais modelagem tende a ampliar precisão e segurança das respostas.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D6DF8E0F-506D-4570-9D90-22B44AB2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pic>
        <p:nvPicPr>
          <p:cNvPr id="15" name="" descr="Figura oficial da documentação dbt usada para explicar: A recomendação oficial favorece contexto semântico — Mais modelagem tende a ampliar precisão e segurança das resposta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c26d719aa541f5"/>
          <a:stretch xmlns:a="http://schemas.openxmlformats.org/drawingml/2006/main"/>
        </p:blipFill>
        <p:spPr>
          <a:xfrm xmlns:a="http://schemas.openxmlformats.org/drawingml/2006/main">
            <a:off x="5429250" y="1860476"/>
            <a:ext cx="5791200" cy="3232298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D7F8EE24-6D86-4D88-A03C-45E64EF8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dbt Labs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E3A7CCD-9CA0-44C1-B6E2-B7059055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197D3A6-041B-466C-9661-7EE75324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74E431F0-440F-4A73-B60F-1190C9B6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1ED727-0CE8-4982-AD30-04B9E073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12/22</a:t>
            </a:r>
          </a:p>
        </p:txBody>
      </p:sp>
    </p:spTree>
    <p:extLst>
      <p:ext uri="{BB962C8B-B14F-4D97-AF65-F5344CB8AC3E}">
        <p14:creationId xmlns:p14="http://schemas.microsoft.com/office/powerpoint/2010/main" val="5047510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439299-6A7F-48EE-A193-78500250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 arquitetura recomendada termina no agente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3E5B39D-9C7D-48B6-AB95-3B92232B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Regras ficam na Gold e nas métricas; o agente consome e explica.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FB4549F6-AA1E-48D1-B4AA-868C1E1E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Silver prepara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Gold aplica regra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Métrica nomeia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MCP entrega contexto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69EB1D8-DA07-4ABA-A2F7-09FFA089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533DF4F-8208-4D44-A436-A69373C76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5B7AB63-610B-4FB3-A367-ADA55137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06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3FBF499F-3785-4CC7-BA75-55F50606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F5EFFEE-E7A4-4B33-BDBD-0B4D8141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B7227ECD-0FF8-470E-BB6F-3E7E23F0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FE41434-8866-479C-90D9-6C94CC3B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13/22</a:t>
            </a:r>
          </a:p>
        </p:txBody>
      </p:sp>
    </p:spTree>
    <p:extLst>
      <p:ext uri="{BB962C8B-B14F-4D97-AF65-F5344CB8AC3E}">
        <p14:creationId xmlns:p14="http://schemas.microsoft.com/office/powerpoint/2010/main" val="1845175226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C01727-1383-4D9A-9106-B96C0387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 arquitetura recomendada termina no agente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9FF173A0-1260-4FB4-8BF8-F35284BA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Silver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9AC0EDB2-DCB2-4D3F-BBCC-285777CB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751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21BB07FB-2CED-4FEF-BA29-3C2E0D33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540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Métricas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5F3CDB39-061A-478E-9FB5-C6C4F22C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329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6" name="flow-5">
            <a:extLst xmlns:a="http://schemas.openxmlformats.org/drawingml/2006/main">
              <a:ext uri="{FF2B5EF4-FFF2-40B4-BE49-F238E27FC236}">
                <a16:creationId xmlns:a16="http://schemas.microsoft.com/office/drawing/2014/main" id="{A87B7C09-DC77-47B0-816D-DB75AF24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3429000"/>
            <a:ext cx="190119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Agente</a:t>
            </a:r>
          </a:p>
        </p:txBody>
      </p:sp>
      <p:cxnSp>
        <p:nvCxnSpPr>
          <p:cNvPr id="31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271081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2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487870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3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04659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3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9214485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11" name="eyebrow">
            <a:extLst xmlns:a="http://schemas.openxmlformats.org/drawingml/2006/main">
              <a:ext uri="{FF2B5EF4-FFF2-40B4-BE49-F238E27FC236}">
                <a16:creationId xmlns:a16="http://schemas.microsoft.com/office/drawing/2014/main" id="{D32300B0-638B-40A7-97E6-F461C012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65765FD-5A1F-4D63-AFC1-59DDAEE3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344C0BA9-2FC1-43D5-9881-2B488587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F8986B3-119D-409A-B858-59733B588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14/22</a:t>
            </a:r>
          </a:p>
        </p:txBody>
      </p:sp>
    </p:spTree>
    <p:extLst>
      <p:ext uri="{BB962C8B-B14F-4D97-AF65-F5344CB8AC3E}">
        <p14:creationId xmlns:p14="http://schemas.microsoft.com/office/powerpoint/2010/main" val="1447465290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1B5FB0-F0A5-4D8A-AD99-9B80ADEF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463F474F-F4CC-4492-AD48-0014C9B7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7C8C38BE-A9D5-44FE-AB08-A3B04D1C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12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8F4D8085-C650-42EC-B82C-6F03FD98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B5CCFAF2-3182-4D2C-978A-15446E0D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91A7B0A-C89B-4052-84EF-C30B0880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EEBB1FE-2451-49DA-B2DE-3527ACD5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874FBF-9701-4E02-84C6-CD60B778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15/22</a:t>
            </a:r>
          </a:p>
        </p:txBody>
      </p:sp>
    </p:spTree>
    <p:extLst>
      <p:ext uri="{BB962C8B-B14F-4D97-AF65-F5344CB8AC3E}">
        <p14:creationId xmlns:p14="http://schemas.microsoft.com/office/powerpoint/2010/main" val="193899559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DCD0DC-9C62-40C0-8B3F-EECB6F9DD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3F0AF369-6269-4C95-869E-2181F2D4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E48B13A-F416-4008-AFB6-4B6E82A0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Perguntas fixas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69AD1D0E-E887-40EA-ADCE-FDC0D675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690EBE5F-0FA8-4B44-B4CC-77E0C2E7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92D40F8A-5EA8-484A-BAD4-ACAA9287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Traces gravados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3F5A57C3-42C3-46DF-B877-9DBF9114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23999DDC-5B5E-4ECD-9385-A0194846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649C1EEB-CB1B-45F1-A3CA-4E95159F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Avaliador e ground truth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19AEFEE7-214A-495D-B4FC-42901765F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66D4605-E0D8-429B-BFD1-EBD98AB9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31E87497-7209-4EAC-B63E-8E15E3DF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2B1C0B-DED2-45ED-ABEB-F3982A77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16/22</a:t>
            </a:r>
          </a:p>
        </p:txBody>
      </p:sp>
    </p:spTree>
    <p:extLst>
      <p:ext uri="{BB962C8B-B14F-4D97-AF65-F5344CB8AC3E}">
        <p14:creationId xmlns:p14="http://schemas.microsoft.com/office/powerpoint/2010/main" val="276543595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29C60EDE-ED96-4FF4-BA3A-63C8DC31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CC6BEE7D-CCE3-454F-9164-372E232B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Benchmark determinístico sem chave de LLM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903856D0-9B13-4398-BAD9-80C966FE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12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421C2E82-3D38-4787-BA0F-EEB820BA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971DA236-2728-44B7-8A4E-C09EC776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0882E2E2-96CB-4295-944C-D4955AD5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EB5FF98-4BA1-48E8-8134-72ADBC3E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34C2D54C-B52E-4A97-9116-2194D097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ACE3E7-F6F1-4F56-928F-B4D07876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17/22</a:t>
            </a:r>
          </a:p>
        </p:txBody>
      </p:sp>
    </p:spTree>
    <p:extLst>
      <p:ext uri="{BB962C8B-B14F-4D97-AF65-F5344CB8AC3E}">
        <p14:creationId xmlns:p14="http://schemas.microsoft.com/office/powerpoint/2010/main" val="172047181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D0BCE7-0B11-487A-86D6-59EB6AF2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53AC287A-451F-4B6E-92E6-01BD622E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B6E49422-D871-43CB-9B8E-79CC2324A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consenso em código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2FAF4C03-7978-493E-9F5D-9A5E1B16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D7A84FCB-441E-4BD9-98E4-11FF21DD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FF3B595-4C8C-4DF8-A571-A1144A20A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custo normalizado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8923FFA-FE70-4A97-A7DE-CAB60496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5B9B2F6D-C0F5-4A74-96B1-55DAE15A9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08F7FA93-7AA7-4159-BD71-9DAF63E8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consumidor, não inventor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E3B5D8C4-29F2-4786-9078-7457C0D4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4F98582-AE94-4427-A810-10E10691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D9603670-ED57-44CF-BAD3-E5389E7D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D6CB49-26B4-47F9-BE89-F4285BC7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18/22</a:t>
            </a:r>
          </a:p>
        </p:txBody>
      </p:sp>
    </p:spTree>
    <p:extLst>
      <p:ext uri="{BB962C8B-B14F-4D97-AF65-F5344CB8AC3E}">
        <p14:creationId xmlns:p14="http://schemas.microsoft.com/office/powerpoint/2010/main" val="1069308818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64A93F80-E002-430B-AF5D-A2C6AB1E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80%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E8EE6405-3632-4788-88B8-608DCF5F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redução de analytics reportada pela Bilt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5CA734A2-1559-408D-B256-A93EA556B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57DAAA8F-FF66-498D-AE50-DCFADC47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Resultado reportado; o laboratório não generaliza o percentual.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8CA998D0-DF4D-4163-BB85-17454C6F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5F3A4AD2-E506-4612-9C4B-BE5C26364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3490C0D-1F19-4F9C-B01C-AC70FE35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F7B79BA-B553-4314-B365-F7635298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19/22</a:t>
            </a:r>
          </a:p>
        </p:txBody>
      </p:sp>
    </p:spTree>
    <p:extLst>
      <p:ext uri="{BB962C8B-B14F-4D97-AF65-F5344CB8AC3E}">
        <p14:creationId xmlns:p14="http://schemas.microsoft.com/office/powerpoint/2010/main" val="15426698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09D3CCA-8C6B-4837-B838-DA5219C2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1346411D-BE74-446B-B31D-0B18994D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Fixtures não medem qualidade real do modelo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Tokens variam por cliente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Semântica não elimina toda ambiguidade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0AED0728-E882-4B9D-8D93-7A68E064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202EB16-448F-4900-94A6-19D0409D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8CF22769-1A94-4E18-854D-30EED36F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4AA1359-038A-45AF-9AF8-80B24CE4D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20/22</a:t>
            </a:r>
          </a:p>
        </p:txBody>
      </p:sp>
    </p:spTree>
    <p:extLst>
      <p:ext uri="{BB962C8B-B14F-4D97-AF65-F5344CB8AC3E}">
        <p14:creationId xmlns:p14="http://schemas.microsoft.com/office/powerpoint/2010/main" val="1439164258"/>
      </p:ext>
    </p:extLst>
  </p:cSld>
</p:sld>
</file>

<file path=ppt/slides/slide2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BE3D7116-AF36-4A62-B6D7-63CAE9994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260BFC0C-C9DF-45F3-8DFE-8943A6B3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dbt State e MCP gerenciado continuam fora da aceitação open.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698287F3-FE19-4D72-90F0-52317988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ACB701E-4494-46D3-B6BF-C3136A7C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BE98D31-910B-4F30-90A6-48D86548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144BB543-A0D4-47EA-8080-A4BFA88E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12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C5E79D7B-796E-423B-9E94-09BA594B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003708F0-E920-4689-852C-7A98E8B7F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E6DCA5-808F-48E8-BE35-7B88ECF5B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21/22</a:t>
            </a:r>
          </a:p>
        </p:txBody>
      </p:sp>
    </p:spTree>
    <p:extLst>
      <p:ext uri="{BB962C8B-B14F-4D97-AF65-F5344CB8AC3E}">
        <p14:creationId xmlns:p14="http://schemas.microsoft.com/office/powerpoint/2010/main" val="49982877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8745D593-4D9F-4ED1-8414-219D661F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10052003-0F4A-45BF-BF97-C102A2F5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Mova uma regra determinística do prompt para o pipeline e teste-a.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B79B5574-770C-4013-B014-806811C1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12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FCEB0D33-C76A-4FE1-A312-0B0566D6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12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E10ED78-C6A9-4D40-9A73-CB897CF1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275422DE-0E3D-4D12-95D0-10E949D7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8C09E47-BB29-46EB-95E5-886ADDB6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22/22</a:t>
            </a:r>
          </a:p>
        </p:txBody>
      </p:sp>
    </p:spTree>
    <p:extLst>
      <p:ext uri="{BB962C8B-B14F-4D97-AF65-F5344CB8AC3E}">
        <p14:creationId xmlns:p14="http://schemas.microsoft.com/office/powerpoint/2010/main" val="2373236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2026-09-02T01:19:30.6760000Z</dcterms:created>
  <dcterms:modified xsi:type="dcterms:W3CDTF">2026-09-02T01:19:30.6760000Z</dcterms:modified>
</coreProperties>
</file>