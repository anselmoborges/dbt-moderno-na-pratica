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d81cb5daf4461f" /><Relationship Type="http://schemas.openxmlformats.org/officeDocument/2006/relationships/extended-properties" Target="/docProps/app.xml" Id="Re9ca11a0d0db4136" /><Relationship Type="http://schemas.openxmlformats.org/officeDocument/2006/relationships/officeDocument" Target="/ppt/presentation.xml" Id="Reeb78a191f9442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caffe29eb74b43"/>
    <p:sldMasterId xmlns:r="http://schemas.openxmlformats.org/officeDocument/2006/relationships" id="2147483650" r:id="R9bc8f05af4f74064"/>
  </p:sldMasterIdLst>
  <p:notesMasterIdLst>
    <p:notesMasterId xmlns:r="http://schemas.openxmlformats.org/officeDocument/2006/relationships" r:id="Rb2a22b756b0c4b49"/>
  </p:notesMasterIdLst>
  <p:sldIdLst>
    <p:sldId xmlns:r="http://schemas.openxmlformats.org/officeDocument/2006/relationships" id="256" r:id="R6f2d53590e154539"/>
    <p:sldId xmlns:r="http://schemas.openxmlformats.org/officeDocument/2006/relationships" id="257" r:id="R0ac03d4f0e1a4103"/>
    <p:sldId xmlns:r="http://schemas.openxmlformats.org/officeDocument/2006/relationships" id="258" r:id="Rf264752f4ae04586"/>
    <p:sldId xmlns:r="http://schemas.openxmlformats.org/officeDocument/2006/relationships" id="259" r:id="R9566a43568f24b12"/>
    <p:sldId xmlns:r="http://schemas.openxmlformats.org/officeDocument/2006/relationships" id="260" r:id="Ra7d8072e18fa4cdd"/>
    <p:sldId xmlns:r="http://schemas.openxmlformats.org/officeDocument/2006/relationships" id="261" r:id="R7fa69921758a4634"/>
    <p:sldId xmlns:r="http://schemas.openxmlformats.org/officeDocument/2006/relationships" id="262" r:id="R9667a0bb33504adf"/>
    <p:sldId xmlns:r="http://schemas.openxmlformats.org/officeDocument/2006/relationships" id="263" r:id="Rc5d53b78e69747c9"/>
    <p:sldId xmlns:r="http://schemas.openxmlformats.org/officeDocument/2006/relationships" id="264" r:id="Redc998c3c57b4756"/>
    <p:sldId xmlns:r="http://schemas.openxmlformats.org/officeDocument/2006/relationships" id="265" r:id="Rde4e0dc110794c42"/>
    <p:sldId xmlns:r="http://schemas.openxmlformats.org/officeDocument/2006/relationships" id="266" r:id="Rfacc0305d2a0456e"/>
    <p:sldId xmlns:r="http://schemas.openxmlformats.org/officeDocument/2006/relationships" id="267" r:id="Rd055e75b35954da0"/>
    <p:sldId xmlns:r="http://schemas.openxmlformats.org/officeDocument/2006/relationships" id="268" r:id="R4dba74e3c3ac4a71"/>
    <p:sldId xmlns:r="http://schemas.openxmlformats.org/officeDocument/2006/relationships" id="269" r:id="Rb52cf410fddd4b63"/>
    <p:sldId xmlns:r="http://schemas.openxmlformats.org/officeDocument/2006/relationships" id="270" r:id="R8bec068d89184ca3"/>
    <p:sldId xmlns:r="http://schemas.openxmlformats.org/officeDocument/2006/relationships" id="271" r:id="R9120a9f26d834338"/>
    <p:sldId xmlns:r="http://schemas.openxmlformats.org/officeDocument/2006/relationships" id="272" r:id="Rc9cfdf82eea94c4e"/>
    <p:sldId xmlns:r="http://schemas.openxmlformats.org/officeDocument/2006/relationships" id="273" r:id="R2dbf1ccb2f654f91"/>
    <p:sldId xmlns:r="http://schemas.openxmlformats.org/officeDocument/2006/relationships" id="274" r:id="R1c7e5ec4342c4aec"/>
    <p:sldId xmlns:r="http://schemas.openxmlformats.org/officeDocument/2006/relationships" id="275" r:id="Red70d049affe42c8"/>
    <p:sldId xmlns:r="http://schemas.openxmlformats.org/officeDocument/2006/relationships" id="276" r:id="R16c573f5551e49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ec98c158c54ff7" /><Relationship Type="http://schemas.openxmlformats.org/officeDocument/2006/relationships/slideMaster" Target="/ppt/slideMasters/slideMaster1.xml" Id="R28caffe29eb74b43" /><Relationship Type="http://schemas.openxmlformats.org/officeDocument/2006/relationships/slideMaster" Target="/ppt/slideMasters/slideMaster2.xml" Id="R9bc8f05af4f74064" /><Relationship Type="http://schemas.openxmlformats.org/officeDocument/2006/relationships/notesMaster" Target="/ppt/notesMasters/notesMaster1.xml" Id="Rb2a22b756b0c4b49" /><Relationship Type="http://schemas.openxmlformats.org/officeDocument/2006/relationships/presProps" Target="/ppt/presProps.xml" Id="Rc26e9b5897ff4e42" /><Relationship Type="http://schemas.openxmlformats.org/officeDocument/2006/relationships/tableStyles" Target="/ppt/tableStyles.xml" Id="R76e101a47d464cd4" /><Relationship Type="http://schemas.openxmlformats.org/officeDocument/2006/relationships/slide" Target="/ppt/slides/slide1.xml" Id="R6f2d53590e154539" /><Relationship Type="http://schemas.openxmlformats.org/officeDocument/2006/relationships/slide" Target="/ppt/slides/slide2.xml" Id="R0ac03d4f0e1a4103" /><Relationship Type="http://schemas.openxmlformats.org/officeDocument/2006/relationships/slide" Target="/ppt/slides/slide3.xml" Id="Rf264752f4ae04586" /><Relationship Type="http://schemas.openxmlformats.org/officeDocument/2006/relationships/slide" Target="/ppt/slides/slide4.xml" Id="R9566a43568f24b12" /><Relationship Type="http://schemas.openxmlformats.org/officeDocument/2006/relationships/slide" Target="/ppt/slides/slide5.xml" Id="Ra7d8072e18fa4cdd" /><Relationship Type="http://schemas.openxmlformats.org/officeDocument/2006/relationships/slide" Target="/ppt/slides/slide6.xml" Id="R7fa69921758a4634" /><Relationship Type="http://schemas.openxmlformats.org/officeDocument/2006/relationships/slide" Target="/ppt/slides/slide7.xml" Id="R9667a0bb33504adf" /><Relationship Type="http://schemas.openxmlformats.org/officeDocument/2006/relationships/slide" Target="/ppt/slides/slide8.xml" Id="Rc5d53b78e69747c9" /><Relationship Type="http://schemas.openxmlformats.org/officeDocument/2006/relationships/slide" Target="/ppt/slides/slide9.xml" Id="Redc998c3c57b4756" /><Relationship Type="http://schemas.openxmlformats.org/officeDocument/2006/relationships/slide" Target="/ppt/slides/slide10.xml" Id="Rde4e0dc110794c42" /><Relationship Type="http://schemas.openxmlformats.org/officeDocument/2006/relationships/slide" Target="/ppt/slides/slide11.xml" Id="Rfacc0305d2a0456e" /><Relationship Type="http://schemas.openxmlformats.org/officeDocument/2006/relationships/slide" Target="/ppt/slides/slide12.xml" Id="Rd055e75b35954da0" /><Relationship Type="http://schemas.openxmlformats.org/officeDocument/2006/relationships/slide" Target="/ppt/slides/slide13.xml" Id="R4dba74e3c3ac4a71" /><Relationship Type="http://schemas.openxmlformats.org/officeDocument/2006/relationships/slide" Target="/ppt/slides/slide14.xml" Id="Rb52cf410fddd4b63" /><Relationship Type="http://schemas.openxmlformats.org/officeDocument/2006/relationships/slide" Target="/ppt/slides/slide15.xml" Id="R8bec068d89184ca3" /><Relationship Type="http://schemas.openxmlformats.org/officeDocument/2006/relationships/slide" Target="/ppt/slides/slide16.xml" Id="R9120a9f26d834338" /><Relationship Type="http://schemas.openxmlformats.org/officeDocument/2006/relationships/slide" Target="/ppt/slides/slide17.xml" Id="Rc9cfdf82eea94c4e" /><Relationship Type="http://schemas.openxmlformats.org/officeDocument/2006/relationships/slide" Target="/ppt/slides/slide18.xml" Id="R2dbf1ccb2f654f91" /><Relationship Type="http://schemas.openxmlformats.org/officeDocument/2006/relationships/slide" Target="/ppt/slides/slide19.xml" Id="R1c7e5ec4342c4aec" /><Relationship Type="http://schemas.openxmlformats.org/officeDocument/2006/relationships/slide" Target="/ppt/slides/slide20.xml" Id="Red70d049affe42c8" /><Relationship Type="http://schemas.openxmlformats.org/officeDocument/2006/relationships/slide" Target="/ppt/slides/slide21.xml" Id="R16c573f5551e49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b2ff213937949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0b7ebc373443a2" /><Relationship Type="http://schemas.openxmlformats.org/officeDocument/2006/relationships/notesMaster" Target="/ppt/notesMasters/notesMaster1.xml" Id="R337283e0ab3549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c758ba71be450a" /><Relationship Type="http://schemas.openxmlformats.org/officeDocument/2006/relationships/notesMaster" Target="/ppt/notesMasters/notesMaster1.xml" Id="R565bfb3c0df74a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8f8e153d404293" /><Relationship Type="http://schemas.openxmlformats.org/officeDocument/2006/relationships/notesMaster" Target="/ppt/notesMasters/notesMaster1.xml" Id="R00f087308dbd41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72f6967d6f4f80" /><Relationship Type="http://schemas.openxmlformats.org/officeDocument/2006/relationships/notesMaster" Target="/ppt/notesMasters/notesMaster1.xml" Id="R6ce806e5458c4e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44245c68b8450a" /><Relationship Type="http://schemas.openxmlformats.org/officeDocument/2006/relationships/notesMaster" Target="/ppt/notesMasters/notesMaster1.xml" Id="Rb2709f94d8e845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0aadb2f1b7410d" /><Relationship Type="http://schemas.openxmlformats.org/officeDocument/2006/relationships/notesMaster" Target="/ppt/notesMasters/notesMaster1.xml" Id="R7dee232207c941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1c19e130b448df" /><Relationship Type="http://schemas.openxmlformats.org/officeDocument/2006/relationships/notesMaster" Target="/ppt/notesMasters/notesMaster1.xml" Id="R3db83a5d006941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7fdebf61214c78" /><Relationship Type="http://schemas.openxmlformats.org/officeDocument/2006/relationships/notesMaster" Target="/ppt/notesMasters/notesMaster1.xml" Id="R5c03a9989ceb4a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762cbf1400422d" /><Relationship Type="http://schemas.openxmlformats.org/officeDocument/2006/relationships/notesMaster" Target="/ppt/notesMasters/notesMaster1.xml" Id="Ra71f4b4ffc104b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6e8d9c650c49c5" /><Relationship Type="http://schemas.openxmlformats.org/officeDocument/2006/relationships/notesMaster" Target="/ppt/notesMasters/notesMaster1.xml" Id="Rd50d9f33154e40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ec527a85d3421d" /><Relationship Type="http://schemas.openxmlformats.org/officeDocument/2006/relationships/notesMaster" Target="/ppt/notesMasters/notesMaster1.xml" Id="Rb772bfa401bf45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7c4e720b5649f0" /><Relationship Type="http://schemas.openxmlformats.org/officeDocument/2006/relationships/notesMaster" Target="/ppt/notesMasters/notesMaster1.xml" Id="Ra1564225b2f34d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539467b81e423f" /><Relationship Type="http://schemas.openxmlformats.org/officeDocument/2006/relationships/notesMaster" Target="/ppt/notesMasters/notesMaster1.xml" Id="Rafd414fc3a4d48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c357ed174d4e2f" /><Relationship Type="http://schemas.openxmlformats.org/officeDocument/2006/relationships/notesMaster" Target="/ppt/notesMasters/notesMaster1.xml" Id="Rc98fbc97e3fb40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ac1f39b1684858" /><Relationship Type="http://schemas.openxmlformats.org/officeDocument/2006/relationships/notesMaster" Target="/ppt/notesMasters/notesMaster1.xml" Id="R8a59e071deb541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acff41a5544903" /><Relationship Type="http://schemas.openxmlformats.org/officeDocument/2006/relationships/notesMaster" Target="/ppt/notesMasters/notesMaster1.xml" Id="Rb2ebce266de144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43f372583904138" /><Relationship Type="http://schemas.openxmlformats.org/officeDocument/2006/relationships/notesMaster" Target="/ppt/notesMasters/notesMaster1.xml" Id="R32b479e2447444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e19f06e7b54da9" /><Relationship Type="http://schemas.openxmlformats.org/officeDocument/2006/relationships/notesMaster" Target="/ppt/notesMasters/notesMaster1.xml" Id="R164fe2027c16460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0e7e67910a8419e" /><Relationship Type="http://schemas.openxmlformats.org/officeDocument/2006/relationships/notesMaster" Target="/ppt/notesMasters/notesMaster1.xml" Id="Ra808205823a64eb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cdf0dc03f534495" /><Relationship Type="http://schemas.openxmlformats.org/officeDocument/2006/relationships/notesMaster" Target="/ppt/notesMasters/notesMaster1.xml" Id="R380fedf19783494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8dab090ea4d4696" /><Relationship Type="http://schemas.openxmlformats.org/officeDocument/2006/relationships/notesMaster" Target="/ppt/notesMasters/notesMaster1.xml" Id="R06789fbb1ab444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Bem-vindo ao episódio 6 do dbt Moderno na Prática. Hoje vamos trabalhar o tema “A pirâmide moderna de qualidade de dados”. Cada risco pede um mecanismo de detecção diferente. O objetivo não é apenas conhecer o conceito: vamos conectá-lo ao laboratório e terminar com uma evidência que você consegue reproduzir no seu próprio ambiente. Ao longo da aula, separe sempre o que é recurso aberto e estável daquilo que aparecerá apenas no Radar.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Apresente o título, situe o checkpoint 06 e deixe claro que a aula faz parte da trilha open/stable.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“not_null pode passar enquanto um prazo devolve menos cinco dias.”.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Quero começar com uma provocação: not_null pode passar enquanto um prazo devolve menos cinco dias. Essa pergunta orienta toda a aula. Em vez de aceitar uma afirmação porque ela parece correta, vamos procurar uma definição verificável e uma demonstração executável. Guarde essa tensão, porque voltaremos a ela quando compararmos o conceito com o resultado do laboratório.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Dê uma pausa depois da provocação e use o diagrama como mapa do problema, sem explicar todas as etapas ainda.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“Ao final, você consegue...”.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Ao final desta aula, você deverá conseguir separar cinco mecanismos, Isolar uma regra funcional e Testar freshness sem depender da data. Esses resultados formam uma sequência: primeiro entendemos a regra, depois observamos sua representação no projeto e, por fim, comprovamos o comportamento no checkpoint. Se alguma dessas três partes não estiver clara, volte ao slide correspondente antes de executar a demonstração.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Percorra os objetivos da esquerda para a direita e apresente-os como resultados observáveis, não como uma agenda abstrata.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“Cinco perguntas, cinco mecanismos”.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Unit, contrato, data test, freshness e observabilidade cobrem riscos distintos. Para tornar isso concreto, observe lógica, Estrutura, População, Atraso e Comportamento.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“Cinco perguntas, cinco mecanismos”.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Unit, contrato, data test, freshness e observabilidade cobrem riscos distintos. Siga a composição na ordem mostrada e conecte os elementos principais.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“Unit test captura o bug conhecido”.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Compra em 1º e entrega em 5 de janeiro devem produzir quatro dias positivos. Para tornar isso concreto, observe entrada mínima, Saída esperada e Regressão determinística.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“Unit test captura o bug conhecido”.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Compra em 1º e entrega em 5 de janeiro devem produzir quatro dias positivos. Siga a composição na ordem mostrada e conecte fixture, 4 dias, Entrada mínima, Saída esperada e Regressão determinística.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 exemplo oficial mostra execução isolada”.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Unit tests validam lógica SQL antes de materializar toda a população. Para tornar isso concreto, observe inputs estáticos, Modelo selecionado e Falha localizada.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 exemplo oficial mostra execução isolada”.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Unit tests validam lógica SQL antes de materializar toda a população. Siga a composição na ordem mostrada e conecte os elementos principais. A imagem ou o fluxo não cria uma regra nova; ele torna visível a relação que acabamos de explicar. A figura é identificada como exemplo oficial dbt Labs — Apache 2.0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Aponte a legenda e deixe explícito quando a figura é oficial; as anotações do curso ficam fora da imagem.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“Data tests procuram violações reais”.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  <a:p xmlns:a="http://schemas.openxmlformats.org/drawingml/2006/main">
            <a:r>
              <a:t>- https://github.com/dbt-labs/docs.getdbt.com/blob/8249c7c904848efa786831381ca1d53b4157e392/website/static/img/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A população materializada pode falhar mesmo quando o exemplo unitário passa. Para tornar isso concreto, observe unique e not_null, accepted_values e Regra delivered_revenue.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“Data tests procuram violações reais”.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A população materializada pode falhar mesmo quando o exemplo unitário passa. Siga a composição na ordem mostrada e conecte build, População, Teste e Falha.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“Freshness responde se a fonte chegou”.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Uma fixture recente passa; a mesma carga envelhecida deve falhar. Para tornar isso concreto, observe loaded_at_field, SLA explícito e Teste positivo e negativo.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“Freshness responde se a fonte chegou”.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Uma fixture recente passa; a mesma carga envelhecida deve falhar. Siga a composição na ordem mostrada e conecte recente, Warning e Error.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“Demonstração — execute”.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01:20]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sair da explicação e comprovar o comportamento. Execute os comandos exatamente como aparecem: python course.py checkpoint 06. Não é necessário ativar o ambiente virtual manualmente; o launcher do curso seleciona o ambiente correto. Antes de avançar, confirme que o comando iniciou sem erro e dê tempo para o aluno acompanhar a mesma etapa.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Mostre o comando completo, execute uma linha por vez quando houver mais de uma e mantenha o terminal visível.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“Demonstração — observe”.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Enquanto a execução acontece, não olhe apenas para a mensagem final. Observe unit test do intervalo, 25 data tests e Freshness recente e envelhecida. Cada sinal responde a uma pergunta diferente sobre o pipeline. Se um deles divergir, interrompa a demonstração e investigue; o objetivo do hands-on é produzir evidência, não apenas chegar rapidamente a uma tela verde.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Marque cada observação quando ela aparecer no terminal ou no artifact correspondente.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“RESULTADO ESPERADO”.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Este é o ponto de parada da demonstração: 45 PASS · 1 NO-OP · 0 erros. Esse resultado confirma que a etapa executada produziu a evidência esperada para o checkpoint 06. Se o valor, o status ou o artifact estiver diferente, não trate a divergência como detalhe de ambiente. Use o diagnóstico do curso e só avance quando a causa estiver compreendida.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Compare o resultado do terminal com a frase central do slide e registre a evidência antes de continuar.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 mesmo recurso afeta três decisões”.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Antes de seguir, conecte a técnica às decisões que ela afeta: Governança: risco e owner, FinOps: controle na etapa barata e IA: interfaces testadas. Governança define responsabilidade e consistência; FinOps pergunta quanto trabalho estamos repetindo; e IA depende do contexto que decidimos expor. A mesma implementação pode melhorar os três eixos, mas os ganhos devem ser medidos separadamente.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Percorra os três eixos e evite apresentar economia ou acurácia como consequência automática.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“+4 dias”.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Aqui temos +4 dias: resultado esperado do bug de data. O número ajuda a dimensionar o exemplo, mas precisa ser lido com a ressalva correta. Mini-case reproduzido no laboratório. Use o case como evidência contextual e não como promessa de que outro projeto repetirá o mesmo resultado sem as mesmas condições.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Apresente primeiro o número, depois a definição e termine obrigatoriamente com a ressalva.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“Limitações que precisam permanecer visíveis”.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Também precisamos declarar os limites da recomendação. Neste cenário, considere freshness não mede volume, Teste pesado pode custar e Alerta sem runbook vira ruído. Esses pontos não anulam a técnica; eles delimitam onde a demonstração é válida e quais condições precisam ser verificadas antes de levar o padrão para produção. Tratar limites como parte do design evita transformar uma boa prática em regra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Leia os limites com o mesmo peso dado aos benefícios e diferencie restrição do laboratório de restrição do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“RADAR”.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Este é o nosso Radar: Engines novas antecipam parse; não substituem testes, freshness ou SLO. A intenção é mostrar a direção da ferramenta sem misturar preview com o caminho suportado da aula. Novidade observada não é recomendação de produção. Para adotar qualquer recurso futuro, confirme maturidade, adaptador, documentação e impacto sobre o projeto antes de alterar o baseline estável.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Reforce visualmente a regra do rodapé e não execute comandos beta ou preview como parte obrigatória da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“PRÓXIMO PASSO”.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Escreva o menor unit test que reproduz um bug possível. Faça essa etapa antes de seguir para o próximo episódio, porque o curso é cumulativo e o checkpoint atual se torna a base da aula seguinte. Se houver divergência, use o relatório de suporte e registre o que foi observado. O objetivo é avançar com um estado conhecido e reproduzível, não apenas assistir ao conteúdo.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Mostre o checkpoint e indique no repositório onde ficam o roteiro, os comandos e as referências da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Encerre retomando a pergunta inicial e confirme que o aluno sabe qual ação executar depois do episódio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https://docs.getdbt.com/docs/build/unit-tests</a:t>
            </a:r>
          </a:p>
          <a:p xmlns:a="http://schemas.openxmlformats.org/drawingml/2006/main">
            <a:r>
              <a:t>- https://docs.getdbt.com/docs/build/data-tests</a:t>
            </a:r>
          </a:p>
          <a:p xmlns:a="http://schemas.openxmlformats.org/drawingml/2006/main">
            <a:r>
              <a:t>- https://docs.getdbt.com/docs/build/sources#source-data-freshness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https://github.com/AnselmoBorges/dbt-moderno-na-pratica/blob/main/roteiros/06-piramide-qualidade.md</a:t>
            </a:r>
          </a:p>
          <a:p xmlns:a="http://schemas.openxmlformats.org/drawingml/2006/main">
            <a:r>
              <a:t>- repo://laboratorio/checkpoints/ep06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6e97d3f5a04d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488e3f96b842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f917830eab4e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Rescue Point Dar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Rescue Point Ligh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c704dc874f44e1" /><Relationship Type="http://schemas.openxmlformats.org/officeDocument/2006/relationships/slideLayout" Target="/ppt/slideLayouts/slideLayout1.xml" Id="R4aea7c002ce8437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32007beb341454b" /><Relationship Type="http://schemas.openxmlformats.org/officeDocument/2006/relationships/slideLayout" Target="/ppt/slideLayouts/slideLayout2.xml" Id="Red93e9f5fa534efe" /><Relationship Type="http://schemas.openxmlformats.org/officeDocument/2006/relationships/slideLayout" Target="/ppt/slideLayouts/slideLayout3.xml" Id="R8f9ea57ded8e4f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ea7c002ce843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Rescue Point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ed93e9f5fa534efe"/>
    <p:sldLayoutId xmlns:r="http://schemas.openxmlformats.org/officeDocument/2006/relationships" id="2147483652" r:id="R8f9ea57ded8e4f50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f9ebb66b194587" /><Relationship Type="http://schemas.openxmlformats.org/officeDocument/2006/relationships/image" Target="/ppt/media/image.jpeg" Id="R5258983d070f45a9" /><Relationship Type="http://schemas.openxmlformats.org/officeDocument/2006/relationships/image" Target="/ppt/media/image.png" Id="R8481e534a39f4ddf" /><Relationship Type="http://schemas.openxmlformats.org/officeDocument/2006/relationships/notesSlide" Target="/ppt/notesSlides/notesSlide1.xml" Id="Rb17b13073dba44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dd1557c74634abb" /><Relationship Type="http://schemas.openxmlformats.org/officeDocument/2006/relationships/image" Target="/ppt/media/image2.png" Id="R4e9df1739aee48c8" /><Relationship Type="http://schemas.openxmlformats.org/officeDocument/2006/relationships/image" Target="/ppt/media/image3.png" Id="Rb0016195c9684afa" /><Relationship Type="http://schemas.openxmlformats.org/officeDocument/2006/relationships/notesSlide" Target="/ppt/notesSlides/notesSlide2.xml" Id="R1de3a37ced7b42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4c8db238b347a0" /><Relationship Type="http://schemas.openxmlformats.org/officeDocument/2006/relationships/image" Target="/ppt/media/image4.png" Id="R7c15be2bef1f4c85" /><Relationship Type="http://schemas.openxmlformats.org/officeDocument/2006/relationships/notesSlide" Target="/ppt/notesSlides/notesSlide3.xml" Id="R9cf2fcbca3a64b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8782c2bc304eb6" /><Relationship Type="http://schemas.openxmlformats.org/officeDocument/2006/relationships/image" Target="/ppt/media/image5.png" Id="R4cff29140c8c41b4" /><Relationship Type="http://schemas.openxmlformats.org/officeDocument/2006/relationships/notesSlide" Target="/ppt/notesSlides/notesSlide4.xml" Id="R9a965efaf2b64a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a8287fcd90a4dc4" /><Relationship Type="http://schemas.openxmlformats.org/officeDocument/2006/relationships/image" Target="/ppt/media/image6.png" Id="Rf6a7b5da061a40d8" /><Relationship Type="http://schemas.openxmlformats.org/officeDocument/2006/relationships/notesSlide" Target="/ppt/notesSlides/notesSlide5.xml" Id="Rbe2210100a5c48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9974bc2b88c47c1" /><Relationship Type="http://schemas.openxmlformats.org/officeDocument/2006/relationships/image" Target="/ppt/media/image7.png" Id="Rc0823e91113541d6" /><Relationship Type="http://schemas.openxmlformats.org/officeDocument/2006/relationships/notesSlide" Target="/ppt/notesSlides/notesSlide6.xml" Id="Ra8d867ea917745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69d91f13874820" /><Relationship Type="http://schemas.openxmlformats.org/officeDocument/2006/relationships/image" Target="/ppt/media/image8.png" Id="R9e5da2a7687c452a" /><Relationship Type="http://schemas.openxmlformats.org/officeDocument/2006/relationships/notesSlide" Target="/ppt/notesSlides/notesSlide7.xml" Id="R922769fae9c342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f1a50d2c104688" /><Relationship Type="http://schemas.openxmlformats.org/officeDocument/2006/relationships/image" Target="/ppt/media/image9.png" Id="R5d43659a27064fbf" /><Relationship Type="http://schemas.openxmlformats.org/officeDocument/2006/relationships/notesSlide" Target="/ppt/notesSlides/notesSlide8.xml" Id="R97bb19f8c65447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dc443e781094159" /><Relationship Type="http://schemas.openxmlformats.org/officeDocument/2006/relationships/image" Target="/ppt/media/image10.png" Id="Rd494c851340d4ab4" /><Relationship Type="http://schemas.openxmlformats.org/officeDocument/2006/relationships/image" Target="/ppt/media/image11.png" Id="R5156a1a3cefa4665" /><Relationship Type="http://schemas.openxmlformats.org/officeDocument/2006/relationships/notesSlide" Target="/ppt/notesSlides/notesSlide9.xml" Id="Rb55a68b6183e4e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466786e61474e99" /><Relationship Type="http://schemas.openxmlformats.org/officeDocument/2006/relationships/image" Target="/ppt/media/image12.png" Id="R44d3a654ac4f4f9c" /><Relationship Type="http://schemas.openxmlformats.org/officeDocument/2006/relationships/notesSlide" Target="/ppt/notesSlides/notesSlide10.xml" Id="Rf5307e9736f549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7ffb724d664b88" /><Relationship Type="http://schemas.openxmlformats.org/officeDocument/2006/relationships/image" Target="/ppt/media/image13.png" Id="Re69629280b554b4c" /><Relationship Type="http://schemas.openxmlformats.org/officeDocument/2006/relationships/notesSlide" Target="/ppt/notesSlides/notesSlide11.xml" Id="R78233bde09134b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f76cfac236439b" /><Relationship Type="http://schemas.openxmlformats.org/officeDocument/2006/relationships/image" Target="/ppt/media/image14.png" Id="R0ba0befcd4684669" /><Relationship Type="http://schemas.openxmlformats.org/officeDocument/2006/relationships/notesSlide" Target="/ppt/notesSlides/notesSlide12.xml" Id="R04a0339a3a254f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2c5c622c126443d" /><Relationship Type="http://schemas.openxmlformats.org/officeDocument/2006/relationships/image" Target="/ppt/media/image15.png" Id="R55b71ac9b0cc4670" /><Relationship Type="http://schemas.openxmlformats.org/officeDocument/2006/relationships/notesSlide" Target="/ppt/notesSlides/notesSlide13.xml" Id="R41e4f90e414540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7843b7135740c5" /><Relationship Type="http://schemas.openxmlformats.org/officeDocument/2006/relationships/image" Target="/ppt/media/image16.png" Id="Rf174e842853245a8" /><Relationship Type="http://schemas.openxmlformats.org/officeDocument/2006/relationships/notesSlide" Target="/ppt/notesSlides/notesSlide14.xml" Id="R4d01b9b9d29841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411d279964b4f0c" /><Relationship Type="http://schemas.openxmlformats.org/officeDocument/2006/relationships/image" Target="/ppt/media/image17.png" Id="Rdc88defd64884477" /><Relationship Type="http://schemas.openxmlformats.org/officeDocument/2006/relationships/notesSlide" Target="/ppt/notesSlides/notesSlide15.xml" Id="R1247a846161e42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2d539b8ffd454c" /><Relationship Type="http://schemas.openxmlformats.org/officeDocument/2006/relationships/image" Target="/ppt/media/image18.png" Id="R29ed2176919e4369" /><Relationship Type="http://schemas.openxmlformats.org/officeDocument/2006/relationships/notesSlide" Target="/ppt/notesSlides/notesSlide16.xml" Id="Ra5a9c8ef26f74d6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75fa4ed7a4d4137" /><Relationship Type="http://schemas.openxmlformats.org/officeDocument/2006/relationships/image" Target="/ppt/media/image19.png" Id="Raefc12f9020f409b" /><Relationship Type="http://schemas.openxmlformats.org/officeDocument/2006/relationships/notesSlide" Target="/ppt/notesSlides/notesSlide17.xml" Id="Rc1cbb926f2794bc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03565a01064d78" /><Relationship Type="http://schemas.openxmlformats.org/officeDocument/2006/relationships/image" Target="/ppt/media/image20.png" Id="R45aa294721774868" /><Relationship Type="http://schemas.openxmlformats.org/officeDocument/2006/relationships/notesSlide" Target="/ppt/notesSlides/notesSlide18.xml" Id="Rc0e662088ba5413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f4a492d2674936" /><Relationship Type="http://schemas.openxmlformats.org/officeDocument/2006/relationships/image" Target="/ppt/media/image21.png" Id="R6fc279534a074bc4" /><Relationship Type="http://schemas.openxmlformats.org/officeDocument/2006/relationships/notesSlide" Target="/ppt/notesSlides/notesSlide19.xml" Id="Rb0b4ed55834f4e8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1aa0dfd2e2419e" /><Relationship Type="http://schemas.openxmlformats.org/officeDocument/2006/relationships/image" Target="/ppt/media/image22.png" Id="Rc006d61be1ae4174" /><Relationship Type="http://schemas.openxmlformats.org/officeDocument/2006/relationships/notesSlide" Target="/ppt/notesSlides/notesSlide20.xml" Id="R248e10e481fe4cf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76d797ca264e49" /><Relationship Type="http://schemas.openxmlformats.org/officeDocument/2006/relationships/image" Target="/ppt/media/image23.png" Id="R79b819106e0e4002" /><Relationship Type="http://schemas.openxmlformats.org/officeDocument/2006/relationships/notesSlide" Target="/ppt/notesSlides/notesSlide21.xml" Id="R5c8a0f4354dd4d9d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 descr="Ilustração conceitual autoral da capa: EPISÓDIO 6 — A pirâmide moderna de qualidade de dad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8983d070f45a9"/>
          <a:srcRect xmlns:a="http://schemas.openxmlformats.org/drawingml/2006/main" l="19785" t="0" r="197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ext-surface">
            <a:extLst xmlns:a="http://schemas.openxmlformats.org/drawingml/2006/main">
              <a:ext uri="{FF2B5EF4-FFF2-40B4-BE49-F238E27FC236}">
                <a16:creationId xmlns:a16="http://schemas.microsoft.com/office/drawing/2014/main" id="{98E586A7-0E6D-4618-ACAF-94B6872A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34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E"/>
          </a:solidFill>
          <a:ln xmlns:a="http://schemas.openxmlformats.org/drawingml/2006/main" w="0">
            <a:solidFill>
              <a:srgbClr val="06142E"/>
            </a:solidFill>
            <a:prstDash val="solid"/>
          </a:ln>
        </p:spPr>
      </p:sp>
      <p:sp>
        <p:nvSpPr>
          <p:cNvPr id="3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A68378F0-EF5F-414C-8B5D-9785F6FF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4295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4" name="cover-episode">
            <a:extLst xmlns:a="http://schemas.openxmlformats.org/drawingml/2006/main">
              <a:ext uri="{FF2B5EF4-FFF2-40B4-BE49-F238E27FC236}">
                <a16:creationId xmlns:a16="http://schemas.microsoft.com/office/drawing/2014/main" id="{ECECDE71-D2BC-4893-856D-EA6E057F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EPISÓDIO 6</a:t>
            </a:r>
          </a:p>
        </p:txBody>
      </p:sp>
      <p:sp>
        <p:nvSpPr>
          <p:cNvPr id="5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75165A2A-F71D-465D-B783-E526CAC0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8" name="" descr="Ilustração conceitual autoral da capa: EPISÓDIO 6 — A pirâmide moderna de qualidade de dad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1e534a39f4ddf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F4EFA9D-F204-465B-BCC4-380A2903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A pirâmide moderna de qualidade de dados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3C1A93B-181A-48C0-8A3F-1B414A0B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Cada risco pede um mecanismo de detecção diferente</a:t>
            </a:r>
          </a:p>
        </p:txBody>
      </p:sp>
      <p:sp>
        <p:nvSpPr>
          <p:cNvPr id="9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F4130BF-CC3B-4B7C-8701-C17C2643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C5FF"/>
            </a:solidFill>
            <a:prstDash val="solid"/>
          </a:ln>
        </p:spPr>
      </p:sp>
      <p:sp>
        <p:nvSpPr>
          <p:cNvPr id="10" name="cover-meta">
            <a:extLst xmlns:a="http://schemas.openxmlformats.org/drawingml/2006/main">
              <a:ext uri="{FF2B5EF4-FFF2-40B4-BE49-F238E27FC236}">
                <a16:creationId xmlns:a16="http://schemas.microsoft.com/office/drawing/2014/main" id="{C330636F-4FC2-4533-90C6-B26FDB0C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>
                    <a:alpha val="66667"/>
                  </a:srgbClr>
                </a:solidFill>
              </a:defRPr>
            </a:pPr>
            <a:r>
              <a:rPr sz="1200" b="1">
                <a:solidFill>
                  <a:srgbClr val="FFFFFF">
                    <a:alpha val="66667"/>
                  </a:srgbClr>
                </a:solidFill>
              </a:rPr>
              <a:t>Checkpoint 06 • DuckDB local • sem cloud</a:t>
            </a:r>
          </a:p>
        </p:txBody>
      </p:sp>
    </p:spTree>
    <p:extLst>
      <p:ext uri="{BB962C8B-B14F-4D97-AF65-F5344CB8AC3E}">
        <p14:creationId xmlns:p14="http://schemas.microsoft.com/office/powerpoint/2010/main" val="879054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hook">
            <a:extLst xmlns:a="http://schemas.openxmlformats.org/drawingml/2006/main">
              <a:ext uri="{FF2B5EF4-FFF2-40B4-BE49-F238E27FC236}">
                <a16:creationId xmlns:a16="http://schemas.microsoft.com/office/drawing/2014/main" id="{7FC123A2-B950-45EB-AE18-B59F6288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not_null pode passar enquanto um prazo devolve menos cinco dias.</a:t>
            </a:r>
          </a:p>
        </p:txBody>
      </p:sp>
      <p:sp>
        <p:nvSpPr>
          <p:cNvPr id="2" name="hook-rule">
            <a:extLst xmlns:a="http://schemas.openxmlformats.org/drawingml/2006/main">
              <a:ext uri="{FF2B5EF4-FFF2-40B4-BE49-F238E27FC236}">
                <a16:creationId xmlns:a16="http://schemas.microsoft.com/office/drawing/2014/main" id="{FBA41CEE-3EB7-4544-B800-D704654E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65C0"/>
            </a:solidFill>
            <a:prstDash val="solid"/>
          </a:ln>
        </p:spPr>
      </p:sp>
      <p:sp>
        <p:nvSpPr>
          <p:cNvPr id="3" name="hook-label">
            <a:extLst xmlns:a="http://schemas.openxmlformats.org/drawingml/2006/main">
              <a:ext uri="{FF2B5EF4-FFF2-40B4-BE49-F238E27FC236}">
                <a16:creationId xmlns:a16="http://schemas.microsoft.com/office/drawing/2014/main" id="{3DC5DC14-6412-4023-B09D-54BDB4CB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565C0"/>
                </a:solidFill>
              </a:defRPr>
            </a:pPr>
            <a:r>
              <a:rPr sz="1425" b="1">
                <a:solidFill>
                  <a:srgbClr val="1565C0"/>
                </a:solidFill>
              </a:rPr>
              <a:t>A pergunta que guia a aula</a:t>
            </a:r>
          </a:p>
        </p:txBody>
      </p:sp>
      <p:sp>
        <p:nvSpPr>
          <p:cNvPr id="4" name="diagram-surface">
            <a:extLst xmlns:a="http://schemas.openxmlformats.org/drawingml/2006/main">
              <a:ext uri="{FF2B5EF4-FFF2-40B4-BE49-F238E27FC236}">
                <a16:creationId xmlns:a16="http://schemas.microsoft.com/office/drawing/2014/main" id="{0E1E331D-3B18-4BC9-8EFE-0D85D698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7EA"/>
            </a:solidFill>
            <a:prstDash val="solid"/>
          </a:ln>
        </p:spPr>
      </p:sp>
      <p:pic>
        <p:nvPicPr>
          <p:cNvPr id="19" name="" descr="Diagrama didático autoral que apresenta: not_null pode passar enquanto um prazo devolve menos cinco dias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df1739aee48c8"/>
          <a:stretch xmlns:a="http://schemas.openxmlformats.org/drawingml/2006/main"/>
        </p:blipFill>
        <p:spPr>
          <a:xfrm xmlns:a="http://schemas.openxmlformats.org/drawingml/2006/main">
            <a:off x="1813880" y="3790950"/>
            <a:ext cx="8564241" cy="1562100"/>
          </a:xfrm>
          <a:prstGeom xmlns:a="http://schemas.openxmlformats.org/drawingml/2006/main" prst="rect">
            <a:avLst/>
          </a:prstGeom>
        </p:spPr>
      </p:pic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949629F1-588E-4D9B-A370-D8AF6B3A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6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9A3379AA-D476-4AB0-8FD3-7D245FE3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2" name="" descr="Diagrama didático autoral que apresenta: not_null pode passar enquanto um prazo devolve menos cinco dias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16195c9684afa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CE3E7EC-7BA1-48A5-B1E5-A7F7347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23A97163-D676-4C2B-AFF2-E401B59C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021A2F-38E3-48BB-90F1-22F81CCE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2/21</a:t>
            </a:r>
          </a:p>
        </p:txBody>
      </p:sp>
    </p:spTree>
    <p:extLst>
      <p:ext uri="{BB962C8B-B14F-4D97-AF65-F5344CB8AC3E}">
        <p14:creationId xmlns:p14="http://schemas.microsoft.com/office/powerpoint/2010/main" val="142581688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C17299-BAAD-4BFF-AE35-882723E4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Ao final, você consegue...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BD0F3FEB-EAF2-40CA-889B-61F88476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7446CA64-A9E9-42D8-970B-61F7236C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Separar cinco mecanismos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70B1D386-936F-4986-AFDF-7E3426C9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FF4FD52F-6B58-4D2A-8149-CA8EBFBB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3BA415B0-CC10-4AAC-9AD2-6770790A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Isolar uma regra funcional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9FD484F0-9D66-4146-8737-A66CEF82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E642D65D-26E2-4FD6-9BF6-F16CB029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2661DBFF-4466-40EF-8A5C-D2CE5336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Testar freshness sem depender da data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6D2ECC2C-BAF3-48BE-9959-E69B232F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6  •  OPEN / CORE 1.12</a:t>
            </a:r>
          </a:p>
        </p:txBody>
      </p:sp>
      <p:sp>
        <p:nvSpPr>
          <p:cNvPr id="11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14D4D4F8-8D46-4E24-896A-77E99558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9" name="" descr="Figura oficial da documentação dbt usada para explicar: Ao final, você consegue... — 01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5be2bef1f4c85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E5E96CB-A6EE-42C4-8A11-5070CCB0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779AFAE1-4060-48F0-A97C-A340FCDF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CC0C71-992B-4128-A97D-63E69C24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3/21</a:t>
            </a:r>
          </a:p>
        </p:txBody>
      </p:sp>
    </p:spTree>
    <p:extLst>
      <p:ext uri="{BB962C8B-B14F-4D97-AF65-F5344CB8AC3E}">
        <p14:creationId xmlns:p14="http://schemas.microsoft.com/office/powerpoint/2010/main" val="20235642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DA0E5F-DBCF-47E6-947F-5A53AB80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Cinco perguntas, cinco mecanismos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8DD91A-6EDC-42F3-88F6-F094D89D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Unit, contrato, data test, freshness e observabilidade cobrem riscos distintos.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B6C7CC51-F768-4519-85C2-11FD8DC0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Lógica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Estrutura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População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Atraso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Comportamento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16B744EA-F8B8-4A4A-BEC7-0E1F929E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0868BE16-5E9D-4384-930C-51F74F4D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CF2EDC46-8C7F-41A6-8F12-33449D48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024794D4-2CD1-4716-A704-4044AE97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6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826FCC58-7C01-4C44-8112-625CF0C5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Cinco perguntas, cinco mecanismos — Unit, contrato, data test, freshness e observabilidade cobrem riscos distintos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f29140c8c41b4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1637A8E-4ED3-4DC8-A65F-FB47DBAF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56E49F3E-EC5E-4CBE-BA86-B82C5DC8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8D77AA5-AAB6-4E13-A00A-717DD3B1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4/21</a:t>
            </a:r>
          </a:p>
        </p:txBody>
      </p:sp>
    </p:spTree>
    <p:extLst>
      <p:ext uri="{BB962C8B-B14F-4D97-AF65-F5344CB8AC3E}">
        <p14:creationId xmlns:p14="http://schemas.microsoft.com/office/powerpoint/2010/main" val="1378559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87EB90-A972-47BC-80F0-C9ED2FF9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Cinco perguntas, cinco mecanismos</a:t>
            </a:r>
          </a:p>
        </p:txBody>
      </p:sp>
      <p:sp>
        <p:nvSpPr>
          <p:cNvPr id="2" name="layer-1">
            <a:extLst xmlns:a="http://schemas.openxmlformats.org/drawingml/2006/main">
              <a:ext uri="{FF2B5EF4-FFF2-40B4-BE49-F238E27FC236}">
                <a16:creationId xmlns:a16="http://schemas.microsoft.com/office/drawing/2014/main" id="{1D03AE94-05CC-47BD-8A77-203CEA5E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Contrato</a:t>
            </a:r>
          </a:p>
        </p:txBody>
      </p:sp>
      <p:sp>
        <p:nvSpPr>
          <p:cNvPr id="3" name="layer-2">
            <a:extLst xmlns:a="http://schemas.openxmlformats.org/drawingml/2006/main">
              <a:ext uri="{FF2B5EF4-FFF2-40B4-BE49-F238E27FC236}">
                <a16:creationId xmlns:a16="http://schemas.microsoft.com/office/drawing/2014/main" id="{18BCF876-1191-4F1E-BDB9-A127980C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4162425"/>
            <a:ext cx="7572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9E8FA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Unit</a:t>
            </a:r>
          </a:p>
        </p:txBody>
      </p:sp>
      <p:sp>
        <p:nvSpPr>
          <p:cNvPr id="4" name="layer-3">
            <a:extLst xmlns:a="http://schemas.openxmlformats.org/drawingml/2006/main">
              <a:ext uri="{FF2B5EF4-FFF2-40B4-BE49-F238E27FC236}">
                <a16:creationId xmlns:a16="http://schemas.microsoft.com/office/drawing/2014/main" id="{ABAB07EC-92C5-481E-BE11-72F1D7AC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14725"/>
            <a:ext cx="6572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Data</a:t>
            </a:r>
          </a:p>
        </p:txBody>
      </p:sp>
      <p:sp>
        <p:nvSpPr>
          <p:cNvPr id="5" name="layer-4">
            <a:extLst xmlns:a="http://schemas.openxmlformats.org/drawingml/2006/main">
              <a:ext uri="{FF2B5EF4-FFF2-40B4-BE49-F238E27FC236}">
                <a16:creationId xmlns:a16="http://schemas.microsoft.com/office/drawing/2014/main" id="{0891A062-0E09-4BDE-9966-BF017B1E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38" y="2867025"/>
            <a:ext cx="5572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9E8FA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Freshness</a:t>
            </a:r>
          </a:p>
        </p:txBody>
      </p:sp>
      <p:sp>
        <p:nvSpPr>
          <p:cNvPr id="6" name="layer-5">
            <a:extLst xmlns:a="http://schemas.openxmlformats.org/drawingml/2006/main">
              <a:ext uri="{FF2B5EF4-FFF2-40B4-BE49-F238E27FC236}">
                <a16:creationId xmlns:a16="http://schemas.microsoft.com/office/drawing/2014/main" id="{0F8EE153-B550-44F1-81BD-AC2F663A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19325"/>
            <a:ext cx="457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SLO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CE174200-8FFC-4A50-8E13-F8602544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6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B35DB9FF-4B04-410A-9FD9-B949D2E2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Cinco perguntas, cinco mecanismos — Contrat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7b5da061a40d8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5AFFCE3-09DB-4DA6-A762-62617E3F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B29D418-A3D6-4310-B539-C5C0BCD8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628FE3-914A-48E2-85C5-05A92966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5/21</a:t>
            </a:r>
          </a:p>
        </p:txBody>
      </p:sp>
    </p:spTree>
    <p:extLst>
      <p:ext uri="{BB962C8B-B14F-4D97-AF65-F5344CB8AC3E}">
        <p14:creationId xmlns:p14="http://schemas.microsoft.com/office/powerpoint/2010/main" val="15830361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755E67-7973-4F96-9482-FECFB86E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Unit test captura o bug conhecido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3D0B15A-E899-4B7C-B27A-F5B1674C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Compra em 1º e entrega em 5 de janeiro devem produzir quatro dias positivos.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C114302D-ADB3-43BC-BF26-486EB65B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Entrada mínima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Saída esperada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Regressão determinística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414F9EC2-6A2E-4ECC-8EBF-8C16B01F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09E2BD63-6A13-456C-9F4D-DF548E2A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413A2735-DF83-468A-A336-4C4F0B25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F595AE35-D774-4C1E-94C8-2A531BD3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6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2877BE41-8907-420D-8C99-69362411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Unit test captura o bug conhecido — Compra em 1º e entrega em 5 de janeiro devem produzir quatro dias positivos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23e91113541d6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337785B-909F-4950-8C79-5B887AD6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32A34E0-E47B-4BDC-9ED0-8314ABD5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62F3A44-0ECC-46F9-971A-484F7C56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6/21</a:t>
            </a:r>
          </a:p>
        </p:txBody>
      </p:sp>
    </p:spTree>
    <p:extLst>
      <p:ext uri="{BB962C8B-B14F-4D97-AF65-F5344CB8AC3E}">
        <p14:creationId xmlns:p14="http://schemas.microsoft.com/office/powerpoint/2010/main" val="145733385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4F8B24-CB10-4579-B736-2EDF50AE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Unit test captura o bug conhecido</a:t>
            </a:r>
          </a:p>
        </p:txBody>
      </p:sp>
      <p:sp>
        <p:nvSpPr>
          <p:cNvPr id="2" name="compare-left-title">
            <a:extLst xmlns:a="http://schemas.openxmlformats.org/drawingml/2006/main">
              <a:ext uri="{FF2B5EF4-FFF2-40B4-BE49-F238E27FC236}">
                <a16:creationId xmlns:a16="http://schemas.microsoft.com/office/drawing/2014/main" id="{BAA6335E-57E8-4138-9783-3386C12E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EC5FF"/>
                </a:solidFill>
              </a:defRPr>
            </a:pPr>
            <a:r>
              <a:rPr sz="2100" b="1">
                <a:solidFill>
                  <a:srgbClr val="1EC5FF"/>
                </a:solidFill>
              </a:rPr>
              <a:t>Fixture</a:t>
            </a:r>
          </a:p>
        </p:txBody>
      </p:sp>
      <p:sp>
        <p:nvSpPr>
          <p:cNvPr id="3" name="compare-right-title">
            <a:extLst xmlns:a="http://schemas.openxmlformats.org/drawingml/2006/main">
              <a:ext uri="{FF2B5EF4-FFF2-40B4-BE49-F238E27FC236}">
                <a16:creationId xmlns:a16="http://schemas.microsoft.com/office/drawing/2014/main" id="{8DC0CB59-08BD-496D-9934-3C613068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DBE8C"/>
                </a:solidFill>
              </a:defRPr>
            </a:pPr>
            <a:r>
              <a:rPr sz="2100" b="1">
                <a:solidFill>
                  <a:srgbClr val="2DBE8C"/>
                </a:solidFill>
              </a:rPr>
              <a:t>4 dias</a:t>
            </a:r>
          </a:p>
        </p:txBody>
      </p:sp>
      <p:sp>
        <p:nvSpPr>
          <p:cNvPr id="4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CAEE2380-698F-4F28-84A1-446474B5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FC9117A9-271C-404E-A256-214C0106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• Entrada mínima</a:t>
            </a:r>
          </a:p>
          <a:p xmlns:a="http://schemas.openxmlformats.org/drawingml/2006/main">
            <a:pPr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• Saída esperada</a:t>
            </a:r>
          </a:p>
        </p:txBody>
      </p:sp>
      <p:sp>
        <p:nvSpPr>
          <p:cNvPr id="6" name="bullets">
            <a:extLst xmlns:a="http://schemas.openxmlformats.org/drawingml/2006/main">
              <a:ext uri="{FF2B5EF4-FFF2-40B4-BE49-F238E27FC236}">
                <a16:creationId xmlns:a16="http://schemas.microsoft.com/office/drawing/2014/main" id="{F1F488F8-186E-4549-AA9B-57F22D71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• Regressão determinística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C8464D75-49C5-4649-9113-E09D0AFD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6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3753C85C-3DE5-4AC1-85E1-DDD14FB5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Unit test captura o bug conhecido — Fixtur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da2a7687c452a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DD14AE9-B592-47BC-874F-DD4F0965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50E49B5A-A373-47B2-B61D-7CA47185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607C78-FE6D-4B56-AAF8-6EB67183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7/21</a:t>
            </a:r>
          </a:p>
        </p:txBody>
      </p:sp>
    </p:spTree>
    <p:extLst>
      <p:ext uri="{BB962C8B-B14F-4D97-AF65-F5344CB8AC3E}">
        <p14:creationId xmlns:p14="http://schemas.microsoft.com/office/powerpoint/2010/main" val="425695903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2CB669-9B70-486B-A43C-E48582BA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O exemplo oficial mostra execução isolada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B30F1F4-E760-4B5F-869C-E04D5D9F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Unit tests validam lógica SQL antes de materializar toda a população.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113E9A77-F786-472E-AC9D-F8CB25FC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Inputs estáticos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Modelo selecionado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Falha localizada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7E7DD81B-2102-4C03-BE76-1BF6CFCA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5EAADD6D-ED28-41A7-BB8F-5F2D404C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907E7ED2-38A3-4AA9-9173-83F6BCF5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262E1E52-30EF-49DD-8D87-3D3E0D66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6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BA50B74F-B917-45B6-B2DA-BE8C5A4A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O exemplo oficial mostra execução isolada — Unit tests validam lógica SQL antes de materializar toda a população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3659a27064fbf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08097BD-EF35-4541-9E71-C204F226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24230654-237D-4D37-8038-07BF62A1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9561C18-6A20-4CE4-946D-1FE2A08E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8/21</a:t>
            </a:r>
          </a:p>
        </p:txBody>
      </p:sp>
    </p:spTree>
    <p:extLst>
      <p:ext uri="{BB962C8B-B14F-4D97-AF65-F5344CB8AC3E}">
        <p14:creationId xmlns:p14="http://schemas.microsoft.com/office/powerpoint/2010/main" val="6527135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A750DF-66F1-4739-8805-558CE556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exemplo oficial mostra execução isolada</a:t>
            </a:r>
          </a:p>
        </p:txBody>
      </p:sp>
      <p:sp>
        <p:nvSpPr>
          <p:cNvPr id="2" name="visual-claim">
            <a:extLst xmlns:a="http://schemas.openxmlformats.org/drawingml/2006/main">
              <a:ext uri="{FF2B5EF4-FFF2-40B4-BE49-F238E27FC236}">
                <a16:creationId xmlns:a16="http://schemas.microsoft.com/office/drawing/2014/main" id="{B89DC1EC-473E-438E-808B-8AEFABD9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Unit tests validam lógica SQL antes de materializar toda a população.</a:t>
            </a:r>
          </a:p>
        </p:txBody>
      </p:sp>
      <p:sp>
        <p:nvSpPr>
          <p:cNvPr id="3" name="image-surface">
            <a:extLst xmlns:a="http://schemas.openxmlformats.org/drawingml/2006/main">
              <a:ext uri="{FF2B5EF4-FFF2-40B4-BE49-F238E27FC236}">
                <a16:creationId xmlns:a16="http://schemas.microsoft.com/office/drawing/2014/main" id="{9C6FDFAE-2128-48E0-A25E-615653BC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00200"/>
            <a:ext cx="6362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7EA"/>
            </a:solidFill>
            <a:prstDash val="solid"/>
          </a:ln>
        </p:spPr>
      </p:sp>
      <p:pic>
        <p:nvPicPr>
          <p:cNvPr id="18" name="" descr="Figura oficial da documentação dbt usada para explicar: O exemplo oficial mostra execução isolada — Unit tests validam lógica SQL antes de materializar toda a população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4c851340d4ab4"/>
          <a:stretch xmlns:a="http://schemas.openxmlformats.org/drawingml/2006/main"/>
        </p:blipFill>
        <p:spPr>
          <a:xfrm xmlns:a="http://schemas.openxmlformats.org/drawingml/2006/main">
            <a:off x="5429250" y="2505561"/>
            <a:ext cx="5791200" cy="1942128"/>
          </a:xfrm>
          <a:prstGeom xmlns:a="http://schemas.openxmlformats.org/drawingml/2006/main" prst="rect">
            <a:avLst/>
          </a:prstGeom>
        </p:spPr>
      </p:pic>
      <p:sp>
        <p:nvSpPr>
          <p:cNvPr id="5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2A9105E6-FD56-4773-B8D2-D88D0A7B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i="1">
                <a:solidFill>
                  <a:srgbClr val="5C6F86"/>
                </a:solidFill>
              </a:defRPr>
            </a:pPr>
            <a:r>
              <a:rPr sz="900" i="1">
                <a:solidFill>
                  <a:srgbClr val="5C6F86"/>
                </a:solidFill>
              </a:rPr>
              <a:t>Exemplo oficial dbt Labs — Apache 2.0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0CE57CA2-AA44-4035-8E50-A1565C0D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6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9C2C767B-A4A7-4074-AFE7-601AB933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2" name="" descr="Figura oficial da documentação dbt usada para explicar: O exemplo oficial mostra execução isolada — Unit tests validam lógica SQL antes de materializar toda a população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6a1a3cefa4665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4DBA8E-06D2-4877-87BA-5F6049E9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FF8D1A13-1A2D-4DA1-A103-A059722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A97141B-FA35-476A-A4E8-A1AB42D2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9/21</a:t>
            </a:r>
          </a:p>
        </p:txBody>
      </p:sp>
    </p:spTree>
    <p:extLst>
      <p:ext uri="{BB962C8B-B14F-4D97-AF65-F5344CB8AC3E}">
        <p14:creationId xmlns:p14="http://schemas.microsoft.com/office/powerpoint/2010/main" val="7360049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90258D-A1D9-442C-8B28-94349999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Data tests procuram violações reais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B23C578-871D-4A57-89B2-395560C6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A população materializada pode falhar mesmo quando o exemplo unitário passa.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1A98FDC2-386F-48C8-A0ED-161F6448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unique e not_null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accepted_values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Regra delivered_revenue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229DD835-7783-4073-AAFC-BADC7FAE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D30E7B49-5168-4D0E-82A5-4B4A5A78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852754F0-B59C-42D1-AAB3-E5A1A270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04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6F1B1D34-6A67-45C1-9366-682F6FE5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6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A47598F4-D5DA-4B94-A410-6B34BA8E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Data tests procuram violações reais — A população materializada pode falhar mesmo quando o exemplo unitário passa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3a654ac4f4f9c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DB5F030-C68E-4B89-B7DC-13E4CAFE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78E79234-0B1C-4DE5-83BE-B0C3A036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E149749-F7ED-4DF9-B158-3C6E7483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10/21</a:t>
            </a:r>
          </a:p>
        </p:txBody>
      </p:sp>
    </p:spTree>
    <p:extLst>
      <p:ext uri="{BB962C8B-B14F-4D97-AF65-F5344CB8AC3E}">
        <p14:creationId xmlns:p14="http://schemas.microsoft.com/office/powerpoint/2010/main" val="1094319511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59AD93-A910-43B4-95EA-674B0714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Data tests procuram violações reais</a:t>
            </a:r>
          </a:p>
        </p:txBody>
      </p:sp>
      <p:sp>
        <p:nvSpPr>
          <p:cNvPr id="2" name="flow-1">
            <a:extLst xmlns:a="http://schemas.openxmlformats.org/drawingml/2006/main">
              <a:ext uri="{FF2B5EF4-FFF2-40B4-BE49-F238E27FC236}">
                <a16:creationId xmlns:a16="http://schemas.microsoft.com/office/drawing/2014/main" id="{38F6CBAC-63C4-4981-8649-01E71587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3" name="flow-2">
            <a:extLst xmlns:a="http://schemas.openxmlformats.org/drawingml/2006/main">
              <a:ext uri="{FF2B5EF4-FFF2-40B4-BE49-F238E27FC236}">
                <a16:creationId xmlns:a16="http://schemas.microsoft.com/office/drawing/2014/main" id="{E8B36028-7946-4FD2-B0E4-CA34906B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População</a:t>
            </a:r>
          </a:p>
        </p:txBody>
      </p:sp>
      <p:sp>
        <p:nvSpPr>
          <p:cNvPr id="4" name="flow-3">
            <a:extLst xmlns:a="http://schemas.openxmlformats.org/drawingml/2006/main">
              <a:ext uri="{FF2B5EF4-FFF2-40B4-BE49-F238E27FC236}">
                <a16:creationId xmlns:a16="http://schemas.microsoft.com/office/drawing/2014/main" id="{19993B03-A4C5-4752-88A0-A7231D7E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Teste</a:t>
            </a:r>
          </a:p>
        </p:txBody>
      </p:sp>
      <p:sp>
        <p:nvSpPr>
          <p:cNvPr id="5" name="flow-4">
            <a:extLst xmlns:a="http://schemas.openxmlformats.org/drawingml/2006/main">
              <a:ext uri="{FF2B5EF4-FFF2-40B4-BE49-F238E27FC236}">
                <a16:creationId xmlns:a16="http://schemas.microsoft.com/office/drawing/2014/main" id="{C4B49EE2-C744-4B22-A976-2E495EE5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Falha</a:t>
            </a:r>
          </a:p>
        </p:txBody>
      </p:sp>
      <p:cxnSp>
        <p:nvCxnSpPr>
          <p:cNvPr id="29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252788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962651" y="3962400"/>
            <a:ext cx="26669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672513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75A2AFD6-5038-4D98-B1DF-DB153F43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6  •  OPEN / CORE 1.12</a:t>
            </a:r>
          </a:p>
        </p:txBody>
      </p:sp>
      <p:sp>
        <p:nvSpPr>
          <p:cNvPr id="10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021EEA3B-AC9C-447A-BA34-F7073D70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34" name="" descr="Figura oficial da documentação dbt usada para explicar: Data tests procuram violações reais — Build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629280b554b4c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CA88EC0-5D96-420B-BBCF-C52B80A8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CCDA2FE-8BD2-4A31-AA0D-F4D6786B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ECAA9D-D104-471C-BBC4-A6CB0A14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11/21</a:t>
            </a:r>
          </a:p>
        </p:txBody>
      </p:sp>
    </p:spTree>
    <p:extLst>
      <p:ext uri="{BB962C8B-B14F-4D97-AF65-F5344CB8AC3E}">
        <p14:creationId xmlns:p14="http://schemas.microsoft.com/office/powerpoint/2010/main" val="483751660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91BF8A-09DD-49B4-AAF0-61F4865C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Freshness responde se a fonte chegou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10F44A-6D96-43A8-AF4D-22711BFE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Uma fixture recente passa; a mesma carga envelhecida deve falhar.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34363C07-E3A5-4350-B03D-76D0F5B6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loaded_at_field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SLA explícito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Teste positivo e negativo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BEB534CC-B233-4CAD-BA6C-EABBAEED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39E8A4F0-2E77-431C-B557-A8D8993B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F002198B-1D7E-450E-8C6C-B39A8EFC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05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542A0851-E194-4D42-9EA2-6D65DADC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6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832D6A04-EF04-455C-9EBB-1A900C82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Freshness responde se a fonte chegou — Uma fixture recente passa; a mesma carga envelhecida deve falhar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0befcd4684669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96B44EF-3A50-49BF-8786-88879068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A988FD4-DB71-44E7-B85E-E3628B46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29FD56-E018-4974-BC10-7D1DBB2C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12/21</a:t>
            </a:r>
          </a:p>
        </p:txBody>
      </p:sp>
    </p:spTree>
    <p:extLst>
      <p:ext uri="{BB962C8B-B14F-4D97-AF65-F5344CB8AC3E}">
        <p14:creationId xmlns:p14="http://schemas.microsoft.com/office/powerpoint/2010/main" val="17786269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C20660-0547-4947-9BF2-DB89AFB1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Freshness responde se a fonte chegou</a:t>
            </a:r>
          </a:p>
        </p:txBody>
      </p:sp>
      <p:sp>
        <p:nvSpPr>
          <p:cNvPr id="2" name="status-dot-1">
            <a:extLst xmlns:a="http://schemas.openxmlformats.org/drawingml/2006/main">
              <a:ext uri="{FF2B5EF4-FFF2-40B4-BE49-F238E27FC236}">
                <a16:creationId xmlns:a16="http://schemas.microsoft.com/office/drawing/2014/main" id="{30A00A5D-B6C4-4F99-967E-87B52D0D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BE8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status-label-1">
            <a:extLst xmlns:a="http://schemas.openxmlformats.org/drawingml/2006/main">
              <a:ext uri="{FF2B5EF4-FFF2-40B4-BE49-F238E27FC236}">
                <a16:creationId xmlns:a16="http://schemas.microsoft.com/office/drawing/2014/main" id="{39FF7320-2DB2-4D3F-A00F-E8071272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Recente</a:t>
            </a:r>
          </a:p>
        </p:txBody>
      </p:sp>
      <p:sp>
        <p:nvSpPr>
          <p:cNvPr id="4" name="status-dot-2">
            <a:extLst xmlns:a="http://schemas.openxmlformats.org/drawingml/2006/main">
              <a:ext uri="{FF2B5EF4-FFF2-40B4-BE49-F238E27FC236}">
                <a16:creationId xmlns:a16="http://schemas.microsoft.com/office/drawing/2014/main" id="{E70E750A-14DC-473F-BB6F-93E12AC1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status-label-2">
            <a:extLst xmlns:a="http://schemas.openxmlformats.org/drawingml/2006/main">
              <a:ext uri="{FF2B5EF4-FFF2-40B4-BE49-F238E27FC236}">
                <a16:creationId xmlns:a16="http://schemas.microsoft.com/office/drawing/2014/main" id="{257FE510-6D6D-42B3-B8F2-CF06093F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Warning</a:t>
            </a:r>
          </a:p>
        </p:txBody>
      </p:sp>
      <p:sp>
        <p:nvSpPr>
          <p:cNvPr id="6" name="status-dot-3">
            <a:extLst xmlns:a="http://schemas.openxmlformats.org/drawingml/2006/main">
              <a:ext uri="{FF2B5EF4-FFF2-40B4-BE49-F238E27FC236}">
                <a16:creationId xmlns:a16="http://schemas.microsoft.com/office/drawing/2014/main" id="{163BCBA6-57F3-497F-B786-CE600EA0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B5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status-label-3">
            <a:extLst xmlns:a="http://schemas.openxmlformats.org/drawingml/2006/main">
              <a:ext uri="{FF2B5EF4-FFF2-40B4-BE49-F238E27FC236}">
                <a16:creationId xmlns:a16="http://schemas.microsoft.com/office/drawing/2014/main" id="{393B3604-29B5-4AB7-A56A-2EBABDF5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Error</a:t>
            </a:r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AF1C0007-D93D-4B87-90A7-9084491B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6  •  OPEN / CORE 1.12</a:t>
            </a:r>
          </a:p>
        </p:txBody>
      </p:sp>
      <p:sp>
        <p:nvSpPr>
          <p:cNvPr id="9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84B2321F-4AEB-4153-B5C6-9975E507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5" name="" descr="Figura oficial da documentação dbt usada para explicar: Freshness responde se a fonte chegou — Recent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71ac9b0cc4670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DE0855F-DBFE-4CE3-B240-EFB95FA1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828A6117-3E18-4E3A-A9ED-27414866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99A4D8-09DB-41F6-AB42-4ED9ED7F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13/21</a:t>
            </a:r>
          </a:p>
        </p:txBody>
      </p:sp>
    </p:spTree>
    <p:extLst>
      <p:ext uri="{BB962C8B-B14F-4D97-AF65-F5344CB8AC3E}">
        <p14:creationId xmlns:p14="http://schemas.microsoft.com/office/powerpoint/2010/main" val="996030362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015833-43FC-4179-8DDB-2ECD1336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Demonstração — execute</a:t>
            </a:r>
          </a:p>
        </p:txBody>
      </p:sp>
      <p:sp>
        <p:nvSpPr>
          <p:cNvPr id="2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5EBA3901-201E-473F-8269-6D253D8F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971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31021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</p:sp>
      <p:sp>
        <p:nvSpPr>
          <p:cNvPr id="3" name="command">
            <a:extLst xmlns:a="http://schemas.openxmlformats.org/drawingml/2006/main">
              <a:ext uri="{FF2B5EF4-FFF2-40B4-BE49-F238E27FC236}">
                <a16:creationId xmlns:a16="http://schemas.microsoft.com/office/drawing/2014/main" id="{B0CB6216-1679-4520-BE27-525F9E2E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0375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EC5FF"/>
                </a:solidFill>
              </a:defRPr>
            </a:pPr>
            <a:r>
              <a:rPr sz="1875" b="1">
                <a:solidFill>
                  <a:srgbClr val="1EC5FF"/>
                </a:solidFill>
              </a:rPr>
              <a:t>python course.py checkpoint 06</a:t>
            </a:r>
          </a:p>
        </p:txBody>
      </p:sp>
      <p:sp>
        <p:nvSpPr>
          <p:cNvPr id="4" name="command-help">
            <a:extLst xmlns:a="http://schemas.openxmlformats.org/drawingml/2006/main">
              <a:ext uri="{FF2B5EF4-FFF2-40B4-BE49-F238E27FC236}">
                <a16:creationId xmlns:a16="http://schemas.microsoft.com/office/drawing/2014/main" id="{55C5EC51-68D1-4C4A-AF99-FE752E94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9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E2F2FF"/>
                </a:solidFill>
              </a:defRPr>
            </a:pPr>
            <a:r>
              <a:rPr sz="1425">
                <a:solidFill>
                  <a:srgbClr val="E2F2FF"/>
                </a:solidFill>
              </a:rPr>
              <a:t>Copie exatamente como aparece. O launcher escolhe o ambiente correto.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A2D3619A-3807-4D9D-B7B2-C1464A62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6  •  OPEN / CORE 1.12</a:t>
            </a:r>
          </a:p>
        </p:txBody>
      </p:sp>
      <p:sp>
        <p:nvSpPr>
          <p:cNvPr id="6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0E647982-3D1A-4308-A879-5405E4D1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9" name="" descr="Figura oficial da documentação dbt usada para explicar: Demonstração — execute — python course.py checkpoint 06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4e842853245a8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68283D6-2344-4BCE-9C31-32CBE31D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700CA65-77B6-4551-92CA-DF29DB9A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45E621-7E21-4C26-994E-3BA0D75F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14/21</a:t>
            </a:r>
          </a:p>
        </p:txBody>
      </p:sp>
    </p:spTree>
    <p:extLst>
      <p:ext uri="{BB962C8B-B14F-4D97-AF65-F5344CB8AC3E}">
        <p14:creationId xmlns:p14="http://schemas.microsoft.com/office/powerpoint/2010/main" val="15212549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F584E3-A182-4E16-B9E3-8AA393B3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Demonstração — observe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56C6B02D-0578-4A2E-955E-06940386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C887E4B2-28CE-4160-868D-6ECD5877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Unit test do intervalo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7D960A44-4352-417D-85C7-DC3AE9C9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75534446-BD2B-4411-9CC0-1E331732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DE0BB587-796D-4748-98F0-9F98C3C6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25 data tests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FAA76CB0-E4A9-4F42-B8EC-42380F71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7BAEB24F-2F49-4EEF-BAC0-A63B3261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59C409B8-F939-43C1-B258-1425AF83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Freshness recente e envelhecida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CD4D2D9-4297-400B-AB65-317CA65D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6  •  OPEN / CORE 1.12</a:t>
            </a:r>
          </a:p>
        </p:txBody>
      </p:sp>
      <p:sp>
        <p:nvSpPr>
          <p:cNvPr id="11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07C4ADB2-1182-485F-9F47-2832D90A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9" name="" descr="Figura oficial da documentação dbt usada para explicar: Demonstração — observe — 01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8defd64884477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3A978B6-522C-4DF1-A2C6-48549C9C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04675701-5589-4054-AF03-988B0E11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5128EA-CC87-489A-AB1C-B19C028C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15/21</a:t>
            </a:r>
          </a:p>
        </p:txBody>
      </p:sp>
    </p:spTree>
    <p:extLst>
      <p:ext uri="{BB962C8B-B14F-4D97-AF65-F5344CB8AC3E}">
        <p14:creationId xmlns:p14="http://schemas.microsoft.com/office/powerpoint/2010/main" val="125201100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68E2EFE0-B47B-4EFF-9F5B-0BA1D1B7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RESULTADO ESPERADO</a:t>
            </a:r>
          </a:p>
        </p:txBody>
      </p:sp>
      <p:sp>
        <p:nvSpPr>
          <p:cNvPr id="2" name="result">
            <a:extLst xmlns:a="http://schemas.openxmlformats.org/drawingml/2006/main">
              <a:ext uri="{FF2B5EF4-FFF2-40B4-BE49-F238E27FC236}">
                <a16:creationId xmlns:a16="http://schemas.microsoft.com/office/drawing/2014/main" id="{F69774BC-8D57-4D5C-9C48-4735A511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45 PASS · 1 NO-OP · 0 erros</a:t>
            </a:r>
          </a:p>
        </p:txBody>
      </p:sp>
      <p:sp>
        <p:nvSpPr>
          <p:cNvPr id="3" name="result-meta">
            <a:extLst xmlns:a="http://schemas.openxmlformats.org/drawingml/2006/main">
              <a:ext uri="{FF2B5EF4-FFF2-40B4-BE49-F238E27FC236}">
                <a16:creationId xmlns:a16="http://schemas.microsoft.com/office/drawing/2014/main" id="{B85AB5D3-2CDE-4AD2-B8FC-0F4C5E57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Checkpoint 06 • evidência reproduzível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C39A113A-F71F-4B20-BC38-831515CF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6A3B89BC-B059-4BBD-A915-2BEF5FA9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B5602BD-F6C7-42FD-B776-5BB9AAC3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6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DDBD9CE7-5862-416E-8D52-F72302E0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1" name="" descr="Figura oficial da documentação dbt usada para explicar: RESULTADO ESPERADO — 45 PASS · 1 NO-OP · 0 err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d2176919e4369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4BF1E03-7634-4208-9143-7173DEBE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FDC910DB-CEDA-4721-A126-422E1617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19C9E14-475C-4F66-920C-549DC632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16/21</a:t>
            </a:r>
          </a:p>
        </p:txBody>
      </p:sp>
    </p:spTree>
    <p:extLst>
      <p:ext uri="{BB962C8B-B14F-4D97-AF65-F5344CB8AC3E}">
        <p14:creationId xmlns:p14="http://schemas.microsoft.com/office/powerpoint/2010/main" val="14448980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2C6A07-9649-4B06-9714-49BB5CF5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mesmo recurso afeta três decisões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40E4FE38-E058-4A37-98E3-2E198CFD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7A6B2759-FF0A-4175-A9FF-859189E5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Governança: risco e owner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9C13DAC5-9EA3-4BFD-BC88-AEEB5C5E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ACA17E39-E8D2-4162-8D85-9721E41A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1BE9700C-E15F-4090-97E2-3714444A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FinOps: controle na etapa barata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BA9DF986-0637-4D61-8779-10FE480D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6A8FDD6E-FEED-438C-A1A0-EB74B621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B8A3498C-22AF-497E-B2EB-84BF25D5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IA: interfaces testadas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93F43F9-AFA9-49DC-8BAD-48BC5AD5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6  •  OPEN / CORE 1.12</a:t>
            </a:r>
          </a:p>
        </p:txBody>
      </p:sp>
      <p:sp>
        <p:nvSpPr>
          <p:cNvPr id="11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D57C05C6-5A20-4CDE-8C6D-3948576E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9" name="" descr="Figura oficial da documentação dbt usada para explicar: O mesmo recurso afeta três decisões — 01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c12f9020f409b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695F15C-1D4D-4566-A24D-A34BF163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D76D2A1B-7047-4266-81E6-70964F8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474B2B-92E7-4B6E-83FA-59111230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17/21</a:t>
            </a:r>
          </a:p>
        </p:txBody>
      </p:sp>
    </p:spTree>
    <p:extLst>
      <p:ext uri="{BB962C8B-B14F-4D97-AF65-F5344CB8AC3E}">
        <p14:creationId xmlns:p14="http://schemas.microsoft.com/office/powerpoint/2010/main" val="149141939"/>
      </p:ext>
    </p:extLst>
  </p:cSld>
</p:sld>
</file>

<file path=ppt/slides/slide1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ase-number">
            <a:extLst xmlns:a="http://schemas.openxmlformats.org/drawingml/2006/main">
              <a:ext uri="{FF2B5EF4-FFF2-40B4-BE49-F238E27FC236}">
                <a16:creationId xmlns:a16="http://schemas.microsoft.com/office/drawing/2014/main" id="{BCD86A8C-D7A7-4464-98BF-F401C73F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 b="1">
                <a:solidFill>
                  <a:srgbClr val="1EC5FF"/>
                </a:solidFill>
              </a:defRPr>
            </a:pPr>
            <a:r>
              <a:rPr sz="5550" b="1">
                <a:solidFill>
                  <a:srgbClr val="1EC5FF"/>
                </a:solidFill>
              </a:rPr>
              <a:t>+4 dias</a:t>
            </a:r>
          </a:p>
        </p:txBody>
      </p:sp>
      <p:sp>
        <p:nvSpPr>
          <p:cNvPr id="2" name="case-label">
            <a:extLst xmlns:a="http://schemas.openxmlformats.org/drawingml/2006/main">
              <a:ext uri="{FF2B5EF4-FFF2-40B4-BE49-F238E27FC236}">
                <a16:creationId xmlns:a16="http://schemas.microsoft.com/office/drawing/2014/main" id="{9104B4ED-6EFD-4814-B7AE-16B62D99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resultado esperado do bug de data</a:t>
            </a:r>
          </a:p>
        </p:txBody>
      </p:sp>
      <p:sp>
        <p:nvSpPr>
          <p:cNvPr id="3" name="case-divider">
            <a:extLst xmlns:a="http://schemas.openxmlformats.org/drawingml/2006/main">
              <a:ext uri="{FF2B5EF4-FFF2-40B4-BE49-F238E27FC236}">
                <a16:creationId xmlns:a16="http://schemas.microsoft.com/office/drawing/2014/main" id="{BE7FC7AF-BD7C-42F6-A297-21746C83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4" name="case-caveat">
            <a:extLst xmlns:a="http://schemas.openxmlformats.org/drawingml/2006/main">
              <a:ext uri="{FF2B5EF4-FFF2-40B4-BE49-F238E27FC236}">
                <a16:creationId xmlns:a16="http://schemas.microsoft.com/office/drawing/2014/main" id="{23134B4C-43E1-4CAA-9B5D-510A7256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Mini-case reproduzido no laboratório.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58D08CF7-7A83-4445-AFF4-301487B2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6  •  OPEN / CORE 1.12</a:t>
            </a:r>
          </a:p>
        </p:txBody>
      </p:sp>
      <p:sp>
        <p:nvSpPr>
          <p:cNvPr id="6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F0697CE4-737D-450A-B337-BE3CCF60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9" name="" descr="Figura oficial da documentação dbt usada para explicar: +4 dias — resultado esperado do bug de dat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a294721774868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2A830A3-AB55-4B75-A4D4-11A2A8C0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F476A9B-B228-4053-882E-CEC114F4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99877C1-2C33-4FDE-BEB1-F2F43B40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18/21</a:t>
            </a:r>
          </a:p>
        </p:txBody>
      </p:sp>
    </p:spTree>
    <p:extLst>
      <p:ext uri="{BB962C8B-B14F-4D97-AF65-F5344CB8AC3E}">
        <p14:creationId xmlns:p14="http://schemas.microsoft.com/office/powerpoint/2010/main" val="11893430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35DAB9-E069-4564-A534-67133C53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Limitações que precisam permanecer visíveis</a:t>
            </a:r>
          </a:p>
        </p:txBody>
      </p:sp>
      <p:sp>
        <p:nvSpPr>
          <p:cNvPr id="2" name="bullets">
            <a:extLst xmlns:a="http://schemas.openxmlformats.org/drawingml/2006/main">
              <a:ext uri="{FF2B5EF4-FFF2-40B4-BE49-F238E27FC236}">
                <a16:creationId xmlns:a16="http://schemas.microsoft.com/office/drawing/2014/main" id="{E15F2345-11B0-4DDE-A2E1-819CDD09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Freshness não mede volume</a:t>
            </a:r>
          </a:p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Teste pesado pode custar</a:t>
            </a:r>
          </a:p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Alerta sem runbook vira ruído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BB2CE7D-53A5-4D18-ADE9-D1D0DFCD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6  •  OPEN / CORE 1.12</a:t>
            </a:r>
          </a:p>
        </p:txBody>
      </p:sp>
      <p:sp>
        <p:nvSpPr>
          <p:cNvPr id="4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575AE5DC-F108-4B8F-8BF4-82272811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5" name="" descr="Figura oficial da documentação dbt usada para explicar: Limitações que precisam permanecer visíveis — • Freshness não mede volum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279534a074bc4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B53F1D9-9788-47FC-835B-06D91360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1F387B1C-9FAE-4142-8251-DD2BC3BA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C0B08D-1C9E-41C2-815E-61083AD2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19/21</a:t>
            </a:r>
          </a:p>
        </p:txBody>
      </p:sp>
    </p:spTree>
    <p:extLst>
      <p:ext uri="{BB962C8B-B14F-4D97-AF65-F5344CB8AC3E}">
        <p14:creationId xmlns:p14="http://schemas.microsoft.com/office/powerpoint/2010/main" val="822184701"/>
      </p:ext>
    </p:extLst>
  </p:cSld>
</p:sld>
</file>

<file path=ppt/slides/slide2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adar-label">
            <a:extLst xmlns:a="http://schemas.openxmlformats.org/drawingml/2006/main">
              <a:ext uri="{FF2B5EF4-FFF2-40B4-BE49-F238E27FC236}">
                <a16:creationId xmlns:a16="http://schemas.microsoft.com/office/drawing/2014/main" id="{43CD00C5-076A-4A23-AFD0-FB5E17D1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C5FF"/>
                </a:solidFill>
              </a:defRPr>
            </a:pPr>
            <a:r>
              <a:rPr sz="1500" b="1">
                <a:solidFill>
                  <a:srgbClr val="1EC5FF"/>
                </a:solidFill>
              </a:rPr>
              <a:t>RADAR</a:t>
            </a:r>
          </a:p>
        </p:txBody>
      </p:sp>
      <p:sp>
        <p:nvSpPr>
          <p:cNvPr id="2" name="radar-text">
            <a:extLst xmlns:a="http://schemas.openxmlformats.org/drawingml/2006/main">
              <a:ext uri="{FF2B5EF4-FFF2-40B4-BE49-F238E27FC236}">
                <a16:creationId xmlns:a16="http://schemas.microsoft.com/office/drawing/2014/main" id="{185456CA-7DE3-4829-A8E1-57101769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Engines novas antecipam parse; não substituem testes, freshness ou SLO.</a:t>
            </a:r>
          </a:p>
        </p:txBody>
      </p:sp>
      <p:sp>
        <p:nvSpPr>
          <p:cNvPr id="3" name="radar-rule">
            <a:extLst xmlns:a="http://schemas.openxmlformats.org/drawingml/2006/main">
              <a:ext uri="{FF2B5EF4-FFF2-40B4-BE49-F238E27FC236}">
                <a16:creationId xmlns:a16="http://schemas.microsoft.com/office/drawing/2014/main" id="{15FCEF47-3C93-47F1-90CA-59F4657B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E2F2FF"/>
                </a:solidFill>
              </a:defRPr>
            </a:pPr>
            <a:r>
              <a:rPr sz="1500">
                <a:solidFill>
                  <a:srgbClr val="E2F2FF"/>
                </a:solidFill>
              </a:rPr>
              <a:t>Novidade observada ≠ recomendação de produção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B9845365-8E15-41F3-A45D-A3824597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7A1079EF-6D87-48AA-B915-4CCA7FD8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291805E9-802E-4F4E-B357-A74DC1DD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6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4A107BCA-7A05-4AED-A6E9-EC0E888F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1" name="" descr="Figura oficial da documentação dbt usada para explicar: RADAR — Engines novas antecipam parse; não substituem testes, freshness ou SLO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6d61be1ae4174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52469FA-6AB9-4120-89B9-0D5D2A7D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FBBBA225-BDCF-4216-9386-4B13FEEB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792DA4F-2693-4FB7-99AA-EC9630AF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20/21</a:t>
            </a:r>
          </a:p>
        </p:txBody>
      </p:sp>
    </p:spTree>
    <p:extLst>
      <p:ext uri="{BB962C8B-B14F-4D97-AF65-F5344CB8AC3E}">
        <p14:creationId xmlns:p14="http://schemas.microsoft.com/office/powerpoint/2010/main" val="17758546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ta-label">
            <a:extLst xmlns:a="http://schemas.openxmlformats.org/drawingml/2006/main">
              <a:ext uri="{FF2B5EF4-FFF2-40B4-BE49-F238E27FC236}">
                <a16:creationId xmlns:a16="http://schemas.microsoft.com/office/drawing/2014/main" id="{8BADF2AB-C6A2-471E-BA01-B9A78D13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565C0"/>
                </a:solidFill>
              </a:defRPr>
            </a:pPr>
            <a:r>
              <a:rPr sz="1350" b="1">
                <a:solidFill>
                  <a:srgbClr val="1565C0"/>
                </a:solidFill>
              </a:rPr>
              <a:t>PRÓXIMO PASSO</a:t>
            </a:r>
          </a:p>
        </p:txBody>
      </p:sp>
      <p:sp>
        <p:nvSpPr>
          <p:cNvPr id="2" name="cta">
            <a:extLst xmlns:a="http://schemas.openxmlformats.org/drawingml/2006/main">
              <a:ext uri="{FF2B5EF4-FFF2-40B4-BE49-F238E27FC236}">
                <a16:creationId xmlns:a16="http://schemas.microsoft.com/office/drawing/2014/main" id="{D439522E-8B3D-458F-8BFE-949390D2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B1F3A"/>
                </a:solidFill>
              </a:defRPr>
            </a:pPr>
            <a:r>
              <a:rPr sz="3300" b="1">
                <a:solidFill>
                  <a:srgbClr val="0B1F3A"/>
                </a:solidFill>
              </a:rPr>
              <a:t>Escreva o menor unit test que reproduz um bug possível.</a:t>
            </a:r>
          </a:p>
        </p:txBody>
      </p:sp>
      <p:sp>
        <p:nvSpPr>
          <p:cNvPr id="3" name="cta-meta">
            <a:extLst xmlns:a="http://schemas.openxmlformats.org/drawingml/2006/main">
              <a:ext uri="{FF2B5EF4-FFF2-40B4-BE49-F238E27FC236}">
                <a16:creationId xmlns:a16="http://schemas.microsoft.com/office/drawing/2014/main" id="{7D799D7A-4A53-4B09-BEDB-9EF9CBCF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C6F86"/>
                </a:solidFill>
              </a:defRPr>
            </a:pPr>
            <a:r>
              <a:rPr sz="1500">
                <a:solidFill>
                  <a:srgbClr val="5C6F86"/>
                </a:solidFill>
              </a:rPr>
              <a:t>Checkpoint 06 • roteiro completo no repositório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9183D27-DA0B-4C50-B9C7-2CFB16C4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6  •  OPEN / CORE 1.12</a:t>
            </a:r>
          </a:p>
        </p:txBody>
      </p:sp>
      <p:sp>
        <p:nvSpPr>
          <p:cNvPr id="5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CB2756C5-1186-46E8-9F07-D6E86577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7" name="" descr="Figura oficial da documentação dbt usada para explicar: PRÓXIMO PASSO — Escreva o menor unit test que reproduz um bug possível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819106e0e4002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9A04668-5FD1-4D49-A43A-DB78D150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87B5EC6-ABC8-45D5-B7DF-466FF288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5495E5-176A-439E-8AA4-7BDBA39E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21/21</a:t>
            </a:r>
          </a:p>
        </p:txBody>
      </p:sp>
    </p:spTree>
    <p:extLst>
      <p:ext uri="{BB962C8B-B14F-4D97-AF65-F5344CB8AC3E}">
        <p14:creationId xmlns:p14="http://schemas.microsoft.com/office/powerpoint/2010/main" val="20924831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2026-09-02T16:14:51.4390000Z</dcterms:created>
  <dcterms:modified xsi:type="dcterms:W3CDTF">2026-09-02T16:14:51.4390000Z</dcterms:modified>
</coreProperties>
</file>