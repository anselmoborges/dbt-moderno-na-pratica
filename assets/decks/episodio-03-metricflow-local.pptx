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5388e1694ad4a20" /><Relationship Type="http://schemas.openxmlformats.org/officeDocument/2006/relationships/extended-properties" Target="/docProps/app.xml" Id="R71a61d95fc6e4b6b" /><Relationship Type="http://schemas.openxmlformats.org/officeDocument/2006/relationships/officeDocument" Target="/ppt/presentation.xml" Id="Rbd781a6ffd5f4ea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54f52fca56a4fa6"/>
    <p:sldMasterId xmlns:r="http://schemas.openxmlformats.org/officeDocument/2006/relationships" id="2147483650" r:id="R1214a62a425b4d1f"/>
  </p:sldMasterIdLst>
  <p:notesMasterIdLst>
    <p:notesMasterId xmlns:r="http://schemas.openxmlformats.org/officeDocument/2006/relationships" r:id="Rfbd3f3b4e7854ee7"/>
  </p:notesMasterIdLst>
  <p:sldIdLst>
    <p:sldId xmlns:r="http://schemas.openxmlformats.org/officeDocument/2006/relationships" id="256" r:id="R042a4be9d2b74f49"/>
    <p:sldId xmlns:r="http://schemas.openxmlformats.org/officeDocument/2006/relationships" id="257" r:id="R021ac8d323704479"/>
    <p:sldId xmlns:r="http://schemas.openxmlformats.org/officeDocument/2006/relationships" id="258" r:id="Ref05bedd61134d2c"/>
    <p:sldId xmlns:r="http://schemas.openxmlformats.org/officeDocument/2006/relationships" id="259" r:id="Re4f3efa0e050409c"/>
    <p:sldId xmlns:r="http://schemas.openxmlformats.org/officeDocument/2006/relationships" id="260" r:id="Rcad71a2d4f04459a"/>
    <p:sldId xmlns:r="http://schemas.openxmlformats.org/officeDocument/2006/relationships" id="261" r:id="R64448a467ffe44ff"/>
    <p:sldId xmlns:r="http://schemas.openxmlformats.org/officeDocument/2006/relationships" id="262" r:id="Rda309de60451441c"/>
    <p:sldId xmlns:r="http://schemas.openxmlformats.org/officeDocument/2006/relationships" id="263" r:id="Rca8c0df4b02a47d1"/>
    <p:sldId xmlns:r="http://schemas.openxmlformats.org/officeDocument/2006/relationships" id="264" r:id="Red84954267f441e8"/>
    <p:sldId xmlns:r="http://schemas.openxmlformats.org/officeDocument/2006/relationships" id="265" r:id="Rdf2eecc071f34cef"/>
    <p:sldId xmlns:r="http://schemas.openxmlformats.org/officeDocument/2006/relationships" id="266" r:id="R49ea1ec684cf46ae"/>
    <p:sldId xmlns:r="http://schemas.openxmlformats.org/officeDocument/2006/relationships" id="267" r:id="R47d39403e8f1400d"/>
    <p:sldId xmlns:r="http://schemas.openxmlformats.org/officeDocument/2006/relationships" id="268" r:id="Rb6e32c2d55784f6b"/>
    <p:sldId xmlns:r="http://schemas.openxmlformats.org/officeDocument/2006/relationships" id="269" r:id="R9598b50943bf4ebc"/>
    <p:sldId xmlns:r="http://schemas.openxmlformats.org/officeDocument/2006/relationships" id="270" r:id="Re75454c3008a4068"/>
    <p:sldId xmlns:r="http://schemas.openxmlformats.org/officeDocument/2006/relationships" id="271" r:id="Rb0bace32ebc442e0"/>
    <p:sldId xmlns:r="http://schemas.openxmlformats.org/officeDocument/2006/relationships" id="272" r:id="Rb1106abe9c794217"/>
    <p:sldId xmlns:r="http://schemas.openxmlformats.org/officeDocument/2006/relationships" id="273" r:id="Rd6ac1993040a49bd"/>
    <p:sldId xmlns:r="http://schemas.openxmlformats.org/officeDocument/2006/relationships" id="274" r:id="Re1f81135f2c2490e"/>
    <p:sldId xmlns:r="http://schemas.openxmlformats.org/officeDocument/2006/relationships" id="275" r:id="R822c7953e76947a9"/>
    <p:sldId xmlns:r="http://schemas.openxmlformats.org/officeDocument/2006/relationships" id="276" r:id="R5cd2bd04937e4fa2"/>
    <p:sldId xmlns:r="http://schemas.openxmlformats.org/officeDocument/2006/relationships" id="277" r:id="R2c2687f570fd46a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13ccf32307043b2" /><Relationship Type="http://schemas.openxmlformats.org/officeDocument/2006/relationships/slideMaster" Target="/ppt/slideMasters/slideMaster1.xml" Id="Rb54f52fca56a4fa6" /><Relationship Type="http://schemas.openxmlformats.org/officeDocument/2006/relationships/slideMaster" Target="/ppt/slideMasters/slideMaster2.xml" Id="R1214a62a425b4d1f" /><Relationship Type="http://schemas.openxmlformats.org/officeDocument/2006/relationships/notesMaster" Target="/ppt/notesMasters/notesMaster1.xml" Id="Rfbd3f3b4e7854ee7" /><Relationship Type="http://schemas.openxmlformats.org/officeDocument/2006/relationships/presProps" Target="/ppt/presProps.xml" Id="Rc79b13fb7d184e21" /><Relationship Type="http://schemas.openxmlformats.org/officeDocument/2006/relationships/tableStyles" Target="/ppt/tableStyles.xml" Id="R23f304d271f44456" /><Relationship Type="http://schemas.openxmlformats.org/officeDocument/2006/relationships/slide" Target="/ppt/slides/slide1.xml" Id="R042a4be9d2b74f49" /><Relationship Type="http://schemas.openxmlformats.org/officeDocument/2006/relationships/slide" Target="/ppt/slides/slide2.xml" Id="R021ac8d323704479" /><Relationship Type="http://schemas.openxmlformats.org/officeDocument/2006/relationships/slide" Target="/ppt/slides/slide3.xml" Id="Ref05bedd61134d2c" /><Relationship Type="http://schemas.openxmlformats.org/officeDocument/2006/relationships/slide" Target="/ppt/slides/slide4.xml" Id="Re4f3efa0e050409c" /><Relationship Type="http://schemas.openxmlformats.org/officeDocument/2006/relationships/slide" Target="/ppt/slides/slide5.xml" Id="Rcad71a2d4f04459a" /><Relationship Type="http://schemas.openxmlformats.org/officeDocument/2006/relationships/slide" Target="/ppt/slides/slide6.xml" Id="R64448a467ffe44ff" /><Relationship Type="http://schemas.openxmlformats.org/officeDocument/2006/relationships/slide" Target="/ppt/slides/slide7.xml" Id="Rda309de60451441c" /><Relationship Type="http://schemas.openxmlformats.org/officeDocument/2006/relationships/slide" Target="/ppt/slides/slide8.xml" Id="Rca8c0df4b02a47d1" /><Relationship Type="http://schemas.openxmlformats.org/officeDocument/2006/relationships/slide" Target="/ppt/slides/slide9.xml" Id="Red84954267f441e8" /><Relationship Type="http://schemas.openxmlformats.org/officeDocument/2006/relationships/slide" Target="/ppt/slides/slide10.xml" Id="Rdf2eecc071f34cef" /><Relationship Type="http://schemas.openxmlformats.org/officeDocument/2006/relationships/slide" Target="/ppt/slides/slide11.xml" Id="R49ea1ec684cf46ae" /><Relationship Type="http://schemas.openxmlformats.org/officeDocument/2006/relationships/slide" Target="/ppt/slides/slide12.xml" Id="R47d39403e8f1400d" /><Relationship Type="http://schemas.openxmlformats.org/officeDocument/2006/relationships/slide" Target="/ppt/slides/slide13.xml" Id="Rb6e32c2d55784f6b" /><Relationship Type="http://schemas.openxmlformats.org/officeDocument/2006/relationships/slide" Target="/ppt/slides/slide14.xml" Id="R9598b50943bf4ebc" /><Relationship Type="http://schemas.openxmlformats.org/officeDocument/2006/relationships/slide" Target="/ppt/slides/slide15.xml" Id="Re75454c3008a4068" /><Relationship Type="http://schemas.openxmlformats.org/officeDocument/2006/relationships/slide" Target="/ppt/slides/slide16.xml" Id="Rb0bace32ebc442e0" /><Relationship Type="http://schemas.openxmlformats.org/officeDocument/2006/relationships/slide" Target="/ppt/slides/slide17.xml" Id="Rb1106abe9c794217" /><Relationship Type="http://schemas.openxmlformats.org/officeDocument/2006/relationships/slide" Target="/ppt/slides/slide18.xml" Id="Rd6ac1993040a49bd" /><Relationship Type="http://schemas.openxmlformats.org/officeDocument/2006/relationships/slide" Target="/ppt/slides/slide19.xml" Id="Re1f81135f2c2490e" /><Relationship Type="http://schemas.openxmlformats.org/officeDocument/2006/relationships/slide" Target="/ppt/slides/slide20.xml" Id="R822c7953e76947a9" /><Relationship Type="http://schemas.openxmlformats.org/officeDocument/2006/relationships/slide" Target="/ppt/slides/slide21.xml" Id="R5cd2bd04937e4fa2" /><Relationship Type="http://schemas.openxmlformats.org/officeDocument/2006/relationships/slide" Target="/ppt/slides/slide22.xml" Id="R2c2687f570fd46a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e0b60a7d71a14ee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cb08e6a47a84228" /><Relationship Type="http://schemas.openxmlformats.org/officeDocument/2006/relationships/notesMaster" Target="/ppt/notesMasters/notesMaster1.xml" Id="Rb341c1c78dc147d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cee41b6539a42db" /><Relationship Type="http://schemas.openxmlformats.org/officeDocument/2006/relationships/notesMaster" Target="/ppt/notesMasters/notesMaster1.xml" Id="Rd4037a020382479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b003d81d55e4c5b" /><Relationship Type="http://schemas.openxmlformats.org/officeDocument/2006/relationships/notesMaster" Target="/ppt/notesMasters/notesMaster1.xml" Id="R6c6dc530c7e24ac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56614b40a874624" /><Relationship Type="http://schemas.openxmlformats.org/officeDocument/2006/relationships/notesMaster" Target="/ppt/notesMasters/notesMaster1.xml" Id="Ra64726f7d1a2477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46f3553c5fe4df1" /><Relationship Type="http://schemas.openxmlformats.org/officeDocument/2006/relationships/notesMaster" Target="/ppt/notesMasters/notesMaster1.xml" Id="Ref63fa9dc51f4bf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cde821ba7674de6" /><Relationship Type="http://schemas.openxmlformats.org/officeDocument/2006/relationships/notesMaster" Target="/ppt/notesMasters/notesMaster1.xml" Id="Rbe50dc68938246c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523cf763d794095" /><Relationship Type="http://schemas.openxmlformats.org/officeDocument/2006/relationships/notesMaster" Target="/ppt/notesMasters/notesMaster1.xml" Id="Rb8f06f3813c74ae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cc331dbeaee4701" /><Relationship Type="http://schemas.openxmlformats.org/officeDocument/2006/relationships/notesMaster" Target="/ppt/notesMasters/notesMaster1.xml" Id="Raa58a70a2ef1499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c2972152c5b4859" /><Relationship Type="http://schemas.openxmlformats.org/officeDocument/2006/relationships/notesMaster" Target="/ppt/notesMasters/notesMaster1.xml" Id="R5d28ef6b2709485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581481f11254f28" /><Relationship Type="http://schemas.openxmlformats.org/officeDocument/2006/relationships/notesMaster" Target="/ppt/notesMasters/notesMaster1.xml" Id="Rb3f288e2b0cc476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87c5c0e5c814d10" /><Relationship Type="http://schemas.openxmlformats.org/officeDocument/2006/relationships/notesMaster" Target="/ppt/notesMasters/notesMaster1.xml" Id="R040971512135465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4d6318463184ef4" /><Relationship Type="http://schemas.openxmlformats.org/officeDocument/2006/relationships/notesMaster" Target="/ppt/notesMasters/notesMaster1.xml" Id="R53b23899d2114b6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d596d189afd4682" /><Relationship Type="http://schemas.openxmlformats.org/officeDocument/2006/relationships/notesMaster" Target="/ppt/notesMasters/notesMaster1.xml" Id="R1373a913d33949f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82f824beb2c4bc2" /><Relationship Type="http://schemas.openxmlformats.org/officeDocument/2006/relationships/notesMaster" Target="/ppt/notesMasters/notesMaster1.xml" Id="R39e0e7c77f084b3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95172f9f26b4482" /><Relationship Type="http://schemas.openxmlformats.org/officeDocument/2006/relationships/notesMaster" Target="/ppt/notesMasters/notesMaster1.xml" Id="R96ef68c6848d4bc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b16f3c7aeb242b5" /><Relationship Type="http://schemas.openxmlformats.org/officeDocument/2006/relationships/notesMaster" Target="/ppt/notesMasters/notesMaster1.xml" Id="R97a4a384ac6b403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b4bcb1946b74bcc" /><Relationship Type="http://schemas.openxmlformats.org/officeDocument/2006/relationships/notesMaster" Target="/ppt/notesMasters/notesMaster1.xml" Id="R193b0768907a465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e039091cd5442f3" /><Relationship Type="http://schemas.openxmlformats.org/officeDocument/2006/relationships/notesMaster" Target="/ppt/notesMasters/notesMaster1.xml" Id="R617ef9384e4544d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82b8327c71d467f" /><Relationship Type="http://schemas.openxmlformats.org/officeDocument/2006/relationships/notesMaster" Target="/ppt/notesMasters/notesMaster1.xml" Id="R40e2cf6ea27446c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276eb6375b44cc4" /><Relationship Type="http://schemas.openxmlformats.org/officeDocument/2006/relationships/notesMaster" Target="/ppt/notesMasters/notesMaster1.xml" Id="R9c6779f5341d4e3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30a2926b8ff4a27" /><Relationship Type="http://schemas.openxmlformats.org/officeDocument/2006/relationships/notesMaster" Target="/ppt/notesMasters/notesMaster1.xml" Id="R47b14109aca64c5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1c1ad3792b048f4" /><Relationship Type="http://schemas.openxmlformats.org/officeDocument/2006/relationships/notesMaster" Target="/ppt/notesMasters/notesMaster1.xml" Id="R831f897192054d9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Apresente o objetivo do EPISÓDIO 3 e conecte-o ao checkpoint executável. Uma métrica declarada uma vez pode gerar o mesmo SQL para todos os consumidores.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Uma métrica declarada uma vez pode gerar o mesmo SQL para todos os consumidores. Use o diagrama para antecipar o problema que será comprovado no laboratório.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Explique os três resultados observáveis da aula: Declarar entidades e dimensões; Criar métricas simples e razão; Reconciliar SQL com ground truth.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força vem de definições explícitas, não de geração probabilística. Desenvolva os pontos: Consulta lógica; Grafo semântico; SQL executável.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order_id só pode ser primary se o modelo tiver uma linha por pedido. Desenvolva os pontos: Primary: order; Foreign: customer; Unicidade testada antes da métrica.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 composição para explicar visualmente: order_id só pode ser primary se o modelo tiver uma linha por pedido. Primary: order Foreign: customer Unicidade testada antes da métrica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Chaves e tipos de coluna sustentam os caminhos do grafo. Desenvolva os pontos: PK e FK; Dimensões; Medidas.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 composição para explicar visualmente: Chaves e tipos de coluna sustentam os caminhos do grafo. PK e FK Dimensões Medidas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  <a:p xmlns:a="http://schemas.openxmlformats.org/drawingml/2006/main">
            <a:r>
              <a:t>- https://github.com/dbt-labs/docs.getdbt.com/blob/8249c7c904848efa786831381ca1d53b4157e392/website/static/img/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dimensão padrão precisa refletir a pergunta de negócio. Desenvolva os pontos: order_purchase_date; Granularidade diária; Time spine para operações temporais.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 composição para explicar visualmente: A dimensão padrão precisa refletir a pergunta de negócio. order_purchase_date Granularidade diária Time spine para operações temporais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Contagem, soma e receita entregue reutilizam colunas já testadas. Desenvolva os pontos: orders: count_distinct; gross_revenue: sum; delivered_revenue: sum.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 composição para explicar visualmente: Contagem, soma e receita entregue reutilizam colunas já testadas. orders: count_distinct gross_revenue: sum delivered_revenue: sum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Ticket médio compõe gross_revenue e orders sem copiar a fórmula. Desenvolva os pontos: Numerador governado; Denominador governado; Precisão e zero documentados.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 composição para explicar visualmente: Ticket médio compõe gross_revenue e orders sem copiar a fórmula. Numerador governado Denominador governado Precisão e zero documentados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Execute python course.py checkpoint 03. Pause para o aluno acompanhar o terminal.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Durante a execução, destaque: mf validate-configs sem erro; Consulta mensal compilada; Janeiro a abril reconciliados.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Confirme o resultado esperado: 8 pedidos · 740 bruto · 630 entregue · 92,50 AOV. Se o valor divergir, não avance sem investigar.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Conecte a técnica aos efeitos: Governança: Git e ownership; FinOps: reuso com cardinalidade; IA: nomes em vez de joins inventados. Não prometa economia sem medição.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 → 13: contribuidores reportados pela Inventa. O laboratório comprova apenas validação, SQL e reconciliação.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Apresente os limites sem minimizá-los: MetricFlow não decide a definição da métrica; Alta cardinalidade ainda custa; Biblioteca aberta não é o serviço hospedado.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matriz de suporte do Core 2.0/Fusion não é assumida igual ao Core 1.12. Reforce que beta e preview não fazem parte da aceitação.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Implemente uma métrica simples e uma razão e reconcilie os valores. Encerre conectando a aula ao próximo checkpoint.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68fc09713e47d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d202e4deb06415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1d6d86669dc4cd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Rescue Point Dar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>
  <p:cSld name="Rescue Point Ligh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efbbac055cf4b84" /><Relationship Type="http://schemas.openxmlformats.org/officeDocument/2006/relationships/slideLayout" Target="/ppt/slideLayouts/slideLayout1.xml" Id="Re9d5dfbd25cc401f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0654418734f54322" /><Relationship Type="http://schemas.openxmlformats.org/officeDocument/2006/relationships/slideLayout" Target="/ppt/slideLayouts/slideLayout2.xml" Id="R2cdffa0bef8a4976" /><Relationship Type="http://schemas.openxmlformats.org/officeDocument/2006/relationships/slideLayout" Target="/ppt/slideLayouts/slideLayout3.xml" Id="R8c1c9cb3fbee41a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9d5dfbd25cc401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Rescue Point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2cdffa0bef8a4976"/>
    <p:sldLayoutId xmlns:r="http://schemas.openxmlformats.org/officeDocument/2006/relationships" id="2147483652" r:id="R8c1c9cb3fbee41a2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568817dd3344af" /><Relationship Type="http://schemas.openxmlformats.org/officeDocument/2006/relationships/image" Target="/ppt/media/image.jpeg" Id="R864f0d6e03504115" /><Relationship Type="http://schemas.openxmlformats.org/officeDocument/2006/relationships/notesSlide" Target="/ppt/notesSlides/notesSlide1.xml" Id="R3ce665b087854a1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b0d2f61f813478d" /><Relationship Type="http://schemas.openxmlformats.org/officeDocument/2006/relationships/image" Target="/ppt/media/image.png" Id="R99b293e45d2e4058" /><Relationship Type="http://schemas.openxmlformats.org/officeDocument/2006/relationships/notesSlide" Target="/ppt/notesSlides/notesSlide2.xml" Id="R132c333be5e5485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9c7a8186964cf2" /><Relationship Type="http://schemas.openxmlformats.org/officeDocument/2006/relationships/notesSlide" Target="/ppt/notesSlides/notesSlide3.xml" Id="R4557611012c145b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d84839938b4e35" /><Relationship Type="http://schemas.openxmlformats.org/officeDocument/2006/relationships/notesSlide" Target="/ppt/notesSlides/notesSlide4.xml" Id="R4cfd5667420548a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861b36c9b9f431c" /><Relationship Type="http://schemas.openxmlformats.org/officeDocument/2006/relationships/notesSlide" Target="/ppt/notesSlides/notesSlide5.xml" Id="Rc44831fe43504ec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42dc7301f74aeb" /><Relationship Type="http://schemas.openxmlformats.org/officeDocument/2006/relationships/notesSlide" Target="/ppt/notesSlides/notesSlide6.xml" Id="R9ade127d534c4a5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6d21c4335f4e1d" /><Relationship Type="http://schemas.openxmlformats.org/officeDocument/2006/relationships/notesSlide" Target="/ppt/notesSlides/notesSlide7.xml" Id="R561d21903c464c8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6b8962227114486" /><Relationship Type="http://schemas.openxmlformats.org/officeDocument/2006/relationships/image" Target="/ppt/media/image2.jpeg" Id="Rd5ebff58068d4597" /><Relationship Type="http://schemas.openxmlformats.org/officeDocument/2006/relationships/notesSlide" Target="/ppt/notesSlides/notesSlide8.xml" Id="Rfaf1419dcbde400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1adc436b1f44019" /><Relationship Type="http://schemas.openxmlformats.org/officeDocument/2006/relationships/notesSlide" Target="/ppt/notesSlides/notesSlide9.xml" Id="R1381bc41309c423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2d6525f13eb4cce" /><Relationship Type="http://schemas.openxmlformats.org/officeDocument/2006/relationships/notesSlide" Target="/ppt/notesSlides/notesSlide10.xml" Id="Raaff2e57fc174c1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2e5cef56d7f4086" /><Relationship Type="http://schemas.openxmlformats.org/officeDocument/2006/relationships/notesSlide" Target="/ppt/notesSlides/notesSlide11.xml" Id="R959d86a55bb046b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1c9e018330f47e8" /><Relationship Type="http://schemas.openxmlformats.org/officeDocument/2006/relationships/notesSlide" Target="/ppt/notesSlides/notesSlide12.xml" Id="Rab02976973444ee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19a022f8a714fe4" /><Relationship Type="http://schemas.openxmlformats.org/officeDocument/2006/relationships/notesSlide" Target="/ppt/notesSlides/notesSlide13.xml" Id="R5878692fb40f47c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c73cc289aa44eb0" /><Relationship Type="http://schemas.openxmlformats.org/officeDocument/2006/relationships/notesSlide" Target="/ppt/notesSlides/notesSlide14.xml" Id="R1d6ed3211da44ad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01b26fbe9154eb8" /><Relationship Type="http://schemas.openxmlformats.org/officeDocument/2006/relationships/notesSlide" Target="/ppt/notesSlides/notesSlide15.xml" Id="R1ac0ff16d13c4ab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9164739bebe4ff7" /><Relationship Type="http://schemas.openxmlformats.org/officeDocument/2006/relationships/notesSlide" Target="/ppt/notesSlides/notesSlide16.xml" Id="R841231c8775a49c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38976d891d94203" /><Relationship Type="http://schemas.openxmlformats.org/officeDocument/2006/relationships/notesSlide" Target="/ppt/notesSlides/notesSlide17.xml" Id="Re6c99e0c47df4e9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be0bfec356445c3" /><Relationship Type="http://schemas.openxmlformats.org/officeDocument/2006/relationships/notesSlide" Target="/ppt/notesSlides/notesSlide18.xml" Id="Re5d78633a4b54fe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aa4fe9a437d4b37" /><Relationship Type="http://schemas.openxmlformats.org/officeDocument/2006/relationships/notesSlide" Target="/ppt/notesSlides/notesSlide19.xml" Id="Rdcabba71f8e8421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0fe1e33d5894f8a" /><Relationship Type="http://schemas.openxmlformats.org/officeDocument/2006/relationships/notesSlide" Target="/ppt/notesSlides/notesSlide20.xml" Id="R886c03df12044af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7222ee250bb42cd" /><Relationship Type="http://schemas.openxmlformats.org/officeDocument/2006/relationships/notesSlide" Target="/ppt/notesSlides/notesSlide21.xml" Id="R2b2465a812ac400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f206bb260104127" /><Relationship Type="http://schemas.openxmlformats.org/officeDocument/2006/relationships/notesSlide" Target="/ppt/notesSlides/notesSlide22.xml" Id="Rf6c0d82d17bb48b6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 descr="Ilustração conceitual autoral da capa: EPISÓDIO 3 — MetricFlow local: métricas como código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4f0d6e03504115"/>
          <a:srcRect xmlns:a="http://schemas.openxmlformats.org/drawingml/2006/main" l="19785" t="0" r="197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0"/>
            <a:ext cx="7429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text-surface">
            <a:extLst xmlns:a="http://schemas.openxmlformats.org/drawingml/2006/main">
              <a:ext uri="{FF2B5EF4-FFF2-40B4-BE49-F238E27FC236}">
                <a16:creationId xmlns:a16="http://schemas.microsoft.com/office/drawing/2014/main" id="{1AD9F2BD-6434-4C3A-858F-25285B4D7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334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42E"/>
          </a:solidFill>
          <a:ln xmlns:a="http://schemas.openxmlformats.org/drawingml/2006/main" w="0">
            <a:solidFill>
              <a:srgbClr val="06142E"/>
            </a:solidFill>
            <a:prstDash val="solid"/>
          </a:ln>
        </p:spPr>
      </p:sp>
      <p:sp>
        <p:nvSpPr>
          <p:cNvPr id="3" name="cover-divider">
            <a:extLst xmlns:a="http://schemas.openxmlformats.org/drawingml/2006/main">
              <a:ext uri="{FF2B5EF4-FFF2-40B4-BE49-F238E27FC236}">
                <a16:creationId xmlns:a16="http://schemas.microsoft.com/office/drawing/2014/main" id="{490D8C7F-41D5-4F97-99B5-41674340C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742950"/>
            <a:ext cx="0" cy="5372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4" name="cover-episode">
            <a:extLst xmlns:a="http://schemas.openxmlformats.org/drawingml/2006/main">
              <a:ext uri="{FF2B5EF4-FFF2-40B4-BE49-F238E27FC236}">
                <a16:creationId xmlns:a16="http://schemas.microsoft.com/office/drawing/2014/main" id="{C4BE8FC9-B245-4CBF-9F81-24115AABF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EPISÓDIO 3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AA519CEA-B7DE-41B9-B296-AB8AED011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MetricFlow local: métricas como código</a:t>
            </a:r>
          </a:p>
        </p:txBody>
      </p:sp>
      <p:sp>
        <p:nvSpPr>
          <p:cNvPr id="6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6A1E423B-CE24-4F5F-AE7A-FD046408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4857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Defina, valide, compile e execute sem conta dbt Platform</a:t>
            </a:r>
          </a:p>
        </p:txBody>
      </p:sp>
      <p:sp>
        <p:nvSpPr>
          <p:cNvPr id="7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3175F452-D016-41FC-96E4-C6A04346A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EC5FF"/>
            </a:solidFill>
            <a:prstDash val="solid"/>
          </a:ln>
        </p:spPr>
      </p:sp>
      <p:sp>
        <p:nvSpPr>
          <p:cNvPr id="8" name="cover-meta">
            <a:extLst xmlns:a="http://schemas.openxmlformats.org/drawingml/2006/main">
              <a:ext uri="{FF2B5EF4-FFF2-40B4-BE49-F238E27FC236}">
                <a16:creationId xmlns:a16="http://schemas.microsoft.com/office/drawing/2014/main" id="{CB94BF37-1C14-4049-85AF-FC456E32A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>
                    <a:alpha val="66667"/>
                  </a:srgbClr>
                </a:solidFill>
              </a:defRPr>
            </a:pPr>
            <a:r>
              <a:rPr sz="1200" b="1">
                <a:solidFill>
                  <a:srgbClr val="FFFFFF">
                    <a:alpha val="66667"/>
                  </a:srgbClr>
                </a:solidFill>
              </a:rPr>
              <a:t>Checkpoint 03 • DuckDB local • sem cloud</a:t>
            </a:r>
          </a:p>
        </p:txBody>
      </p:sp>
    </p:spTree>
    <p:extLst>
      <p:ext uri="{BB962C8B-B14F-4D97-AF65-F5344CB8AC3E}">
        <p14:creationId xmlns:p14="http://schemas.microsoft.com/office/powerpoint/2010/main" val="6236597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hook">
            <a:extLst xmlns:a="http://schemas.openxmlformats.org/drawingml/2006/main">
              <a:ext uri="{FF2B5EF4-FFF2-40B4-BE49-F238E27FC236}">
                <a16:creationId xmlns:a16="http://schemas.microsoft.com/office/drawing/2014/main" id="{F5B35810-A353-4A6D-8061-9944763B9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5334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Uma métrica declarada uma vez pode gerar o mesmo SQL para todos os consumidores.</a:t>
            </a:r>
          </a:p>
        </p:txBody>
      </p:sp>
      <p:sp>
        <p:nvSpPr>
          <p:cNvPr id="2" name="hook-rule">
            <a:extLst xmlns:a="http://schemas.openxmlformats.org/drawingml/2006/main">
              <a:ext uri="{FF2B5EF4-FFF2-40B4-BE49-F238E27FC236}">
                <a16:creationId xmlns:a16="http://schemas.microsoft.com/office/drawing/2014/main" id="{EACB00E3-8592-46A7-A3D5-50B048DD7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65C0"/>
            </a:solidFill>
            <a:prstDash val="solid"/>
          </a:ln>
        </p:spPr>
      </p:sp>
      <p:sp>
        <p:nvSpPr>
          <p:cNvPr id="3" name="hook-label">
            <a:extLst xmlns:a="http://schemas.openxmlformats.org/drawingml/2006/main">
              <a:ext uri="{FF2B5EF4-FFF2-40B4-BE49-F238E27FC236}">
                <a16:creationId xmlns:a16="http://schemas.microsoft.com/office/drawing/2014/main" id="{9E1243CE-703B-466D-8E0E-BF9517697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565C0"/>
                </a:solidFill>
              </a:defRPr>
            </a:pPr>
            <a:r>
              <a:rPr sz="1425" b="1">
                <a:solidFill>
                  <a:srgbClr val="1565C0"/>
                </a:solidFill>
              </a:rPr>
              <a:t>A pergunta que guia a aula</a:t>
            </a:r>
          </a:p>
        </p:txBody>
      </p:sp>
      <p:sp>
        <p:nvSpPr>
          <p:cNvPr id="4" name="diagram-surface">
            <a:extLst xmlns:a="http://schemas.openxmlformats.org/drawingml/2006/main">
              <a:ext uri="{FF2B5EF4-FFF2-40B4-BE49-F238E27FC236}">
                <a16:creationId xmlns:a16="http://schemas.microsoft.com/office/drawing/2014/main" id="{C1A36292-BE24-4526-A023-C6F6B37E3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952500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7EA"/>
            </a:solidFill>
            <a:prstDash val="solid"/>
          </a:ln>
        </p:spPr>
      </p:sp>
      <p:pic>
        <p:nvPicPr>
          <p:cNvPr id="14" name="" descr="Diagrama didático autoral que apresenta: Uma métrica declarada uma vez pode gerar o mesmo SQL para todos os consumidores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b293e45d2e4058"/>
          <a:stretch xmlns:a="http://schemas.openxmlformats.org/drawingml/2006/main"/>
        </p:blipFill>
        <p:spPr>
          <a:xfrm xmlns:a="http://schemas.openxmlformats.org/drawingml/2006/main">
            <a:off x="6858000" y="1634175"/>
            <a:ext cx="4191000" cy="3151500"/>
          </a:xfrm>
          <a:prstGeom xmlns:a="http://schemas.openxmlformats.org/drawingml/2006/main" prst="rect">
            <a:avLst/>
          </a:prstGeom>
        </p:spPr>
      </p:pic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2AA7B02E-99F6-4C9C-BA41-7E7C32EE8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3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7B44F28-477F-4D0B-BCB4-019EC691C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A3DB8FD3-19E1-4019-B30C-A2015F9CF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F510080-B766-448B-8849-140606EB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2/22</a:t>
            </a:r>
          </a:p>
        </p:txBody>
      </p:sp>
    </p:spTree>
    <p:extLst>
      <p:ext uri="{BB962C8B-B14F-4D97-AF65-F5344CB8AC3E}">
        <p14:creationId xmlns:p14="http://schemas.microsoft.com/office/powerpoint/2010/main" val="644979457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AAD2F7A-A8A4-441F-8450-C0F642598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Ao final, você consegue...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DAAEA0C5-25ED-4489-88F7-06585D70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2F380EBE-C09A-41F9-B477-24BADB2BC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Declarar entidades e dimensões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E58AD86D-2AB8-40F0-BE0B-98B181FFE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59F863A7-E5D2-4685-8371-479705C5D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6FC07808-DFFB-4D1A-93BB-CA35D3AAF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Criar métricas simples e razão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4008AE9B-9B57-45BC-A778-1E208F492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C7DF6228-7156-4C69-B257-871AC76AE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4C64C03E-6BDE-4D3E-A00F-BA0136342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Reconciliar SQL com ground truth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2E92DA50-9F8D-467E-B491-36DFAB2F8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3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2535C39-DC1E-4F4A-859F-B4C6D3A2E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B0A62CCC-B5C9-44F6-98CA-1D74FBFAC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E087156-3068-4C87-8D3A-49738A68E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3/22</a:t>
            </a:r>
          </a:p>
        </p:txBody>
      </p:sp>
    </p:spTree>
    <p:extLst>
      <p:ext uri="{BB962C8B-B14F-4D97-AF65-F5344CB8AC3E}">
        <p14:creationId xmlns:p14="http://schemas.microsoft.com/office/powerpoint/2010/main" val="1033450109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7E47001-4389-40F8-A032-E88605ECB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MetricFlow compila; não adivinha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41A2410-B1DB-48F7-B0C5-77D9A4285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A força vem de definições explícitas, não de geração probabilística.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89233470-ACD4-4048-9DC4-1E66F49DC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Consulta lógica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Grafo semântico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SQL executável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9F9FD6C1-DCD7-4140-973C-0B9A13F9F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32711240-BE3A-45E8-B80C-47AC28F95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2C601F8F-6B35-4058-AE2B-807BB15C1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623C6FE9-2A21-4138-99F8-90F792D62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3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911C749-95B3-4C86-9516-47C2D2DBE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F14C2BB2-5D7F-48C8-A6C4-8A674DE85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2DC46CB-BBFB-4DEB-9A17-5B2DC0AF0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4/22</a:t>
            </a:r>
          </a:p>
        </p:txBody>
      </p:sp>
    </p:spTree>
    <p:extLst>
      <p:ext uri="{BB962C8B-B14F-4D97-AF65-F5344CB8AC3E}">
        <p14:creationId xmlns:p14="http://schemas.microsoft.com/office/powerpoint/2010/main" val="18759551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82FF706-08DA-45C6-AF4C-DCD435226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Entidade começa pelo grão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0D3B9BF-C7FD-48B7-A288-FBA9BB2D5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order_id só pode ser primary se o modelo tiver uma linha por pedido.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8627BE82-3601-4C91-BC81-714152714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Primary: order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Foreign: customer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Unicidade testada antes da métrica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7C3815DA-0EAC-4CE3-9447-DB5C1227A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A7D48F69-2A3A-4867-B545-448AF7EC7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31F6184C-EFBF-43BE-94D4-1834216D4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37A2B704-3A44-417E-B3D7-6EFC1475F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3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69175BC-22C7-49E8-B5BA-7ADEBC45E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98D49D9F-BEA3-4F4F-942D-B9695A708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1A588DF-6AB6-4F6C-9D41-AB97289F2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5/22</a:t>
            </a:r>
          </a:p>
        </p:txBody>
      </p:sp>
    </p:spTree>
    <p:extLst>
      <p:ext uri="{BB962C8B-B14F-4D97-AF65-F5344CB8AC3E}">
        <p14:creationId xmlns:p14="http://schemas.microsoft.com/office/powerpoint/2010/main" val="1420529421"/>
      </p:ext>
    </p:extLst>
  </p:cSld>
</p:sld>
</file>

<file path=ppt/slides/slide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C46C395-6BAA-4F71-AF60-CFE9C6AEB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Entidade começa pelo grão</a:t>
            </a:r>
          </a:p>
        </p:txBody>
      </p:sp>
      <p:sp>
        <p:nvSpPr>
          <p:cNvPr id="2" name="compare-left-title">
            <a:extLst xmlns:a="http://schemas.openxmlformats.org/drawingml/2006/main">
              <a:ext uri="{FF2B5EF4-FFF2-40B4-BE49-F238E27FC236}">
                <a16:creationId xmlns:a16="http://schemas.microsoft.com/office/drawing/2014/main" id="{87DE78D2-9D56-4D61-A1FB-DB39355F5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EC5FF"/>
                </a:solidFill>
              </a:defRPr>
            </a:pPr>
            <a:r>
              <a:rPr sz="2100" b="1">
                <a:solidFill>
                  <a:srgbClr val="1EC5FF"/>
                </a:solidFill>
              </a:rPr>
              <a:t>Entidade</a:t>
            </a:r>
          </a:p>
        </p:txBody>
      </p:sp>
      <p:sp>
        <p:nvSpPr>
          <p:cNvPr id="3" name="compare-right-title">
            <a:extLst xmlns:a="http://schemas.openxmlformats.org/drawingml/2006/main">
              <a:ext uri="{FF2B5EF4-FFF2-40B4-BE49-F238E27FC236}">
                <a16:creationId xmlns:a16="http://schemas.microsoft.com/office/drawing/2014/main" id="{32B41D9D-E536-4F7D-A14D-84EF0A2F6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DBE8C"/>
                </a:solidFill>
              </a:defRPr>
            </a:pPr>
            <a:r>
              <a:rPr sz="2100" b="1">
                <a:solidFill>
                  <a:srgbClr val="2DBE8C"/>
                </a:solidFill>
              </a:rPr>
              <a:t>Grão físico</a:t>
            </a:r>
          </a:p>
        </p:txBody>
      </p:sp>
      <p:sp>
        <p:nvSpPr>
          <p:cNvPr id="4" name="compare-divider">
            <a:extLst xmlns:a="http://schemas.openxmlformats.org/drawingml/2006/main">
              <a:ext uri="{FF2B5EF4-FFF2-40B4-BE49-F238E27FC236}">
                <a16:creationId xmlns:a16="http://schemas.microsoft.com/office/drawing/2014/main" id="{95E25561-4F22-4CC6-B745-48DE7D54D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0" cy="2571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5098"/>
              </a:srgbClr>
            </a:solidFill>
            <a:prstDash val="solid"/>
          </a:ln>
        </p:spPr>
      </p:sp>
      <p:sp>
        <p:nvSpPr>
          <p:cNvPr id="5" name="bullets">
            <a:extLst xmlns:a="http://schemas.openxmlformats.org/drawingml/2006/main">
              <a:ext uri="{FF2B5EF4-FFF2-40B4-BE49-F238E27FC236}">
                <a16:creationId xmlns:a16="http://schemas.microsoft.com/office/drawing/2014/main" id="{E006C977-61EC-48F9-A70F-0F3913D93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Primary: order</a:t>
            </a:r>
          </a:p>
          <a:p xmlns:a="http://schemas.openxmlformats.org/drawingml/2006/main">
            <a:pPr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Foreign: customer</a:t>
            </a:r>
          </a:p>
        </p:txBody>
      </p:sp>
      <p:sp>
        <p:nvSpPr>
          <p:cNvPr id="6" name="bullets">
            <a:extLst xmlns:a="http://schemas.openxmlformats.org/drawingml/2006/main">
              <a:ext uri="{FF2B5EF4-FFF2-40B4-BE49-F238E27FC236}">
                <a16:creationId xmlns:a16="http://schemas.microsoft.com/office/drawing/2014/main" id="{EDDCDE0C-BB44-49B1-ABFD-286D2ACF3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Unicidade testada antes da métrica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B4E365F3-031F-473D-A350-5DB4EAA4D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3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2CF8E1D-A083-4110-869C-453127E16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CC6216E2-8475-44B3-A45C-DC6C40539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50CD091-87FF-40B4-BC8F-3A4494FB2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6/22</a:t>
            </a:r>
          </a:p>
        </p:txBody>
      </p:sp>
    </p:spTree>
    <p:extLst>
      <p:ext uri="{BB962C8B-B14F-4D97-AF65-F5344CB8AC3E}">
        <p14:creationId xmlns:p14="http://schemas.microsoft.com/office/powerpoint/2010/main" val="788712744"/>
      </p:ext>
    </p:extLst>
  </p:cSld>
</p:sld>
</file>

<file path=ppt/slides/slide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593D3AA-16D0-475D-AB52-7384BF0C2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O exemplo oficial conecta schema e métricas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0DC0593-F172-4109-8560-7A0B6FE3D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Chaves e tipos de coluna sustentam os caminhos do grafo.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4DA67DBB-61B3-41FB-AE83-C4A47E682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PK e FK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Dimensões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Medidas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C7437032-4C6C-498A-8616-9D7C117C1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3EAE0FD4-52E8-4969-811C-86796B150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1896241B-2C03-4A73-B167-71CB436B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5FB43A1B-3B7C-4E25-A45D-975953F02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3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8383F0B-956E-4D51-8FF6-AE5B352B3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113B9538-AF4F-4208-BAEA-A4C252CAB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59712AD-83D8-45DF-98A7-67C719962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7/22</a:t>
            </a:r>
          </a:p>
        </p:txBody>
      </p:sp>
    </p:spTree>
    <p:extLst>
      <p:ext uri="{BB962C8B-B14F-4D97-AF65-F5344CB8AC3E}">
        <p14:creationId xmlns:p14="http://schemas.microsoft.com/office/powerpoint/2010/main" val="208728551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057E2AA-3208-4892-8E9F-CC2C56504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exemplo oficial conecta schema e métricas</a:t>
            </a:r>
          </a:p>
        </p:txBody>
      </p:sp>
      <p:sp>
        <p:nvSpPr>
          <p:cNvPr id="2" name="visual-claim">
            <a:extLst xmlns:a="http://schemas.openxmlformats.org/drawingml/2006/main">
              <a:ext uri="{FF2B5EF4-FFF2-40B4-BE49-F238E27FC236}">
                <a16:creationId xmlns:a16="http://schemas.microsoft.com/office/drawing/2014/main" id="{6A59DBD2-16D0-493E-B2D4-D39A25A45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90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B1F3A"/>
                </a:solidFill>
              </a:defRPr>
            </a:pPr>
            <a:r>
              <a:rPr sz="1950" b="1">
                <a:solidFill>
                  <a:srgbClr val="0B1F3A"/>
                </a:solidFill>
              </a:rPr>
              <a:t>Chaves e tipos de coluna sustentam os caminhos do grafo.</a:t>
            </a:r>
          </a:p>
        </p:txBody>
      </p:sp>
      <p:sp>
        <p:nvSpPr>
          <p:cNvPr id="3" name="image-surface">
            <a:extLst xmlns:a="http://schemas.openxmlformats.org/drawingml/2006/main">
              <a:ext uri="{FF2B5EF4-FFF2-40B4-BE49-F238E27FC236}">
                <a16:creationId xmlns:a16="http://schemas.microsoft.com/office/drawing/2014/main" id="{6DCED061-158B-4C55-9549-FDC736569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00200"/>
            <a:ext cx="63627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DD7EA"/>
            </a:solidFill>
            <a:prstDash val="solid"/>
          </a:ln>
        </p:spPr>
      </p:sp>
      <p:pic>
        <p:nvPicPr>
          <p:cNvPr id="13" name="" descr="Figura oficial da documentação dbt usada para explicar: O exemplo oficial conecta schema e métricas — Chaves e tipos de coluna sustentam os caminhos do grafo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ebff58068d4597"/>
          <a:stretch xmlns:a="http://schemas.openxmlformats.org/drawingml/2006/main"/>
        </p:blipFill>
        <p:spPr>
          <a:xfrm xmlns:a="http://schemas.openxmlformats.org/drawingml/2006/main">
            <a:off x="5429250" y="1975313"/>
            <a:ext cx="5791200" cy="3002624"/>
          </a:xfrm>
          <a:prstGeom xmlns:a="http://schemas.openxmlformats.org/drawingml/2006/main" prst="rect">
            <a:avLst/>
          </a:prstGeom>
        </p:spPr>
      </p:pic>
      <p:sp>
        <p:nvSpPr>
          <p:cNvPr id="5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623BA476-74F2-45DD-A8E5-CEB4B3AB4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19700"/>
            <a:ext cx="579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i="1">
                <a:solidFill>
                  <a:srgbClr val="5C6F86"/>
                </a:solidFill>
              </a:defRPr>
            </a:pPr>
            <a:r>
              <a:rPr sz="900" i="1">
                <a:solidFill>
                  <a:srgbClr val="5C6F86"/>
                </a:solidFill>
              </a:rPr>
              <a:t>Exemplo oficial dbt Labs — Apache 2.0</a:t>
            </a:r>
          </a:p>
        </p:txBody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944D75C6-FE7F-4BE2-8D48-7021C6B0E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3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3799451-10BD-4B57-86ED-A3D2F4C95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1DBF67BB-7FA9-4A06-929B-56B77ACAB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BB34ECA-2AE3-4D0E-9465-A25C74671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8/22</a:t>
            </a:r>
          </a:p>
        </p:txBody>
      </p:sp>
    </p:spTree>
    <p:extLst>
      <p:ext uri="{BB962C8B-B14F-4D97-AF65-F5344CB8AC3E}">
        <p14:creationId xmlns:p14="http://schemas.microsoft.com/office/powerpoint/2010/main" val="149443483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8E128C6-7022-40B0-B078-47189C49A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Tempo também é contrato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CADE553-E47A-4621-98E5-B2EF2C0A8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A dimensão padrão precisa refletir a pergunta de negócio.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45427AE3-3718-4036-8864-40A40D877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order_purchase_date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Granularidade diária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Time spine para operações temporais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4F8FFD0C-23EA-4C84-876A-A2CD9B88E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A756B27C-B34F-41F8-BAD6-074E7F968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3CC74693-F1B6-4BCF-9571-A2079CAFB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04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1AA39E4E-BE7A-4843-B1FD-AB5380DA4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3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4423991-C95F-4821-B8C4-0B958A06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EAE5E2AB-F79D-4C80-84F7-8BC425E47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1C1424C-4E1B-4F37-A0FF-3C4B91932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9/22</a:t>
            </a:r>
          </a:p>
        </p:txBody>
      </p:sp>
    </p:spTree>
    <p:extLst>
      <p:ext uri="{BB962C8B-B14F-4D97-AF65-F5344CB8AC3E}">
        <p14:creationId xmlns:p14="http://schemas.microsoft.com/office/powerpoint/2010/main" val="245235287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D1BAEB8-D9D2-4171-AE29-CED64D35A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Tempo também é contrato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C9297246-F91C-4D20-A086-CCEB8D068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B6458D3E-1625-4412-A9FB-D2433985D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Evento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48E6FE6B-742C-433C-BECB-FBE861AD0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E15E67F5-DD24-4E77-A313-E65D08B3A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46D04FD2-7D16-4F35-A1C6-5B57663C7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Grão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6381FA9E-5ABF-4E73-B6EC-A1BC73E9E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7281EAA4-8CD0-43BE-9D9C-5B0380464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3B1FB2AF-7EC4-48E2-B1F6-7CFB02E9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Calendário</a:t>
            </a:r>
          </a:p>
        </p:txBody>
      </p:sp>
      <p:sp>
        <p:nvSpPr>
          <p:cNvPr id="10" name="step-line-3">
            <a:extLst xmlns:a="http://schemas.openxmlformats.org/drawingml/2006/main">
              <a:ext uri="{FF2B5EF4-FFF2-40B4-BE49-F238E27FC236}">
                <a16:creationId xmlns:a16="http://schemas.microsoft.com/office/drawing/2014/main" id="{E1F0949D-889D-4017-82B9-8D8C5272E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11" name="step-num-4">
            <a:extLst xmlns:a="http://schemas.openxmlformats.org/drawingml/2006/main">
              <a:ext uri="{FF2B5EF4-FFF2-40B4-BE49-F238E27FC236}">
                <a16:creationId xmlns:a16="http://schemas.microsoft.com/office/drawing/2014/main" id="{E9CF2E91-9FD9-4828-93FD-178F5E18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04</a:t>
            </a:r>
          </a:p>
        </p:txBody>
      </p:sp>
      <p:sp>
        <p:nvSpPr>
          <p:cNvPr id="12" name="step-label-4">
            <a:extLst xmlns:a="http://schemas.openxmlformats.org/drawingml/2006/main">
              <a:ext uri="{FF2B5EF4-FFF2-40B4-BE49-F238E27FC236}">
                <a16:creationId xmlns:a16="http://schemas.microsoft.com/office/drawing/2014/main" id="{DEEE884B-A978-4F10-AF9A-C92D8B56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Métrica</a:t>
            </a:r>
          </a:p>
        </p:txBody>
      </p:sp>
      <p:sp>
        <p:nvSpPr>
          <p:cNvPr id="13" name="eyebrow">
            <a:extLst xmlns:a="http://schemas.openxmlformats.org/drawingml/2006/main">
              <a:ext uri="{FF2B5EF4-FFF2-40B4-BE49-F238E27FC236}">
                <a16:creationId xmlns:a16="http://schemas.microsoft.com/office/drawing/2014/main" id="{057F8844-C547-4519-84FC-76B46247E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3  •  OPEN / CORE 1.12</a:t>
            </a:r>
          </a:p>
        </p:txBody>
      </p:sp>
      <p:sp>
        <p:nvSpPr>
          <p:cNvPr id="1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AE7E6DC-7058-4A41-B683-B85003E9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5" name="footer">
            <a:extLst xmlns:a="http://schemas.openxmlformats.org/drawingml/2006/main">
              <a:ext uri="{FF2B5EF4-FFF2-40B4-BE49-F238E27FC236}">
                <a16:creationId xmlns:a16="http://schemas.microsoft.com/office/drawing/2014/main" id="{68E727C7-994A-4383-AD87-2CA031675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6B35054-D18B-4F43-9D10-5C0E8A28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10/22</a:t>
            </a:r>
          </a:p>
        </p:txBody>
      </p:sp>
    </p:spTree>
    <p:extLst>
      <p:ext uri="{BB962C8B-B14F-4D97-AF65-F5344CB8AC3E}">
        <p14:creationId xmlns:p14="http://schemas.microsoft.com/office/powerpoint/2010/main" val="879929287"/>
      </p:ext>
    </p:extLst>
  </p:cSld>
</p:sld>
</file>

<file path=ppt/slides/slide1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A0D3FDD-A8C2-4110-9AE6-B9BFCF0F7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Métricas simples vivem perto do dado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8F17726-5881-4EA2-B9D4-04BB270DD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Contagem, soma e receita entregue reutilizam colunas já testadas.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0D9D7883-38BC-465C-A1DA-15DD8EEE2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orders: count_distinct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gross_revenue: sum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delivered_revenue: sum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6FE94218-F612-406D-B83B-1DF919D0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122DE5B6-4364-4706-8703-7AA614661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13B0C487-4885-40B7-8565-8A5BCD90E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05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6B9F75C5-3C2E-4353-8731-67F204E1D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3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D34D801-6F0C-45FD-A6BA-85C1F2DCA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3784D6B2-EE8B-48B4-891F-1841EE4ED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EC31D13-D344-4E20-9A44-E28594A01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11/22</a:t>
            </a:r>
          </a:p>
        </p:txBody>
      </p:sp>
    </p:spTree>
    <p:extLst>
      <p:ext uri="{BB962C8B-B14F-4D97-AF65-F5344CB8AC3E}">
        <p14:creationId xmlns:p14="http://schemas.microsoft.com/office/powerpoint/2010/main" val="82341250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2463B8E-39A9-4598-8F6A-5256C9303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Métricas simples vivem perto do dado</a:t>
            </a:r>
          </a:p>
        </p:txBody>
      </p:sp>
      <p:sp>
        <p:nvSpPr>
          <p:cNvPr id="2" name="metric-primary">
            <a:extLst xmlns:a="http://schemas.openxmlformats.org/drawingml/2006/main">
              <a:ext uri="{FF2B5EF4-FFF2-40B4-BE49-F238E27FC236}">
                <a16:creationId xmlns:a16="http://schemas.microsoft.com/office/drawing/2014/main" id="{C0524591-2A5B-4E9C-BF0B-71191FE1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57500"/>
            <a:ext cx="4000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565C0"/>
                </a:solidFill>
              </a:defRPr>
            </a:pPr>
            <a:r>
              <a:rPr sz="3600" b="1">
                <a:solidFill>
                  <a:srgbClr val="1565C0"/>
                </a:solidFill>
              </a:rPr>
              <a:t>630 entregue</a:t>
            </a:r>
          </a:p>
        </p:txBody>
      </p:sp>
      <p:sp>
        <p:nvSpPr>
          <p:cNvPr id="3" name="metric-inputs">
            <a:extLst xmlns:a="http://schemas.openxmlformats.org/drawingml/2006/main">
              <a:ext uri="{FF2B5EF4-FFF2-40B4-BE49-F238E27FC236}">
                <a16:creationId xmlns:a16="http://schemas.microsoft.com/office/drawing/2014/main" id="{B3A15207-5637-42C5-AADF-BC4D3AB0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43250"/>
            <a:ext cx="5238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B1F3A"/>
                </a:solidFill>
              </a:defRPr>
            </a:pPr>
            <a:r>
              <a:rPr sz="2250" b="1">
                <a:solidFill>
                  <a:srgbClr val="0B1F3A"/>
                </a:solidFill>
              </a:rPr>
              <a:t>8 pedidos  ×  740 bruto</a:t>
            </a:r>
          </a:p>
        </p:txBody>
      </p:sp>
      <p:sp>
        <p:nvSpPr>
          <p:cNvPr id="4" name="metric-arrow">
            <a:extLst xmlns:a="http://schemas.openxmlformats.org/drawingml/2006/main">
              <a:ext uri="{FF2B5EF4-FFF2-40B4-BE49-F238E27FC236}">
                <a16:creationId xmlns:a16="http://schemas.microsoft.com/office/drawing/2014/main" id="{AF1364D0-B9B5-4A9D-8C51-B69719478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086100"/>
            <a:ext cx="1047750" cy="666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565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D0D30943-1803-4A56-8D2C-88761F90C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3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5640186-23CB-4522-8CC1-7E1B47B41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68A8D600-A102-45E0-BA16-8F87A1BCF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2EDFA0B-2CF0-4EAE-9056-6D1FCF7EE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12/22</a:t>
            </a:r>
          </a:p>
        </p:txBody>
      </p:sp>
    </p:spTree>
    <p:extLst>
      <p:ext uri="{BB962C8B-B14F-4D97-AF65-F5344CB8AC3E}">
        <p14:creationId xmlns:p14="http://schemas.microsoft.com/office/powerpoint/2010/main" val="205353087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A53DC4F-8778-4970-A1C2-78495827D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Razões reutilizam métricas nomeadas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D14D6880-9BE0-4DA4-A0A9-2A0242D95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Ticket médio compõe gross_revenue e orders sem copiar a fórmula.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F651EEF7-36CF-4D24-9716-8BE5E6F6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Numerador governado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Denominador governado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Precisão e zero documentados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B7F4B7C8-ED7B-41BC-BBA0-C05EA7BFC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7C7796FD-DC8D-4DFA-8F2E-444B06956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F571D871-1218-4033-8D24-0CD5F6CA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06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BC12CD27-E733-48DF-BE40-5811E4DF5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3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4CCFE13-00D0-489E-88B2-453D74F7F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C476BE93-AB79-4975-812E-46898E8A9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A7F03E3-A3F9-403D-9580-296F6786E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13/22</a:t>
            </a:r>
          </a:p>
        </p:txBody>
      </p:sp>
    </p:spTree>
    <p:extLst>
      <p:ext uri="{BB962C8B-B14F-4D97-AF65-F5344CB8AC3E}">
        <p14:creationId xmlns:p14="http://schemas.microsoft.com/office/powerpoint/2010/main" val="1479572517"/>
      </p:ext>
    </p:extLst>
  </p:cSld>
</p:sld>
</file>

<file path=ppt/slides/slide1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5291985-5B2E-4679-9657-E461E65B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Razões reutilizam métricas nomeadas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29B16B47-360C-48AF-8A30-BF0FF3BB9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gross_revenue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5D86F81F-1B2C-44C2-A1E6-BC5F0EDC0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9488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÷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369EF5D0-F958-4CC0-9197-470F312CE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orders</a:t>
            </a:r>
          </a:p>
        </p:txBody>
      </p:sp>
      <p:sp>
        <p:nvSpPr>
          <p:cNvPr id="5" name="flow-4">
            <a:extLst xmlns:a="http://schemas.openxmlformats.org/drawingml/2006/main">
              <a:ext uri="{FF2B5EF4-FFF2-40B4-BE49-F238E27FC236}">
                <a16:creationId xmlns:a16="http://schemas.microsoft.com/office/drawing/2014/main" id="{70007307-9168-4F5D-84B8-9CA65E972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AOV</a:t>
            </a:r>
          </a:p>
        </p:txBody>
      </p:sp>
      <p:cxnSp>
        <p:nvCxnSpPr>
          <p:cNvPr id="18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3252788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19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5962651" y="3962400"/>
            <a:ext cx="266699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20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8672513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1BD7FA4E-0BD1-4E8F-9B10-5942D9D6C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3  •  OPEN / CORE 1.12</a:t>
            </a:r>
          </a:p>
        </p:txBody>
      </p:sp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2B766AC-ED29-409C-BF98-94C38480E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C3AE047E-AE20-4794-A187-A27810546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30E1D34-739B-4333-895C-2507213BC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14/22</a:t>
            </a:r>
          </a:p>
        </p:txBody>
      </p:sp>
    </p:spTree>
    <p:extLst>
      <p:ext uri="{BB962C8B-B14F-4D97-AF65-F5344CB8AC3E}">
        <p14:creationId xmlns:p14="http://schemas.microsoft.com/office/powerpoint/2010/main" val="1605583867"/>
      </p:ext>
    </p:extLst>
  </p:cSld>
</p:sld>
</file>

<file path=ppt/slides/slide1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698B489-A678-4057-B77A-D4D3545A9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Demonstração — execute</a:t>
            </a:r>
          </a:p>
        </p:txBody>
      </p:sp>
      <p:sp>
        <p:nvSpPr>
          <p:cNvPr id="2" name="code-surface">
            <a:extLst xmlns:a="http://schemas.openxmlformats.org/drawingml/2006/main">
              <a:ext uri="{FF2B5EF4-FFF2-40B4-BE49-F238E27FC236}">
                <a16:creationId xmlns:a16="http://schemas.microsoft.com/office/drawing/2014/main" id="{5F4322F3-221B-4E19-9D21-B3790CA5C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9715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31021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</p:sp>
      <p:sp>
        <p:nvSpPr>
          <p:cNvPr id="3" name="command">
            <a:extLst xmlns:a="http://schemas.openxmlformats.org/drawingml/2006/main">
              <a:ext uri="{FF2B5EF4-FFF2-40B4-BE49-F238E27FC236}">
                <a16:creationId xmlns:a16="http://schemas.microsoft.com/office/drawing/2014/main" id="{7458D863-5A6C-48C1-B78D-BCD5B7928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0375"/>
            <a:ext cx="885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checkpoint 03</a:t>
            </a:r>
          </a:p>
        </p:txBody>
      </p:sp>
      <p:sp>
        <p:nvSpPr>
          <p:cNvPr id="4" name="command-help">
            <a:extLst xmlns:a="http://schemas.openxmlformats.org/drawingml/2006/main">
              <a:ext uri="{FF2B5EF4-FFF2-40B4-BE49-F238E27FC236}">
                <a16:creationId xmlns:a16="http://schemas.microsoft.com/office/drawing/2014/main" id="{06689659-3C68-491B-BC28-5DA2F12CC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619625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E2F2FF"/>
                </a:solidFill>
              </a:defRPr>
            </a:pPr>
            <a:r>
              <a:rPr sz="1425">
                <a:solidFill>
                  <a:srgbClr val="E2F2FF"/>
                </a:solidFill>
              </a:rPr>
              <a:t>Copie exatamente como aparece. O launcher escolhe o ambiente correto.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DDC5B770-B87E-4DF7-8C99-C5B80BCEF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3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DED1FC5-E55A-4B18-967C-DE1E9AB46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DF1C1B34-6669-44A7-8AE3-C0AD055A9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CDDB8FA-EFF6-49D8-BE84-B3F3924FA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15/22</a:t>
            </a:r>
          </a:p>
        </p:txBody>
      </p:sp>
    </p:spTree>
    <p:extLst>
      <p:ext uri="{BB962C8B-B14F-4D97-AF65-F5344CB8AC3E}">
        <p14:creationId xmlns:p14="http://schemas.microsoft.com/office/powerpoint/2010/main" val="163368314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2D36AE9-25C4-4738-BC9A-EE1B459AA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Demonstração — observe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A1106228-5836-48AD-9BD7-7ECA6F39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386787C7-64FC-4530-8840-08CAA2325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mf validate-configs sem erro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D1DA067A-9CC8-4314-A8C6-1FDB96D7C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96843623-8D5B-4607-BD10-307E54034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E8D3CDE0-55DC-4D84-8583-862324F82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Consulta mensal compilada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A7F54A1F-E5DF-4F80-8E0A-1E9885F72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8F85F3B6-91F6-491B-8402-79479C6B4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58075528-34AA-4AB2-BE19-1C58D714D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Janeiro a abril reconciliados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AB8481EA-B79F-452B-AD26-5F2D52F82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3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BE97B12-C71F-4837-8076-36823AD82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E616B752-C003-40F2-8148-C846DD937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A383DC1-3409-4A4E-9EA8-9F5F50FA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16/22</a:t>
            </a:r>
          </a:p>
        </p:txBody>
      </p:sp>
    </p:spTree>
    <p:extLst>
      <p:ext uri="{BB962C8B-B14F-4D97-AF65-F5344CB8AC3E}">
        <p14:creationId xmlns:p14="http://schemas.microsoft.com/office/powerpoint/2010/main" val="1653939127"/>
      </p:ext>
    </p:extLst>
  </p:cSld>
</p:sld>
</file>

<file path=ppt/slides/slide1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sult-label">
            <a:extLst xmlns:a="http://schemas.openxmlformats.org/drawingml/2006/main">
              <a:ext uri="{FF2B5EF4-FFF2-40B4-BE49-F238E27FC236}">
                <a16:creationId xmlns:a16="http://schemas.microsoft.com/office/drawing/2014/main" id="{C379BC46-3DD4-4B80-AA72-2713205F1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RESULTADO ESPERADO</a:t>
            </a:r>
          </a:p>
        </p:txBody>
      </p:sp>
      <p:sp>
        <p:nvSpPr>
          <p:cNvPr id="2" name="result">
            <a:extLst xmlns:a="http://schemas.openxmlformats.org/drawingml/2006/main">
              <a:ext uri="{FF2B5EF4-FFF2-40B4-BE49-F238E27FC236}">
                <a16:creationId xmlns:a16="http://schemas.microsoft.com/office/drawing/2014/main" id="{0D585866-B9A0-4DCA-B65C-CA6A52281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8 pedidos · 740 bruto · 630 entregue · 92,50 AOV</a:t>
            </a:r>
          </a:p>
        </p:txBody>
      </p:sp>
      <p:sp>
        <p:nvSpPr>
          <p:cNvPr id="3" name="result-meta">
            <a:extLst xmlns:a="http://schemas.openxmlformats.org/drawingml/2006/main">
              <a:ext uri="{FF2B5EF4-FFF2-40B4-BE49-F238E27FC236}">
                <a16:creationId xmlns:a16="http://schemas.microsoft.com/office/drawing/2014/main" id="{04B5A7A5-EE64-4413-B3D4-A166A3EA9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Checkpoint 03 • evidência reproduzível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E5943844-BF68-4D95-A484-0A934ED9C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3ACF8646-1D76-4B82-9C5E-06FEDBD26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3370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E326917D-0F83-4081-A001-26CF48FC9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3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7B1320F-2255-4F8F-8022-9581E7DCC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AED8A690-4645-40A9-8A3B-84BC976B0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D4476E9-E1CA-4210-BAD8-5453AED2C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17/22</a:t>
            </a:r>
          </a:p>
        </p:txBody>
      </p:sp>
    </p:spTree>
    <p:extLst>
      <p:ext uri="{BB962C8B-B14F-4D97-AF65-F5344CB8AC3E}">
        <p14:creationId xmlns:p14="http://schemas.microsoft.com/office/powerpoint/2010/main" val="5383808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39F8A58-06BD-4BE7-81A5-F408C8C9B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mesmo recurso afeta três decisões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D9536C50-305E-482E-ADDB-07F043CBA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32158F37-6D5B-495F-87EE-5383FAA76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Governança: Git e ownership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6903B79F-064E-48D2-B917-3AD24583F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544FB529-27F9-4202-844D-A0720594B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7AEC00F7-35B3-4A79-8457-F8DCB0858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FinOps: reuso com cardinalidade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10D5E179-C4D0-4E11-A8C0-C11B56CE7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389D769A-2272-477F-B593-E19B1500A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5A722950-B6FE-46CD-BC19-2817555B7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IA: nomes em vez de joins inventados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24302542-113C-43B6-900D-619BDD26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3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89F2A4C-A37F-4D80-AA6B-79A81A8AB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ADD5DCCF-3B6A-4BF4-8C1A-FB29BA42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EC45FEA-CFE0-41E8-A8A4-DBAAAC59C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18/22</a:t>
            </a:r>
          </a:p>
        </p:txBody>
      </p:sp>
    </p:spTree>
    <p:extLst>
      <p:ext uri="{BB962C8B-B14F-4D97-AF65-F5344CB8AC3E}">
        <p14:creationId xmlns:p14="http://schemas.microsoft.com/office/powerpoint/2010/main" val="1124408388"/>
      </p:ext>
    </p:extLst>
  </p:cSld>
</p:sld>
</file>

<file path=ppt/slides/slide1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se-number">
            <a:extLst xmlns:a="http://schemas.openxmlformats.org/drawingml/2006/main">
              <a:ext uri="{FF2B5EF4-FFF2-40B4-BE49-F238E27FC236}">
                <a16:creationId xmlns:a16="http://schemas.microsoft.com/office/drawing/2014/main" id="{6CDBC90F-8D38-4566-BE68-9EF269B3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1EC5FF"/>
                </a:solidFill>
              </a:defRPr>
            </a:pPr>
            <a:r>
              <a:rPr sz="5550" b="1">
                <a:solidFill>
                  <a:srgbClr val="1EC5FF"/>
                </a:solidFill>
              </a:rPr>
              <a:t>2 → 13</a:t>
            </a:r>
          </a:p>
        </p:txBody>
      </p:sp>
      <p:sp>
        <p:nvSpPr>
          <p:cNvPr id="2" name="case-label">
            <a:extLst xmlns:a="http://schemas.openxmlformats.org/drawingml/2006/main">
              <a:ext uri="{FF2B5EF4-FFF2-40B4-BE49-F238E27FC236}">
                <a16:creationId xmlns:a16="http://schemas.microsoft.com/office/drawing/2014/main" id="{3127B889-0B5E-4BB0-BB99-668B71BDE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contribuidores reportados pela Inventa</a:t>
            </a:r>
          </a:p>
        </p:txBody>
      </p:sp>
      <p:sp>
        <p:nvSpPr>
          <p:cNvPr id="3" name="case-divider">
            <a:extLst xmlns:a="http://schemas.openxmlformats.org/drawingml/2006/main">
              <a:ext uri="{FF2B5EF4-FFF2-40B4-BE49-F238E27FC236}">
                <a16:creationId xmlns:a16="http://schemas.microsoft.com/office/drawing/2014/main" id="{147B4A15-B110-4C3B-9326-68E4BF3B3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7059"/>
              </a:srgbClr>
            </a:solidFill>
            <a:prstDash val="solid"/>
          </a:ln>
        </p:spPr>
      </p:sp>
      <p:sp>
        <p:nvSpPr>
          <p:cNvPr id="4" name="case-caveat">
            <a:extLst xmlns:a="http://schemas.openxmlformats.org/drawingml/2006/main">
              <a:ext uri="{FF2B5EF4-FFF2-40B4-BE49-F238E27FC236}">
                <a16:creationId xmlns:a16="http://schemas.microsoft.com/office/drawing/2014/main" id="{EE5348F1-98E2-473E-8EEA-56662025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90750"/>
            <a:ext cx="3333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O laboratório comprova apenas validação, SQL e reconciliação.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819250D9-7CEA-4D62-8445-EA066541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3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06568F1-ADE6-483C-94AB-93E4ADF66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B6BDF066-D58C-4C51-9562-09C5ECFB0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3DE4E4C-E7EE-4296-B18C-E52272B69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19/22</a:t>
            </a:r>
          </a:p>
        </p:txBody>
      </p:sp>
    </p:spTree>
    <p:extLst>
      <p:ext uri="{BB962C8B-B14F-4D97-AF65-F5344CB8AC3E}">
        <p14:creationId xmlns:p14="http://schemas.microsoft.com/office/powerpoint/2010/main" val="197808292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6E419CD-E643-4B89-ADAE-18E0B68D5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Limitações que precisam permanecer visíveis</a:t>
            </a:r>
          </a:p>
        </p:txBody>
      </p:sp>
      <p:sp>
        <p:nvSpPr>
          <p:cNvPr id="2" name="bullets">
            <a:extLst xmlns:a="http://schemas.openxmlformats.org/drawingml/2006/main">
              <a:ext uri="{FF2B5EF4-FFF2-40B4-BE49-F238E27FC236}">
                <a16:creationId xmlns:a16="http://schemas.microsoft.com/office/drawing/2014/main" id="{B1B968AE-2F73-4E6A-BF9B-D5048B310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9906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MetricFlow não decide a definição da métrica</a:t>
            </a:r>
          </a:p>
          <a:p xmlns:a="http://schemas.openxmlformats.org/drawingml/2006/main">
            <a:pPr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Alta cardinalidade ainda custa</a:t>
            </a:r>
          </a:p>
          <a:p xmlns:a="http://schemas.openxmlformats.org/drawingml/2006/main">
            <a:pPr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Biblioteca aberta não é o serviço hospedado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97AEF8FD-1EE3-49B0-89A4-F8F495783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3  •  OPEN / CORE 1.12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4835122-2A07-49EF-B693-287B8CA3C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31C9D9B7-2D6E-4BA3-96F3-E75861789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FC381C6-6E31-4160-B833-A85D1CC92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20/22</a:t>
            </a:r>
          </a:p>
        </p:txBody>
      </p:sp>
    </p:spTree>
    <p:extLst>
      <p:ext uri="{BB962C8B-B14F-4D97-AF65-F5344CB8AC3E}">
        <p14:creationId xmlns:p14="http://schemas.microsoft.com/office/powerpoint/2010/main" val="623515687"/>
      </p:ext>
    </p:extLst>
  </p:cSld>
</p:sld>
</file>

<file path=ppt/slides/slide2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adar-label">
            <a:extLst xmlns:a="http://schemas.openxmlformats.org/drawingml/2006/main">
              <a:ext uri="{FF2B5EF4-FFF2-40B4-BE49-F238E27FC236}">
                <a16:creationId xmlns:a16="http://schemas.microsoft.com/office/drawing/2014/main" id="{93138910-4031-4DF7-A1A5-020DD3EFC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EC5FF"/>
                </a:solidFill>
              </a:defRPr>
            </a:pPr>
            <a:r>
              <a:rPr sz="1500" b="1">
                <a:solidFill>
                  <a:srgbClr val="1EC5FF"/>
                </a:solidFill>
              </a:rPr>
              <a:t>RADAR</a:t>
            </a:r>
          </a:p>
        </p:txBody>
      </p:sp>
      <p:sp>
        <p:nvSpPr>
          <p:cNvPr id="2" name="radar-text">
            <a:extLst xmlns:a="http://schemas.openxmlformats.org/drawingml/2006/main">
              <a:ext uri="{FF2B5EF4-FFF2-40B4-BE49-F238E27FC236}">
                <a16:creationId xmlns:a16="http://schemas.microsoft.com/office/drawing/2014/main" id="{55A3C57B-9F72-4ABA-8992-D889E00F2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334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A matriz de suporte do Core 2.0/Fusion não é assumida igual ao Core 1.12.</a:t>
            </a:r>
          </a:p>
        </p:txBody>
      </p:sp>
      <p:sp>
        <p:nvSpPr>
          <p:cNvPr id="3" name="radar-rule">
            <a:extLst xmlns:a="http://schemas.openxmlformats.org/drawingml/2006/main">
              <a:ext uri="{FF2B5EF4-FFF2-40B4-BE49-F238E27FC236}">
                <a16:creationId xmlns:a16="http://schemas.microsoft.com/office/drawing/2014/main" id="{7E9BCCAF-7C9A-4090-BD9F-73A4D7851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E2F2FF"/>
                </a:solidFill>
              </a:defRPr>
            </a:pPr>
            <a:r>
              <a:rPr sz="1500">
                <a:solidFill>
                  <a:srgbClr val="E2F2FF"/>
                </a:solidFill>
              </a:rPr>
              <a:t>Novidade observada ≠ recomendação de produção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5BFBA36B-23F5-46AA-B45D-C56B995C6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62250"/>
            <a:ext cx="1809750" cy="1809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A761E5AD-1ABF-4D56-90F3-5497C914E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194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77D74314-E319-4E8D-8AA0-88D4A42E2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3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E158996-ABE1-4CA6-83D6-DC0FBA791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DA383831-B679-4B1D-840F-C791D2E5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EE3832C-EACA-455C-92C2-344410EAD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21/22</a:t>
            </a:r>
          </a:p>
        </p:txBody>
      </p:sp>
    </p:spTree>
    <p:extLst>
      <p:ext uri="{BB962C8B-B14F-4D97-AF65-F5344CB8AC3E}">
        <p14:creationId xmlns:p14="http://schemas.microsoft.com/office/powerpoint/2010/main" val="50141583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ta-label">
            <a:extLst xmlns:a="http://schemas.openxmlformats.org/drawingml/2006/main">
              <a:ext uri="{FF2B5EF4-FFF2-40B4-BE49-F238E27FC236}">
                <a16:creationId xmlns:a16="http://schemas.microsoft.com/office/drawing/2014/main" id="{F0C854E1-352F-4FCD-9220-E2C69181E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565C0"/>
                </a:solidFill>
              </a:defRPr>
            </a:pPr>
            <a:r>
              <a:rPr sz="1350" b="1">
                <a:solidFill>
                  <a:srgbClr val="1565C0"/>
                </a:solidFill>
              </a:rPr>
              <a:t>PRÓXIMO PASSO</a:t>
            </a:r>
          </a:p>
        </p:txBody>
      </p:sp>
      <p:sp>
        <p:nvSpPr>
          <p:cNvPr id="2" name="cta">
            <a:extLst xmlns:a="http://schemas.openxmlformats.org/drawingml/2006/main">
              <a:ext uri="{FF2B5EF4-FFF2-40B4-BE49-F238E27FC236}">
                <a16:creationId xmlns:a16="http://schemas.microsoft.com/office/drawing/2014/main" id="{5975FEAC-6FAC-4E3E-AA5B-8B74C992F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71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B1F3A"/>
                </a:solidFill>
              </a:defRPr>
            </a:pPr>
            <a:r>
              <a:rPr sz="3300" b="1">
                <a:solidFill>
                  <a:srgbClr val="0B1F3A"/>
                </a:solidFill>
              </a:rPr>
              <a:t>Implemente uma métrica simples e uma razão e reconcilie os valores.</a:t>
            </a:r>
          </a:p>
        </p:txBody>
      </p:sp>
      <p:sp>
        <p:nvSpPr>
          <p:cNvPr id="3" name="cta-meta">
            <a:extLst xmlns:a="http://schemas.openxmlformats.org/drawingml/2006/main">
              <a:ext uri="{FF2B5EF4-FFF2-40B4-BE49-F238E27FC236}">
                <a16:creationId xmlns:a16="http://schemas.microsoft.com/office/drawing/2014/main" id="{27C4CE70-9570-45F0-B753-533197CF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C6F86"/>
                </a:solidFill>
              </a:defRPr>
            </a:pPr>
            <a:r>
              <a:rPr sz="1500">
                <a:solidFill>
                  <a:srgbClr val="5C6F86"/>
                </a:solidFill>
              </a:rPr>
              <a:t>Checkpoint 03 • roteiro completo no repositório</a:t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2017792B-5897-436F-9C65-FB454AA48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3  •  OPEN / CORE 1.12</a:t>
            </a:r>
          </a:p>
        </p:txBody>
      </p:sp>
      <p:sp>
        <p:nvSpPr>
          <p:cNvPr id="5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881DF72-999C-4052-97D5-01BB9DAF0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712C6B73-7A4B-46E5-B716-4B4CCF276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251878B-295F-4DE6-80CE-CDDA842A8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22/22</a:t>
            </a:r>
          </a:p>
        </p:txBody>
      </p:sp>
    </p:spTree>
    <p:extLst>
      <p:ext uri="{BB962C8B-B14F-4D97-AF65-F5344CB8AC3E}">
        <p14:creationId xmlns:p14="http://schemas.microsoft.com/office/powerpoint/2010/main" val="4199800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2026-09-02T00:42:42.2790000Z</dcterms:created>
  <dcterms:modified xsi:type="dcterms:W3CDTF">2026-09-02T00:42:42.2790000Z</dcterms:modified>
</coreProperties>
</file>