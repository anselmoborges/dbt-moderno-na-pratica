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d43d7ab344a4e" /><Relationship Type="http://schemas.openxmlformats.org/officeDocument/2006/relationships/extended-properties" Target="/docProps/app.xml" Id="R9bf75d9a7ffb47d2" /><Relationship Type="http://schemas.openxmlformats.org/officeDocument/2006/relationships/officeDocument" Target="/ppt/presentation.xml" Id="Rb02acacd4aaa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a9e0de5af43f0"/>
    <p:sldMasterId xmlns:r="http://schemas.openxmlformats.org/officeDocument/2006/relationships" id="2147483650" r:id="R1b8454f48c974721"/>
  </p:sldMasterIdLst>
  <p:notesMasterIdLst>
    <p:notesMasterId xmlns:r="http://schemas.openxmlformats.org/officeDocument/2006/relationships" r:id="Rb68d988972cb485b"/>
  </p:notesMasterIdLst>
  <p:sldIdLst>
    <p:sldId xmlns:r="http://schemas.openxmlformats.org/officeDocument/2006/relationships" id="256" r:id="R590aa0526995414b"/>
    <p:sldId xmlns:r="http://schemas.openxmlformats.org/officeDocument/2006/relationships" id="257" r:id="R6a4bfcbf539d4992"/>
    <p:sldId xmlns:r="http://schemas.openxmlformats.org/officeDocument/2006/relationships" id="258" r:id="Rd85def057c64472a"/>
    <p:sldId xmlns:r="http://schemas.openxmlformats.org/officeDocument/2006/relationships" id="259" r:id="R087918ddc70947b5"/>
    <p:sldId xmlns:r="http://schemas.openxmlformats.org/officeDocument/2006/relationships" id="260" r:id="R5c6e8e491b874c63"/>
    <p:sldId xmlns:r="http://schemas.openxmlformats.org/officeDocument/2006/relationships" id="261" r:id="Rd22ba146db6b4f99"/>
    <p:sldId xmlns:r="http://schemas.openxmlformats.org/officeDocument/2006/relationships" id="262" r:id="Ra475b24577bb4c3f"/>
    <p:sldId xmlns:r="http://schemas.openxmlformats.org/officeDocument/2006/relationships" id="263" r:id="Rccc2ea716e5a4b79"/>
    <p:sldId xmlns:r="http://schemas.openxmlformats.org/officeDocument/2006/relationships" id="264" r:id="Rb42f907b641343ae"/>
    <p:sldId xmlns:r="http://schemas.openxmlformats.org/officeDocument/2006/relationships" id="265" r:id="R0416ae11d9c94676"/>
    <p:sldId xmlns:r="http://schemas.openxmlformats.org/officeDocument/2006/relationships" id="266" r:id="Rb4264e310a6941b2"/>
    <p:sldId xmlns:r="http://schemas.openxmlformats.org/officeDocument/2006/relationships" id="267" r:id="Rad33155cd736486d"/>
    <p:sldId xmlns:r="http://schemas.openxmlformats.org/officeDocument/2006/relationships" id="268" r:id="R80a4c5d892374336"/>
    <p:sldId xmlns:r="http://schemas.openxmlformats.org/officeDocument/2006/relationships" id="269" r:id="Reb4436602d8e413c"/>
    <p:sldId xmlns:r="http://schemas.openxmlformats.org/officeDocument/2006/relationships" id="270" r:id="R4682acf6e6ee4f46"/>
    <p:sldId xmlns:r="http://schemas.openxmlformats.org/officeDocument/2006/relationships" id="271" r:id="R87793ab35585495c"/>
    <p:sldId xmlns:r="http://schemas.openxmlformats.org/officeDocument/2006/relationships" id="272" r:id="R7b46cca0d6534d2c"/>
    <p:sldId xmlns:r="http://schemas.openxmlformats.org/officeDocument/2006/relationships" id="273" r:id="R2f2004c7902f4083"/>
    <p:sldId xmlns:r="http://schemas.openxmlformats.org/officeDocument/2006/relationships" id="274" r:id="R0ebd668c9eca446c"/>
    <p:sldId xmlns:r="http://schemas.openxmlformats.org/officeDocument/2006/relationships" id="275" r:id="R5706bcddf6004889"/>
    <p:sldId xmlns:r="http://schemas.openxmlformats.org/officeDocument/2006/relationships" id="276" r:id="Rcc43c4cc69a34a60"/>
    <p:sldId xmlns:r="http://schemas.openxmlformats.org/officeDocument/2006/relationships" id="277" r:id="R4c2d18769afd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150569e3f4c79" /><Relationship Type="http://schemas.openxmlformats.org/officeDocument/2006/relationships/slideMaster" Target="/ppt/slideMasters/slideMaster1.xml" Id="Rfc5a9e0de5af43f0" /><Relationship Type="http://schemas.openxmlformats.org/officeDocument/2006/relationships/slideMaster" Target="/ppt/slideMasters/slideMaster2.xml" Id="R1b8454f48c974721" /><Relationship Type="http://schemas.openxmlformats.org/officeDocument/2006/relationships/notesMaster" Target="/ppt/notesMasters/notesMaster1.xml" Id="Rb68d988972cb485b" /><Relationship Type="http://schemas.openxmlformats.org/officeDocument/2006/relationships/presProps" Target="/ppt/presProps.xml" Id="Rea896cb887094534" /><Relationship Type="http://schemas.openxmlformats.org/officeDocument/2006/relationships/tableStyles" Target="/ppt/tableStyles.xml" Id="Rf909893dbca04f71" /><Relationship Type="http://schemas.openxmlformats.org/officeDocument/2006/relationships/slide" Target="/ppt/slides/slide1.xml" Id="R590aa0526995414b" /><Relationship Type="http://schemas.openxmlformats.org/officeDocument/2006/relationships/slide" Target="/ppt/slides/slide2.xml" Id="R6a4bfcbf539d4992" /><Relationship Type="http://schemas.openxmlformats.org/officeDocument/2006/relationships/slide" Target="/ppt/slides/slide3.xml" Id="Rd85def057c64472a" /><Relationship Type="http://schemas.openxmlformats.org/officeDocument/2006/relationships/slide" Target="/ppt/slides/slide4.xml" Id="R087918ddc70947b5" /><Relationship Type="http://schemas.openxmlformats.org/officeDocument/2006/relationships/slide" Target="/ppt/slides/slide5.xml" Id="R5c6e8e491b874c63" /><Relationship Type="http://schemas.openxmlformats.org/officeDocument/2006/relationships/slide" Target="/ppt/slides/slide6.xml" Id="Rd22ba146db6b4f99" /><Relationship Type="http://schemas.openxmlformats.org/officeDocument/2006/relationships/slide" Target="/ppt/slides/slide7.xml" Id="Ra475b24577bb4c3f" /><Relationship Type="http://schemas.openxmlformats.org/officeDocument/2006/relationships/slide" Target="/ppt/slides/slide8.xml" Id="Rccc2ea716e5a4b79" /><Relationship Type="http://schemas.openxmlformats.org/officeDocument/2006/relationships/slide" Target="/ppt/slides/slide9.xml" Id="Rb42f907b641343ae" /><Relationship Type="http://schemas.openxmlformats.org/officeDocument/2006/relationships/slide" Target="/ppt/slides/slide10.xml" Id="R0416ae11d9c94676" /><Relationship Type="http://schemas.openxmlformats.org/officeDocument/2006/relationships/slide" Target="/ppt/slides/slide11.xml" Id="Rb4264e310a6941b2" /><Relationship Type="http://schemas.openxmlformats.org/officeDocument/2006/relationships/slide" Target="/ppt/slides/slide12.xml" Id="Rad33155cd736486d" /><Relationship Type="http://schemas.openxmlformats.org/officeDocument/2006/relationships/slide" Target="/ppt/slides/slide13.xml" Id="R80a4c5d892374336" /><Relationship Type="http://schemas.openxmlformats.org/officeDocument/2006/relationships/slide" Target="/ppt/slides/slide14.xml" Id="Reb4436602d8e413c" /><Relationship Type="http://schemas.openxmlformats.org/officeDocument/2006/relationships/slide" Target="/ppt/slides/slide15.xml" Id="R4682acf6e6ee4f46" /><Relationship Type="http://schemas.openxmlformats.org/officeDocument/2006/relationships/slide" Target="/ppt/slides/slide16.xml" Id="R87793ab35585495c" /><Relationship Type="http://schemas.openxmlformats.org/officeDocument/2006/relationships/slide" Target="/ppt/slides/slide17.xml" Id="R7b46cca0d6534d2c" /><Relationship Type="http://schemas.openxmlformats.org/officeDocument/2006/relationships/slide" Target="/ppt/slides/slide18.xml" Id="R2f2004c7902f4083" /><Relationship Type="http://schemas.openxmlformats.org/officeDocument/2006/relationships/slide" Target="/ppt/slides/slide19.xml" Id="R0ebd668c9eca446c" /><Relationship Type="http://schemas.openxmlformats.org/officeDocument/2006/relationships/slide" Target="/ppt/slides/slide20.xml" Id="R5706bcddf6004889" /><Relationship Type="http://schemas.openxmlformats.org/officeDocument/2006/relationships/slide" Target="/ppt/slides/slide21.xml" Id="Rcc43c4cc69a34a60" /><Relationship Type="http://schemas.openxmlformats.org/officeDocument/2006/relationships/slide" Target="/ppt/slides/slide22.xml" Id="R4c2d18769afd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668d6668ae8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ca02ca92d4c12" /><Relationship Type="http://schemas.openxmlformats.org/officeDocument/2006/relationships/notesMaster" Target="/ppt/notesMasters/notesMaster1.xml" Id="R726b2a3d51cc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94440537764280" /><Relationship Type="http://schemas.openxmlformats.org/officeDocument/2006/relationships/notesMaster" Target="/ppt/notesMasters/notesMaster1.xml" Id="R2710e8c72285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8fd9126b64992" /><Relationship Type="http://schemas.openxmlformats.org/officeDocument/2006/relationships/notesMaster" Target="/ppt/notesMasters/notesMaster1.xml" Id="R1328e4053f16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4482c0d7c541c6" /><Relationship Type="http://schemas.openxmlformats.org/officeDocument/2006/relationships/notesMaster" Target="/ppt/notesMasters/notesMaster1.xml" Id="R6504fa713ead48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87822ac1e41df" /><Relationship Type="http://schemas.openxmlformats.org/officeDocument/2006/relationships/notesMaster" Target="/ppt/notesMasters/notesMaster1.xml" Id="R3abc4fb63eba4d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07c953f7114b3b" /><Relationship Type="http://schemas.openxmlformats.org/officeDocument/2006/relationships/notesMaster" Target="/ppt/notesMasters/notesMaster1.xml" Id="Re1a594c769a741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b504713f54fd5" /><Relationship Type="http://schemas.openxmlformats.org/officeDocument/2006/relationships/notesMaster" Target="/ppt/notesMasters/notesMaster1.xml" Id="R5ae9877a67ff47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0750dcc338421c" /><Relationship Type="http://schemas.openxmlformats.org/officeDocument/2006/relationships/notesMaster" Target="/ppt/notesMasters/notesMaster1.xml" Id="R13b7acb3cb5544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32d82d32a04214" /><Relationship Type="http://schemas.openxmlformats.org/officeDocument/2006/relationships/notesMaster" Target="/ppt/notesMasters/notesMaster1.xml" Id="Ra49077cfa95c40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eddaa422994914" /><Relationship Type="http://schemas.openxmlformats.org/officeDocument/2006/relationships/notesMaster" Target="/ppt/notesMasters/notesMaster1.xml" Id="Rf693d46cb7494a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1dc4fbbf534ba8" /><Relationship Type="http://schemas.openxmlformats.org/officeDocument/2006/relationships/notesMaster" Target="/ppt/notesMasters/notesMaster1.xml" Id="Rf4858515d6a146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103c7083254279" /><Relationship Type="http://schemas.openxmlformats.org/officeDocument/2006/relationships/notesMaster" Target="/ppt/notesMasters/notesMaster1.xml" Id="R672d8475d4a947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7766879d1f4046" /><Relationship Type="http://schemas.openxmlformats.org/officeDocument/2006/relationships/notesMaster" Target="/ppt/notesMasters/notesMaster1.xml" Id="R9a9745d89b1a4f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1b830a54ed47a1" /><Relationship Type="http://schemas.openxmlformats.org/officeDocument/2006/relationships/notesMaster" Target="/ppt/notesMasters/notesMaster1.xml" Id="Re88c7580e95541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bd6acc0d9b43c6" /><Relationship Type="http://schemas.openxmlformats.org/officeDocument/2006/relationships/notesMaster" Target="/ppt/notesMasters/notesMaster1.xml" Id="R316416bc7f904d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ba93bcceee4e20" /><Relationship Type="http://schemas.openxmlformats.org/officeDocument/2006/relationships/notesMaster" Target="/ppt/notesMasters/notesMaster1.xml" Id="Rd5100efbc8c54f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a4e8a6cdcb4fd7" /><Relationship Type="http://schemas.openxmlformats.org/officeDocument/2006/relationships/notesMaster" Target="/ppt/notesMasters/notesMaster1.xml" Id="R67c4a0fca25747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27672bec9a4f59" /><Relationship Type="http://schemas.openxmlformats.org/officeDocument/2006/relationships/notesMaster" Target="/ppt/notesMasters/notesMaster1.xml" Id="R7b105c67836a45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3c8c599cae40d5" /><Relationship Type="http://schemas.openxmlformats.org/officeDocument/2006/relationships/notesMaster" Target="/ppt/notesMasters/notesMaster1.xml" Id="R7ed04913f95e45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d356e1de5c4fcf" /><Relationship Type="http://schemas.openxmlformats.org/officeDocument/2006/relationships/notesMaster" Target="/ppt/notesMasters/notesMaster1.xml" Id="R829be1b9195c4e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ff6f3deaa74b1f" /><Relationship Type="http://schemas.openxmlformats.org/officeDocument/2006/relationships/notesMaster" Target="/ppt/notesMasters/notesMaster1.xml" Id="Rbb6d59b7d27c42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98d45b7e1a4cad" /><Relationship Type="http://schemas.openxmlformats.org/officeDocument/2006/relationships/notesMaster" Target="/ppt/notesMasters/notesMaster1.xml" Id="Rc8ca963e4aa0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3 do dbt Moderno na Prática. Hoje vamos trabalhar o tema “MetricFlow local: métricas como código”. Defina, valide, compile e execute sem conta dbt Platform.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03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“Uma métrica declarada uma vez pode gerar o mesmo SQL para todos os consumidores.”.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Uma métrica declarada uma vez pode gerar o mesmo SQL para todos os consumidores.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declarar entidades e dimensões, Criar métricas simples e razão e Reconciliar SQL com ground truth.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“MetricFlow compila; não adivinha”.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A força vem de definições explícitas, não de geração probabilística. Para tornar isso concreto, observe consulta lógica, Grafo semântico e SQL executável.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“Entidade começa pelo grão”.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order_id só pode ser primary se o modelo tiver uma linha por pedido. Para tornar isso concreto, observe primary: order, Foreign: customer e Unicidade testada antes da métrica.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“Entidade começa pelo grão”.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order_id só pode ser primary se o modelo tiver uma linha por pedido. Siga a composição na ordem mostrada e conecte entidade, Grão físico, Primary: order, Foreign: customer e Unicidade testada antes da métrica.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exemplo oficial conecta schema e métricas”.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Chaves e tipos de coluna sustentam os caminhos do grafo. Para tornar isso concreto, observe PK e FK, Dimensões e Medidas.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exemplo oficial conecta schema e métricas”.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Chaves e tipos de coluna sustentam os caminhos do grafo. Siga a composição na ordem mostrada e conecte os elementos principais. A imagem ou o fluxo não cria uma regra nova; ele torna visível a relação que acabamos de explicar. A figura é identificada como exemplo oficial dbt Labs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“Tempo também é contrato”.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A dimensão padrão precisa refletir a pergunta de negócio. Para tornar isso concreto, observe order_purchase_date, Granularidade diária e Time spine para operações temporais.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“Tempo também é contrato”.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A dimensão padrão precisa refletir a pergunta de negócio. Siga a composição na ordem mostrada e conecte evento, Grão, Calendário e Métrica.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“Métricas simples vivem perto do dado”.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Contagem, soma e receita entregue reutilizam colunas já testadas. Para tornar isso concreto, observe orders: count_distinct, gross_revenue: sum e delivered_revenue: sum.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“Métricas simples vivem perto do dado”.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Contagem, soma e receita entregue reutilizam colunas já testadas.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“Razões reutilizam métricas nomeadas”.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Ticket médio compõe gross_revenue e orders sem copiar a fórmula. Para tornar isso concreto, observe numerador governado, Denominador governado e Precisão e zero documentados.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“Razões reutilizam métricas nomeadas”.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Ticket médio compõe gross_revenue e orders sem copiar a fórmula. Siga a composição na ordem mostrada e conecte gross_revenue, ÷, orders e AOV.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03.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mf validate-configs sem erro, Consulta mensal compilada e Janeiro a abril reconciliados.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8 pedidos · 740 bruto · 630 entregue · 92,50 AOV. Esse resultado confirma que a etapa executada produziu a evidência esperada para o checkpoint 03.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Git e ownership, FinOps: reuso com cardinalidade e IA: nomes em vez de joins inventados.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“2 → 13”.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2 → 13: contribuidores reportados pela Inventa. O número ajuda a dimensionar o exemplo, mas precisa ser lido com a ressalva correta. O laboratório comprova apenas validação, SQL e reconciliação.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metricFlow não decide a definição da métrica, Alta cardinalidade ainda custa e Biblioteca aberta não é o serviço hospedado.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A matriz de suporte do Core 2.0/Fusion não é assumida igual ao Core 1.12.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Implemente uma métrica simples e uma razão e reconcilie os valores.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https://github.com/AnselmoBorges/dbt-moderno-na-pratica/blob/main/roteiros/03-metricflow-local.md</a:t>
            </a:r>
          </a:p>
          <a:p xmlns:a="http://schemas.openxmlformats.org/drawingml/2006/main">
            <a:r>
              <a:t>- repo://laboratorio/checkpoints/ep03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fb37cac9f42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dc1240fd7144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4a0e20df8048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9f486d3aa497f" /><Relationship Type="http://schemas.openxmlformats.org/officeDocument/2006/relationships/slideLayout" Target="/ppt/slideLayouts/slideLayout1.xml" Id="R0a903fdc1e31433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d9e29cd14ef4b27" /><Relationship Type="http://schemas.openxmlformats.org/officeDocument/2006/relationships/slideLayout" Target="/ppt/slideLayouts/slideLayout2.xml" Id="R63543122eb054f85" /><Relationship Type="http://schemas.openxmlformats.org/officeDocument/2006/relationships/slideLayout" Target="/ppt/slideLayouts/slideLayout3.xml" Id="R86ff41f084b2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903fdc1e31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3543122eb054f85"/>
    <p:sldLayoutId xmlns:r="http://schemas.openxmlformats.org/officeDocument/2006/relationships" id="2147483652" r:id="R86ff41f084b24f8a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ed73c97934f38" /><Relationship Type="http://schemas.openxmlformats.org/officeDocument/2006/relationships/image" Target="/ppt/media/image.jpeg" Id="R67f2a711b5cc46ea" /><Relationship Type="http://schemas.openxmlformats.org/officeDocument/2006/relationships/notesSlide" Target="/ppt/notesSlides/notesSlide1.xml" Id="Rc21c58f212d1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e41a39be95439d" /><Relationship Type="http://schemas.openxmlformats.org/officeDocument/2006/relationships/image" Target="/ppt/media/image.png" Id="Rc44280a881de4edc" /><Relationship Type="http://schemas.openxmlformats.org/officeDocument/2006/relationships/notesSlide" Target="/ppt/notesSlides/notesSlide2.xml" Id="Rf2a939563a2d42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e78b58baa4175" /><Relationship Type="http://schemas.openxmlformats.org/officeDocument/2006/relationships/notesSlide" Target="/ppt/notesSlides/notesSlide3.xml" Id="R14bf2d4bcd7c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41c387d404465" /><Relationship Type="http://schemas.openxmlformats.org/officeDocument/2006/relationships/notesSlide" Target="/ppt/notesSlides/notesSlide4.xml" Id="R0f7ea1df064f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d96b4bb9b4416e" /><Relationship Type="http://schemas.openxmlformats.org/officeDocument/2006/relationships/notesSlide" Target="/ppt/notesSlides/notesSlide5.xml" Id="Rfcc5243f273447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e52ea4eef4933" /><Relationship Type="http://schemas.openxmlformats.org/officeDocument/2006/relationships/notesSlide" Target="/ppt/notesSlides/notesSlide6.xml" Id="R03e52063e13b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2ed4ad47646f3" /><Relationship Type="http://schemas.openxmlformats.org/officeDocument/2006/relationships/notesSlide" Target="/ppt/notesSlides/notesSlide7.xml" Id="R026f71bdbbde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17fa5fc43a47ea" /><Relationship Type="http://schemas.openxmlformats.org/officeDocument/2006/relationships/image" Target="/ppt/media/image2.jpeg" Id="R80a541c2a01b47d3" /><Relationship Type="http://schemas.openxmlformats.org/officeDocument/2006/relationships/notesSlide" Target="/ppt/notesSlides/notesSlide8.xml" Id="R3b0cbcf8011840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b25afddcf64308" /><Relationship Type="http://schemas.openxmlformats.org/officeDocument/2006/relationships/notesSlide" Target="/ppt/notesSlides/notesSlide9.xml" Id="R812f3b9c4a6246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342b538284f48" /><Relationship Type="http://schemas.openxmlformats.org/officeDocument/2006/relationships/notesSlide" Target="/ppt/notesSlides/notesSlide10.xml" Id="R3a7844907b5146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bb3ec5a3b4f41" /><Relationship Type="http://schemas.openxmlformats.org/officeDocument/2006/relationships/notesSlide" Target="/ppt/notesSlides/notesSlide11.xml" Id="R5e68fbedf89546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a40933ab7e4dae" /><Relationship Type="http://schemas.openxmlformats.org/officeDocument/2006/relationships/notesSlide" Target="/ppt/notesSlides/notesSlide12.xml" Id="R811e4a96814647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b5efe958e6417f" /><Relationship Type="http://schemas.openxmlformats.org/officeDocument/2006/relationships/notesSlide" Target="/ppt/notesSlides/notesSlide13.xml" Id="R12ad24affbc5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48400390224eb7" /><Relationship Type="http://schemas.openxmlformats.org/officeDocument/2006/relationships/notesSlide" Target="/ppt/notesSlides/notesSlide14.xml" Id="R5bb444135b7448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03b125924b4805" /><Relationship Type="http://schemas.openxmlformats.org/officeDocument/2006/relationships/notesSlide" Target="/ppt/notesSlides/notesSlide15.xml" Id="Ree2642759abe4c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8443dbe6e74611" /><Relationship Type="http://schemas.openxmlformats.org/officeDocument/2006/relationships/notesSlide" Target="/ppt/notesSlides/notesSlide16.xml" Id="R695922b4b56c42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98313d9f24bc3" /><Relationship Type="http://schemas.openxmlformats.org/officeDocument/2006/relationships/notesSlide" Target="/ppt/notesSlides/notesSlide17.xml" Id="R92839e8cb3e249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f0b02f96b14b05" /><Relationship Type="http://schemas.openxmlformats.org/officeDocument/2006/relationships/notesSlide" Target="/ppt/notesSlides/notesSlide18.xml" Id="Rf725718d28b441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a37353d27430a" /><Relationship Type="http://schemas.openxmlformats.org/officeDocument/2006/relationships/notesSlide" Target="/ppt/notesSlides/notesSlide19.xml" Id="Rf7c01f5f923e4d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fde245ddb34a93" /><Relationship Type="http://schemas.openxmlformats.org/officeDocument/2006/relationships/notesSlide" Target="/ppt/notesSlides/notesSlide20.xml" Id="R6a4f19ab15034b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6b88fd4b464df1" /><Relationship Type="http://schemas.openxmlformats.org/officeDocument/2006/relationships/notesSlide" Target="/ppt/notesSlides/notesSlide21.xml" Id="R240937da73e84c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02c61921f34cc2" /><Relationship Type="http://schemas.openxmlformats.org/officeDocument/2006/relationships/notesSlide" Target="/ppt/notesSlides/notesSlide22.xml" Id="Re8d5a69200ba49c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 descr="Ilustração conceitual autoral da capa: EPISÓDIO 3 — MetricFlow local: métricas como códig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2a711b5cc46ea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1AD9F2BD-6434-4C3A-858F-25285B4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490D8C7F-41D5-4F97-99B5-4167434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C4BE8FC9-B245-4CBF-9F81-24115AA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3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519CEA-B7DE-41B9-B296-AB8AED0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MetricFlow local: métricas como código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A1E423B-CE24-4F5F-AE7A-FD04640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Defina, valide, compile e execute sem conta dbt Platform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175F452-D016-41FC-96E4-C6A0434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CB94BF37-1C14-4049-85AF-FC456E3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03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623659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F5B35810-A353-4A6D-8061-9944763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Uma métrica declarada uma vez pode gerar o mesmo SQL para todos os consumidores.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EACB00E3-8592-46A7-A3D5-50B048DD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9E1243CE-703B-466D-8E0E-BF95176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C1A36292-BE24-4526-A023-C6F6B37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6" name="" descr="Diagrama didático autoral que apresenta: Uma métrica declarada uma vez pode gerar o mesmo SQL para todos os consumidores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280a881de4edc"/>
          <a:stretch xmlns:a="http://schemas.openxmlformats.org/drawingml/2006/main"/>
        </p:blipFill>
        <p:spPr>
          <a:xfrm xmlns:a="http://schemas.openxmlformats.org/drawingml/2006/main">
            <a:off x="6858000" y="1634175"/>
            <a:ext cx="4191000" cy="31515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AA7B02E-99F6-4C9C-BA41-7E7C32EE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B44F28-477F-4D0B-BCB4-019EC691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3DB8FD3-19E1-4019-B30C-A2015F9C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510080-B766-448B-8849-140606EB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2/22</a:t>
            </a:r>
          </a:p>
        </p:txBody>
      </p:sp>
    </p:spTree>
    <p:extLst>
      <p:ext uri="{BB962C8B-B14F-4D97-AF65-F5344CB8AC3E}">
        <p14:creationId xmlns:p14="http://schemas.microsoft.com/office/powerpoint/2010/main" val="64497945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AD2F7A-A8A4-441F-8450-C0F64259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DAAEA0C5-25ED-4489-88F7-06585D70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F380EBE-C09A-41F9-B477-24BADB2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Declarar entidades e dimensões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E58AD86D-2AB8-40F0-BE0B-98B181F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59F863A7-E5D2-4685-8371-479705C5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FC07808-DFFB-4D1A-93BB-CA35D3AA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Criar métricas simples e razão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4008AE9B-9B57-45BC-A778-1E208F4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C7DF6228-7156-4C69-B257-871AC76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C64C03E-6BDE-4D3E-A00F-BA01363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Reconciliar SQL com ground truth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92DA50-9F8D-467E-B491-36DFAB2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535C39-DC1E-4F4A-859F-B4C6D3A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0A62CCC-B5C9-44F6-98CA-1D74FBF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087156-3068-4C87-8D3A-49738A6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3/22</a:t>
            </a:r>
          </a:p>
        </p:txBody>
      </p:sp>
    </p:spTree>
    <p:extLst>
      <p:ext uri="{BB962C8B-B14F-4D97-AF65-F5344CB8AC3E}">
        <p14:creationId xmlns:p14="http://schemas.microsoft.com/office/powerpoint/2010/main" val="103345010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47001-4389-40F8-A032-E88605E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MetricFlow compila; não adivinha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1A2410-B1DB-48F7-B0C5-77D9A42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A força vem de definições explícitas, não de geração probabilística.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9233470-ACD4-4048-9DC4-1E66F49D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Consulta lógica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Grafo semântico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SQL executável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F9FD6C1-DCD7-4140-973C-0B9A13F9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2711240-BE3A-45E8-B80C-47AC28F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C601F8F-6B35-4058-AE2B-807BB15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23C6FE9-2A21-4138-99F8-90F792D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11C749-95B3-4C86-9516-47C2D2D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14C2BB2-5D7F-48C8-A6C4-8A674DE8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C46CB-BBFB-4DEB-9A17-5B2DC0A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4/22</a:t>
            </a:r>
          </a:p>
        </p:txBody>
      </p:sp>
    </p:spTree>
    <p:extLst>
      <p:ext uri="{BB962C8B-B14F-4D97-AF65-F5344CB8AC3E}">
        <p14:creationId xmlns:p14="http://schemas.microsoft.com/office/powerpoint/2010/main" val="1875955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2FF706-08DA-45C6-AF4C-DCD4352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Entidade começa pelo grão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D3B9BF-C7FD-48B7-A288-FBA9BB2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order_id só pode ser primary se o modelo tiver uma linha por pedido.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627BE82-3601-4C91-BC81-7141527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Primary: order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Foreign: customer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Unicidade testada antes da métrica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C3815DA-0EAC-4CE3-9447-DB5C1227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7D48F69-2A3A-4867-B545-448AF7E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1F6184C-EFBF-43BE-94D4-1834216D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7A2B704-3A44-417E-B3D7-6EFC147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9175BC-22C7-49E8-B5BA-7ADEBC45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8D49D9F-BEA3-4F4F-942D-B9695A7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A588DF-6AB6-4F6C-9D41-AB97289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5/22</a:t>
            </a:r>
          </a:p>
        </p:txBody>
      </p:sp>
    </p:spTree>
    <p:extLst>
      <p:ext uri="{BB962C8B-B14F-4D97-AF65-F5344CB8AC3E}">
        <p14:creationId xmlns:p14="http://schemas.microsoft.com/office/powerpoint/2010/main" val="142052942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46C395-6BAA-4F71-AF60-CFE9C6AE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Entidade começa pelo grão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87DE78D2-9D56-4D61-A1FB-DB39355F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C5FF"/>
                </a:solidFill>
              </a:defRPr>
            </a:pPr>
            <a:r>
              <a:rPr sz="2100" b="1">
                <a:solidFill>
                  <a:srgbClr val="1EC5FF"/>
                </a:solidFill>
              </a:rPr>
              <a:t>Entidade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32B41D9D-E536-4F7D-A14D-84EF0A2F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BE8C"/>
                </a:solidFill>
              </a:defRPr>
            </a:pPr>
            <a:r>
              <a:rPr sz="2100" b="1">
                <a:solidFill>
                  <a:srgbClr val="2DBE8C"/>
                </a:solidFill>
              </a:rPr>
              <a:t>Grão físico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95E25561-4F22-4CC6-B745-48DE7D54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E006C977-61EC-48F9-A70F-0F3913D9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Primary: order</a:t>
            </a:r>
          </a:p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Foreign: customer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EDDCDE0C-BB44-49B1-ABFD-286D2AC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Unicidade testada antes da métrica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4E365F3-031F-473D-A350-5DB4EAA4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CF8E1D-A083-4110-869C-453127E1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C6216E2-8475-44B3-A45C-DC6C405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0CD091-87FF-40B4-BC8F-3A4494F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6/22</a:t>
            </a:r>
          </a:p>
        </p:txBody>
      </p:sp>
    </p:spTree>
    <p:extLst>
      <p:ext uri="{BB962C8B-B14F-4D97-AF65-F5344CB8AC3E}">
        <p14:creationId xmlns:p14="http://schemas.microsoft.com/office/powerpoint/2010/main" val="788712744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3D3AA-16D0-475D-AB52-7384BF0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exemplo oficial conecta schema e métricas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DC0593-F172-4109-8560-7A0B6FE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Chaves e tipos de coluna sustentam os caminhos do grafo.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4DA67DBB-61B3-41FB-AE83-C4A47E6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PK e FK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Dimensões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Medidas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C7437032-4C6C-498A-8616-9D7C117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EAE0FD4-52E8-4969-811C-86796B1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896241B-2C03-4A73-B167-71CB436B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FB43A1B-3B7C-4E25-A45D-975953F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8383F0B-956E-4D51-8FF6-AE5B352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13B9538-AF4F-4208-BAEA-A4C252CA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9712AD-83D8-45DF-98A7-67C71996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7/22</a:t>
            </a:r>
          </a:p>
        </p:txBody>
      </p:sp>
    </p:spTree>
    <p:extLst>
      <p:ext uri="{BB962C8B-B14F-4D97-AF65-F5344CB8AC3E}">
        <p14:creationId xmlns:p14="http://schemas.microsoft.com/office/powerpoint/2010/main" val="2087285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57E2AA-3208-4892-8E9F-CC2C565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exemplo oficial conecta schema e métricas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6A59DBD2-16D0-493E-B2D4-D39A25A4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Chaves e tipos de coluna sustentam os caminhos do grafo.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6DCED061-158B-4C55-9549-FDC73656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5" name="" descr="Figura oficial da documentação dbt usada para explicar: O exemplo oficial conecta schema e métricas — Chaves e tipos de coluna sustentam os caminhos do graf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41c2a01b47d3"/>
          <a:stretch xmlns:a="http://schemas.openxmlformats.org/drawingml/2006/main"/>
        </p:blipFill>
        <p:spPr>
          <a:xfrm xmlns:a="http://schemas.openxmlformats.org/drawingml/2006/main">
            <a:off x="5429250" y="1975313"/>
            <a:ext cx="5791200" cy="3002624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623BA476-74F2-45DD-A8E5-CEB4B3AB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Exemplo oficial dbt Labs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44D75C6-FE7F-4BE2-8D48-7021C6B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799451-10BD-4B57-86ED-A3D2F4C9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DBF67BB-7FA9-4A06-929B-56B77AC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B34ECA-2AE3-4D0E-9465-A25C7467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8/22</a:t>
            </a:r>
          </a:p>
        </p:txBody>
      </p:sp>
    </p:spTree>
    <p:extLst>
      <p:ext uri="{BB962C8B-B14F-4D97-AF65-F5344CB8AC3E}">
        <p14:creationId xmlns:p14="http://schemas.microsoft.com/office/powerpoint/2010/main" val="1494434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E128C6-7022-40B0-B078-47189C49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Tempo também é contrato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ADE553-E47A-4621-98E5-B2EF2C0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A dimensão padrão precisa refletir a pergunta de negócio.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45427AE3-3718-4036-8864-40A40D87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order_purchase_date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Granularidade diária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Time spine para operações temporais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F8FFD0C-23EA-4C84-876A-A2CD9B88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756B27C-B34F-41F8-BAD6-074E7F9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CC74693-F1B6-4BCF-9571-A2079CA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AA39E4E-BE7A-4843-B1FD-AB5380D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423991-C95F-4821-B8C4-0B958A0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AE5E2AB-F79D-4C80-84F7-8BC425E4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C1424C-4E1B-4F37-A0FF-3C4B919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9/22</a:t>
            </a:r>
          </a:p>
        </p:txBody>
      </p:sp>
    </p:spTree>
    <p:extLst>
      <p:ext uri="{BB962C8B-B14F-4D97-AF65-F5344CB8AC3E}">
        <p14:creationId xmlns:p14="http://schemas.microsoft.com/office/powerpoint/2010/main" val="24523528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1BAEB8-D9D2-4171-AE29-CED64D3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Tempo também é contrato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C9297246-F91C-4D20-A086-CCEB8D06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6458D3E-1625-4412-A9FB-D243398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48E6FE6B-742C-433C-BECB-FBE861AD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E15E67F5-DD24-4E77-A313-E65D08B3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6D04FD2-7D16-4F35-A1C6-5B57663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Grão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6381FA9E-5ABF-4E73-B6EC-A1BC73E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7281EAA4-8CD0-43BE-9D9C-5B038046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B1FB2AF-7EC4-48E2-B1F6-7CFB02E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Calendário</a:t>
            </a:r>
          </a:p>
        </p:txBody>
      </p:sp>
      <p:sp>
        <p:nvSpPr>
          <p:cNvPr id="1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E1F0949D-889D-4017-82B9-8D8C527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11" name="step-num-4">
            <a:extLst xmlns:a="http://schemas.openxmlformats.org/drawingml/2006/main">
              <a:ext uri="{FF2B5EF4-FFF2-40B4-BE49-F238E27FC236}">
                <a16:creationId xmlns:a16="http://schemas.microsoft.com/office/drawing/2014/main" id="{E9CF2E91-9FD9-4828-93FD-178F5E18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04</a:t>
            </a:r>
          </a:p>
        </p:txBody>
      </p:sp>
      <p:sp>
        <p:nvSpPr>
          <p:cNvPr id="1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DEEE884B-A978-4F10-AF9A-C92D8B5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57F8844-C547-4519-84FC-76B46247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E7E6DC-7058-4A41-B683-B85003E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8E727C7-994A-4383-AD87-2CA0316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B35054-D18B-4F43-9D10-5C0E8A2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10/22</a:t>
            </a:r>
          </a:p>
        </p:txBody>
      </p:sp>
    </p:spTree>
    <p:extLst>
      <p:ext uri="{BB962C8B-B14F-4D97-AF65-F5344CB8AC3E}">
        <p14:creationId xmlns:p14="http://schemas.microsoft.com/office/powerpoint/2010/main" val="87992928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D3FDD-A8C2-4110-9AE6-B9BFCF0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Métricas simples vivem perto do dado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F17726-5881-4EA2-B9D4-04BB270D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Contagem, soma e receita entregue reutilizam colunas já testadas.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0D9D7883-38BC-465C-A1DA-15DD8EE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orders: count_distinct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gross_revenue: sum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delivered_revenue: sum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FE94218-F612-406D-B83B-1DF919D0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22DE5B6-4364-4706-8703-7AA6146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3B0C487-4885-40B7-8565-8A5BCD90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B9F75C5-3C2E-4353-8731-67F204E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D34D801-6F0C-45FD-A6BA-85C1F2D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784D6B2-EE8B-48B4-891F-1841EE4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C31D13-D344-4E20-9A44-E28594A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11/22</a:t>
            </a:r>
          </a:p>
        </p:txBody>
      </p:sp>
    </p:spTree>
    <p:extLst>
      <p:ext uri="{BB962C8B-B14F-4D97-AF65-F5344CB8AC3E}">
        <p14:creationId xmlns:p14="http://schemas.microsoft.com/office/powerpoint/2010/main" val="823412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463B8E-39A9-4598-8F6A-5256C93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Métricas simples vivem perto do dado</a:t>
            </a:r>
          </a:p>
        </p:txBody>
      </p:sp>
      <p:sp>
        <p:nvSpPr>
          <p:cNvPr id="2" name="metric-primary">
            <a:extLst xmlns:a="http://schemas.openxmlformats.org/drawingml/2006/main">
              <a:ext uri="{FF2B5EF4-FFF2-40B4-BE49-F238E27FC236}">
                <a16:creationId xmlns:a16="http://schemas.microsoft.com/office/drawing/2014/main" id="{C0524591-2A5B-4E9C-BF0B-71191FE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565C0"/>
                </a:solidFill>
              </a:defRPr>
            </a:pPr>
            <a:r>
              <a:rPr sz="3600" b="1">
                <a:solidFill>
                  <a:srgbClr val="1565C0"/>
                </a:solidFill>
              </a:rPr>
              <a:t>630 entregue</a:t>
            </a:r>
          </a:p>
        </p:txBody>
      </p:sp>
      <p:sp>
        <p:nvSpPr>
          <p:cNvPr id="3" name="metric-inputs">
            <a:extLst xmlns:a="http://schemas.openxmlformats.org/drawingml/2006/main">
              <a:ext uri="{FF2B5EF4-FFF2-40B4-BE49-F238E27FC236}">
                <a16:creationId xmlns:a16="http://schemas.microsoft.com/office/drawing/2014/main" id="{B3A15207-5637-42C5-AADF-BC4D3AB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8 pedidos  ×  740 bruto</a:t>
            </a:r>
          </a:p>
        </p:txBody>
      </p:sp>
      <p:sp>
        <p:nvSpPr>
          <p:cNvPr id="4" name="metric-arrow">
            <a:extLst xmlns:a="http://schemas.openxmlformats.org/drawingml/2006/main">
              <a:ext uri="{FF2B5EF4-FFF2-40B4-BE49-F238E27FC236}">
                <a16:creationId xmlns:a16="http://schemas.microsoft.com/office/drawing/2014/main" id="{AF1364D0-B9B5-4A9D-8C51-B697194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0D30943-1803-4A56-8D2C-88761F9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640186-23CB-4522-8CC1-7E1B47B4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8A8D600-A102-45E0-BA16-8F87A1BC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EDFA0B-2CF0-4EAE-9056-6D1FCF7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12/22</a:t>
            </a:r>
          </a:p>
        </p:txBody>
      </p:sp>
    </p:spTree>
    <p:extLst>
      <p:ext uri="{BB962C8B-B14F-4D97-AF65-F5344CB8AC3E}">
        <p14:creationId xmlns:p14="http://schemas.microsoft.com/office/powerpoint/2010/main" val="2053530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53DC4F-8778-4970-A1C2-78495827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Razões reutilizam métricas nomeadas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4D6880-9BE0-4DA4-A0A9-2A0242D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Ticket médio compõe gross_revenue e orders sem copiar a fórmula.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651EEF7-36CF-4D24-9716-8BE5E6F6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Numerador governado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Denominador governado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Precisão e zero documentados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7F4B7C8-ED7B-41BC-BBA0-C05EA7BF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7C7796FD-DC8D-4DFA-8F2E-444B069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571D871-1218-4033-8D24-0CD5F6C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C12CD27-E733-48DF-BE40-5811E4D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CCFE13-00D0-489E-88B2-453D74F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476BE93-AB79-4975-812E-46898E8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7F03E3-A3F9-403D-9580-296F6786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13/22</a:t>
            </a:r>
          </a:p>
        </p:txBody>
      </p:sp>
    </p:spTree>
    <p:extLst>
      <p:ext uri="{BB962C8B-B14F-4D97-AF65-F5344CB8AC3E}">
        <p14:creationId xmlns:p14="http://schemas.microsoft.com/office/powerpoint/2010/main" val="1479572517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291985-5B2E-4679-9657-E461E65B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Razões reutilizam métricas nomeadas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29B16B47-360C-48AF-8A30-BF0FF3B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gross_revenue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5D86F81F-1B2C-44C2-A1E6-BC5F0ED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÷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369EF5D0-F958-4CC0-9197-470F312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70007307-9168-4F5D-84B8-9CA65E9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AOV</a:t>
            </a:r>
          </a:p>
        </p:txBody>
      </p:sp>
      <p:cxnSp>
        <p:nvCxnSpPr>
          <p:cNvPr id="26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BD7FA4E-0BD1-4E8F-9B10-5942D9D6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B766AC-ED29-409C-BF98-94C38480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C3AE047E-AE20-4794-A187-A278105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0E1D34-739B-4333-895C-2507213B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14/22</a:t>
            </a:r>
          </a:p>
        </p:txBody>
      </p:sp>
    </p:spTree>
    <p:extLst>
      <p:ext uri="{BB962C8B-B14F-4D97-AF65-F5344CB8AC3E}">
        <p14:creationId xmlns:p14="http://schemas.microsoft.com/office/powerpoint/2010/main" val="1605583867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98B489-A678-4057-B77A-D4D3545A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5F4322F3-221B-4E19-9D21-B3790CA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7458D863-5A6C-48C1-B78D-BCD5B792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03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06689659-3C68-491B-BC28-5DA2F12C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DC5B770-B87E-4DF7-8C99-C5B80BC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ED1FC5-E55A-4B18-967C-DE1E9AB4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F1C1B34-6669-44A7-8AE3-C0AD055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DDB8FA-EFF6-49D8-BE84-B3F3924F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15/22</a:t>
            </a:r>
          </a:p>
        </p:txBody>
      </p:sp>
    </p:spTree>
    <p:extLst>
      <p:ext uri="{BB962C8B-B14F-4D97-AF65-F5344CB8AC3E}">
        <p14:creationId xmlns:p14="http://schemas.microsoft.com/office/powerpoint/2010/main" val="16336831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D36AE9-25C4-4738-BC9A-EE1B459A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A1106228-5836-48AD-9BD7-7ECA6F3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386787C7-64FC-4530-8840-08CAA23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mf validate-configs sem erro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1DA067A-9CC8-4314-A8C6-1FDB96D7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6843623-8D5B-4607-BD10-307E540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8D3CDE0-55DC-4D84-8583-862324F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Consulta mensal compilada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A7F54A1F-E5DF-4F80-8E0A-1E9885F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8F85F3B6-91F6-491B-8402-79479C6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8075528-34AA-4AB2-BE19-1C58D71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Janeiro a abril reconciliados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B8481EA-B79F-452B-AD26-5F2D52F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E97B12-C71F-4837-8076-36823AD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616B752-C003-40F2-8148-C846DD9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383DC1-3409-4A4E-9EA8-9F5F50FA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16/22</a:t>
            </a:r>
          </a:p>
        </p:txBody>
      </p:sp>
    </p:spTree>
    <p:extLst>
      <p:ext uri="{BB962C8B-B14F-4D97-AF65-F5344CB8AC3E}">
        <p14:creationId xmlns:p14="http://schemas.microsoft.com/office/powerpoint/2010/main" val="1653939127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379BC46-3DD4-4B80-AA72-2713205F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0D585866-B9A0-4DCA-B65C-CA6A522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8 pedidos · 740 bruto · 630 entregue · 92,50 AOV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04B5A7A5-EE64-4413-B3D4-A166A3E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03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5943844-BF68-4D95-A484-0A934ED9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ACF8646-1D76-4B82-9C5E-06FEDBD2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326917D-0F83-4081-A001-26CF48F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B1320F-2255-4F8F-8022-9581E7D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ED8A690-4645-40A9-8A3B-84BC976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4476E9-E1CA-4210-BAD8-5453AED2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17/22</a:t>
            </a:r>
          </a:p>
        </p:txBody>
      </p:sp>
    </p:spTree>
    <p:extLst>
      <p:ext uri="{BB962C8B-B14F-4D97-AF65-F5344CB8AC3E}">
        <p14:creationId xmlns:p14="http://schemas.microsoft.com/office/powerpoint/2010/main" val="538380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9F8A58-06BD-4BE7-81A5-F408C8C9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D9536C50-305E-482E-ADDB-07F043C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32158F37-6D5B-495F-87EE-5383FAA7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Git e ownership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903B79F-064E-48D2-B917-3AD2458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544FB529-27F9-4202-844D-A0720594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7AEC00F7-35B3-4A79-8457-F8DCB085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reuso com cardinalidade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10D5E179-C4D0-4E11-A8C0-C11B56CE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389D769A-2272-477F-B593-E19B1500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A722950-B6FE-46CD-BC19-2817555B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nomes em vez de joins inventados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4302542-113C-43B6-900D-619BDD2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89F2A4C-A37F-4D80-AA6B-79A81A8A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DD5DCCF-3B6A-4BF4-8C1A-FB29BA42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C45FEA-CFE0-41E8-A8A4-DBAAAC59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18/22</a:t>
            </a:r>
          </a:p>
        </p:txBody>
      </p:sp>
    </p:spTree>
    <p:extLst>
      <p:ext uri="{BB962C8B-B14F-4D97-AF65-F5344CB8AC3E}">
        <p14:creationId xmlns:p14="http://schemas.microsoft.com/office/powerpoint/2010/main" val="1124408388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6CDBC90F-8D38-4566-BE68-9EF269B3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2 → 13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3127B889-0B5E-4BB0-BB99-668B71BD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contribuidores reportados pela Inventa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147B4A15-B110-4C3B-9326-68E4BF3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EE5348F1-98E2-473E-8EEA-56662025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O laboratório comprova apenas validação, SQL e reconciliação.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19250D9-7CEA-4D62-8445-EA06654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6568F1-ADE6-483C-94AB-93E4ADF6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6BDF066-D58C-4C51-9562-09C5ECFB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DE4E4C-E7EE-4296-B18C-E52272B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19/22</a:t>
            </a:r>
          </a:p>
        </p:txBody>
      </p:sp>
    </p:spTree>
    <p:extLst>
      <p:ext uri="{BB962C8B-B14F-4D97-AF65-F5344CB8AC3E}">
        <p14:creationId xmlns:p14="http://schemas.microsoft.com/office/powerpoint/2010/main" val="19780829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E419CD-E643-4B89-ADAE-18E0B68D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B1B968AE-2F73-4E6A-BF9B-D5048B3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MetricFlow não decide a definição da métrica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Alta cardinalidade ainda custa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Biblioteca aberta não é o serviço hospedado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7AEF8FD-1EE3-49B0-89A4-F8F49578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835122-2A07-49EF-B693-287B8CA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1C9D9B7-2D6E-4BA3-96F3-E7586178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C381C6-6E31-4160-B833-A85D1CC9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20/22</a:t>
            </a:r>
          </a:p>
        </p:txBody>
      </p:sp>
    </p:spTree>
    <p:extLst>
      <p:ext uri="{BB962C8B-B14F-4D97-AF65-F5344CB8AC3E}">
        <p14:creationId xmlns:p14="http://schemas.microsoft.com/office/powerpoint/2010/main" val="623515687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93138910-4031-4DF7-A1A5-020DD3EF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55A3C57B-9F72-4ABA-8992-D889E00F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matriz de suporte do Core 2.0/Fusion não é assumida igual ao Core 1.12.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7E9BCCAF-7C9A-4090-BD9F-73A4D785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BFBA36B-23F5-46AA-B45D-C56B995C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761E5AD-1ABF-4D56-90F3-5497C914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7D74314-E319-4E8D-8AA0-88D4A42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3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E158996-ABE1-4CA6-83D6-DC0FBA79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A383831-B679-4B1D-840F-C791D2E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E3832C-EACA-455C-92C2-344410E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21/22</a:t>
            </a:r>
          </a:p>
        </p:txBody>
      </p:sp>
    </p:spTree>
    <p:extLst>
      <p:ext uri="{BB962C8B-B14F-4D97-AF65-F5344CB8AC3E}">
        <p14:creationId xmlns:p14="http://schemas.microsoft.com/office/powerpoint/2010/main" val="5014158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F0C854E1-352F-4FCD-9220-E2C6918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5975FEAC-6FAC-4E3E-AA5B-8B74C992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Implemente uma métrica simples e uma razão e reconcilie os valores.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27C4CE70-9570-45F0-B753-533197CF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03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017792B-5897-436F-9C65-FB454AA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3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81DF72-999C-4052-97D5-01BB9DA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12C6B73-7A4B-46E5-B716-4B4CCF2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51878B-295F-4DE6-80CE-CDDA842A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22/22</a:t>
            </a:r>
          </a:p>
        </p:txBody>
      </p:sp>
    </p:spTree>
    <p:extLst>
      <p:ext uri="{BB962C8B-B14F-4D97-AF65-F5344CB8AC3E}">
        <p14:creationId xmlns:p14="http://schemas.microsoft.com/office/powerpoint/2010/main" val="419980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2026-09-02T01:19:28.1090000Z</dcterms:created>
  <dcterms:modified xsi:type="dcterms:W3CDTF">2026-09-02T01:19:28.1090000Z</dcterms:modified>
</coreProperties>
</file>