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5ae0af65374475" /><Relationship Type="http://schemas.openxmlformats.org/officeDocument/2006/relationships/extended-properties" Target="/docProps/app.xml" Id="R180a2ae0242144e3" /><Relationship Type="http://schemas.openxmlformats.org/officeDocument/2006/relationships/officeDocument" Target="/ppt/presentation.xml" Id="R2d41fb35f19743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7b751531c44341"/>
    <p:sldMasterId xmlns:r="http://schemas.openxmlformats.org/officeDocument/2006/relationships" id="2147483650" r:id="R639be4c784134cb8"/>
  </p:sldMasterIdLst>
  <p:notesMasterIdLst>
    <p:notesMasterId xmlns:r="http://schemas.openxmlformats.org/officeDocument/2006/relationships" r:id="Rb7ded96661bb4cac"/>
  </p:notesMasterIdLst>
  <p:sldIdLst>
    <p:sldId xmlns:r="http://schemas.openxmlformats.org/officeDocument/2006/relationships" id="256" r:id="R929c52748e8e4ad5"/>
    <p:sldId xmlns:r="http://schemas.openxmlformats.org/officeDocument/2006/relationships" id="257" r:id="Re36622c3052f4cb2"/>
    <p:sldId xmlns:r="http://schemas.openxmlformats.org/officeDocument/2006/relationships" id="258" r:id="Rfb438b2f13774b25"/>
    <p:sldId xmlns:r="http://schemas.openxmlformats.org/officeDocument/2006/relationships" id="259" r:id="R5b93f0e6cb5e4c70"/>
    <p:sldId xmlns:r="http://schemas.openxmlformats.org/officeDocument/2006/relationships" id="260" r:id="R6a946ec81b934cea"/>
    <p:sldId xmlns:r="http://schemas.openxmlformats.org/officeDocument/2006/relationships" id="261" r:id="R6eb8cd497616461a"/>
    <p:sldId xmlns:r="http://schemas.openxmlformats.org/officeDocument/2006/relationships" id="262" r:id="R2dc29499dc1743c9"/>
    <p:sldId xmlns:r="http://schemas.openxmlformats.org/officeDocument/2006/relationships" id="263" r:id="Rc79659d37cea4fe4"/>
    <p:sldId xmlns:r="http://schemas.openxmlformats.org/officeDocument/2006/relationships" id="264" r:id="R458cc73d37be445f"/>
    <p:sldId xmlns:r="http://schemas.openxmlformats.org/officeDocument/2006/relationships" id="265" r:id="Rba5eea055ed74f6b"/>
    <p:sldId xmlns:r="http://schemas.openxmlformats.org/officeDocument/2006/relationships" id="266" r:id="R26ae36616252402c"/>
    <p:sldId xmlns:r="http://schemas.openxmlformats.org/officeDocument/2006/relationships" id="267" r:id="Rc3ba0ec627c74416"/>
    <p:sldId xmlns:r="http://schemas.openxmlformats.org/officeDocument/2006/relationships" id="268" r:id="Rb90eeec78a2a4ef3"/>
    <p:sldId xmlns:r="http://schemas.openxmlformats.org/officeDocument/2006/relationships" id="269" r:id="R7970b371efc444b2"/>
    <p:sldId xmlns:r="http://schemas.openxmlformats.org/officeDocument/2006/relationships" id="270" r:id="Raaf3bdbd497549b5"/>
    <p:sldId xmlns:r="http://schemas.openxmlformats.org/officeDocument/2006/relationships" id="271" r:id="Rab89a78ac58749bf"/>
    <p:sldId xmlns:r="http://schemas.openxmlformats.org/officeDocument/2006/relationships" id="272" r:id="Rfc1fa283d28241e5"/>
    <p:sldId xmlns:r="http://schemas.openxmlformats.org/officeDocument/2006/relationships" id="273" r:id="Re198823f1437440e"/>
    <p:sldId xmlns:r="http://schemas.openxmlformats.org/officeDocument/2006/relationships" id="274" r:id="Re486acb2dcb84065"/>
    <p:sldId xmlns:r="http://schemas.openxmlformats.org/officeDocument/2006/relationships" id="275" r:id="Rb54892d5d50e48c5"/>
    <p:sldId xmlns:r="http://schemas.openxmlformats.org/officeDocument/2006/relationships" id="276" r:id="R5ddf3061f1954780"/>
    <p:sldId xmlns:r="http://schemas.openxmlformats.org/officeDocument/2006/relationships" id="277" r:id="Rb5cb63b643674d0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cfa3e6c39a45f1" /><Relationship Type="http://schemas.openxmlformats.org/officeDocument/2006/relationships/slideMaster" Target="/ppt/slideMasters/slideMaster1.xml" Id="R337b751531c44341" /><Relationship Type="http://schemas.openxmlformats.org/officeDocument/2006/relationships/slideMaster" Target="/ppt/slideMasters/slideMaster2.xml" Id="R639be4c784134cb8" /><Relationship Type="http://schemas.openxmlformats.org/officeDocument/2006/relationships/notesMaster" Target="/ppt/notesMasters/notesMaster1.xml" Id="Rb7ded96661bb4cac" /><Relationship Type="http://schemas.openxmlformats.org/officeDocument/2006/relationships/presProps" Target="/ppt/presProps.xml" Id="Rfc58d2d868ac47b3" /><Relationship Type="http://schemas.openxmlformats.org/officeDocument/2006/relationships/tableStyles" Target="/ppt/tableStyles.xml" Id="Ra3a4161e68094f11" /><Relationship Type="http://schemas.openxmlformats.org/officeDocument/2006/relationships/slide" Target="/ppt/slides/slide1.xml" Id="R929c52748e8e4ad5" /><Relationship Type="http://schemas.openxmlformats.org/officeDocument/2006/relationships/slide" Target="/ppt/slides/slide2.xml" Id="Re36622c3052f4cb2" /><Relationship Type="http://schemas.openxmlformats.org/officeDocument/2006/relationships/slide" Target="/ppt/slides/slide3.xml" Id="Rfb438b2f13774b25" /><Relationship Type="http://schemas.openxmlformats.org/officeDocument/2006/relationships/slide" Target="/ppt/slides/slide4.xml" Id="R5b93f0e6cb5e4c70" /><Relationship Type="http://schemas.openxmlformats.org/officeDocument/2006/relationships/slide" Target="/ppt/slides/slide5.xml" Id="R6a946ec81b934cea" /><Relationship Type="http://schemas.openxmlformats.org/officeDocument/2006/relationships/slide" Target="/ppt/slides/slide6.xml" Id="R6eb8cd497616461a" /><Relationship Type="http://schemas.openxmlformats.org/officeDocument/2006/relationships/slide" Target="/ppt/slides/slide7.xml" Id="R2dc29499dc1743c9" /><Relationship Type="http://schemas.openxmlformats.org/officeDocument/2006/relationships/slide" Target="/ppt/slides/slide8.xml" Id="Rc79659d37cea4fe4" /><Relationship Type="http://schemas.openxmlformats.org/officeDocument/2006/relationships/slide" Target="/ppt/slides/slide9.xml" Id="R458cc73d37be445f" /><Relationship Type="http://schemas.openxmlformats.org/officeDocument/2006/relationships/slide" Target="/ppt/slides/slide10.xml" Id="Rba5eea055ed74f6b" /><Relationship Type="http://schemas.openxmlformats.org/officeDocument/2006/relationships/slide" Target="/ppt/slides/slide11.xml" Id="R26ae36616252402c" /><Relationship Type="http://schemas.openxmlformats.org/officeDocument/2006/relationships/slide" Target="/ppt/slides/slide12.xml" Id="Rc3ba0ec627c74416" /><Relationship Type="http://schemas.openxmlformats.org/officeDocument/2006/relationships/slide" Target="/ppt/slides/slide13.xml" Id="Rb90eeec78a2a4ef3" /><Relationship Type="http://schemas.openxmlformats.org/officeDocument/2006/relationships/slide" Target="/ppt/slides/slide14.xml" Id="R7970b371efc444b2" /><Relationship Type="http://schemas.openxmlformats.org/officeDocument/2006/relationships/slide" Target="/ppt/slides/slide15.xml" Id="Raaf3bdbd497549b5" /><Relationship Type="http://schemas.openxmlformats.org/officeDocument/2006/relationships/slide" Target="/ppt/slides/slide16.xml" Id="Rab89a78ac58749bf" /><Relationship Type="http://schemas.openxmlformats.org/officeDocument/2006/relationships/slide" Target="/ppt/slides/slide17.xml" Id="Rfc1fa283d28241e5" /><Relationship Type="http://schemas.openxmlformats.org/officeDocument/2006/relationships/slide" Target="/ppt/slides/slide18.xml" Id="Re198823f1437440e" /><Relationship Type="http://schemas.openxmlformats.org/officeDocument/2006/relationships/slide" Target="/ppt/slides/slide19.xml" Id="Re486acb2dcb84065" /><Relationship Type="http://schemas.openxmlformats.org/officeDocument/2006/relationships/slide" Target="/ppt/slides/slide20.xml" Id="Rb54892d5d50e48c5" /><Relationship Type="http://schemas.openxmlformats.org/officeDocument/2006/relationships/slide" Target="/ppt/slides/slide21.xml" Id="R5ddf3061f1954780" /><Relationship Type="http://schemas.openxmlformats.org/officeDocument/2006/relationships/slide" Target="/ppt/slides/slide22.xml" Id="Rb5cb63b643674d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1c4741b737e04b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b35b951e7d4a0c" /><Relationship Type="http://schemas.openxmlformats.org/officeDocument/2006/relationships/notesMaster" Target="/ppt/notesMasters/notesMaster1.xml" Id="R9665b106b53e43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2c97ed49f8429e" /><Relationship Type="http://schemas.openxmlformats.org/officeDocument/2006/relationships/notesMaster" Target="/ppt/notesMasters/notesMaster1.xml" Id="R5305a9a05e8a4b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7804fd8443a4352" /><Relationship Type="http://schemas.openxmlformats.org/officeDocument/2006/relationships/notesMaster" Target="/ppt/notesMasters/notesMaster1.xml" Id="R18edf20e54ba4e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a95ffb64334977" /><Relationship Type="http://schemas.openxmlformats.org/officeDocument/2006/relationships/notesMaster" Target="/ppt/notesMasters/notesMaster1.xml" Id="Ra2472e7a15014f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83e18b0fd5c4846" /><Relationship Type="http://schemas.openxmlformats.org/officeDocument/2006/relationships/notesMaster" Target="/ppt/notesMasters/notesMaster1.xml" Id="Rfe99af72e1914ef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efcb82c7bd4af9" /><Relationship Type="http://schemas.openxmlformats.org/officeDocument/2006/relationships/notesMaster" Target="/ppt/notesMasters/notesMaster1.xml" Id="Rae5e0119d84146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f7dfb569918482e" /><Relationship Type="http://schemas.openxmlformats.org/officeDocument/2006/relationships/notesMaster" Target="/ppt/notesMasters/notesMaster1.xml" Id="Re171b9b0e63746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8dc5143199e4bb4" /><Relationship Type="http://schemas.openxmlformats.org/officeDocument/2006/relationships/notesMaster" Target="/ppt/notesMasters/notesMaster1.xml" Id="Rbf03a0ed8c034b9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1667e558e841d7" /><Relationship Type="http://schemas.openxmlformats.org/officeDocument/2006/relationships/notesMaster" Target="/ppt/notesMasters/notesMaster1.xml" Id="Rdd2597038c634fb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06de0535e4149da" /><Relationship Type="http://schemas.openxmlformats.org/officeDocument/2006/relationships/notesMaster" Target="/ppt/notesMasters/notesMaster1.xml" Id="Rd9c4ebe1736f4a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89fb86ea75f412d" /><Relationship Type="http://schemas.openxmlformats.org/officeDocument/2006/relationships/notesMaster" Target="/ppt/notesMasters/notesMaster1.xml" Id="R66bd7ce22d0f40f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791e04310cc4c1a" /><Relationship Type="http://schemas.openxmlformats.org/officeDocument/2006/relationships/notesMaster" Target="/ppt/notesMasters/notesMaster1.xml" Id="Rae175c7359a445e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8f14bc34e742f4" /><Relationship Type="http://schemas.openxmlformats.org/officeDocument/2006/relationships/notesMaster" Target="/ppt/notesMasters/notesMaster1.xml" Id="R31500bc0991543a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a566b696a084866" /><Relationship Type="http://schemas.openxmlformats.org/officeDocument/2006/relationships/notesMaster" Target="/ppt/notesMasters/notesMaster1.xml" Id="R5f4eee44912a435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9393ca39a6f421e" /><Relationship Type="http://schemas.openxmlformats.org/officeDocument/2006/relationships/notesMaster" Target="/ppt/notesMasters/notesMaster1.xml" Id="Rb70988f2d2b94fe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966174118034fe1" /><Relationship Type="http://schemas.openxmlformats.org/officeDocument/2006/relationships/notesMaster" Target="/ppt/notesMasters/notesMaster1.xml" Id="R0c46c6f0393b4ec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09e10fe7c2147b9" /><Relationship Type="http://schemas.openxmlformats.org/officeDocument/2006/relationships/notesMaster" Target="/ppt/notesMasters/notesMaster1.xml" Id="Ra0f5a0ebe9ce458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de56a5d55714fdd" /><Relationship Type="http://schemas.openxmlformats.org/officeDocument/2006/relationships/notesMaster" Target="/ppt/notesMasters/notesMaster1.xml" Id="R320b6b4d5389407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ed5f5843ff3459b" /><Relationship Type="http://schemas.openxmlformats.org/officeDocument/2006/relationships/notesMaster" Target="/ppt/notesMasters/notesMaster1.xml" Id="R29378008f1604c4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cdc74b5acb64004" /><Relationship Type="http://schemas.openxmlformats.org/officeDocument/2006/relationships/notesMaster" Target="/ppt/notesMasters/notesMaster1.xml" Id="Rfa946bdf834b46b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f70c26f8211494e" /><Relationship Type="http://schemas.openxmlformats.org/officeDocument/2006/relationships/notesMaster" Target="/ppt/notesMasters/notesMaster1.xml" Id="R0edfeffd4d544a3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0448a75a2734a93" /><Relationship Type="http://schemas.openxmlformats.org/officeDocument/2006/relationships/notesMaster" Target="/ppt/notesMasters/notesMaster1.xml" Id="Rd9aa4cefe38142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3 do dbt Moderno na Prática. Hoje vamos trabalhar o tema “MetricFlow local: métricas como código”. Defina, valide, compile e execute sem conta dbt Platform.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03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“Uma métrica declarada uma vez pode gerar o mesmo SQL para todos os consumidores.”.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Uma métrica declarada uma vez pode gerar o mesmo SQL para todos os consumidores.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declarar entidades e dimensões, Criar métricas simples e razão e Reconciliar SQL com ground truth.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“MetricFlow compila; não adivinha”.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A força vem de definições explícitas, não de geração probabilística. Para tornar isso concreto, observe consulta lógica, Grafo semântico e SQL executável.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“Entidade começa pelo grão”.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order_id só pode ser primary se o modelo tiver uma linha por pedido. Para tornar isso concreto, observe primary: order, Foreign: customer e Unicidade testada antes da métrica.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“Entidade começa pelo grão”.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order_id só pode ser primary se o modelo tiver uma linha por pedido. Siga a composição na ordem mostrada e conecte entidade, Grão físico, Primary: order, Foreign: customer e Unicidade testada antes da métrica.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exemplo oficial conecta schema e métricas”.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Chaves e tipos de coluna sustentam os caminhos do grafo. Para tornar isso concreto, observe PK e FK, Dimensões e Medidas.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exemplo oficial conecta schema e métricas”.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Chaves e tipos de coluna sustentam os caminhos do grafo. Siga a composição na ordem mostrada e conecte os elementos principais. A imagem ou o fluxo não cria uma regra nova; ele torna visível a relação que acabamos de explicar. A figura é identificada como exemplo oficial dbt Labs — Apache 2.0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“Tempo também é contrato”.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A dimensão padrão precisa refletir a pergunta de negócio. Para tornar isso concreto, observe order_purchase_date, Granularidade diária e Time spine para operações temporais.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“Tempo também é contrato”.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A dimensão padrão precisa refletir a pergunta de negócio. Siga a composição na ordem mostrada e conecte evento, Grão, Calendário e Métrica.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“Métricas simples vivem perto do dado”.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Contagem, soma e receita entregue reutilizam colunas já testadas. Para tornar isso concreto, observe orders: count_distinct, gross_revenue: sum e delivered_revenue: sum.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“Métricas simples vivem perto do dado”.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Contagem, soma e receita entregue reutilizam colunas já testadas. Siga a composição na ordem mostrada e conecte os elementos principais.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“Razões reutilizam métricas nomeadas”.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Ticket médio compõe gross_revenue e orders sem copiar a fórmula. Para tornar isso concreto, observe numerador governado, Denominador governado e Precisão e zero documentados.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“Razões reutilizam métricas nomeadas”.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Ticket médio compõe gross_revenue e orders sem copiar a fórmula. Siga a composição na ordem mostrada e conecte gross_revenue, ÷, orders e AOV.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03.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mf validate-configs sem erro, Consulta mensal compilada e Janeiro a abril reconciliados.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8 pedidos · 740 bruto · 630 entregue · 92,50 AOV. Esse resultado confirma que a etapa executada produziu a evidência esperada para o checkpoint 03.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Git e ownership, FinOps: reuso com cardinalidade e IA: nomes em vez de joins inventados.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“2 → 13”.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2 → 13: contribuidores reportados pela Inventa. O número ajuda a dimensionar o exemplo, mas precisa ser lido com a ressalva correta. O laboratório comprova apenas validação, SQL e reconciliação.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metricFlow não decide a definição da métrica, Alta cardinalidade ainda custa e Biblioteca aberta não é o serviço hospedado.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A matriz de suporte do Core 2.0/Fusion não é assumida igual ao Core 1.12.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Implemente uma métrica simples e uma razão e reconcilie os valores.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https://github.com/AnselmoBorges/dbt-moderno-na-pratica/blob/main/roteiros/03-metricflow-local.md</a:t>
            </a:r>
          </a:p>
          <a:p xmlns:a="http://schemas.openxmlformats.org/drawingml/2006/main">
            <a:r>
              <a:t>- repo://laboratorio/checkpoints/ep03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808047f9e14b8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228141d1be74ab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c5d22c3fdda4b8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28502aaa960471c" /><Relationship Type="http://schemas.openxmlformats.org/officeDocument/2006/relationships/slideLayout" Target="/ppt/slideLayouts/slideLayout1.xml" Id="R91e6cfeda1a345d8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f414f584d1754682" /><Relationship Type="http://schemas.openxmlformats.org/officeDocument/2006/relationships/slideLayout" Target="/ppt/slideLayouts/slideLayout2.xml" Id="R577b3ce5c215438b" /><Relationship Type="http://schemas.openxmlformats.org/officeDocument/2006/relationships/slideLayout" Target="/ppt/slideLayouts/slideLayout3.xml" Id="R842b980205b044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e6cfeda1a345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577b3ce5c215438b"/>
    <p:sldLayoutId xmlns:r="http://schemas.openxmlformats.org/officeDocument/2006/relationships" id="2147483652" r:id="R842b980205b0448f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3e6da604044a55" /><Relationship Type="http://schemas.openxmlformats.org/officeDocument/2006/relationships/image" Target="/ppt/media/image.jpeg" Id="R3ab02444a51545f6" /><Relationship Type="http://schemas.openxmlformats.org/officeDocument/2006/relationships/image" Target="/ppt/media/image.png" Id="R1a3787cb93e549b8" /><Relationship Type="http://schemas.openxmlformats.org/officeDocument/2006/relationships/notesSlide" Target="/ppt/notesSlides/notesSlide1.xml" Id="Rda35b55ae0ca47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67ae9bebb544304" /><Relationship Type="http://schemas.openxmlformats.org/officeDocument/2006/relationships/image" Target="/ppt/media/image2.png" Id="R87c3443be04f4da6" /><Relationship Type="http://schemas.openxmlformats.org/officeDocument/2006/relationships/image" Target="/ppt/media/image3.png" Id="Rd557af7ad79e40e2" /><Relationship Type="http://schemas.openxmlformats.org/officeDocument/2006/relationships/notesSlide" Target="/ppt/notesSlides/notesSlide2.xml" Id="Rc3cf93c49975461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156feb29c6431f" /><Relationship Type="http://schemas.openxmlformats.org/officeDocument/2006/relationships/image" Target="/ppt/media/image4.png" Id="R5e9fd3ec10be4f3b" /><Relationship Type="http://schemas.openxmlformats.org/officeDocument/2006/relationships/notesSlide" Target="/ppt/notesSlides/notesSlide3.xml" Id="Rb5fac846508d49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e8cafa3bae4085" /><Relationship Type="http://schemas.openxmlformats.org/officeDocument/2006/relationships/image" Target="/ppt/media/image5.png" Id="Ra3b510a2b96a4147" /><Relationship Type="http://schemas.openxmlformats.org/officeDocument/2006/relationships/notesSlide" Target="/ppt/notesSlides/notesSlide4.xml" Id="R11575ce4c32245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feb297ba30e41d0" /><Relationship Type="http://schemas.openxmlformats.org/officeDocument/2006/relationships/image" Target="/ppt/media/image6.png" Id="Rb82a11de3acc4f07" /><Relationship Type="http://schemas.openxmlformats.org/officeDocument/2006/relationships/notesSlide" Target="/ppt/notesSlides/notesSlide5.xml" Id="R09fd8c2eb43f4c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9935b1461947a6" /><Relationship Type="http://schemas.openxmlformats.org/officeDocument/2006/relationships/image" Target="/ppt/media/image7.png" Id="R5de603636325445b" /><Relationship Type="http://schemas.openxmlformats.org/officeDocument/2006/relationships/notesSlide" Target="/ppt/notesSlides/notesSlide6.xml" Id="R610aac833e484f7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b11e36f7da412f" /><Relationship Type="http://schemas.openxmlformats.org/officeDocument/2006/relationships/image" Target="/ppt/media/image8.png" Id="R9fd92f6ad4e443e0" /><Relationship Type="http://schemas.openxmlformats.org/officeDocument/2006/relationships/notesSlide" Target="/ppt/notesSlides/notesSlide7.xml" Id="R63fddf781141466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d65f0a816d7406d" /><Relationship Type="http://schemas.openxmlformats.org/officeDocument/2006/relationships/image" Target="/ppt/media/image2.jpeg" Id="R766dc297c86b468d" /><Relationship Type="http://schemas.openxmlformats.org/officeDocument/2006/relationships/image" Target="/ppt/media/image9.png" Id="Reb800e5f1381401c" /><Relationship Type="http://schemas.openxmlformats.org/officeDocument/2006/relationships/notesSlide" Target="/ppt/notesSlides/notesSlide8.xml" Id="Rd1c8c7db5fca452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dd2b06c85654d10" /><Relationship Type="http://schemas.openxmlformats.org/officeDocument/2006/relationships/image" Target="/ppt/media/image10.png" Id="R5289a6cc9ca340af" /><Relationship Type="http://schemas.openxmlformats.org/officeDocument/2006/relationships/notesSlide" Target="/ppt/notesSlides/notesSlide9.xml" Id="Red7815b6fbb74b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bd7fa2b985465c" /><Relationship Type="http://schemas.openxmlformats.org/officeDocument/2006/relationships/image" Target="/ppt/media/image11.png" Id="R216ee26e9f124c98" /><Relationship Type="http://schemas.openxmlformats.org/officeDocument/2006/relationships/notesSlide" Target="/ppt/notesSlides/notesSlide10.xml" Id="Rbcf930ed0ff44d4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8612a80eda418b" /><Relationship Type="http://schemas.openxmlformats.org/officeDocument/2006/relationships/image" Target="/ppt/media/image12.png" Id="R1d2b50f2e0a2472b" /><Relationship Type="http://schemas.openxmlformats.org/officeDocument/2006/relationships/notesSlide" Target="/ppt/notesSlides/notesSlide11.xml" Id="Rbb9ae07ec68045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4cfe615b8d24660" /><Relationship Type="http://schemas.openxmlformats.org/officeDocument/2006/relationships/image" Target="/ppt/media/image13.png" Id="R9a64f4bdd8254892" /><Relationship Type="http://schemas.openxmlformats.org/officeDocument/2006/relationships/notesSlide" Target="/ppt/notesSlides/notesSlide12.xml" Id="R2b5a59d8f7f442a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0117993ae884d87" /><Relationship Type="http://schemas.openxmlformats.org/officeDocument/2006/relationships/image" Target="/ppt/media/image14.png" Id="Rad7097b0b82e4df7" /><Relationship Type="http://schemas.openxmlformats.org/officeDocument/2006/relationships/notesSlide" Target="/ppt/notesSlides/notesSlide13.xml" Id="R0ebaf184bbfb47d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c128496a874055" /><Relationship Type="http://schemas.openxmlformats.org/officeDocument/2006/relationships/image" Target="/ppt/media/image15.png" Id="R29781b39b1484606" /><Relationship Type="http://schemas.openxmlformats.org/officeDocument/2006/relationships/notesSlide" Target="/ppt/notesSlides/notesSlide14.xml" Id="R89f5ecadc1b1424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45d1b793e44c92" /><Relationship Type="http://schemas.openxmlformats.org/officeDocument/2006/relationships/image" Target="/ppt/media/image16.png" Id="Rbb01c9737ddb41de" /><Relationship Type="http://schemas.openxmlformats.org/officeDocument/2006/relationships/notesSlide" Target="/ppt/notesSlides/notesSlide15.xml" Id="R44eaf2339595409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0049cb679bc4adc" /><Relationship Type="http://schemas.openxmlformats.org/officeDocument/2006/relationships/image" Target="/ppt/media/image17.png" Id="Re7f776a8abf54887" /><Relationship Type="http://schemas.openxmlformats.org/officeDocument/2006/relationships/notesSlide" Target="/ppt/notesSlides/notesSlide16.xml" Id="R93929659fa88458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a13da2934e4763" /><Relationship Type="http://schemas.openxmlformats.org/officeDocument/2006/relationships/image" Target="/ppt/media/image18.png" Id="R188d11ca8a2e478d" /><Relationship Type="http://schemas.openxmlformats.org/officeDocument/2006/relationships/notesSlide" Target="/ppt/notesSlides/notesSlide17.xml" Id="R8d5da1b9383a4f5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acaf63f72054e23" /><Relationship Type="http://schemas.openxmlformats.org/officeDocument/2006/relationships/image" Target="/ppt/media/image19.png" Id="Rfaa7c2b75c8543bf" /><Relationship Type="http://schemas.openxmlformats.org/officeDocument/2006/relationships/notesSlide" Target="/ppt/notesSlides/notesSlide18.xml" Id="R7586419d48dc471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6bfcd6515648fa" /><Relationship Type="http://schemas.openxmlformats.org/officeDocument/2006/relationships/image" Target="/ppt/media/image20.png" Id="R645108f4fcd0422c" /><Relationship Type="http://schemas.openxmlformats.org/officeDocument/2006/relationships/notesSlide" Target="/ppt/notesSlides/notesSlide19.xml" Id="Ra75525f907de464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8d0ba889cc94d1c" /><Relationship Type="http://schemas.openxmlformats.org/officeDocument/2006/relationships/image" Target="/ppt/media/image21.png" Id="R8eebca12db2f4535" /><Relationship Type="http://schemas.openxmlformats.org/officeDocument/2006/relationships/notesSlide" Target="/ppt/notesSlides/notesSlide20.xml" Id="Rb0fe8ab18cf1453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c0028999c14d70" /><Relationship Type="http://schemas.openxmlformats.org/officeDocument/2006/relationships/image" Target="/ppt/media/image22.png" Id="Ra21194d9ffb049c6" /><Relationship Type="http://schemas.openxmlformats.org/officeDocument/2006/relationships/notesSlide" Target="/ppt/notesSlides/notesSlide21.xml" Id="Rba09b7109acb44a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f3992d1ea354bf8" /><Relationship Type="http://schemas.openxmlformats.org/officeDocument/2006/relationships/image" Target="/ppt/media/image23.png" Id="Rea67029ad65f48b0" /><Relationship Type="http://schemas.openxmlformats.org/officeDocument/2006/relationships/notesSlide" Target="/ppt/notesSlides/notesSlide22.xml" Id="R34b1dd21b87b4c13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 descr="Ilustração conceitual autoral da capa: EPISÓDIO 3 — MetricFlow local: métricas como códig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b02444a51545f6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BD6264A0-7F7F-4C0B-B838-38C7CE6E1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F4AE317C-1D6D-463B-89D7-210F275EF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588DD414-E14D-42FF-9407-60D81E72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3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94089301-EFC3-428E-9156-A1A8199C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8" name="" descr="Ilustração conceitual autoral da capa: EPISÓDIO 3 — MetricFlow local: métricas como códig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787cb93e549b8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07D3014-72EB-41A7-9148-A3EE74791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MetricFlow local: métricas como código</a:t>
            </a:r>
          </a:p>
        </p:txBody>
      </p:sp>
      <p:sp>
        <p:nvSpPr>
          <p:cNvPr id="8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1982BE9-4FA9-4D5D-B9D7-7FC0EB6D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Defina, valide, compile e execute sem conta dbt Platform</a:t>
            </a:r>
          </a:p>
        </p:txBody>
      </p:sp>
      <p:sp>
        <p:nvSpPr>
          <p:cNvPr id="9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A53AB770-076C-4F60-94F3-BD09C573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10" name="cover-meta">
            <a:extLst xmlns:a="http://schemas.openxmlformats.org/drawingml/2006/main">
              <a:ext uri="{FF2B5EF4-FFF2-40B4-BE49-F238E27FC236}">
                <a16:creationId xmlns:a16="http://schemas.microsoft.com/office/drawing/2014/main" id="{3C75D1BF-CFD7-4952-BF34-89BA3556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03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16089256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ok">
            <a:extLst xmlns:a="http://schemas.openxmlformats.org/drawingml/2006/main">
              <a:ext uri="{FF2B5EF4-FFF2-40B4-BE49-F238E27FC236}">
                <a16:creationId xmlns:a16="http://schemas.microsoft.com/office/drawing/2014/main" id="{64C03B56-E780-48A4-9B2B-44D72479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5334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Uma métrica declarada uma vez pode gerar o mesmo SQL para todos os consumidores.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D2C8FE68-9406-49EC-9E59-3404231D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E1C07699-D2D2-4605-B0CA-CEA9C97C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84697B06-B7EA-4EBA-8D19-CE374646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952500"/>
            <a:ext cx="4762500" cy="466725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9" name="" descr="Diagrama didático autoral que apresenta: Uma métrica declarada uma vez pode gerar o mesmo SQL para todos os consumidores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c3443be04f4da6"/>
          <a:stretch xmlns:a="http://schemas.openxmlformats.org/drawingml/2006/main"/>
        </p:blipFill>
        <p:spPr>
          <a:xfrm xmlns:a="http://schemas.openxmlformats.org/drawingml/2006/main">
            <a:off x="6858000" y="1634175"/>
            <a:ext cx="4191000" cy="31515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17F94529-2DBE-42D1-A135-C3595144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6BDBCD6D-4A89-4FBB-ACC3-51CD5408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Diagrama didático autoral que apresenta: Uma métrica declarada uma vez pode gerar o mesmo SQL para todos os consumidores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7af7ad79e40e2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E21E96C-3DE2-481B-86BD-5E836A55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AF687146-6392-4D26-9269-94EFDB3F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80E9D27-A3BF-42D4-BEB6-8B98EE89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2/22</a:t>
            </a:r>
          </a:p>
        </p:txBody>
      </p:sp>
    </p:spTree>
    <p:extLst>
      <p:ext uri="{BB962C8B-B14F-4D97-AF65-F5344CB8AC3E}">
        <p14:creationId xmlns:p14="http://schemas.microsoft.com/office/powerpoint/2010/main" val="1928728863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106CDA0-6054-49CE-8F81-B9D3DA1E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EB0C3F57-7B90-4F40-9CDE-ED98A843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CD360B97-5822-4E6E-82D7-1972FEAE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Declarar entidades e dimensões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08F017FD-FA68-4660-9653-5A97371B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1A668BE5-FCA6-462B-8C94-F5808A886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0BBC0437-C00B-4430-B9A0-64F65B0C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Criar métricas simples e razão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DF292806-9A7E-4488-82D5-D7D512C1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08F70EAD-8719-4E6E-8340-BD93F9C2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57B35ADC-1AB7-4E4B-87AA-8D08DFBD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Reconciliar SQL com ground truth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B14D5BC7-B4B9-42E9-86CC-B519C847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5DD8CC48-EC8B-4ADD-BBB7-2C05ED65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Ao final, você consegue...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9fd3ec10be4f3b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8DB8F1F-A938-40D2-AA7D-232F747E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195BC7AA-2174-4197-A075-3DC60234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D99B7D0-2052-441C-9ABD-4397C7C4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3/22</a:t>
            </a:r>
          </a:p>
        </p:txBody>
      </p:sp>
    </p:spTree>
    <p:extLst>
      <p:ext uri="{BB962C8B-B14F-4D97-AF65-F5344CB8AC3E}">
        <p14:creationId xmlns:p14="http://schemas.microsoft.com/office/powerpoint/2010/main" val="530241636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EA8990-FDCA-4469-82DC-FF0E17F7E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MetricFlow compila; não adivinha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221834E-47D9-4102-AF5E-FCF66BAD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A força vem de definições explícitas, não de geração probabilística.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0C35DF36-A6EE-43D7-AD87-BE019CAF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Consulta lógica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Grafo semântico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SQL executável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1E1DF16-FA2A-4F99-9755-255304AF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7CC0683E-8B80-4BEA-AF1B-D6FF2B5D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64AFE86B-DACF-47D6-A070-3837BEB4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07F4D9B7-630E-4E2E-AF27-18102FF6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C1B999C4-7084-466F-8F5C-0F71CCC4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MetricFlow compila; não adivinha — A força vem de definições explícitas, não de geração probabilístic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b510a2b96a4147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526B7A1-6E78-49C7-8D0C-AE47FB20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6C91EF1A-F244-4B67-B7D1-346BEDBE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4268225-67FC-4D0C-B782-5B3031F8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4/22</a:t>
            </a:r>
          </a:p>
        </p:txBody>
      </p:sp>
    </p:spTree>
    <p:extLst>
      <p:ext uri="{BB962C8B-B14F-4D97-AF65-F5344CB8AC3E}">
        <p14:creationId xmlns:p14="http://schemas.microsoft.com/office/powerpoint/2010/main" val="5539728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FEBBAD4-B115-4113-91CC-EEB071C0E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Entidade começa pelo grão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7808F64-8774-45DF-94F5-AC4270C9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order_id só pode ser primary se o modelo tiver uma linha por pedido.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AB5ABD53-6EA1-4EAC-AFBE-62FB70F3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Primary: order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Foreign: customer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Unicidade testada antes da métrica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10341C19-F67E-4113-93B3-29E619E8D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9A0B8312-FEAA-4AEA-919F-DD3B5715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7C9495C-C279-4C6C-8230-04434BF9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3C228E65-8FAD-4EC3-84C3-5DEDECC6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0755CA54-F952-4983-8B57-9B000E11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Entidade começa pelo grão — order_id só pode ser primary se o modelo tiver uma linha por pedid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2a11de3acc4f07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CF2FD6B-0BA8-4145-829D-823B80CB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1FC81AF8-1CF6-4569-AED9-58E95CBA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CB0D379-6A3E-4ABD-BCC4-85CCE902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5/22</a:t>
            </a:r>
          </a:p>
        </p:txBody>
      </p:sp>
    </p:spTree>
    <p:extLst>
      <p:ext uri="{BB962C8B-B14F-4D97-AF65-F5344CB8AC3E}">
        <p14:creationId xmlns:p14="http://schemas.microsoft.com/office/powerpoint/2010/main" val="2136970882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A89D38-B226-4582-9EC1-70156B34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Entidade começa pelo grão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D0F4809F-C32A-4480-8C08-0CA20ED5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EC5FF"/>
                </a:solidFill>
              </a:defRPr>
            </a:pPr>
            <a:r>
              <a:rPr sz="2100" b="1">
                <a:solidFill>
                  <a:srgbClr val="1EC5FF"/>
                </a:solidFill>
              </a:rPr>
              <a:t>Entidade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8C6F7283-47F7-4161-9848-2F5BF6F6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2DBE8C"/>
                </a:solidFill>
              </a:defRPr>
            </a:pPr>
            <a:r>
              <a:rPr sz="2100" b="1">
                <a:solidFill>
                  <a:srgbClr val="2DBE8C"/>
                </a:solidFill>
              </a:rPr>
              <a:t>Grão físico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DA248121-21CC-4C8E-AC7C-77C1A3FC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E08AFB75-DD96-44DA-BC34-1FE8D62F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Primary: order</a:t>
            </a:r>
          </a:p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Foreign: customer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6054DD7A-069C-46F1-AE09-0A6CFA1B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Unicidade testada antes da métrica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FCB3C914-49F6-4E07-8D91-C2D5C2E77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ABE635F6-CC14-4B24-9AF3-D3F2F24E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Entidade começa pelo grão — Entidad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603636325445b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A8B3AC8-CF43-49D4-B186-C5AE0009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046213DC-4828-48D4-82D3-67ED604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6ECD6D-E817-4181-87C9-F1376B39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6/22</a:t>
            </a:r>
          </a:p>
        </p:txBody>
      </p:sp>
    </p:spTree>
    <p:extLst>
      <p:ext uri="{BB962C8B-B14F-4D97-AF65-F5344CB8AC3E}">
        <p14:creationId xmlns:p14="http://schemas.microsoft.com/office/powerpoint/2010/main" val="744995812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3CF81C-C643-40B9-99FA-A3BB0329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O exemplo oficial conecta schema e métricas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8DF9F82-6F31-42C8-BDAC-29E786E02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Chaves e tipos de coluna sustentam os caminhos do grafo.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A2E03647-786A-4A0E-B16F-A79F59BF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PK e FK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Dimensões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Medidas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8AAE5266-CC17-4F9F-A9A4-7215CDED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B30B80D4-7BCF-4EC6-A750-9391A27E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9E02EE0A-658B-4556-A305-A73340B3A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D04ECD25-2399-4231-BD8E-EB7D704B8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37079C3C-312F-4CB8-9BF2-08F96309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O exemplo oficial conecta schema e métricas — Chaves e tipos de coluna sustentam os caminhos do graf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d92f6ad4e443e0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990305A-1CEB-4384-8F7D-E0298E71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B79CCA9A-C764-4D30-BAAF-4C5FA5D4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20FCB0-1227-4434-962A-C567929C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7/22</a:t>
            </a:r>
          </a:p>
        </p:txBody>
      </p:sp>
    </p:spTree>
    <p:extLst>
      <p:ext uri="{BB962C8B-B14F-4D97-AF65-F5344CB8AC3E}">
        <p14:creationId xmlns:p14="http://schemas.microsoft.com/office/powerpoint/2010/main" val="19301407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66D7137-9878-4E36-8E7D-511E4F891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exemplo oficial conecta schema e métricas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88F51AC8-5EED-4C94-BF35-22A51DBD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Chaves e tipos de coluna sustentam os caminhos do grafo.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275FB48D-A4E2-484E-95C0-1F563699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8" name="" descr="Figura oficial da documentação dbt usada para explicar: O exemplo oficial conecta schema e métricas — Chaves e tipos de coluna sustentam os caminhos do graf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6dc297c86b468d"/>
          <a:stretch xmlns:a="http://schemas.openxmlformats.org/drawingml/2006/main"/>
        </p:blipFill>
        <p:spPr>
          <a:xfrm xmlns:a="http://schemas.openxmlformats.org/drawingml/2006/main">
            <a:off x="5429250" y="1975313"/>
            <a:ext cx="5791200" cy="3002624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49BF3F51-3474-4A29-A62D-AC7CE45C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Exemplo oficial dbt Labs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C6733A24-187A-4D71-ABF8-7E45829F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43BBC8D-9CBE-4FC6-AAD9-B41471BF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Figura oficial da documentação dbt usada para explicar: O exemplo oficial conecta schema e métricas — Chaves e tipos de coluna sustentam os caminhos do graf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800e5f1381401c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71488A5-D3FD-4E4E-AA7E-C2D77710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A59BE6EC-B7EA-4B3A-96DC-964FA4BE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A1CB00C-D5AD-4B6A-A6F7-30BE8E27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8/22</a:t>
            </a:r>
          </a:p>
        </p:txBody>
      </p:sp>
    </p:spTree>
    <p:extLst>
      <p:ext uri="{BB962C8B-B14F-4D97-AF65-F5344CB8AC3E}">
        <p14:creationId xmlns:p14="http://schemas.microsoft.com/office/powerpoint/2010/main" val="20457119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F2A19A-D494-4D21-AD66-66B925EE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Tempo também é contrato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72DC58E-2D5C-45EE-9C41-02F5E546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A dimensão padrão precisa refletir a pergunta de negócio.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26A34304-5DDC-4C50-B6EB-C02EDD98A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order_purchase_date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Granularidade diária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Time spine para operações temporais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845BAB4F-C4FD-4C90-A3F6-F0B227BE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CF15EA7-7A62-4312-9360-F6CE3B623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CEA38E63-E885-46AF-8939-930A46C3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F0B56C6C-8DBF-4BAD-BE3D-3E9F70F4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91294B41-7E3E-42C5-8452-6D7248A6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Tempo também é contrato — A dimensão padrão precisa refletir a pergunta de negóci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89a6cc9ca340af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45A652F-400D-4CA0-999B-2FCD38CF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1581A844-8D08-4DA9-9D94-63B2344C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7F34C54-ED04-442E-9083-B3115C7D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9/22</a:t>
            </a:r>
          </a:p>
        </p:txBody>
      </p:sp>
    </p:spTree>
    <p:extLst>
      <p:ext uri="{BB962C8B-B14F-4D97-AF65-F5344CB8AC3E}">
        <p14:creationId xmlns:p14="http://schemas.microsoft.com/office/powerpoint/2010/main" val="211374860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CFE7B0-B9BB-42B0-BE0A-B30CED49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Tempo também é contrato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A1306697-4059-4276-9785-1441726C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F6A98717-1B30-4F61-820F-68F68EA6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Evento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35CE899D-AB9F-441F-9BF6-8CEFBD94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BA9C5779-3FAB-46B8-A598-BCA4E24B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BFB03C3B-1377-481B-BEF7-B8AD1010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Grão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893CC305-9C0F-4680-9198-DCA6A132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3A812F66-FA88-4CC7-ADCE-040037DF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FC9E3926-4B18-4B52-BAC1-F577C77B9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Calendário</a:t>
            </a:r>
          </a:p>
        </p:txBody>
      </p:sp>
      <p:sp>
        <p:nvSpPr>
          <p:cNvPr id="10" name="step-line-3">
            <a:extLst xmlns:a="http://schemas.openxmlformats.org/drawingml/2006/main">
              <a:ext uri="{FF2B5EF4-FFF2-40B4-BE49-F238E27FC236}">
                <a16:creationId xmlns:a16="http://schemas.microsoft.com/office/drawing/2014/main" id="{F0D5B5AD-A515-4A71-B400-353EE929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11" name="step-num-4">
            <a:extLst xmlns:a="http://schemas.openxmlformats.org/drawingml/2006/main">
              <a:ext uri="{FF2B5EF4-FFF2-40B4-BE49-F238E27FC236}">
                <a16:creationId xmlns:a16="http://schemas.microsoft.com/office/drawing/2014/main" id="{36BE57E4-68D4-4396-A02A-9EF14AB1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04</a:t>
            </a:r>
          </a:p>
        </p:txBody>
      </p:sp>
      <p:sp>
        <p:nvSpPr>
          <p:cNvPr id="12" name="step-label-4">
            <a:extLst xmlns:a="http://schemas.openxmlformats.org/drawingml/2006/main">
              <a:ext uri="{FF2B5EF4-FFF2-40B4-BE49-F238E27FC236}">
                <a16:creationId xmlns:a16="http://schemas.microsoft.com/office/drawing/2014/main" id="{3B9CE732-1CED-4BD0-AE99-8879FAA1A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Métrica</a:t>
            </a:r>
          </a:p>
        </p:txBody>
      </p:sp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642FD753-171C-4453-B4F9-7A2FEB87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14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A4F2682C-26AB-4339-B2FF-2828BF60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35" name="" descr="Figura oficial da documentação dbt usada para explicar: Tempo também é contrato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6ee26e9f124c98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7D044CB-8633-4D5E-9D29-F04F3881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7" name="footer">
            <a:extLst xmlns:a="http://schemas.openxmlformats.org/drawingml/2006/main">
              <a:ext uri="{FF2B5EF4-FFF2-40B4-BE49-F238E27FC236}">
                <a16:creationId xmlns:a16="http://schemas.microsoft.com/office/drawing/2014/main" id="{1A004974-9CE8-4FFA-97D4-22DAFDE1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C82F19C-EF20-4D08-B911-C9EDE102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10/22</a:t>
            </a:r>
          </a:p>
        </p:txBody>
      </p:sp>
    </p:spTree>
    <p:extLst>
      <p:ext uri="{BB962C8B-B14F-4D97-AF65-F5344CB8AC3E}">
        <p14:creationId xmlns:p14="http://schemas.microsoft.com/office/powerpoint/2010/main" val="317860302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0F981E-9CD7-463A-B012-46A30329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Métricas simples vivem perto do dado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7EB15C2-7254-4588-9BB8-604F2DC7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Contagem, soma e receita entregue reutilizam colunas já testadas.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CC6F1A00-A0E5-4F2E-B169-A418AA15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orders: count_distinct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gross_revenue: sum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delivered_revenue: sum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19ACB3A-9C9C-4FD4-9971-B04083F5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9CA6BFE-4BE6-4B1B-998F-ABDC6569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4906DFCE-BCC9-4470-A569-091F189C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AD79B5A-DB3C-4756-B8A4-8746D732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7163D15-773C-4CD4-82DC-A5F06772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Métricas simples vivem perto do dado — Contagem, soma e receita entregue reutilizam colunas já testada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2b50f2e0a2472b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9A84C7E-1609-411B-B48D-D970CBF4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C44AFC84-065D-4ACD-99BE-D6CB61BC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8903B66-B2C2-4B3A-AF30-F5E37AFA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11/22</a:t>
            </a:r>
          </a:p>
        </p:txBody>
      </p:sp>
    </p:spTree>
    <p:extLst>
      <p:ext uri="{BB962C8B-B14F-4D97-AF65-F5344CB8AC3E}">
        <p14:creationId xmlns:p14="http://schemas.microsoft.com/office/powerpoint/2010/main" val="14945642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DF09F65-F666-4BED-B19D-71AF870F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Métricas simples vivem perto do dado</a:t>
            </a:r>
          </a:p>
        </p:txBody>
      </p:sp>
      <p:sp>
        <p:nvSpPr>
          <p:cNvPr id="2" name="metric-primary">
            <a:extLst xmlns:a="http://schemas.openxmlformats.org/drawingml/2006/main">
              <a:ext uri="{FF2B5EF4-FFF2-40B4-BE49-F238E27FC236}">
                <a16:creationId xmlns:a16="http://schemas.microsoft.com/office/drawing/2014/main" id="{4CAFC622-4536-4088-A7E4-1F095658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57500"/>
            <a:ext cx="4000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565C0"/>
                </a:solidFill>
              </a:defRPr>
            </a:pPr>
            <a:r>
              <a:rPr sz="3600" b="1">
                <a:solidFill>
                  <a:srgbClr val="1565C0"/>
                </a:solidFill>
              </a:rPr>
              <a:t>630 entregue</a:t>
            </a:r>
          </a:p>
        </p:txBody>
      </p:sp>
      <p:sp>
        <p:nvSpPr>
          <p:cNvPr id="3" name="metric-inputs">
            <a:extLst xmlns:a="http://schemas.openxmlformats.org/drawingml/2006/main">
              <a:ext uri="{FF2B5EF4-FFF2-40B4-BE49-F238E27FC236}">
                <a16:creationId xmlns:a16="http://schemas.microsoft.com/office/drawing/2014/main" id="{0ABC9507-D003-446A-B86C-3F813D65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523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B1F3A"/>
                </a:solidFill>
              </a:defRPr>
            </a:pPr>
            <a:r>
              <a:rPr sz="2250" b="1">
                <a:solidFill>
                  <a:srgbClr val="0B1F3A"/>
                </a:solidFill>
              </a:rPr>
              <a:t>8 pedidos  ×  740 bruto</a:t>
            </a:r>
          </a:p>
        </p:txBody>
      </p:sp>
      <p:sp>
        <p:nvSpPr>
          <p:cNvPr id="4" name="metric-arrow">
            <a:extLst xmlns:a="http://schemas.openxmlformats.org/drawingml/2006/main">
              <a:ext uri="{FF2B5EF4-FFF2-40B4-BE49-F238E27FC236}">
                <a16:creationId xmlns:a16="http://schemas.microsoft.com/office/drawing/2014/main" id="{55133FA4-0285-4590-AE50-1714D899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86100"/>
            <a:ext cx="1047750" cy="666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565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D2DE2D8C-393F-4DEF-91E0-7E4A93C9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1F3BC4AC-3C04-4144-8ED0-E1A2E211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Métricas simples vivem perto do dado — 630 entregu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64f4bdd8254892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092DE7B-784D-4338-9941-4869875C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D48A84B9-DBCE-4EF0-8E09-3BAD0ECC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6C3716D-D965-4041-8FFB-C9D80D83E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12/22</a:t>
            </a:r>
          </a:p>
        </p:txBody>
      </p:sp>
    </p:spTree>
    <p:extLst>
      <p:ext uri="{BB962C8B-B14F-4D97-AF65-F5344CB8AC3E}">
        <p14:creationId xmlns:p14="http://schemas.microsoft.com/office/powerpoint/2010/main" val="14504623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191AC3-9767-4203-A414-F54EF8D4E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Razões reutilizam métricas nomeadas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48367C7-6C5F-44C3-8D72-EEB23E08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Ticket médio compõe gross_revenue e orders sem copiar a fórmula.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0737A929-708A-4811-906F-3EF46333D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Numerador governado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Denominador governado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Precisão e zero documentados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0FF3969D-871A-4FEA-8BD5-021186BF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42C88322-B817-4472-8092-46D5C676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A266776C-E4C9-44BE-9779-AB0B8E47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06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CF2A2D8-DDFB-4AC7-8CD6-49E30AC0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F1083DA-2C52-4771-ADC4-E894E606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Razões reutilizam métricas nomeadas — Ticket médio compõe gross_revenue e orders sem copiar a fórmul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097b0b82e4df7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4A0356B-9394-423A-B0A9-1003ED445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4575A5C7-7AC1-4596-8B8E-A5D98942E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B0AF545-D08B-4459-8733-65F98120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13/22</a:t>
            </a:r>
          </a:p>
        </p:txBody>
      </p:sp>
    </p:spTree>
    <p:extLst>
      <p:ext uri="{BB962C8B-B14F-4D97-AF65-F5344CB8AC3E}">
        <p14:creationId xmlns:p14="http://schemas.microsoft.com/office/powerpoint/2010/main" val="1939180121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1364AFA-CC6F-44F7-81AA-C47459FCF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Razões reutilizam métricas nomeadas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B69313C3-54D5-482F-8045-E959854A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gross_revenue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00120A58-7A51-4CBA-A43E-5B142E4E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÷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F69DCAB9-FD3A-46B2-9367-4B1183E2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orders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247A0432-E43D-481C-B6CF-C31C8738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AOV</a:t>
            </a:r>
          </a:p>
        </p:txBody>
      </p:sp>
      <p:cxnSp>
        <p:nvCxnSpPr>
          <p:cNvPr id="29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0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1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F9177F0B-E98A-4D43-A44E-0724479E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10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50E2932-13E1-4E8F-B52B-AB90D27B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34" name="" descr="Figura oficial da documentação dbt usada para explicar: Razões reutilizam métricas nomeadas — gross_revenu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81b39b1484606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BB4663F-A3C6-416F-AC9F-533D5848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479C837D-AA34-4253-A9FE-F274D909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2B62ED-EF69-4060-9ACC-751A463B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14/22</a:t>
            </a:r>
          </a:p>
        </p:txBody>
      </p:sp>
    </p:spTree>
    <p:extLst>
      <p:ext uri="{BB962C8B-B14F-4D97-AF65-F5344CB8AC3E}">
        <p14:creationId xmlns:p14="http://schemas.microsoft.com/office/powerpoint/2010/main" val="803303187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B816819-D28E-4259-B27E-3BF0F95C1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9215F7CF-8B8A-4ACD-BB1D-BE46135A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41AFF3E1-4C8D-4083-802D-F22C2B24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03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547C3D0F-47B8-436D-8EDC-3406E103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18B163E5-2675-4539-8C07-C682D228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4DFC539-D53A-46E8-AA83-2F879F74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Demonstração — execute — python course.py checkpoint 03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01c9737ddb41de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94FC264-9525-4BD7-92E1-E8A4AED5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6C212B0-E72A-4A92-8DF5-9CCAC97E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1873F13-90C7-4A9D-9777-125B37F9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15/22</a:t>
            </a:r>
          </a:p>
        </p:txBody>
      </p:sp>
    </p:spTree>
    <p:extLst>
      <p:ext uri="{BB962C8B-B14F-4D97-AF65-F5344CB8AC3E}">
        <p14:creationId xmlns:p14="http://schemas.microsoft.com/office/powerpoint/2010/main" val="60878385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81AA634-F6B1-4364-BAB8-022CC633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C58F3D8F-3D4E-47B6-880D-DED4CA03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5DEA8B52-8B0D-4D76-87BF-24CB5CAB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mf validate-configs sem erro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527433FB-5165-4C27-8723-F3811DE8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D11D55BC-E4CD-4930-8A4F-2609AB16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74B01D51-FF1B-4DAE-A397-8FFC9032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Consulta mensal compilada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2D09A96C-8951-45C8-9112-BB6C6440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34C294A3-C183-4210-ACEA-4DBBB733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EFE25676-246E-43FE-983E-316BEE1F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Janeiro a abril reconciliados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A95D6CE3-4BB9-4376-AC44-25C4BF82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892EEBCA-059D-4877-9436-0B6ABC98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Demonstração — observe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f776a8abf54887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65F8B4F-6016-4CF8-A8A1-B51B039B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061E478C-F977-4FAF-93A4-F8E308AA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E0158C7-5273-4FE6-8C79-C70926944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16/22</a:t>
            </a:r>
          </a:p>
        </p:txBody>
      </p:sp>
    </p:spTree>
    <p:extLst>
      <p:ext uri="{BB962C8B-B14F-4D97-AF65-F5344CB8AC3E}">
        <p14:creationId xmlns:p14="http://schemas.microsoft.com/office/powerpoint/2010/main" val="1040121196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8F10B116-E077-4D59-AF75-6C318ECF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CFBA303A-6E8D-4323-A592-C69D8188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8 pedidos · 740 bruto · 630 entregue · 92,50 AOV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9809AE41-FD56-4EDE-886D-5F7AA4AD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03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A398145-2256-412D-8976-3CF317A4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069315B-984E-43C6-9680-A22D50C8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737B118B-FE5A-4F9F-AF4B-94B6775D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058973A-DD3F-44B2-AAD8-FBCADCA8D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ESULTADO ESPERADO — 8 pedidos · 740 bruto · 630 entregue · 92,50 AOV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d11ca8a2e478d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0E680CD-7D2C-49C6-A760-41D5B525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82AC9452-21D2-497F-A5FA-D758B94B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C46BFF0-7940-4003-818D-12820EC0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17/22</a:t>
            </a:r>
          </a:p>
        </p:txBody>
      </p:sp>
    </p:spTree>
    <p:extLst>
      <p:ext uri="{BB962C8B-B14F-4D97-AF65-F5344CB8AC3E}">
        <p14:creationId xmlns:p14="http://schemas.microsoft.com/office/powerpoint/2010/main" val="14595203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820214-3520-4F2A-8C11-F2A5DE7F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38BCE394-313A-4261-9714-D7DF3C79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D284646D-9382-447F-9F4E-E8821F7E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Git e ownership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076F9EA7-B522-4C0B-BDA0-EF1C155B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DF923D14-874B-4E44-B08D-ED838CBE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1DDE0744-18FE-4AC1-B69C-B2260509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reuso com cardinalidade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31B79C32-BBFD-4332-AB0F-54FE1C8F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DAFFC1BC-49C8-4970-8DFB-F2C84154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E2758247-3368-44FD-8BBD-BB0F4174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nomes em vez de joins inventados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CD7DA0B8-C315-48DB-9CEB-430ECB9B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FFF10EAD-64DB-4032-B9BD-F708E031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O mesmo recurso afeta três decisões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a7c2b75c8543bf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CBC6ECB-1C16-44A9-934A-A9CD19F4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A54ABCC9-6932-489A-AC72-2A0B6670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1E449AB-F1F2-4843-BC16-A7BA7496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18/22</a:t>
            </a:r>
          </a:p>
        </p:txBody>
      </p:sp>
    </p:spTree>
    <p:extLst>
      <p:ext uri="{BB962C8B-B14F-4D97-AF65-F5344CB8AC3E}">
        <p14:creationId xmlns:p14="http://schemas.microsoft.com/office/powerpoint/2010/main" val="1110178542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ase-number">
            <a:extLst xmlns:a="http://schemas.openxmlformats.org/drawingml/2006/main">
              <a:ext uri="{FF2B5EF4-FFF2-40B4-BE49-F238E27FC236}">
                <a16:creationId xmlns:a16="http://schemas.microsoft.com/office/drawing/2014/main" id="{06429655-CE97-48D4-85C4-28A9F0D7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2 → 13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ADF9E89C-D32E-443E-BC05-C211548F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contribuidores reportados pela Inventa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661C45A4-1C45-4AA7-A71A-31B68F6B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6E7CB407-BCB9-49E5-AF41-1447C9D5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O laboratório comprova apenas validação, SQL e reconciliação.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638F610B-2CF9-4D0B-B8FB-2B20102B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FE9B8570-C84A-48D9-A2A1-95AD0BE3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2 → 13 — contribuidores reportados pela Invent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5108f4fcd0422c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0D52646-56AB-4B2E-BAAD-250985DE1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AA761C48-1A88-403D-8CB3-476BD2E9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38EF432-9204-4267-8012-E9647E81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19/22</a:t>
            </a:r>
          </a:p>
        </p:txBody>
      </p:sp>
    </p:spTree>
    <p:extLst>
      <p:ext uri="{BB962C8B-B14F-4D97-AF65-F5344CB8AC3E}">
        <p14:creationId xmlns:p14="http://schemas.microsoft.com/office/powerpoint/2010/main" val="53466948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E1682D-7EC8-446A-96BD-B66C142A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25C74AD7-EF82-457C-AF5C-DAD86F6E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MetricFlow não decide a definição da métrica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Alta cardinalidade ainda custa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Biblioteca aberta não é o serviço hospedado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A13B5EC5-E84F-4F1C-8C87-394F62D7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4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F770728-F004-4E3D-9BAB-3AE28B97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Limitações que precisam permanecer visíveis — • MetricFlow não decide a definição da métric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bca12db2f4535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E8C5B42-EBCF-4979-9525-C8FA29CC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F37246F-2A33-400D-9F78-C2C47246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42F5507-4FD2-47FF-8811-1BEDD313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20/22</a:t>
            </a:r>
          </a:p>
        </p:txBody>
      </p:sp>
    </p:spTree>
    <p:extLst>
      <p:ext uri="{BB962C8B-B14F-4D97-AF65-F5344CB8AC3E}">
        <p14:creationId xmlns:p14="http://schemas.microsoft.com/office/powerpoint/2010/main" val="563398886"/>
      </p:ext>
    </p:extLst>
  </p:cSld>
</p:sld>
</file>

<file path=ppt/slides/slide2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adar-label">
            <a:extLst xmlns:a="http://schemas.openxmlformats.org/drawingml/2006/main">
              <a:ext uri="{FF2B5EF4-FFF2-40B4-BE49-F238E27FC236}">
                <a16:creationId xmlns:a16="http://schemas.microsoft.com/office/drawing/2014/main" id="{B8A4C60F-8F95-48A2-8416-F8F74F97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EB2F1901-F433-48DC-9B2E-3B8BFCF5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A matriz de suporte do Core 2.0/Fusion não é assumida igual ao Core 1.12.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293F8256-4354-4A8B-BBBF-CFE0CE508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8E8C499D-958B-4992-85BF-F474DA3D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7F118147-0E01-4FD2-9ED4-AE5EC103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DFFC2587-7647-44B7-A936-40DB0ECE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3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4A8C7A1C-ECB7-4FC9-A9A3-44CBC16E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ADAR — A matriz de suporte do Core 2.0/Fusion não é assumida igual ao Core 1.12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1194d9ffb049c6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7361009-5DF8-451B-8BFC-E167831F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335F3359-E189-4961-966A-1384DA5F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AD6D3E-D745-4264-8F6B-BD33C526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21/22</a:t>
            </a:r>
          </a:p>
        </p:txBody>
      </p:sp>
    </p:spTree>
    <p:extLst>
      <p:ext uri="{BB962C8B-B14F-4D97-AF65-F5344CB8AC3E}">
        <p14:creationId xmlns:p14="http://schemas.microsoft.com/office/powerpoint/2010/main" val="17224766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ta-label">
            <a:extLst xmlns:a="http://schemas.openxmlformats.org/drawingml/2006/main">
              <a:ext uri="{FF2B5EF4-FFF2-40B4-BE49-F238E27FC236}">
                <a16:creationId xmlns:a16="http://schemas.microsoft.com/office/drawing/2014/main" id="{ED1E69E3-ED15-4390-BD2B-1CBEEE59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D7C65A69-B4A6-4771-92F6-F17B3C7F6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Implemente uma métrica simples e uma razão e reconcilie os valores.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76C55B18-C411-4542-8881-58F47898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03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390B8AA3-E652-4380-98CC-FCD0FF24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3  •  OPEN / CORE 1.12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24B59471-F70F-40ED-8502-AC77F8A2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7" name="" descr="Figura oficial da documentação dbt usada para explicar: PRÓXIMO PASSO — Implemente uma métrica simples e uma razão e reconcilie os valore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67029ad65f48b0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805E4E3-C0B4-4D03-868B-0E71E945B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265D8E31-DA5B-4AFD-950B-CB0C3E6B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9DECF53-024E-40DB-BA27-FF4D2FEC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22/22</a:t>
            </a:r>
          </a:p>
        </p:txBody>
      </p:sp>
    </p:spTree>
    <p:extLst>
      <p:ext uri="{BB962C8B-B14F-4D97-AF65-F5344CB8AC3E}">
        <p14:creationId xmlns:p14="http://schemas.microsoft.com/office/powerpoint/2010/main" val="19862430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2026-09-02T16:14:50.4420000Z</dcterms:created>
  <dcterms:modified xsi:type="dcterms:W3CDTF">2026-09-02T16:14:50.4420000Z</dcterms:modified>
</coreProperties>
</file>