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c0a8120ad94ef7" /><Relationship Type="http://schemas.openxmlformats.org/officeDocument/2006/relationships/extended-properties" Target="/docProps/app.xml" Id="R4ede8213c9424bf3" /><Relationship Type="http://schemas.openxmlformats.org/officeDocument/2006/relationships/officeDocument" Target="/ppt/presentation.xml" Id="R51a00a94bcc944c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3157db1e1343fe"/>
    <p:sldMasterId xmlns:r="http://schemas.openxmlformats.org/officeDocument/2006/relationships" id="2147483650" r:id="Rac11c898274e4e86"/>
  </p:sldMasterIdLst>
  <p:notesMasterIdLst>
    <p:notesMasterId xmlns:r="http://schemas.openxmlformats.org/officeDocument/2006/relationships" r:id="Rffc2d2c25b2f4b1a"/>
  </p:notesMasterIdLst>
  <p:sldIdLst>
    <p:sldId xmlns:r="http://schemas.openxmlformats.org/officeDocument/2006/relationships" id="256" r:id="Rc5b63da75ad540c0"/>
    <p:sldId xmlns:r="http://schemas.openxmlformats.org/officeDocument/2006/relationships" id="257" r:id="Re810a16f9f87479f"/>
    <p:sldId xmlns:r="http://schemas.openxmlformats.org/officeDocument/2006/relationships" id="258" r:id="R71b14251ac844176"/>
    <p:sldId xmlns:r="http://schemas.openxmlformats.org/officeDocument/2006/relationships" id="259" r:id="R7686e39e3dbc4586"/>
    <p:sldId xmlns:r="http://schemas.openxmlformats.org/officeDocument/2006/relationships" id="260" r:id="R87449a2c7a864bb6"/>
    <p:sldId xmlns:r="http://schemas.openxmlformats.org/officeDocument/2006/relationships" id="261" r:id="Rcf54b58ba2a44694"/>
    <p:sldId xmlns:r="http://schemas.openxmlformats.org/officeDocument/2006/relationships" id="262" r:id="R443d2796c2ee438d"/>
    <p:sldId xmlns:r="http://schemas.openxmlformats.org/officeDocument/2006/relationships" id="263" r:id="R70a9adda1de34659"/>
    <p:sldId xmlns:r="http://schemas.openxmlformats.org/officeDocument/2006/relationships" id="264" r:id="Rc3e0373e1d5b4567"/>
    <p:sldId xmlns:r="http://schemas.openxmlformats.org/officeDocument/2006/relationships" id="265" r:id="R2567b8c64da54d4a"/>
    <p:sldId xmlns:r="http://schemas.openxmlformats.org/officeDocument/2006/relationships" id="266" r:id="Rb65c26856db447cd"/>
    <p:sldId xmlns:r="http://schemas.openxmlformats.org/officeDocument/2006/relationships" id="267" r:id="R0ef1deb4da5745b8"/>
    <p:sldId xmlns:r="http://schemas.openxmlformats.org/officeDocument/2006/relationships" id="268" r:id="R80c66bb817e8447e"/>
    <p:sldId xmlns:r="http://schemas.openxmlformats.org/officeDocument/2006/relationships" id="269" r:id="R147f042a601e4f75"/>
    <p:sldId xmlns:r="http://schemas.openxmlformats.org/officeDocument/2006/relationships" id="270" r:id="R40dd03e307264eb4"/>
    <p:sldId xmlns:r="http://schemas.openxmlformats.org/officeDocument/2006/relationships" id="271" r:id="Rc64a3428559e49fe"/>
    <p:sldId xmlns:r="http://schemas.openxmlformats.org/officeDocument/2006/relationships" id="272" r:id="R8566b30baff745aa"/>
    <p:sldId xmlns:r="http://schemas.openxmlformats.org/officeDocument/2006/relationships" id="273" r:id="R55820827e8da4d7b"/>
    <p:sldId xmlns:r="http://schemas.openxmlformats.org/officeDocument/2006/relationships" id="274" r:id="Rdae483cc06fa4a6a"/>
    <p:sldId xmlns:r="http://schemas.openxmlformats.org/officeDocument/2006/relationships" id="275" r:id="Rad2754ecf4124c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e19f556af5417b" /><Relationship Type="http://schemas.openxmlformats.org/officeDocument/2006/relationships/slideMaster" Target="/ppt/slideMasters/slideMaster1.xml" Id="Rd03157db1e1343fe" /><Relationship Type="http://schemas.openxmlformats.org/officeDocument/2006/relationships/slideMaster" Target="/ppt/slideMasters/slideMaster2.xml" Id="Rac11c898274e4e86" /><Relationship Type="http://schemas.openxmlformats.org/officeDocument/2006/relationships/notesMaster" Target="/ppt/notesMasters/notesMaster1.xml" Id="Rffc2d2c25b2f4b1a" /><Relationship Type="http://schemas.openxmlformats.org/officeDocument/2006/relationships/presProps" Target="/ppt/presProps.xml" Id="R45f8dae3ecf14107" /><Relationship Type="http://schemas.openxmlformats.org/officeDocument/2006/relationships/tableStyles" Target="/ppt/tableStyles.xml" Id="Rf91d332808a24422" /><Relationship Type="http://schemas.openxmlformats.org/officeDocument/2006/relationships/slide" Target="/ppt/slides/slide1.xml" Id="Rc5b63da75ad540c0" /><Relationship Type="http://schemas.openxmlformats.org/officeDocument/2006/relationships/slide" Target="/ppt/slides/slide2.xml" Id="Re810a16f9f87479f" /><Relationship Type="http://schemas.openxmlformats.org/officeDocument/2006/relationships/slide" Target="/ppt/slides/slide3.xml" Id="R71b14251ac844176" /><Relationship Type="http://schemas.openxmlformats.org/officeDocument/2006/relationships/slide" Target="/ppt/slides/slide4.xml" Id="R7686e39e3dbc4586" /><Relationship Type="http://schemas.openxmlformats.org/officeDocument/2006/relationships/slide" Target="/ppt/slides/slide5.xml" Id="R87449a2c7a864bb6" /><Relationship Type="http://schemas.openxmlformats.org/officeDocument/2006/relationships/slide" Target="/ppt/slides/slide6.xml" Id="Rcf54b58ba2a44694" /><Relationship Type="http://schemas.openxmlformats.org/officeDocument/2006/relationships/slide" Target="/ppt/slides/slide7.xml" Id="R443d2796c2ee438d" /><Relationship Type="http://schemas.openxmlformats.org/officeDocument/2006/relationships/slide" Target="/ppt/slides/slide8.xml" Id="R70a9adda1de34659" /><Relationship Type="http://schemas.openxmlformats.org/officeDocument/2006/relationships/slide" Target="/ppt/slides/slide9.xml" Id="Rc3e0373e1d5b4567" /><Relationship Type="http://schemas.openxmlformats.org/officeDocument/2006/relationships/slide" Target="/ppt/slides/slide10.xml" Id="R2567b8c64da54d4a" /><Relationship Type="http://schemas.openxmlformats.org/officeDocument/2006/relationships/slide" Target="/ppt/slides/slide11.xml" Id="Rb65c26856db447cd" /><Relationship Type="http://schemas.openxmlformats.org/officeDocument/2006/relationships/slide" Target="/ppt/slides/slide12.xml" Id="R0ef1deb4da5745b8" /><Relationship Type="http://schemas.openxmlformats.org/officeDocument/2006/relationships/slide" Target="/ppt/slides/slide13.xml" Id="R80c66bb817e8447e" /><Relationship Type="http://schemas.openxmlformats.org/officeDocument/2006/relationships/slide" Target="/ppt/slides/slide14.xml" Id="R147f042a601e4f75" /><Relationship Type="http://schemas.openxmlformats.org/officeDocument/2006/relationships/slide" Target="/ppt/slides/slide15.xml" Id="R40dd03e307264eb4" /><Relationship Type="http://schemas.openxmlformats.org/officeDocument/2006/relationships/slide" Target="/ppt/slides/slide16.xml" Id="Rc64a3428559e49fe" /><Relationship Type="http://schemas.openxmlformats.org/officeDocument/2006/relationships/slide" Target="/ppt/slides/slide17.xml" Id="R8566b30baff745aa" /><Relationship Type="http://schemas.openxmlformats.org/officeDocument/2006/relationships/slide" Target="/ppt/slides/slide18.xml" Id="R55820827e8da4d7b" /><Relationship Type="http://schemas.openxmlformats.org/officeDocument/2006/relationships/slide" Target="/ppt/slides/slide19.xml" Id="Rdae483cc06fa4a6a" /><Relationship Type="http://schemas.openxmlformats.org/officeDocument/2006/relationships/slide" Target="/ppt/slides/slide20.xml" Id="Rad2754ecf4124c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2dcc62adf68343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054be4115a8431e" /><Relationship Type="http://schemas.openxmlformats.org/officeDocument/2006/relationships/notesMaster" Target="/ppt/notesMasters/notesMaster1.xml" Id="Rdc4e1d8cba804b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310094f761400e" /><Relationship Type="http://schemas.openxmlformats.org/officeDocument/2006/relationships/notesMaster" Target="/ppt/notesMasters/notesMaster1.xml" Id="R307f141d4c674c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3b74972ece4a55" /><Relationship Type="http://schemas.openxmlformats.org/officeDocument/2006/relationships/notesMaster" Target="/ppt/notesMasters/notesMaster1.xml" Id="Rd01375acc27443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49908f6cbb4198" /><Relationship Type="http://schemas.openxmlformats.org/officeDocument/2006/relationships/notesMaster" Target="/ppt/notesMasters/notesMaster1.xml" Id="R57a106c229164e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e43efe2edc42e8" /><Relationship Type="http://schemas.openxmlformats.org/officeDocument/2006/relationships/notesMaster" Target="/ppt/notesMasters/notesMaster1.xml" Id="R2b7ccb34a9704e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ca9e42bccf4c0a" /><Relationship Type="http://schemas.openxmlformats.org/officeDocument/2006/relationships/notesMaster" Target="/ppt/notesMasters/notesMaster1.xml" Id="R4256af87780b40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508e51e2104efa" /><Relationship Type="http://schemas.openxmlformats.org/officeDocument/2006/relationships/notesMaster" Target="/ppt/notesMasters/notesMaster1.xml" Id="R36c64fb7f9794c7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b536fc60664587" /><Relationship Type="http://schemas.openxmlformats.org/officeDocument/2006/relationships/notesMaster" Target="/ppt/notesMasters/notesMaster1.xml" Id="R6206fd619d1c42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3388420dd64269" /><Relationship Type="http://schemas.openxmlformats.org/officeDocument/2006/relationships/notesMaster" Target="/ppt/notesMasters/notesMaster1.xml" Id="R1f3fb3e2f357418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e1098803d4e45cb" /><Relationship Type="http://schemas.openxmlformats.org/officeDocument/2006/relationships/notesMaster" Target="/ppt/notesMasters/notesMaster1.xml" Id="Re6b1a3759af646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e5832ec9879443d" /><Relationship Type="http://schemas.openxmlformats.org/officeDocument/2006/relationships/notesMaster" Target="/ppt/notesMasters/notesMaster1.xml" Id="R9fe3bcdde9334d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fa78f46cc34205" /><Relationship Type="http://schemas.openxmlformats.org/officeDocument/2006/relationships/notesMaster" Target="/ppt/notesMasters/notesMaster1.xml" Id="R0d745bf0a8264c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b689052fc94449b" /><Relationship Type="http://schemas.openxmlformats.org/officeDocument/2006/relationships/notesMaster" Target="/ppt/notesMasters/notesMaster1.xml" Id="Ra9c6f32f8d374e0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08916466f9d4dc4" /><Relationship Type="http://schemas.openxmlformats.org/officeDocument/2006/relationships/notesMaster" Target="/ppt/notesMasters/notesMaster1.xml" Id="Ra992cbd82cd1489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fef78c009a34c1e" /><Relationship Type="http://schemas.openxmlformats.org/officeDocument/2006/relationships/notesMaster" Target="/ppt/notesMasters/notesMaster1.xml" Id="R633c4c4fb5204af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24215108cd34c9f" /><Relationship Type="http://schemas.openxmlformats.org/officeDocument/2006/relationships/notesMaster" Target="/ppt/notesMasters/notesMaster1.xml" Id="R607e0459b2384fd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a08d761323545ad" /><Relationship Type="http://schemas.openxmlformats.org/officeDocument/2006/relationships/notesMaster" Target="/ppt/notesMasters/notesMaster1.xml" Id="R8c46c924546c490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4be140311b8438e" /><Relationship Type="http://schemas.openxmlformats.org/officeDocument/2006/relationships/notesMaster" Target="/ppt/notesMasters/notesMaster1.xml" Id="Rf67f4cbacf484d2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5d310f0d28e4cfc" /><Relationship Type="http://schemas.openxmlformats.org/officeDocument/2006/relationships/notesMaster" Target="/ppt/notesMasters/notesMaster1.xml" Id="Rdadc0e1158cc45f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dc0c19b6875477c" /><Relationship Type="http://schemas.openxmlformats.org/officeDocument/2006/relationships/notesMaster" Target="/ppt/notesMasters/notesMaster1.xml" Id="R2dcd50e3eb8b4b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objetivo do EPISÓDIO 2 e conecte-o ao checkpoint executável. Duas tabelas Gold corretas ainda podem responder receita com números diferentes.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Duas tabelas Gold corretas ainda podem responder receita com números diferentes. Use o diagrama para antecipar o problema que será comprovado no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os três resultados observáveis da aula: Separar Gold e semântica; Proteger o grão de pedido; Nomear métricas sem ambiguidade.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Grão, filtro, data e chave não podem ficar só na cabeça do autor. Desenvolva os pontos: Qual é o grão?; Receita inclui cancelados?; Qual data e qual chave?.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Tabela Gold, dimensional, semantic model, métrica e serviço não são sinônimos. Desenvolva os pontos: Gold prepara; Modelo organiza; Métrica nomeia; Serviço opera.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Tabela Gold, dimensional, semantic model, métrica e serviço não são sinônimos. Gold prepara Modelo organiza Métrica nomeia Serviço opera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Dois itens × dois pagamentos produzem quatro combinações. Desenvolva os pontos: O SQL compila; O grão muda; A soma fica falsa.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Dois itens × dois pagamentos produzem quatro combinações. O SQL compila O grão muda A soma fica falsa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Entidades e relações precisam anteceder a agregação. Desenvolva os pontos: Chave primária real; Relações verificáveis; Agregação antes do join.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Entidades e relações precisam anteceder a agregação. Chave primária real Relações verificáveis Agregação antes do join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Receita bruta e receita entregue respondem perguntas diferentes. Desenvolva os pontos: orders; gross_revenue; delivered_revenue; average_order_value.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Receita bruta e receita entregue respondem perguntas diferentes. orders gross_revenue delivered_revenue average_order_value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python course.py checkpoint 02. Pause para o aluno acompanhar o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Durante a execução, destaque: Gold no grão pedido; Fachada commerce_orders; 10 respostas reconciliadas.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Confirme o resultado esperado: Ground truth OK: 10 perguntas. Se o valor divergir, não avance sem investigar.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Conecte a técnica aos efeitos: Governança: nomes e owners; FinOps: menos joins exploratórios; IA: menos decisões probabilísticas. Não prometa economia sem medição.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83 métricas: centralizadas pela Inventa. 90% de redução de manutenção reportada pela empresa/dbt Labs.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os limites sem minimizá-los: YAML não resolve desacordo de negócio; Semântica não corrige fonte atrasada; Distinct não é cura para cardinalidade.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sintaxe executada é a spec suportada no Core 1.12; cross-project futuro fica no Radar. Reforce que beta e preview não fazem parte da aceitação.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Documente nome, pergunta, grão, filtro, data e owner de três métricas. Encerre conectando a aula ao próximo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a3d4c34383481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65f4c362f6242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934a25d9cba4d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9907e53f3744e9" /><Relationship Type="http://schemas.openxmlformats.org/officeDocument/2006/relationships/slideLayout" Target="/ppt/slideLayouts/slideLayout1.xml" Id="R5db184422b714e20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b7efeae23cc34cb3" /><Relationship Type="http://schemas.openxmlformats.org/officeDocument/2006/relationships/slideLayout" Target="/ppt/slideLayouts/slideLayout2.xml" Id="Rfe62b801b2894004" /><Relationship Type="http://schemas.openxmlformats.org/officeDocument/2006/relationships/slideLayout" Target="/ppt/slideLayouts/slideLayout3.xml" Id="R57efe077803644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b184422b714e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fe62b801b2894004"/>
    <p:sldLayoutId xmlns:r="http://schemas.openxmlformats.org/officeDocument/2006/relationships" id="2147483652" r:id="R57efe0778036441e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57a25761ed4ff0" /><Relationship Type="http://schemas.openxmlformats.org/officeDocument/2006/relationships/image" Target="/ppt/media/image.jpeg" Id="R833d09db9f72427c" /><Relationship Type="http://schemas.openxmlformats.org/officeDocument/2006/relationships/notesSlide" Target="/ppt/notesSlides/notesSlide1.xml" Id="R4ecf0453a05044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c9bb5063c2f4dca" /><Relationship Type="http://schemas.openxmlformats.org/officeDocument/2006/relationships/image" Target="/ppt/media/image.png" Id="R3a6df8da053d4577" /><Relationship Type="http://schemas.openxmlformats.org/officeDocument/2006/relationships/notesSlide" Target="/ppt/notesSlides/notesSlide2.xml" Id="Rbafc9b066d834f2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daa3a6ac874f54" /><Relationship Type="http://schemas.openxmlformats.org/officeDocument/2006/relationships/notesSlide" Target="/ppt/notesSlides/notesSlide3.xml" Id="Rc94b92670b8c47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67acb9f1c5474e" /><Relationship Type="http://schemas.openxmlformats.org/officeDocument/2006/relationships/notesSlide" Target="/ppt/notesSlides/notesSlide4.xml" Id="R474fcb4805434b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aac9a3d22894044" /><Relationship Type="http://schemas.openxmlformats.org/officeDocument/2006/relationships/notesSlide" Target="/ppt/notesSlides/notesSlide5.xml" Id="Rf203909ebd2644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3d14e5a1b940f0" /><Relationship Type="http://schemas.openxmlformats.org/officeDocument/2006/relationships/notesSlide" Target="/ppt/notesSlides/notesSlide6.xml" Id="R2a26f864e23a43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95756fc26d49b1" /><Relationship Type="http://schemas.openxmlformats.org/officeDocument/2006/relationships/notesSlide" Target="/ppt/notesSlides/notesSlide7.xml" Id="R1931d20ccd61434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615bf687479423c" /><Relationship Type="http://schemas.openxmlformats.org/officeDocument/2006/relationships/notesSlide" Target="/ppt/notesSlides/notesSlide8.xml" Id="R1be7b6c29af744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c36dada61d44f7a" /><Relationship Type="http://schemas.openxmlformats.org/officeDocument/2006/relationships/notesSlide" Target="/ppt/notesSlides/notesSlide9.xml" Id="Rabad467619d645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57e83b36d44fef" /><Relationship Type="http://schemas.openxmlformats.org/officeDocument/2006/relationships/image" Target="/ppt/media/image2.png" Id="R97b6ef1e86364e82" /><Relationship Type="http://schemas.openxmlformats.org/officeDocument/2006/relationships/notesSlide" Target="/ppt/notesSlides/notesSlide10.xml" Id="R93d92d371e5a41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ed2b9778e94e67" /><Relationship Type="http://schemas.openxmlformats.org/officeDocument/2006/relationships/notesSlide" Target="/ppt/notesSlides/notesSlide11.xml" Id="R86e554a09db04d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4f86890bc34f8c" /><Relationship Type="http://schemas.openxmlformats.org/officeDocument/2006/relationships/notesSlide" Target="/ppt/notesSlides/notesSlide12.xml" Id="R5672978c3e8645e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bf8ff8ccad4827" /><Relationship Type="http://schemas.openxmlformats.org/officeDocument/2006/relationships/notesSlide" Target="/ppt/notesSlides/notesSlide13.xml" Id="Rec00d17294bd484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5447013a1504e85" /><Relationship Type="http://schemas.openxmlformats.org/officeDocument/2006/relationships/notesSlide" Target="/ppt/notesSlides/notesSlide14.xml" Id="Rf6d00837ae2642c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11bb25feb541fa" /><Relationship Type="http://schemas.openxmlformats.org/officeDocument/2006/relationships/notesSlide" Target="/ppt/notesSlides/notesSlide15.xml" Id="Rff69860e2c014ec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5778d8d294494a" /><Relationship Type="http://schemas.openxmlformats.org/officeDocument/2006/relationships/notesSlide" Target="/ppt/notesSlides/notesSlide16.xml" Id="Rf1889bae497c454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38a88c016c476f" /><Relationship Type="http://schemas.openxmlformats.org/officeDocument/2006/relationships/notesSlide" Target="/ppt/notesSlides/notesSlide17.xml" Id="R709732570b7a47a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37cf649f7104354" /><Relationship Type="http://schemas.openxmlformats.org/officeDocument/2006/relationships/notesSlide" Target="/ppt/notesSlides/notesSlide18.xml" Id="R413223f2a7024ee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82e7b0ae3f4b14" /><Relationship Type="http://schemas.openxmlformats.org/officeDocument/2006/relationships/notesSlide" Target="/ppt/notesSlides/notesSlide19.xml" Id="Reda8930c2f2b43e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40623f687d04db3" /><Relationship Type="http://schemas.openxmlformats.org/officeDocument/2006/relationships/notesSlide" Target="/ppt/notesSlides/notesSlide20.xml" Id="Rc8be80450bfb4483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 descr="Ilustração conceitual autoral da capa: EPISÓDIO 2 — Gold não é camada semântic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3d09db9f72427c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462C6E99-FDEC-4B64-8369-97916646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1E61708B-310A-491C-BE32-50699E1F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BE2879BA-BBC1-4963-B2B9-C2306E93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2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13B2D8C-C34E-43CD-9927-C67130B5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Gold não é camada semântica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B06AE02-1E9D-488E-BD58-62A5BE30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Dados preparados não garantem significado compartilhado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FE0BDE0-914E-41A3-A0AC-1DB3E333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50815B02-6667-4FBD-819E-66B7E3C6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02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21340947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AE37DC28-B9EC-420E-B5AC-88F203DB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Duas tabelas Gold corretas ainda podem responder receita com números diferentes.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DDF64EA5-C580-44E2-8C9D-9A2B0E6F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3A8D7D01-3BBC-46E6-AC02-B2F8647A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F9976C9E-6239-484E-9B10-7FD456C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4" name="" descr="Diagrama didático autoral que apresenta: Duas tabelas Gold corretas ainda podem responder receita com números diferentes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df8da053d4577"/>
          <a:stretch xmlns:a="http://schemas.openxmlformats.org/drawingml/2006/main"/>
        </p:blipFill>
        <p:spPr>
          <a:xfrm xmlns:a="http://schemas.openxmlformats.org/drawingml/2006/main">
            <a:off x="4176429" y="3790950"/>
            <a:ext cx="3839142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9D5B26E6-7A5F-41F9-BB01-6239F0E5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37F19D6-3F08-47E5-843E-FF19CACD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6FD18E31-5E83-434E-9103-DB7E7C0C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BF2893-CD64-4793-A6A4-ECBF9EF8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1217007459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2C04DF-3153-4A98-8C4B-D26D36B8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F104F685-C418-4AEB-9FC5-B92A693C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A10340FE-7D2D-4102-9424-9CC52287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Separar Gold e semântica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6444E58-104F-4AAF-AFCF-C446B56D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F91EFBD5-FDDB-43C0-92B5-D2C77269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718E837D-E0EB-407B-9513-CB11BE17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Proteger o grão de pedido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0705502A-6A0D-4076-B9AC-7BABCC2F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6924E2BA-69B2-4331-AB80-B157718D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013BBCD-A69D-43BA-871E-64B107C2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Nomear métricas sem ambiguidade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AA920842-CA9F-4767-8F1B-37F78EFB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551812F-A7B8-4327-B985-00E4FDC6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74E51114-FA59-4C4D-BC49-A6A07DC2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042300-A71E-421E-B5E6-C9F3A00B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1098638317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620293-2F50-4584-933A-6DC15B1D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Quatro perguntas revelam a interface ausente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F2BC4CA-0F97-4A07-AA40-1E527DA8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Grão, filtro, data e chave não podem ficar só na cabeça do autor.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3E20AF9-250C-4F42-BF76-6F6DF958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Qual é o grão?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Receita inclui cancelados?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Qual data e qual chave?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C7AF6F8-1F77-4C51-835F-4AAE2152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1F24F38-6998-4ACC-A56A-3CB99BC5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6342AF27-A933-4D4E-B56C-9CE45E75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9799D6A-CF0A-4F20-BB56-E0562012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311BB7C-5D7D-4203-B63F-773EF9D5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4A53EC4-8C64-48A7-B0EC-FE5AAF7E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9198A5B-CC85-4050-8785-89E1BA58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11828297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1E86DD-E906-4083-B4E3-955F9CB5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Cinco conceitos, cinco responsabilidades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8957261-E54A-4D64-A90B-30D5970C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Tabela Gold, dimensional, semantic model, métrica e serviço não são sinônimos.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DF0302C0-1CCF-44CE-8505-1E31B0D2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Gold prepara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Modelo organiza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Métrica nomeia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Serviço opera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2C1A3E7-BE67-492D-907D-58559B15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C09D711-76F3-4BF4-8F89-3C932D55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C78863C2-EA4E-4034-9D76-55BA8C87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F99D184-1F6F-4810-A17F-2BAA2F32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C21FDF-3CC4-4CB9-9362-DCA3EBE8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40DD7CA-76DE-4242-BD7F-37B62851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E867A4-0F25-4D77-A0AE-2F04D241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2069076728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178313-A631-4F3A-94A8-0C73A9FE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Cinco conceitos, cinco responsabilidades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1F9AD077-D068-441E-9A00-D2CECF32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Gold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FE0A4E88-C795-4614-BF48-EC8419C7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751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Dimensional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2C437A93-898D-4BC0-8019-C05B2F29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540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Semântica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CBB1A484-1C9C-4B5C-A72F-207DAF3C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29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Métrica</a:t>
            </a:r>
          </a:p>
        </p:txBody>
      </p:sp>
      <p:sp>
        <p:nvSpPr>
          <p:cNvPr id="6" name="flow-5">
            <a:extLst xmlns:a="http://schemas.openxmlformats.org/drawingml/2006/main">
              <a:ext uri="{FF2B5EF4-FFF2-40B4-BE49-F238E27FC236}">
                <a16:creationId xmlns:a16="http://schemas.microsoft.com/office/drawing/2014/main" id="{31C29850-85DB-442B-8066-BDE3BBC5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Serviço</a:t>
            </a:r>
          </a:p>
        </p:txBody>
      </p:sp>
      <p:cxnSp>
        <p:nvCxnSpPr>
          <p:cNvPr id="21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271081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2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487870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04659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921448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57508C70-7339-4657-A943-429B2FB9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0E634EA-B90D-4C02-9A29-F2FFDEDC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FBA891A6-67BA-4A7B-ACD2-9ADD929A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ED1981-3CA1-4841-A266-AFAD4CF7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178638190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293796-F2B5-4BF7-8574-414E1555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Join válido pode multiplicar dinheiro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DBB8660-1101-4222-8840-93EE4E79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Dois itens × dois pagamentos produzem quatro combinações.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D0CB180-2A00-4C5F-84AB-4DE5DB25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 SQL compila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 grão muda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 soma fica falsa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707EDE3-E4BF-4D0E-A22B-30625EB5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FBD0E02-AFE1-4F4D-ADF4-80F525BD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CC34E344-C704-4AD7-97EF-8783BCB3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E72BA4B-752D-4E5E-8975-23A5E00C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FE8C069-D1FD-461E-AD92-D4E3B53C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00479D52-56CB-42F7-A664-1FE2B682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D121BF-3379-4D4F-804A-4D909EAC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4075353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8E420F-A0AC-44D7-B5CC-BB9B379A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Join válido pode multiplicar dinheiro</a:t>
            </a:r>
          </a:p>
        </p:txBody>
      </p:sp>
      <p:sp>
        <p:nvSpPr>
          <p:cNvPr id="2" name="metric-primary">
            <a:extLst xmlns:a="http://schemas.openxmlformats.org/drawingml/2006/main">
              <a:ext uri="{FF2B5EF4-FFF2-40B4-BE49-F238E27FC236}">
                <a16:creationId xmlns:a16="http://schemas.microsoft.com/office/drawing/2014/main" id="{4F7E3B2E-A1BF-4264-98D4-39F7668D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57500"/>
            <a:ext cx="400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565C0"/>
                </a:solidFill>
              </a:defRPr>
            </a:pPr>
            <a:r>
              <a:rPr sz="3600" b="1">
                <a:solidFill>
                  <a:srgbClr val="1565C0"/>
                </a:solidFill>
              </a:rPr>
              <a:t>4 linhas</a:t>
            </a:r>
          </a:p>
        </p:txBody>
      </p:sp>
      <p:sp>
        <p:nvSpPr>
          <p:cNvPr id="3" name="metric-inputs">
            <a:extLst xmlns:a="http://schemas.openxmlformats.org/drawingml/2006/main">
              <a:ext uri="{FF2B5EF4-FFF2-40B4-BE49-F238E27FC236}">
                <a16:creationId xmlns:a16="http://schemas.microsoft.com/office/drawing/2014/main" id="{3C60D06F-8F8E-40A5-937D-05BDFDCC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523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1F3A"/>
                </a:solidFill>
              </a:defRPr>
            </a:pPr>
            <a:r>
              <a:rPr sz="2250" b="1">
                <a:solidFill>
                  <a:srgbClr val="0B1F3A"/>
                </a:solidFill>
              </a:rPr>
              <a:t>1 pedido  ×  2 itens  ×  2 pagamentos</a:t>
            </a:r>
          </a:p>
        </p:txBody>
      </p:sp>
      <p:sp>
        <p:nvSpPr>
          <p:cNvPr id="4" name="metric-arrow">
            <a:extLst xmlns:a="http://schemas.openxmlformats.org/drawingml/2006/main">
              <a:ext uri="{FF2B5EF4-FFF2-40B4-BE49-F238E27FC236}">
                <a16:creationId xmlns:a16="http://schemas.microsoft.com/office/drawing/2014/main" id="{5BD069FF-BAAB-4B97-B74E-D10457C1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86100"/>
            <a:ext cx="104775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5FED4DE1-E367-42DB-9FCC-B764EF9C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B114F8A-F32D-4C48-BCB2-F825FF5C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900DCCD-1159-45A5-A397-A8C70EB1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F51EFE-CDFF-4B03-92A0-860C14ED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8570435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5138A0-CF67-46FC-A71E-2A2AAA54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ERD torna cardinalidade visível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AFDC4DF-41A0-4574-98ED-E30AB4B9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Entidades e relações precisam anteceder a agregação.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E02D9B4E-32AE-4BC8-90FE-DFDB3B22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Chave primária real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Relações verificáveis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Agregação antes do join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9427131-7E2A-47DA-BEC5-8914597A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FCDB612-D357-42EA-BF8B-086B0F06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5A9B0D0-5172-48A9-804C-B0A4760C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416CCCE-F530-41FB-8BC5-462742C7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46F4E11-96A7-4EBE-9D8C-B34BE3CE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8912206F-D047-462E-9724-EF34D42C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6D6AA4-41B4-4FE4-931A-14B8AB7E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2004230839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B06C1CE-105F-42BB-84E0-E14A8025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ERD torna cardinalidade visível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86AD5F96-6720-4F72-AD51-84C07A3A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Entidades e relações precisam anteceder a agregação.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8A458EAF-8BA8-42DA-8DA2-B53DD1E3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3" name="" descr="Figura oficial da documentação dbt usada para explicar: O ERD torna cardinalidade visível — Entidades e relações precisam anteceder a agregaçã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b6ef1e86364e82"/>
          <a:stretch xmlns:a="http://schemas.openxmlformats.org/drawingml/2006/main"/>
        </p:blipFill>
        <p:spPr>
          <a:xfrm xmlns:a="http://schemas.openxmlformats.org/drawingml/2006/main">
            <a:off x="5429250" y="2153712"/>
            <a:ext cx="5791200" cy="2645827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937D2F8D-EE90-4A0D-94FA-ED6BB90E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da documentação dbt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8CDAF7F4-F09A-4C10-B4FD-D28C7718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C42E0FB-D699-4505-A3DD-B34A998F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02DDB25F-1E96-4734-B613-B194039A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3674F1F-1FBB-4B0B-9674-50E611D6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2122027123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0E85CD-19B7-4882-9064-C68CA61F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Métricas válidas precisam de nomes distintos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F90323C-BAF2-4A91-A057-17268D54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Receita bruta e receita entregue respondem perguntas diferentes.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7114EA9-6E91-490A-B777-F856BCB1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orders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gross_revenue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delivered_revenue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average_order_value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FA82D5E-57AA-4739-BDF7-165FDB39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7C052100-4DEC-4E90-A3C9-34A2AA93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0B1419F-700D-4EEE-AD6E-4CE6E320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70319B5B-41F1-4AE7-92D0-ADF328BE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DE3D61D-D662-4F37-B758-30541A80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B4FAC139-4E60-431E-A3EE-F92A7745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FF716E7-24FD-4205-8B96-9FC6D769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3376681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93F540-4657-4EAB-B44F-9FEC12F5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Métricas válidas precisam de nomes distintos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8AC0E58D-0842-476C-896E-F4C70173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Receita bruta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90D69879-EC4D-4051-8654-E9EF6F83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Receita entregue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E256C3BB-5543-42C8-8722-FE7D154A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274C3D79-6D11-410C-A09A-BE409663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orders</a:t>
            </a:r>
          </a:p>
          <a:p xmlns:a="http://schemas.openxmlformats.org/drawingml/2006/main">
            <a:pPr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gross_revenue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7678CEEA-402A-4EBA-AFDD-4DE37EAF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delivered_revenue</a:t>
            </a:r>
          </a:p>
          <a:p xmlns:a="http://schemas.openxmlformats.org/drawingml/2006/main">
            <a:pPr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average_order_value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86D0D6D-D422-474B-87D4-7700115C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5B562D4-BDF4-42DF-87DC-9F2D333F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098CD5B1-03F4-41A0-A924-0B9F9E76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ECB8BA-25C0-443D-BB9F-4B152CD8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1818330379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1FE68A-E43A-42C1-B4A9-40943EFB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1B104D18-2270-4202-AA3B-C6E80FC2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7F5F66E8-C72D-4ABB-B2E8-CF172C98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02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4F12CCDF-FFF2-46AE-BBEE-88CB055C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570E280B-0183-4FA3-A05B-5D21EC65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E75B42E-739D-4300-A869-9C62457A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54CBB9A-38C3-4193-B5DD-0831AFFE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D32E178-1201-405A-98AF-F6FF5136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3915665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29141C-B4C9-4A34-B753-A06CD4C7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FF711A6A-330D-441D-A5C7-6A820CC1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DFE4A4E8-B7EF-4BCB-982C-9293BA5F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Gold no grão pedido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5A04294-CDDD-4EA5-BAB3-8F8DC21B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AD437D5F-02D0-48CF-B069-33BE91E1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BAD21469-2E8D-4E0E-B341-633A7B2B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Fachada commerce_orders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ED2280D9-484E-481E-AFAD-DBDED507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9BDF4973-3437-46E2-B221-E2F492DA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CFA3BEC7-DA91-4A26-B01E-1CB1FE6F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10 respostas reconciliadas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9207D8B2-0663-468C-8066-D3C76B7C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8761173-5180-427B-B6D6-8618EB7F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F4ACDB40-08EE-41AA-944C-C82A5322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6F9295-0940-44E0-AD25-195C8AF0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1265158240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12C8930D-68F4-4029-A276-DA639362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E156717D-7B4A-4181-8C37-727060B3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Ground truth OK: 10 perguntas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FD88B5F6-6277-4030-8F3E-4F694C74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02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9172C2F-B2EE-43BE-B73C-4C6AF1E6C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EB22E22-920E-414A-8BC6-8184AB40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3FEA6B61-897B-4E30-8FB9-D7FF916A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1AEB381-18B7-4CE7-9D73-E5D4167D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BC59D30E-E1A3-4BDB-9494-E0200EE4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C4C19E5-F75D-4A01-BD10-7F283941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3755229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1A6477-EAEF-4A79-B8BC-50C548A4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4935CA3D-5C0F-4F1F-8B9A-E14A3DEE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1B9748F7-DE36-40AE-9B0C-EC5E8A5B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nomes e owners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BE9DF09A-3393-4B1F-9CC3-6956B7BA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B1B54359-4DCB-4809-B991-028D4529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5F8FC1E4-8025-412B-A151-F5BEAF32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menos joins exploratórios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E3B6F06E-782A-4917-B345-02EB7EDF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70DF80F4-B7D1-448D-9270-99397100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E3DBF7FF-5211-4294-B695-8CD857D3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menos decisões probabilísticas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234925FD-0969-4875-BE33-358B0695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3F59AE2-80D9-4585-99B4-07763DB7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A1532A7C-BC45-4C67-98F6-58CCED86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72CD0B-4CA0-4AA9-A212-19490C1E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376688022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C8577BE5-73E9-4786-8E5B-4D8C1F8A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83 métricas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0E6EE956-4105-4F90-9AD2-63802A1F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centralizadas pela Inventa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64E917AE-4AE0-4A92-9F33-5CE2AF13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7E033DF2-CB92-4A9D-9D5E-2C3B0ABC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90% de redução de manutenção reportada pela empresa/dbt Labs.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7D63EDCB-CF09-41C4-945D-262CC36B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258A743-7E04-4D6C-990E-204DD6D7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2D74A28-23C5-42FD-B7EE-10D4D2FF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20492FE-DE6B-4E9A-A438-9E049CA7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151757842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83699F-92D3-4457-B9AB-73199022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2B318D0D-F23B-4B74-B59B-BD7E8AE3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YAML não resolve desacordo de negócio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Semântica não corrige fonte atrasada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Distinct não é cura para cardinalidade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C1D29695-50D1-4F71-B846-23212E68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A84F281-39A3-445D-90E9-912EFD8F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676E26F5-8F1D-4D04-A34B-5BB2038B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577157-E753-4445-9CD5-E539DDA4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481865121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16DAFB41-5172-44FD-9630-C121B91C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16379F26-B41A-41E6-BC58-D49750C7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A sintaxe executada é a spec suportada no Core 1.12; cross-project futuro fica no Radar.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3C946D33-A2FF-4167-920F-0AB92D6C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1784085-4504-484F-8B24-FE987D32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B5A0313-EACD-4BB9-8A72-F79162C4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EB824805-ED50-4945-BEC6-3159C343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D87F862-521E-4884-AE3D-C00B0C07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553814C8-9CF0-4C66-9BDF-1A57C070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A29358-2E23-4095-B71E-BCC8486D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7612343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9CCC3FF1-D737-4436-AE69-99659ECF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A6AAC372-4C55-4ACE-AB5A-1A8D6362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Documente nome, pergunta, grão, filtro, data e owner de três métricas.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AADB8BD4-937F-4AB2-9DBD-F3B6590D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02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9156F0F-C4B0-46BE-A2B6-B40C7F40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A768782-EA25-49DB-BF2F-ABDDBBB05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3C58774-D324-4F77-A712-7E4A7DD8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82A6A5C-6A74-479B-BC0C-B731BC83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621236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2026-09-02T00:42:41.5640000Z</dcterms:created>
  <dcterms:modified xsi:type="dcterms:W3CDTF">2026-09-02T00:42:41.5640000Z</dcterms:modified>
</coreProperties>
</file>