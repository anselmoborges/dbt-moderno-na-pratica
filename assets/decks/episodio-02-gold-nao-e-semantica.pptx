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a736bf49d64402" /><Relationship Type="http://schemas.openxmlformats.org/officeDocument/2006/relationships/extended-properties" Target="/docProps/app.xml" Id="R0669da38d7a14ff8" /><Relationship Type="http://schemas.openxmlformats.org/officeDocument/2006/relationships/officeDocument" Target="/ppt/presentation.xml" Id="Rf48647f7ea8d4b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fa8cb7ccdd4546"/>
    <p:sldMasterId xmlns:r="http://schemas.openxmlformats.org/officeDocument/2006/relationships" id="2147483650" r:id="R13d88186bf274a63"/>
  </p:sldMasterIdLst>
  <p:notesMasterIdLst>
    <p:notesMasterId xmlns:r="http://schemas.openxmlformats.org/officeDocument/2006/relationships" r:id="R6dbc110e7fdc4c72"/>
  </p:notesMasterIdLst>
  <p:sldIdLst>
    <p:sldId xmlns:r="http://schemas.openxmlformats.org/officeDocument/2006/relationships" id="256" r:id="R7202760d7ce24bd6"/>
    <p:sldId xmlns:r="http://schemas.openxmlformats.org/officeDocument/2006/relationships" id="257" r:id="Rba0351aba05148d8"/>
    <p:sldId xmlns:r="http://schemas.openxmlformats.org/officeDocument/2006/relationships" id="258" r:id="R3326e609bd10472b"/>
    <p:sldId xmlns:r="http://schemas.openxmlformats.org/officeDocument/2006/relationships" id="259" r:id="R222296769681453e"/>
    <p:sldId xmlns:r="http://schemas.openxmlformats.org/officeDocument/2006/relationships" id="260" r:id="Re674599788234236"/>
    <p:sldId xmlns:r="http://schemas.openxmlformats.org/officeDocument/2006/relationships" id="261" r:id="R3acde0f1cb5d44c9"/>
    <p:sldId xmlns:r="http://schemas.openxmlformats.org/officeDocument/2006/relationships" id="262" r:id="R9ca4bf2a235e4f5f"/>
    <p:sldId xmlns:r="http://schemas.openxmlformats.org/officeDocument/2006/relationships" id="263" r:id="R960c67cbd7134998"/>
    <p:sldId xmlns:r="http://schemas.openxmlformats.org/officeDocument/2006/relationships" id="264" r:id="Re46c286c274844a5"/>
    <p:sldId xmlns:r="http://schemas.openxmlformats.org/officeDocument/2006/relationships" id="265" r:id="Ra9c079736ba241f7"/>
    <p:sldId xmlns:r="http://schemas.openxmlformats.org/officeDocument/2006/relationships" id="266" r:id="R66ebfe113d204cf6"/>
    <p:sldId xmlns:r="http://schemas.openxmlformats.org/officeDocument/2006/relationships" id="267" r:id="Rff0b335f96b24c20"/>
    <p:sldId xmlns:r="http://schemas.openxmlformats.org/officeDocument/2006/relationships" id="268" r:id="R507b4fc3e082498b"/>
    <p:sldId xmlns:r="http://schemas.openxmlformats.org/officeDocument/2006/relationships" id="269" r:id="Rcc2cf582b3d54684"/>
    <p:sldId xmlns:r="http://schemas.openxmlformats.org/officeDocument/2006/relationships" id="270" r:id="R48b795e831254ccc"/>
    <p:sldId xmlns:r="http://schemas.openxmlformats.org/officeDocument/2006/relationships" id="271" r:id="Rbfe51c2fe2aa4beb"/>
    <p:sldId xmlns:r="http://schemas.openxmlformats.org/officeDocument/2006/relationships" id="272" r:id="R0d6490f4771844c6"/>
    <p:sldId xmlns:r="http://schemas.openxmlformats.org/officeDocument/2006/relationships" id="273" r:id="Rd38b64a8e10b476b"/>
    <p:sldId xmlns:r="http://schemas.openxmlformats.org/officeDocument/2006/relationships" id="274" r:id="R5d7be5424e1d449c"/>
    <p:sldId xmlns:r="http://schemas.openxmlformats.org/officeDocument/2006/relationships" id="275" r:id="R9e6fffdddda148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8c3dc6b00a4d1f" /><Relationship Type="http://schemas.openxmlformats.org/officeDocument/2006/relationships/slideMaster" Target="/ppt/slideMasters/slideMaster1.xml" Id="Rc3fa8cb7ccdd4546" /><Relationship Type="http://schemas.openxmlformats.org/officeDocument/2006/relationships/slideMaster" Target="/ppt/slideMasters/slideMaster2.xml" Id="R13d88186bf274a63" /><Relationship Type="http://schemas.openxmlformats.org/officeDocument/2006/relationships/notesMaster" Target="/ppt/notesMasters/notesMaster1.xml" Id="R6dbc110e7fdc4c72" /><Relationship Type="http://schemas.openxmlformats.org/officeDocument/2006/relationships/presProps" Target="/ppt/presProps.xml" Id="Rce6d8075fffc4ce9" /><Relationship Type="http://schemas.openxmlformats.org/officeDocument/2006/relationships/tableStyles" Target="/ppt/tableStyles.xml" Id="Re3636d1039d647de" /><Relationship Type="http://schemas.openxmlformats.org/officeDocument/2006/relationships/slide" Target="/ppt/slides/slide1.xml" Id="R7202760d7ce24bd6" /><Relationship Type="http://schemas.openxmlformats.org/officeDocument/2006/relationships/slide" Target="/ppt/slides/slide2.xml" Id="Rba0351aba05148d8" /><Relationship Type="http://schemas.openxmlformats.org/officeDocument/2006/relationships/slide" Target="/ppt/slides/slide3.xml" Id="R3326e609bd10472b" /><Relationship Type="http://schemas.openxmlformats.org/officeDocument/2006/relationships/slide" Target="/ppt/slides/slide4.xml" Id="R222296769681453e" /><Relationship Type="http://schemas.openxmlformats.org/officeDocument/2006/relationships/slide" Target="/ppt/slides/slide5.xml" Id="Re674599788234236" /><Relationship Type="http://schemas.openxmlformats.org/officeDocument/2006/relationships/slide" Target="/ppt/slides/slide6.xml" Id="R3acde0f1cb5d44c9" /><Relationship Type="http://schemas.openxmlformats.org/officeDocument/2006/relationships/slide" Target="/ppt/slides/slide7.xml" Id="R9ca4bf2a235e4f5f" /><Relationship Type="http://schemas.openxmlformats.org/officeDocument/2006/relationships/slide" Target="/ppt/slides/slide8.xml" Id="R960c67cbd7134998" /><Relationship Type="http://schemas.openxmlformats.org/officeDocument/2006/relationships/slide" Target="/ppt/slides/slide9.xml" Id="Re46c286c274844a5" /><Relationship Type="http://schemas.openxmlformats.org/officeDocument/2006/relationships/slide" Target="/ppt/slides/slide10.xml" Id="Ra9c079736ba241f7" /><Relationship Type="http://schemas.openxmlformats.org/officeDocument/2006/relationships/slide" Target="/ppt/slides/slide11.xml" Id="R66ebfe113d204cf6" /><Relationship Type="http://schemas.openxmlformats.org/officeDocument/2006/relationships/slide" Target="/ppt/slides/slide12.xml" Id="Rff0b335f96b24c20" /><Relationship Type="http://schemas.openxmlformats.org/officeDocument/2006/relationships/slide" Target="/ppt/slides/slide13.xml" Id="R507b4fc3e082498b" /><Relationship Type="http://schemas.openxmlformats.org/officeDocument/2006/relationships/slide" Target="/ppt/slides/slide14.xml" Id="Rcc2cf582b3d54684" /><Relationship Type="http://schemas.openxmlformats.org/officeDocument/2006/relationships/slide" Target="/ppt/slides/slide15.xml" Id="R48b795e831254ccc" /><Relationship Type="http://schemas.openxmlformats.org/officeDocument/2006/relationships/slide" Target="/ppt/slides/slide16.xml" Id="Rbfe51c2fe2aa4beb" /><Relationship Type="http://schemas.openxmlformats.org/officeDocument/2006/relationships/slide" Target="/ppt/slides/slide17.xml" Id="R0d6490f4771844c6" /><Relationship Type="http://schemas.openxmlformats.org/officeDocument/2006/relationships/slide" Target="/ppt/slides/slide18.xml" Id="Rd38b64a8e10b476b" /><Relationship Type="http://schemas.openxmlformats.org/officeDocument/2006/relationships/slide" Target="/ppt/slides/slide19.xml" Id="R5d7be5424e1d449c" /><Relationship Type="http://schemas.openxmlformats.org/officeDocument/2006/relationships/slide" Target="/ppt/slides/slide20.xml" Id="R9e6fffdddda148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25653f9ac014b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a24468b0b54c14" /><Relationship Type="http://schemas.openxmlformats.org/officeDocument/2006/relationships/notesMaster" Target="/ppt/notesMasters/notesMaster1.xml" Id="Re120d1ee3c784c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f10aa4a9324261" /><Relationship Type="http://schemas.openxmlformats.org/officeDocument/2006/relationships/notesMaster" Target="/ppt/notesMasters/notesMaster1.xml" Id="R36305b7e6a0b46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479c2426564147" /><Relationship Type="http://schemas.openxmlformats.org/officeDocument/2006/relationships/notesMaster" Target="/ppt/notesMasters/notesMaster1.xml" Id="R0e03e6550c5b42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6bf76f66e74077" /><Relationship Type="http://schemas.openxmlformats.org/officeDocument/2006/relationships/notesMaster" Target="/ppt/notesMasters/notesMaster1.xml" Id="R59865ac9d72148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3e2af6ccfe4ad7" /><Relationship Type="http://schemas.openxmlformats.org/officeDocument/2006/relationships/notesMaster" Target="/ppt/notesMasters/notesMaster1.xml" Id="Rbf29e1a6169f43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e65268258ba481c" /><Relationship Type="http://schemas.openxmlformats.org/officeDocument/2006/relationships/notesMaster" Target="/ppt/notesMasters/notesMaster1.xml" Id="Rff8fec86e54b48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85adc4b9f143ab" /><Relationship Type="http://schemas.openxmlformats.org/officeDocument/2006/relationships/notesMaster" Target="/ppt/notesMasters/notesMaster1.xml" Id="R0715be7579d040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deb7d4b26b4510" /><Relationship Type="http://schemas.openxmlformats.org/officeDocument/2006/relationships/notesMaster" Target="/ppt/notesMasters/notesMaster1.xml" Id="R263390cd2d3f45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284cfab0084866" /><Relationship Type="http://schemas.openxmlformats.org/officeDocument/2006/relationships/notesMaster" Target="/ppt/notesMasters/notesMaster1.xml" Id="R74b2f6797e9841b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110671058e94148" /><Relationship Type="http://schemas.openxmlformats.org/officeDocument/2006/relationships/notesMaster" Target="/ppt/notesMasters/notesMaster1.xml" Id="R68e9256fbc9046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0f3f9859a140de" /><Relationship Type="http://schemas.openxmlformats.org/officeDocument/2006/relationships/notesMaster" Target="/ppt/notesMasters/notesMaster1.xml" Id="Rccbbb32721d64d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66865029854946" /><Relationship Type="http://schemas.openxmlformats.org/officeDocument/2006/relationships/notesMaster" Target="/ppt/notesMasters/notesMaster1.xml" Id="R75b0e756a9aa42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9961b7c3aab4ac4" /><Relationship Type="http://schemas.openxmlformats.org/officeDocument/2006/relationships/notesMaster" Target="/ppt/notesMasters/notesMaster1.xml" Id="R27a61b427b0e413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f27cf2a819b435d" /><Relationship Type="http://schemas.openxmlformats.org/officeDocument/2006/relationships/notesMaster" Target="/ppt/notesMasters/notesMaster1.xml" Id="R7e101a3df4a24b0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753746db414dc9" /><Relationship Type="http://schemas.openxmlformats.org/officeDocument/2006/relationships/notesMaster" Target="/ppt/notesMasters/notesMaster1.xml" Id="R0f300fad6544423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ae8d179ff34f70" /><Relationship Type="http://schemas.openxmlformats.org/officeDocument/2006/relationships/notesMaster" Target="/ppt/notesMasters/notesMaster1.xml" Id="Re8939ea182db4f2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abc68a3ead44301" /><Relationship Type="http://schemas.openxmlformats.org/officeDocument/2006/relationships/notesMaster" Target="/ppt/notesMasters/notesMaster1.xml" Id="Re8eb70c051a6445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489c4527af24a92" /><Relationship Type="http://schemas.openxmlformats.org/officeDocument/2006/relationships/notesMaster" Target="/ppt/notesMasters/notesMaster1.xml" Id="Rb1287d082aec4b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503f2d1ac4d402e" /><Relationship Type="http://schemas.openxmlformats.org/officeDocument/2006/relationships/notesMaster" Target="/ppt/notesMasters/notesMaster1.xml" Id="R7fb550767ce1418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3cf6d01f01149a4" /><Relationship Type="http://schemas.openxmlformats.org/officeDocument/2006/relationships/notesMaster" Target="/ppt/notesMasters/notesMaster1.xml" Id="R5f0bbea23b5343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2 do dbt Moderno na Prática. Hoje vamos trabalhar o tema “Gold não é camada semântica”. Dados preparados não garantem significado compartilhado.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02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“Duas tabelas Gold corretas ainda podem responder receita com números diferentes.”.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Duas tabelas Gold corretas ainda podem responder receita com números diferentes.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separar Gold e semântica, Proteger o grão de pedido e Nomear métricas sem ambiguidade.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“Quatro perguntas revelam a interface ausente”.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Grão, filtro, data e chave não podem ficar só na cabeça do autor. Para tornar isso concreto, observe qual é o grão?, Receita inclui cancelados? e Qual data e qual chave?.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“Cinco conceitos, cinco responsabilidades”.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Tabela Gold, dimensional, semantic model, métrica e serviço não são sinônimos. Para tornar isso concreto, observe gold prepara, Modelo organiza, Métrica nomeia e Serviço opera.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“Cinco conceitos, cinco responsabilidades”.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Tabela Gold, dimensional, semantic model, métrica e serviço não são sinônimos. Siga a composição na ordem mostrada e conecte gold, Dimensional, Semântica, Métrica e Serviço.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“Join válido pode multiplicar dinheiro”.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Dois itens × dois pagamentos produzem quatro combinações. Para tornar isso concreto, observe o SQL compila, O grão muda e A soma fica falsa.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“Join válido pode multiplicar dinheiro”.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Dois itens × dois pagamentos produzem quatro combinações. Siga a composição na ordem mostrada e conecte os elementos principais.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ERD torna cardinalidade visível”.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Entidades e relações precisam anteceder a agregação. Para tornar isso concreto, observe chave primária real, Relações verificáveis e Agregação antes do join.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ERD torna cardinalidade visível”.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Entidades e relações precisam anteceder a agregação. Siga a composição na ordem mostrada e conecte os elementos principais. A imagem ou o fluxo não cria uma regra nova; ele torna visível a relação que acabamos de explicar. A figura é identificada como figura oficial da documentação dbt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“Métricas válidas precisam de nomes distintos”.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Receita bruta e receita entregue respondem perguntas diferentes. Para tornar isso concreto, observe orders, gross_revenue, delivered_revenue e average_order_value.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“Métricas válidas precisam de nomes distintos”.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Receita bruta e receita entregue respondem perguntas diferentes. Siga a composição na ordem mostrada e conecte receita bruta, Receita entregue, orders, gross_revenue, delivered_revenue e average_order_value.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02.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gold no grão pedido, Fachada commerce_orders e 10 respostas reconciliadas.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Ground truth OK: 10 perguntas. Esse resultado confirma que a etapa executada produziu a evidência esperada para o checkpoint 02.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nomes e owners, FinOps: menos joins exploratórios e IA: menos decisões probabilísticas.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“83 métricas”.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83 métricas: centralizadas pela Inventa. O número ajuda a dimensionar o exemplo, mas precisa ser lido com a ressalva correta. 90% de redução de manutenção reportada pela empresa/dbt Labs.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YAML não resolve desacordo de negócio, Semântica não corrige fonte atrasada e Distinct não é cura para cardinalidade.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A sintaxe executada é a spec suportada no Core 1.12; cross-project futuro fica no Radar.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Documente nome, pergunta, grão, filtro, data e owner de três métricas.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https://docs.getdbt.com/docs/build/latest-metrics-spec</a:t>
            </a:r>
          </a:p>
          <a:p xmlns:a="http://schemas.openxmlformats.org/drawingml/2006/main">
            <a:r>
              <a:t>- https://github.com/dbt-labs/metricflow</a:t>
            </a:r>
          </a:p>
          <a:p xmlns:a="http://schemas.openxmlformats.org/drawingml/2006/main">
            <a:r>
              <a:t>- https://www.getdbt.com/case-studies/inventa</a:t>
            </a:r>
          </a:p>
          <a:p xmlns:a="http://schemas.openxmlformats.org/drawingml/2006/main">
            <a:r>
              <a:t>- https://github.com/AnselmoBorges/dbt-moderno-na-pratica/blob/main/roteiros/02-gold-nao-e-semantica.md</a:t>
            </a:r>
          </a:p>
          <a:p xmlns:a="http://schemas.openxmlformats.org/drawingml/2006/main">
            <a:r>
              <a:t>- repo://laboratorio/checkpoints/ep02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35fdb9a0643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9e2c81937604b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e7a14356ba941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5ff15ff9ba465e" /><Relationship Type="http://schemas.openxmlformats.org/officeDocument/2006/relationships/slideLayout" Target="/ppt/slideLayouts/slideLayout1.xml" Id="R0fb8abed49684959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42c077a2ab364430" /><Relationship Type="http://schemas.openxmlformats.org/officeDocument/2006/relationships/slideLayout" Target="/ppt/slideLayouts/slideLayout2.xml" Id="R18155677fa3d40fa" /><Relationship Type="http://schemas.openxmlformats.org/officeDocument/2006/relationships/slideLayout" Target="/ppt/slideLayouts/slideLayout3.xml" Id="R8d3b81ad38b649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b8abed496849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18155677fa3d40fa"/>
    <p:sldLayoutId xmlns:r="http://schemas.openxmlformats.org/officeDocument/2006/relationships" id="2147483652" r:id="R8d3b81ad38b6495e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3631114e5d4025" /><Relationship Type="http://schemas.openxmlformats.org/officeDocument/2006/relationships/image" Target="/ppt/media/image.jpeg" Id="R8156351452f14d32" /><Relationship Type="http://schemas.openxmlformats.org/officeDocument/2006/relationships/notesSlide" Target="/ppt/notesSlides/notesSlide1.xml" Id="R0e56685dcab844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362b80637d4cd0" /><Relationship Type="http://schemas.openxmlformats.org/officeDocument/2006/relationships/image" Target="/ppt/media/image.png" Id="Rd58adf72332849e5" /><Relationship Type="http://schemas.openxmlformats.org/officeDocument/2006/relationships/notesSlide" Target="/ppt/notesSlides/notesSlide2.xml" Id="R1aed92f0b35e4f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c5f223ec114fd4" /><Relationship Type="http://schemas.openxmlformats.org/officeDocument/2006/relationships/notesSlide" Target="/ppt/notesSlides/notesSlide3.xml" Id="R82d4052897fd43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c5bc6934e14151" /><Relationship Type="http://schemas.openxmlformats.org/officeDocument/2006/relationships/notesSlide" Target="/ppt/notesSlides/notesSlide4.xml" Id="R3a82a1399e6d4d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afc2a7724f4b88" /><Relationship Type="http://schemas.openxmlformats.org/officeDocument/2006/relationships/notesSlide" Target="/ppt/notesSlides/notesSlide5.xml" Id="R45901cd4891d4a5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023f15e6984c28" /><Relationship Type="http://schemas.openxmlformats.org/officeDocument/2006/relationships/notesSlide" Target="/ppt/notesSlides/notesSlide6.xml" Id="R8483509fba854e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2343b02cfb4177" /><Relationship Type="http://schemas.openxmlformats.org/officeDocument/2006/relationships/notesSlide" Target="/ppt/notesSlides/notesSlide7.xml" Id="R97f022091fde44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48cdf6b1d5e4dfe" /><Relationship Type="http://schemas.openxmlformats.org/officeDocument/2006/relationships/notesSlide" Target="/ppt/notesSlides/notesSlide8.xml" Id="R025728f544d243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39e5756def4243" /><Relationship Type="http://schemas.openxmlformats.org/officeDocument/2006/relationships/notesSlide" Target="/ppt/notesSlides/notesSlide9.xml" Id="Rf88b5398938b47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513b6449b54520" /><Relationship Type="http://schemas.openxmlformats.org/officeDocument/2006/relationships/image" Target="/ppt/media/image2.png" Id="Ra126c7c2a47f4067" /><Relationship Type="http://schemas.openxmlformats.org/officeDocument/2006/relationships/notesSlide" Target="/ppt/notesSlides/notesSlide10.xml" Id="Rff5f8359a03e49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406cc2f01042b3" /><Relationship Type="http://schemas.openxmlformats.org/officeDocument/2006/relationships/notesSlide" Target="/ppt/notesSlides/notesSlide11.xml" Id="Rd188044470cd41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6e88fef65aa4582" /><Relationship Type="http://schemas.openxmlformats.org/officeDocument/2006/relationships/notesSlide" Target="/ppt/notesSlides/notesSlide12.xml" Id="R7d727c4208544ee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60a0b2bea04cc6" /><Relationship Type="http://schemas.openxmlformats.org/officeDocument/2006/relationships/notesSlide" Target="/ppt/notesSlides/notesSlide13.xml" Id="R69c3750747444e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eb337857e0748f3" /><Relationship Type="http://schemas.openxmlformats.org/officeDocument/2006/relationships/notesSlide" Target="/ppt/notesSlides/notesSlide14.xml" Id="R7771b14e588641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24cf6cfc85461a" /><Relationship Type="http://schemas.openxmlformats.org/officeDocument/2006/relationships/notesSlide" Target="/ppt/notesSlides/notesSlide15.xml" Id="Ra4ef17c14f474d4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c68ed21daac403d" /><Relationship Type="http://schemas.openxmlformats.org/officeDocument/2006/relationships/notesSlide" Target="/ppt/notesSlides/notesSlide16.xml" Id="R8b9f4d55140441e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df1ed3c8cf4de0" /><Relationship Type="http://schemas.openxmlformats.org/officeDocument/2006/relationships/notesSlide" Target="/ppt/notesSlides/notesSlide17.xml" Id="Rba1a838abbb342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45e042e4d0e4652" /><Relationship Type="http://schemas.openxmlformats.org/officeDocument/2006/relationships/notesSlide" Target="/ppt/notesSlides/notesSlide18.xml" Id="R551893918f024e3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fb52f86f19446a" /><Relationship Type="http://schemas.openxmlformats.org/officeDocument/2006/relationships/notesSlide" Target="/ppt/notesSlides/notesSlide19.xml" Id="R751fcacc024947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57c45fe2bb4749" /><Relationship Type="http://schemas.openxmlformats.org/officeDocument/2006/relationships/notesSlide" Target="/ppt/notesSlides/notesSlide20.xml" Id="R47f7fbca47dc4cdd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2 — Gold não é camada semântic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6351452f14d32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462C6E99-FDEC-4B64-8369-97916646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1E61708B-310A-491C-BE32-50699E1F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BE2879BA-BBC1-4963-B2B9-C2306E93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2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13B2D8C-C34E-43CD-9927-C67130B5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Gold não é camada semântica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B06AE02-1E9D-488E-BD58-62A5BE30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Dados preparados não garantem significado compartilhado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7FE0BDE0-914E-41A3-A0AC-1DB3E333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50815B02-6667-4FBD-819E-66B7E3C6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02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21340947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AE37DC28-B9EC-420E-B5AC-88F203DB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Duas tabelas Gold corretas ainda podem responder receita com números diferentes.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DDF64EA5-C580-44E2-8C9D-9A2B0E6F8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3A8D7D01-3BBC-46E6-AC02-B2F8647AA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F9976C9E-6239-484E-9B10-7FD456C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Duas tabelas Gold corretas ainda podem responder receita com números diferentes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adf72332849e5"/>
          <a:stretch xmlns:a="http://schemas.openxmlformats.org/drawingml/2006/main"/>
        </p:blipFill>
        <p:spPr>
          <a:xfrm xmlns:a="http://schemas.openxmlformats.org/drawingml/2006/main">
            <a:off x="4176429" y="3790950"/>
            <a:ext cx="3839142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D5B26E6-7A5F-41F9-BB01-6239F0E5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37F19D6-3F08-47E5-843E-FF19CACD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FD18E31-5E83-434E-9103-DB7E7C0C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BF2893-CD64-4793-A6A4-ECBF9EF8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1217007459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2C04DF-3153-4A98-8C4B-D26D36B80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104F685-C418-4AEB-9FC5-B92A693C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A10340FE-7D2D-4102-9424-9CC52287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Gold e semântica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6444E58-104F-4AAF-AFCF-C446B56D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F91EFBD5-FDDB-43C0-92B5-D2C77269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718E837D-E0EB-407B-9513-CB11BE17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Proteger o grão de pedido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0705502A-6A0D-4076-B9AC-7BABCC2F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6924E2BA-69B2-4331-AB80-B157718D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013BBCD-A69D-43BA-871E-64B107C2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Nomear métricas sem ambiguidade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AA920842-CA9F-4767-8F1B-37F78EF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551812F-A7B8-4327-B985-00E4FDC6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74E51114-FA59-4C4D-BC49-A6A07DC2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042300-A71E-421E-B5E6-C9F3A00B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109863831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620293-2F50-4584-933A-6DC15B1D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Quatro perguntas revelam a interface ausente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F2BC4CA-0F97-4A07-AA40-1E527DA8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Grão, filtro, data e chave não podem ficar só na cabeça do autor.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3E20AF9-250C-4F42-BF76-6F6DF958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Qual é o grão?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Receita inclui cancelados?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Qual data e qual chave?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C7AF6F8-1F77-4C51-835F-4AAE2152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1F24F38-6998-4ACC-A56A-3CB99BC5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342AF27-A933-4D4E-B56C-9CE45E75A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9799D6A-CF0A-4F20-BB56-E0562012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311BB7C-5D7D-4203-B63F-773EF9D5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4A53EC4-8C64-48A7-B0EC-FE5AAF7E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198A5B-CC85-4050-8785-89E1BA58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11828297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1E86DD-E906-4083-B4E3-955F9CB5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Cinco conceitos, cinco responsabilidades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8957261-E54A-4D64-A90B-30D5970C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Tabela Gold, dimensional, semantic model, métrica e serviço não são sinônimos.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F0302C0-1CCF-44CE-8505-1E31B0D25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Gold prepara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 organiza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Métrica nomeia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Serviço opera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2C1A3E7-BE67-492D-907D-58559B15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BC09D711-76F3-4BF4-8F89-3C932D55B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78863C2-EA4E-4034-9D76-55BA8C87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F99D184-1F6F-4810-A17F-2BAA2F32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0C21FDF-3CC4-4CB9-9362-DCA3EBE8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40DD7CA-76DE-4242-BD7F-37B62851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E867A4-0F25-4D77-A0AE-2F04D241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2069076728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178313-A631-4F3A-94A8-0C73A9FE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Cinco conceitos, cinco responsabilidades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1F9AD077-D068-441E-9A00-D2CECF32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FE0A4E88-C795-4614-BF48-EC8419C7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51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2C437A93-898D-4BC0-8019-C05B2F29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40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Semântica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CBB1A484-1C9C-4B5C-A72F-207DAF3C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29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Métrica</a:t>
            </a:r>
          </a:p>
        </p:txBody>
      </p:sp>
      <p:sp>
        <p:nvSpPr>
          <p:cNvPr id="6" name="flow-5">
            <a:extLst xmlns:a="http://schemas.openxmlformats.org/drawingml/2006/main">
              <a:ext uri="{FF2B5EF4-FFF2-40B4-BE49-F238E27FC236}">
                <a16:creationId xmlns:a16="http://schemas.microsoft.com/office/drawing/2014/main" id="{31C29850-85DB-442B-8066-BDE3BBC5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Serviço</a:t>
            </a:r>
          </a:p>
        </p:txBody>
      </p:sp>
      <p:cxnSp>
        <p:nvCxnSpPr>
          <p:cNvPr id="31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71081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487870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04659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21448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57508C70-7339-4657-A943-429B2FB9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E634EA-B90D-4C02-9A29-F2FFDEDC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FBA891A6-67BA-4A7B-ACD2-9ADD929A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2ED1981-3CA1-4841-A266-AFAD4CF7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17863819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293796-F2B5-4BF7-8574-414E1555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Join válido pode multiplicar dinheiro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DBB8660-1101-4222-8840-93EE4E79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Dois itens × dois pagamentos produzem quatro combinações.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D0CB180-2A00-4C5F-84AB-4DE5DB25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SQL compila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 grão muda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 soma fica falsa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707EDE3-E4BF-4D0E-A22B-30625EB5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FBD0E02-AFE1-4F4D-ADF4-80F525BD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CC34E344-C704-4AD7-97EF-8783BCB31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0E72BA4B-752D-4E5E-8975-23A5E00C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FE8C069-D1FD-461E-AD92-D4E3B53C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0479D52-56CB-42F7-A664-1FE2B682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D121BF-3379-4D4F-804A-4D909EAC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4075353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8E420F-A0AC-44D7-B5CC-BB9B379A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Join válido pode multiplicar dinheiro</a:t>
            </a:r>
          </a:p>
        </p:txBody>
      </p:sp>
      <p:sp>
        <p:nvSpPr>
          <p:cNvPr id="2" name="metric-primary">
            <a:extLst xmlns:a="http://schemas.openxmlformats.org/drawingml/2006/main">
              <a:ext uri="{FF2B5EF4-FFF2-40B4-BE49-F238E27FC236}">
                <a16:creationId xmlns:a16="http://schemas.microsoft.com/office/drawing/2014/main" id="{4F7E3B2E-A1BF-4264-98D4-39F7668DC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5750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565C0"/>
                </a:solidFill>
              </a:defRPr>
            </a:pPr>
            <a:r>
              <a:rPr sz="3600" b="1">
                <a:solidFill>
                  <a:srgbClr val="1565C0"/>
                </a:solidFill>
              </a:rPr>
              <a:t>4 linhas</a:t>
            </a:r>
          </a:p>
        </p:txBody>
      </p:sp>
      <p:sp>
        <p:nvSpPr>
          <p:cNvPr id="3" name="metric-inputs">
            <a:extLst xmlns:a="http://schemas.openxmlformats.org/drawingml/2006/main">
              <a:ext uri="{FF2B5EF4-FFF2-40B4-BE49-F238E27FC236}">
                <a16:creationId xmlns:a16="http://schemas.microsoft.com/office/drawing/2014/main" id="{3C60D06F-8F8E-40A5-937D-05BDFDCC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B1F3A"/>
                </a:solidFill>
              </a:defRPr>
            </a:pPr>
            <a:r>
              <a:rPr sz="2250" b="1">
                <a:solidFill>
                  <a:srgbClr val="0B1F3A"/>
                </a:solidFill>
              </a:rPr>
              <a:t>1 pedido  ×  2 itens  ×  2 pagamentos</a:t>
            </a:r>
          </a:p>
        </p:txBody>
      </p:sp>
      <p:sp>
        <p:nvSpPr>
          <p:cNvPr id="4" name="metric-arrow">
            <a:extLst xmlns:a="http://schemas.openxmlformats.org/drawingml/2006/main">
              <a:ext uri="{FF2B5EF4-FFF2-40B4-BE49-F238E27FC236}">
                <a16:creationId xmlns:a16="http://schemas.microsoft.com/office/drawing/2014/main" id="{5BD069FF-BAAB-4B97-B74E-D10457C1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86100"/>
            <a:ext cx="104775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565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FED4DE1-E367-42DB-9FCC-B764EF9C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B114F8A-F32D-4C48-BCB2-F825FF5C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900DCCD-1159-45A5-A397-A8C70EB1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F51EFE-CDFF-4B03-92A0-860C14E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8570435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5138A0-CF67-46FC-A71E-2A2AAA54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ERD torna cardinalidade visível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AFDC4DF-41A0-4574-98ED-E30AB4B9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Entidades e relações precisam anteceder a agregação.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02D9B4E-32AE-4BC8-90FE-DFDB3B22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Chave primária real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Relações verificáveis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Agregação antes do join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9427131-7E2A-47DA-BEC5-8914597A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FCDB612-D357-42EA-BF8B-086B0F06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5A9B0D0-5172-48A9-804C-B0A4760C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416CCCE-F530-41FB-8BC5-462742C7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46F4E11-96A7-4EBE-9D8C-B34BE3C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912206F-D047-462E-9724-EF34D42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6D6AA4-41B4-4FE4-931A-14B8AB7E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2004230839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06C1CE-105F-42BB-84E0-E14A8025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ERD torna cardinalidade visível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86AD5F96-6720-4F72-AD51-84C07A3A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Entidades e relações precisam anteceder a agregação.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8A458EAF-8BA8-42DA-8DA2-B53DD1E3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O ERD torna cardinalidade visível — Entidades e relações precisam anteceder a agrega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26c7c2a47f4067"/>
          <a:stretch xmlns:a="http://schemas.openxmlformats.org/drawingml/2006/main"/>
        </p:blipFill>
        <p:spPr>
          <a:xfrm xmlns:a="http://schemas.openxmlformats.org/drawingml/2006/main">
            <a:off x="5429250" y="2153712"/>
            <a:ext cx="5791200" cy="2645827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937D2F8D-EE90-4A0D-94FA-ED6BB90E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8CDAF7F4-F09A-4C10-B4FD-D28C7718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C42E0FB-D699-4505-A3DD-B34A998F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2DDB25F-1E96-4734-B613-B194039A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674F1F-1FBB-4B0B-9674-50E611D6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2122027123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0E85CD-19B7-4882-9064-C68CA61F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Métricas válidas precisam de nomes distintos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F90323C-BAF2-4A91-A057-17268D54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Receita bruta e receita entregue respondem perguntas diferentes.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7114EA9-6E91-490A-B777-F856BCB11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orders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gross_revenue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delivered_revenue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average_order_value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FA82D5E-57AA-4739-BDF7-165FDB39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C052100-4DEC-4E90-A3C9-34A2AA93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10B1419F-700D-4EEE-AD6E-4CE6E3204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70319B5B-41F1-4AE7-92D0-ADF328BE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DE3D61D-D662-4F37-B758-30541A80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B4FAC139-4E60-431E-A3EE-F92A7745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F716E7-24FD-4205-8B96-9FC6D769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3376681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93F540-4657-4EAB-B44F-9FEC12F5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Métricas válidas precisam de nomes distintos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8AC0E58D-0842-476C-896E-F4C70173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Receita bruta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90D69879-EC4D-4051-8654-E9EF6F83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Receita entregue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E256C3BB-5543-42C8-8722-FE7D154A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274C3D79-6D11-410C-A09A-BE40966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orders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gross_revenue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7678CEEA-402A-4EBA-AFDD-4DE37EAF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delivered_revenue</a:t>
            </a:r>
          </a:p>
          <a:p xmlns:a="http://schemas.openxmlformats.org/drawingml/2006/main">
            <a:pPr>
              <a:buNone/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average_order_value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86D0D6D-D422-474B-87D4-7700115C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5B562D4-BDF4-42DF-87DC-9F2D333F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098CD5B1-03F4-41A0-A924-0B9F9E76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ECB8BA-25C0-443D-BB9F-4B152CD8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1818330379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1FE68A-E43A-42C1-B4A9-40943EFB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1B104D18-2270-4202-AA3B-C6E80FC2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F5F66E8-C72D-4ABB-B2E8-CF172C98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02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4F12CCDF-FFF2-46AE-BBEE-88CB055C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70E280B-0183-4FA3-A05B-5D21EC65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E75B42E-739D-4300-A869-9C62457A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54CBB9A-38C3-4193-B5DD-0831AFFE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D32E178-1201-405A-98AF-F6FF5136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391566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29141C-B4C9-4A34-B753-A06CD4C7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FF711A6A-330D-441D-A5C7-6A820CC1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FE4A4E8-B7EF-4BCB-982C-9293BA5F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Gold no grão pedido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5A04294-CDDD-4EA5-BAB3-8F8DC21B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D437D5F-02D0-48CF-B069-33BE91E1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AD21469-2E8D-4E0E-B341-633A7B2B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Fachada commerce_orders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D2280D9-484E-481E-AFAD-DBDED507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9BDF4973-3437-46E2-B221-E2F492DA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CFA3BEC7-DA91-4A26-B01E-1CB1FE6F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10 respostas reconciliadas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207D8B2-0663-468C-8066-D3C76B7C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8761173-5180-427B-B6D6-8618EB7F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4ACDB40-08EE-41AA-944C-C82A5322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6F9295-0940-44E0-AD25-195C8AF0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265158240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12C8930D-68F4-4029-A276-DA639362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E156717D-7B4A-4181-8C37-727060B3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Ground truth OK: 10 perguntas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FD88B5F6-6277-4030-8F3E-4F694C74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02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9172C2F-B2EE-43BE-B73C-4C6AF1E6C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EB22E22-920E-414A-8BC6-8184AB40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FEA6B61-897B-4E30-8FB9-D7FF916A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1AEB381-18B7-4CE7-9D73-E5D4167DD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BC59D30E-E1A3-4BDB-9494-E0200EE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4C19E5-F75D-4A01-BD10-7F283941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37552296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41A6477-EAEF-4A79-B8BC-50C548A4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4935CA3D-5C0F-4F1F-8B9A-E14A3DEE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1B9748F7-DE36-40AE-9B0C-EC5E8A5B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nomes e owners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BE9DF09A-3393-4B1F-9CC3-6956B7BA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1B54359-4DCB-4809-B991-028D4529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F8FC1E4-8025-412B-A151-F5BEAF32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joins exploratórios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3B6F06E-782A-4917-B345-02EB7EDF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70DF80F4-B7D1-448D-9270-993971000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3DBF7FF-5211-4294-B695-8CD857D3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menos decisões probabilísticas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234925FD-0969-4875-BE33-358B0695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F59AE2-80D9-4585-99B4-07763DB7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1532A7C-BC45-4C67-98F6-58CCED86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72CD0B-4CA0-4AA9-A212-19490C1E8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376688022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8577BE5-73E9-4786-8E5B-4D8C1F8A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83 métricas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0E6EE956-4105-4F90-9AD2-63802A1F3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centralizadas pela Inventa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64E917AE-4AE0-4A92-9F33-5CE2AF13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7E033DF2-CB92-4A9D-9D5E-2C3B0ABC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90% de redução de manutenção reportada pela empresa/dbt Labs.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D63EDCB-CF09-41C4-945D-262CC36B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58A743-7E04-4D6C-990E-204DD6D7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2D74A28-23C5-42FD-B7EE-10D4D2FF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20492FE-DE6B-4E9A-A438-9E049CA7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5175784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83699F-92D3-4457-B9AB-73199022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2B318D0D-F23B-4B74-B59B-BD7E8AE31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YAML não resolve desacordo de negócio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Semântica não corrige fonte atrasada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Distinct não é cura para cardinalidade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1D29695-50D1-4F71-B846-23212E68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A84F281-39A3-445D-90E9-912EFD8F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676E26F5-8F1D-4D04-A34B-5BB2038B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577157-E753-4445-9CD5-E539DDA4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481865121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16DAFB41-5172-44FD-9630-C121B91C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16379F26-B41A-41E6-BC58-D49750C7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A sintaxe executada é a spec suportada no Core 1.12; cross-project futuro fica no Radar.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3C946D33-A2FF-4167-920F-0AB92D6C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1784085-4504-484F-8B24-FE987D32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B5A0313-EACD-4BB9-8A72-F79162C4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EB824805-ED50-4945-BEC6-3159C343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D87F862-521E-4884-AE3D-C00B0C07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53814C8-9CF0-4C66-9BDF-1A57C070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DA29358-2E23-4095-B71E-BCC8486D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7612343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CCC3FF1-D737-4436-AE69-99659ECF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A6AAC372-4C55-4ACE-AB5A-1A8D6362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Documente nome, pergunta, grão, filtro, data e owner de três métricas.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AADB8BD4-937F-4AB2-9DBD-F3B6590D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02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9156F0F-C4B0-46BE-A2B6-B40C7F40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2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A768782-EA25-49DB-BF2F-ABDDBBB0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3C58774-D324-4F77-A712-7E4A7DD8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82A6A5C-6A74-479B-BC0C-B731BC83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621236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2026-09-02T01:19:27.6980000Z</dcterms:created>
  <dcterms:modified xsi:type="dcterms:W3CDTF">2026-09-02T01:19:27.6980000Z</dcterms:modified>
</coreProperties>
</file>