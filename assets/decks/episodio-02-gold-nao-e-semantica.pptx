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5dab9b294428b" /><Relationship Type="http://schemas.openxmlformats.org/officeDocument/2006/relationships/extended-properties" Target="/docProps/app.xml" Id="R6309081927754863" /><Relationship Type="http://schemas.openxmlformats.org/officeDocument/2006/relationships/officeDocument" Target="/ppt/presentation.xml" Id="R8ac5d5fbe810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6eb3dd24934812"/>
    <p:sldMasterId xmlns:r="http://schemas.openxmlformats.org/officeDocument/2006/relationships" id="2147483650" r:id="R3a29615735e9404f"/>
  </p:sldMasterIdLst>
  <p:notesMasterIdLst>
    <p:notesMasterId xmlns:r="http://schemas.openxmlformats.org/officeDocument/2006/relationships" r:id="R80bc8008437d4492"/>
  </p:notesMasterIdLst>
  <p:sldIdLst>
    <p:sldId xmlns:r="http://schemas.openxmlformats.org/officeDocument/2006/relationships" id="256" r:id="R06b2cd26eeec4300"/>
    <p:sldId xmlns:r="http://schemas.openxmlformats.org/officeDocument/2006/relationships" id="257" r:id="R33adb5f562b54079"/>
    <p:sldId xmlns:r="http://schemas.openxmlformats.org/officeDocument/2006/relationships" id="258" r:id="R56cb397ef35c4ead"/>
    <p:sldId xmlns:r="http://schemas.openxmlformats.org/officeDocument/2006/relationships" id="259" r:id="Rcfedb1e7f5f844f9"/>
    <p:sldId xmlns:r="http://schemas.openxmlformats.org/officeDocument/2006/relationships" id="260" r:id="R8994e8337da346f4"/>
    <p:sldId xmlns:r="http://schemas.openxmlformats.org/officeDocument/2006/relationships" id="261" r:id="Ra70f8068d37442c0"/>
    <p:sldId xmlns:r="http://schemas.openxmlformats.org/officeDocument/2006/relationships" id="262" r:id="R341e95d3c1bc4245"/>
    <p:sldId xmlns:r="http://schemas.openxmlformats.org/officeDocument/2006/relationships" id="263" r:id="R17d4c54f513b46db"/>
    <p:sldId xmlns:r="http://schemas.openxmlformats.org/officeDocument/2006/relationships" id="264" r:id="R6d3608bf519e43ae"/>
    <p:sldId xmlns:r="http://schemas.openxmlformats.org/officeDocument/2006/relationships" id="265" r:id="R2d4edcde6f1648b2"/>
    <p:sldId xmlns:r="http://schemas.openxmlformats.org/officeDocument/2006/relationships" id="266" r:id="Rf0474fd9196749d8"/>
    <p:sldId xmlns:r="http://schemas.openxmlformats.org/officeDocument/2006/relationships" id="267" r:id="Re6fc187c55894d65"/>
    <p:sldId xmlns:r="http://schemas.openxmlformats.org/officeDocument/2006/relationships" id="268" r:id="Rad7e31a7c04840bd"/>
    <p:sldId xmlns:r="http://schemas.openxmlformats.org/officeDocument/2006/relationships" id="269" r:id="R9534576b57384b8e"/>
    <p:sldId xmlns:r="http://schemas.openxmlformats.org/officeDocument/2006/relationships" id="270" r:id="Rcf5c2f0e1abb43f7"/>
    <p:sldId xmlns:r="http://schemas.openxmlformats.org/officeDocument/2006/relationships" id="271" r:id="R169750709a514915"/>
    <p:sldId xmlns:r="http://schemas.openxmlformats.org/officeDocument/2006/relationships" id="272" r:id="R4e29086092da4415"/>
    <p:sldId xmlns:r="http://schemas.openxmlformats.org/officeDocument/2006/relationships" id="273" r:id="R29e31f3c8f884111"/>
    <p:sldId xmlns:r="http://schemas.openxmlformats.org/officeDocument/2006/relationships" id="274" r:id="R0777c50f46f24aa9"/>
    <p:sldId xmlns:r="http://schemas.openxmlformats.org/officeDocument/2006/relationships" id="275" r:id="Rb3b57d367122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d7c721272d4503" /><Relationship Type="http://schemas.openxmlformats.org/officeDocument/2006/relationships/slideMaster" Target="/ppt/slideMasters/slideMaster1.xml" Id="R566eb3dd24934812" /><Relationship Type="http://schemas.openxmlformats.org/officeDocument/2006/relationships/slideMaster" Target="/ppt/slideMasters/slideMaster2.xml" Id="R3a29615735e9404f" /><Relationship Type="http://schemas.openxmlformats.org/officeDocument/2006/relationships/notesMaster" Target="/ppt/notesMasters/notesMaster1.xml" Id="R80bc8008437d4492" /><Relationship Type="http://schemas.openxmlformats.org/officeDocument/2006/relationships/presProps" Target="/ppt/presProps.xml" Id="R236f30d0f73f4646" /><Relationship Type="http://schemas.openxmlformats.org/officeDocument/2006/relationships/tableStyles" Target="/ppt/tableStyles.xml" Id="Rbc9fb80981734b1e" /><Relationship Type="http://schemas.openxmlformats.org/officeDocument/2006/relationships/slide" Target="/ppt/slides/slide1.xml" Id="R06b2cd26eeec4300" /><Relationship Type="http://schemas.openxmlformats.org/officeDocument/2006/relationships/slide" Target="/ppt/slides/slide2.xml" Id="R33adb5f562b54079" /><Relationship Type="http://schemas.openxmlformats.org/officeDocument/2006/relationships/slide" Target="/ppt/slides/slide3.xml" Id="R56cb397ef35c4ead" /><Relationship Type="http://schemas.openxmlformats.org/officeDocument/2006/relationships/slide" Target="/ppt/slides/slide4.xml" Id="Rcfedb1e7f5f844f9" /><Relationship Type="http://schemas.openxmlformats.org/officeDocument/2006/relationships/slide" Target="/ppt/slides/slide5.xml" Id="R8994e8337da346f4" /><Relationship Type="http://schemas.openxmlformats.org/officeDocument/2006/relationships/slide" Target="/ppt/slides/slide6.xml" Id="Ra70f8068d37442c0" /><Relationship Type="http://schemas.openxmlformats.org/officeDocument/2006/relationships/slide" Target="/ppt/slides/slide7.xml" Id="R341e95d3c1bc4245" /><Relationship Type="http://schemas.openxmlformats.org/officeDocument/2006/relationships/slide" Target="/ppt/slides/slide8.xml" Id="R17d4c54f513b46db" /><Relationship Type="http://schemas.openxmlformats.org/officeDocument/2006/relationships/slide" Target="/ppt/slides/slide9.xml" Id="R6d3608bf519e43ae" /><Relationship Type="http://schemas.openxmlformats.org/officeDocument/2006/relationships/slide" Target="/ppt/slides/slide10.xml" Id="R2d4edcde6f1648b2" /><Relationship Type="http://schemas.openxmlformats.org/officeDocument/2006/relationships/slide" Target="/ppt/slides/slide11.xml" Id="Rf0474fd9196749d8" /><Relationship Type="http://schemas.openxmlformats.org/officeDocument/2006/relationships/slide" Target="/ppt/slides/slide12.xml" Id="Re6fc187c55894d65" /><Relationship Type="http://schemas.openxmlformats.org/officeDocument/2006/relationships/slide" Target="/ppt/slides/slide13.xml" Id="Rad7e31a7c04840bd" /><Relationship Type="http://schemas.openxmlformats.org/officeDocument/2006/relationships/slide" Target="/ppt/slides/slide14.xml" Id="R9534576b57384b8e" /><Relationship Type="http://schemas.openxmlformats.org/officeDocument/2006/relationships/slide" Target="/ppt/slides/slide15.xml" Id="Rcf5c2f0e1abb43f7" /><Relationship Type="http://schemas.openxmlformats.org/officeDocument/2006/relationships/slide" Target="/ppt/slides/slide16.xml" Id="R169750709a514915" /><Relationship Type="http://schemas.openxmlformats.org/officeDocument/2006/relationships/slide" Target="/ppt/slides/slide17.xml" Id="R4e29086092da4415" /><Relationship Type="http://schemas.openxmlformats.org/officeDocument/2006/relationships/slide" Target="/ppt/slides/slide18.xml" Id="R29e31f3c8f884111" /><Relationship Type="http://schemas.openxmlformats.org/officeDocument/2006/relationships/slide" Target="/ppt/slides/slide19.xml" Id="R0777c50f46f24aa9" /><Relationship Type="http://schemas.openxmlformats.org/officeDocument/2006/relationships/slide" Target="/ppt/slides/slide20.xml" Id="Rb3b57d367122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0364fb51b9e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3d604c356f45d8" /><Relationship Type="http://schemas.openxmlformats.org/officeDocument/2006/relationships/notesMaster" Target="/ppt/notesMasters/notesMaster1.xml" Id="R72511286d1b9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c297b15e0b4293" /><Relationship Type="http://schemas.openxmlformats.org/officeDocument/2006/relationships/notesMaster" Target="/ppt/notesMasters/notesMaster1.xml" Id="Rabe9be1f09eb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803374c5ce42a0" /><Relationship Type="http://schemas.openxmlformats.org/officeDocument/2006/relationships/notesMaster" Target="/ppt/notesMasters/notesMaster1.xml" Id="R2b9caa4666ae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397b9545984867" /><Relationship Type="http://schemas.openxmlformats.org/officeDocument/2006/relationships/notesMaster" Target="/ppt/notesMasters/notesMaster1.xml" Id="Rafefbf2075e3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d7162a6f1b4a2e" /><Relationship Type="http://schemas.openxmlformats.org/officeDocument/2006/relationships/notesMaster" Target="/ppt/notesMasters/notesMaster1.xml" Id="R50d2d2f01a47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770815827f40be" /><Relationship Type="http://schemas.openxmlformats.org/officeDocument/2006/relationships/notesMaster" Target="/ppt/notesMasters/notesMaster1.xml" Id="Re5cc9712b7d2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403152bb564f84" /><Relationship Type="http://schemas.openxmlformats.org/officeDocument/2006/relationships/notesMaster" Target="/ppt/notesMasters/notesMaster1.xml" Id="R74d2e0345ab942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b1ef2336694185" /><Relationship Type="http://schemas.openxmlformats.org/officeDocument/2006/relationships/notesMaster" Target="/ppt/notesMasters/notesMaster1.xml" Id="Rce22a5c3c5e640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4ef9cd11184e11" /><Relationship Type="http://schemas.openxmlformats.org/officeDocument/2006/relationships/notesMaster" Target="/ppt/notesMasters/notesMaster1.xml" Id="R4ed27be9f57849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a0bddc18ce4bb2" /><Relationship Type="http://schemas.openxmlformats.org/officeDocument/2006/relationships/notesMaster" Target="/ppt/notesMasters/notesMaster1.xml" Id="Rce6c6aac95d341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eef9873154f3b" /><Relationship Type="http://schemas.openxmlformats.org/officeDocument/2006/relationships/notesMaster" Target="/ppt/notesMasters/notesMaster1.xml" Id="R0e2fc26e75b2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5bfac41dcd4d75" /><Relationship Type="http://schemas.openxmlformats.org/officeDocument/2006/relationships/notesMaster" Target="/ppt/notesMasters/notesMaster1.xml" Id="Re94aae3dce3b41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858e3b3bed41f9" /><Relationship Type="http://schemas.openxmlformats.org/officeDocument/2006/relationships/notesMaster" Target="/ppt/notesMasters/notesMaster1.xml" Id="Rd2b329cec0894f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c0936699334fd9" /><Relationship Type="http://schemas.openxmlformats.org/officeDocument/2006/relationships/notesMaster" Target="/ppt/notesMasters/notesMaster1.xml" Id="Rafc681267f794c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43386ef41d4497" /><Relationship Type="http://schemas.openxmlformats.org/officeDocument/2006/relationships/notesMaster" Target="/ppt/notesMasters/notesMaster1.xml" Id="R3e2ec5eb20064e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c1d64bc5494233" /><Relationship Type="http://schemas.openxmlformats.org/officeDocument/2006/relationships/notesMaster" Target="/ppt/notesMasters/notesMaster1.xml" Id="R40240930b02b44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c50607ca954162" /><Relationship Type="http://schemas.openxmlformats.org/officeDocument/2006/relationships/notesMaster" Target="/ppt/notesMasters/notesMaster1.xml" Id="R0a64873bf71949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c00c9e5c6a4dfa" /><Relationship Type="http://schemas.openxmlformats.org/officeDocument/2006/relationships/notesMaster" Target="/ppt/notesMasters/notesMaster1.xml" Id="R4ed6d4902cd84b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d374cf80fa42d1" /><Relationship Type="http://schemas.openxmlformats.org/officeDocument/2006/relationships/notesMaster" Target="/ppt/notesMasters/notesMaster1.xml" Id="R975158da561341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0986128a8d4243" /><Relationship Type="http://schemas.openxmlformats.org/officeDocument/2006/relationships/notesMaster" Target="/ppt/notesMasters/notesMaster1.xml" Id="Rf5edbe215fbb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2 do dbt Moderno na Prática. Hoje vamos trabalhar o tema “Gold não é camada semântica”. Dados preparados não garantem significado compartilhado.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02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“Duas tabelas Gold corretas ainda podem responder receita com números diferentes.”.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Duas tabelas Gold corretas ainda podem responder receita com números diferentes.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separar Gold e semântica, Proteger o grão de pedido e Nomear métricas sem ambiguidade.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“Quatro perguntas revelam a interface ausente”.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Grão, filtro, data e chave não podem ficar só na cabeça do autor. Para tornar isso concreto, observe qual é o grão?, Receita inclui cancelados? e Qual data e qual chave?.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“Cinco conceitos, cinco responsabilidades”.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Tabela Gold, dimensional, semantic model, métrica e serviço não são sinônimos. Para tornar isso concreto, observe gold prepara, Modelo organiza, Métrica nomeia e Serviço opera.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“Cinco conceitos, cinco responsabilidades”.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Tabela Gold, dimensional, semantic model, métrica e serviço não são sinônimos. Siga a composição na ordem mostrada e conecte gold, Dimensional, Semântica, Métrica e Serviço.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“Join válido pode multiplicar dinheiro”.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Dois itens × dois pagamentos produzem quatro combinações. Para tornar isso concreto, observe o SQL compila, O grão muda e A soma fica falsa.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“Join válido pode multiplicar dinheiro”.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Dois itens × dois pagamentos produzem quatro combinações.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ERD torna cardinalidade visível”.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Entidades e relações precisam anteceder a agregação. Para tornar isso concreto, observe chave primária real, Relações verificáveis e Agregação antes do join.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ERD torna cardinalidade visível”.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Entidades e relações precisam anteceder a agregação. Siga a composição na ordem mostrada e conecte os elementos principais. A imagem ou o fluxo não cria uma regra nova; ele torna visível a relação que acabamos de explicar. A figura é identificada como figura oficial da documentação dbt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“Métricas válidas precisam de nomes distintos”.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Receita bruta e receita entregue respondem perguntas diferentes. Para tornar isso concreto, observe orders, gross_revenue, delivered_revenue e average_order_value.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“Métricas válidas precisam de nomes distintos”.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Receita bruta e receita entregue respondem perguntas diferentes. Siga a composição na ordem mostrada e conecte receita bruta, Receita entregue, orders, gross_revenue, delivered_revenue e average_order_value.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02.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gold no grão pedido, Fachada commerce_orders e 10 respostas reconciliadas.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Ground truth OK: 10 perguntas. Esse resultado confirma que a etapa executada produziu a evidência esperada para o checkpoint 02.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nomes e owners, FinOps: menos joins exploratórios e IA: menos decisões probabilísticas.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“83 métricas”.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83 métricas: centralizadas pela Inventa. O número ajuda a dimensionar o exemplo, mas precisa ser lido com a ressalva correta. 90% de redução de manutenção reportada pela empresa/dbt Labs.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YAML não resolve desacordo de negócio, Semântica não corrige fonte atrasada e Distinct não é cura para cardinalidade.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A sintaxe executada é a spec suportada no Core 1.12; cross-project futuro fica no Radar.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Documente nome, pergunta, grão, filtro, data e owner de três métricas.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https://docs.getdbt.com/docs/build/latest-metrics-spec</a:t>
            </a:r>
          </a:p>
          <a:p xmlns:a="http://schemas.openxmlformats.org/drawingml/2006/main">
            <a:r>
              <a:t>- https://github.com/dbt-labs/metricflow</a:t>
            </a:r>
          </a:p>
          <a:p xmlns:a="http://schemas.openxmlformats.org/drawingml/2006/main">
            <a:r>
              <a:t>- https://www.getdbt.com/case-studies/inventa</a:t>
            </a:r>
          </a:p>
          <a:p xmlns:a="http://schemas.openxmlformats.org/drawingml/2006/main">
            <a:r>
              <a:t>- https://rescuepoint.com.br/assets/img/logo.png</a:t>
            </a:r>
          </a:p>
          <a:p xmlns:a="http://schemas.openxmlformats.org/drawingml/2006/main">
            <a:r>
              <a:t>- https://github.com/AnselmoBorges/dbt-moderno-na-pratica/blob/main/roteiros/02-gold-nao-e-semantica.md</a:t>
            </a:r>
          </a:p>
          <a:p xmlns:a="http://schemas.openxmlformats.org/drawingml/2006/main">
            <a:r>
              <a:t>- repo://laboratorio/checkpoints/ep02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f803766bc4f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92736ae5aa47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35acfa3f0f4a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f131e13c4a4a72" /><Relationship Type="http://schemas.openxmlformats.org/officeDocument/2006/relationships/slideLayout" Target="/ppt/slideLayouts/slideLayout1.xml" Id="Rb468352a45ef4a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b90673b54214518" /><Relationship Type="http://schemas.openxmlformats.org/officeDocument/2006/relationships/slideLayout" Target="/ppt/slideLayouts/slideLayout2.xml" Id="Rf2112a7a48f2489f" /><Relationship Type="http://schemas.openxmlformats.org/officeDocument/2006/relationships/slideLayout" Target="/ppt/slideLayouts/slideLayout3.xml" Id="R3b3725a1c8bd4b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8352a45ef4a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f2112a7a48f2489f"/>
    <p:sldLayoutId xmlns:r="http://schemas.openxmlformats.org/officeDocument/2006/relationships" id="2147483652" r:id="R3b3725a1c8bd4b23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fe86304b84e9c" /><Relationship Type="http://schemas.openxmlformats.org/officeDocument/2006/relationships/image" Target="/ppt/media/image.jpeg" Id="R9c4a28cfb84a47b1" /><Relationship Type="http://schemas.openxmlformats.org/officeDocument/2006/relationships/image" Target="/ppt/media/image.png" Id="R1c6548c14b014226" /><Relationship Type="http://schemas.openxmlformats.org/officeDocument/2006/relationships/notesSlide" Target="/ppt/notesSlides/notesSlide1.xml" Id="R3a23e092504f4e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d81ef43ae14ece" /><Relationship Type="http://schemas.openxmlformats.org/officeDocument/2006/relationships/image" Target="/ppt/media/image2.png" Id="R225c1972f53e4a60" /><Relationship Type="http://schemas.openxmlformats.org/officeDocument/2006/relationships/image" Target="/ppt/media/image3.png" Id="Rfd81a3064de54c57" /><Relationship Type="http://schemas.openxmlformats.org/officeDocument/2006/relationships/notesSlide" Target="/ppt/notesSlides/notesSlide2.xml" Id="R2a47260a24f340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42d331eb344450" /><Relationship Type="http://schemas.openxmlformats.org/officeDocument/2006/relationships/image" Target="/ppt/media/image4.png" Id="Rf1419102319c42c4" /><Relationship Type="http://schemas.openxmlformats.org/officeDocument/2006/relationships/notesSlide" Target="/ppt/notesSlides/notesSlide3.xml" Id="R5c5f0adcc74a40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93dd0e8c5407c" /><Relationship Type="http://schemas.openxmlformats.org/officeDocument/2006/relationships/image" Target="/ppt/media/image5.png" Id="Rd611cdb934124d3e" /><Relationship Type="http://schemas.openxmlformats.org/officeDocument/2006/relationships/notesSlide" Target="/ppt/notesSlides/notesSlide4.xml" Id="Re89332c27505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d185978fd64d45" /><Relationship Type="http://schemas.openxmlformats.org/officeDocument/2006/relationships/image" Target="/ppt/media/image6.png" Id="R6b9938c989684592" /><Relationship Type="http://schemas.openxmlformats.org/officeDocument/2006/relationships/notesSlide" Target="/ppt/notesSlides/notesSlide5.xml" Id="Rf5181466fbf84c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e728eebeca4507" /><Relationship Type="http://schemas.openxmlformats.org/officeDocument/2006/relationships/image" Target="/ppt/media/image7.png" Id="R9c2f60ee85dc4b0b" /><Relationship Type="http://schemas.openxmlformats.org/officeDocument/2006/relationships/notesSlide" Target="/ppt/notesSlides/notesSlide6.xml" Id="Rd6b66fc93f9741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a3d8ac32b641df" /><Relationship Type="http://schemas.openxmlformats.org/officeDocument/2006/relationships/image" Target="/ppt/media/image8.png" Id="R343debb7f2584494" /><Relationship Type="http://schemas.openxmlformats.org/officeDocument/2006/relationships/notesSlide" Target="/ppt/notesSlides/notesSlide7.xml" Id="Rd2e3b1f071d349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0de56e224d48b9" /><Relationship Type="http://schemas.openxmlformats.org/officeDocument/2006/relationships/image" Target="/ppt/media/image9.png" Id="Rb7da46fd2ffa4bcf" /><Relationship Type="http://schemas.openxmlformats.org/officeDocument/2006/relationships/notesSlide" Target="/ppt/notesSlides/notesSlide8.xml" Id="Rb19d235f0aa1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2d7a23a7ad4325" /><Relationship Type="http://schemas.openxmlformats.org/officeDocument/2006/relationships/image" Target="/ppt/media/image10.png" Id="R3dd66f54a45e4942" /><Relationship Type="http://schemas.openxmlformats.org/officeDocument/2006/relationships/notesSlide" Target="/ppt/notesSlides/notesSlide9.xml" Id="R2acaa07fc11845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8ab1f34c0438d" /><Relationship Type="http://schemas.openxmlformats.org/officeDocument/2006/relationships/image" Target="/ppt/media/image11.png" Id="R8f329d72192a45d5" /><Relationship Type="http://schemas.openxmlformats.org/officeDocument/2006/relationships/image" Target="/ppt/media/image12.png" Id="Rd75b79a14ec547e6" /><Relationship Type="http://schemas.openxmlformats.org/officeDocument/2006/relationships/notesSlide" Target="/ppt/notesSlides/notesSlide10.xml" Id="Rc3d2339f5dc746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2403ca75f94064" /><Relationship Type="http://schemas.openxmlformats.org/officeDocument/2006/relationships/image" Target="/ppt/media/image13.png" Id="R774576f24e1242b8" /><Relationship Type="http://schemas.openxmlformats.org/officeDocument/2006/relationships/notesSlide" Target="/ppt/notesSlides/notesSlide11.xml" Id="R505a371628f948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54fdecda824954" /><Relationship Type="http://schemas.openxmlformats.org/officeDocument/2006/relationships/image" Target="/ppt/media/image14.png" Id="R00ad5ebb2ed44427" /><Relationship Type="http://schemas.openxmlformats.org/officeDocument/2006/relationships/notesSlide" Target="/ppt/notesSlides/notesSlide12.xml" Id="R22541404eb5a48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156935f1b64919" /><Relationship Type="http://schemas.openxmlformats.org/officeDocument/2006/relationships/image" Target="/ppt/media/image15.png" Id="R5e83a34406384b14" /><Relationship Type="http://schemas.openxmlformats.org/officeDocument/2006/relationships/notesSlide" Target="/ppt/notesSlides/notesSlide13.xml" Id="Rb0918d23d5414a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dead285fb54381" /><Relationship Type="http://schemas.openxmlformats.org/officeDocument/2006/relationships/image" Target="/ppt/media/image16.png" Id="Rd0c7da64f7d9405a" /><Relationship Type="http://schemas.openxmlformats.org/officeDocument/2006/relationships/notesSlide" Target="/ppt/notesSlides/notesSlide14.xml" Id="R222454c90bf74c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78cb153d6418c" /><Relationship Type="http://schemas.openxmlformats.org/officeDocument/2006/relationships/image" Target="/ppt/media/image17.png" Id="R747096f463784e22" /><Relationship Type="http://schemas.openxmlformats.org/officeDocument/2006/relationships/notesSlide" Target="/ppt/notesSlides/notesSlide15.xml" Id="R22e476b6310d49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c2705d0f4141f9" /><Relationship Type="http://schemas.openxmlformats.org/officeDocument/2006/relationships/image" Target="/ppt/media/image18.png" Id="R07e446651ef5464d" /><Relationship Type="http://schemas.openxmlformats.org/officeDocument/2006/relationships/notesSlide" Target="/ppt/notesSlides/notesSlide16.xml" Id="R0d466f952cf244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aa5b160f54f63" /><Relationship Type="http://schemas.openxmlformats.org/officeDocument/2006/relationships/image" Target="/ppt/media/image19.png" Id="Rb9b60baf581f47ea" /><Relationship Type="http://schemas.openxmlformats.org/officeDocument/2006/relationships/notesSlide" Target="/ppt/notesSlides/notesSlide17.xml" Id="Rbe897a51f08e4e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cf59d1dc0f4749" /><Relationship Type="http://schemas.openxmlformats.org/officeDocument/2006/relationships/image" Target="/ppt/media/image20.png" Id="R63db1a001b2344fd" /><Relationship Type="http://schemas.openxmlformats.org/officeDocument/2006/relationships/notesSlide" Target="/ppt/notesSlides/notesSlide18.xml" Id="R87229f98b04d43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0a0dbad7b4a31" /><Relationship Type="http://schemas.openxmlformats.org/officeDocument/2006/relationships/image" Target="/ppt/media/image21.png" Id="R2f0188a87ccc406b" /><Relationship Type="http://schemas.openxmlformats.org/officeDocument/2006/relationships/notesSlide" Target="/ppt/notesSlides/notesSlide19.xml" Id="Red6618187d1e43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770b3807a34b20" /><Relationship Type="http://schemas.openxmlformats.org/officeDocument/2006/relationships/image" Target="/ppt/media/image22.png" Id="R33867f3eee0848ef" /><Relationship Type="http://schemas.openxmlformats.org/officeDocument/2006/relationships/notesSlide" Target="/ppt/notesSlides/notesSlide20.xml" Id="Rb29086b39b03467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 descr="Ilustração conceitual autoral da capa: EPISÓDIO 2 — Gold não é camada semântic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a28cfb84a47b1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DCBEB50D-493D-4A7A-B1C8-1B1E14A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77AB6248-F24F-4D50-8CCD-BDBC5CC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8F8C2432-2A68-419A-84FB-A42AE571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6C68BC9-7543-410B-AE62-5A5C5CB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Ilustração conceitual autoral da capa: EPISÓDIO 2 — Gold não é camada semântic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548c14b01422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492E56E-C501-4527-816A-5E70C8E6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Gold não é camada semântica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05CC3B-3EF7-4199-9C70-2766641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Dados preparados não garantem significado compartilhado</a:t>
            </a:r>
          </a:p>
        </p:txBody>
      </p:sp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A3498D5-0E24-4934-BC51-B915508C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44567C29-800C-4B26-A09B-F23F0AEF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02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947844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ook">
            <a:extLst xmlns:a="http://schemas.openxmlformats.org/drawingml/2006/main">
              <a:ext uri="{FF2B5EF4-FFF2-40B4-BE49-F238E27FC236}">
                <a16:creationId xmlns:a16="http://schemas.microsoft.com/office/drawing/2014/main" id="{8EE84B3E-C912-422B-9258-C7357C98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Duas tabelas Gold corretas ainda podem responder receita com números diferentes.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4EE18D65-5BEE-4A71-83FA-6593B91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7AA20F5C-351B-40EF-93D7-36E5A4BD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2D467DD9-CA23-4CDF-BA11-F9ADB95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9" name="" descr="Diagrama didático autoral que apresenta: Duas tabelas Gold corretas ainda podem responder receita com números diferentes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c1972f53e4a60"/>
          <a:stretch xmlns:a="http://schemas.openxmlformats.org/drawingml/2006/main"/>
        </p:blipFill>
        <p:spPr>
          <a:xfrm xmlns:a="http://schemas.openxmlformats.org/drawingml/2006/main">
            <a:off x="4176429" y="3790950"/>
            <a:ext cx="3839142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78004D8-6270-4D12-A442-7D1FB8EB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35E95C0-D944-4E3D-93C0-2A00BAB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Diagrama didático autoral que apresenta: Duas tabelas Gold corretas ainda podem responder receita com números diferentes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1a3064de54c5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9AFA16-B3E8-48DF-B4C4-FA45EFC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C379938-532B-4E89-9F4C-C0010A7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742CD4-8C9F-4F73-85C2-2F53B937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24407038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EC9645-94A7-40B1-81B9-67E5221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9BFDCD9E-3A14-4268-A9E6-AA27461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C421406-0BCD-47EE-9551-AB398D88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Separar Gold e semântica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C11CABCD-85B1-4A83-8B28-40178270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0F769D9E-D0A6-46B3-A8C9-02BE492C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978E13D-DC77-4E7D-B8D6-7828FC2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Proteger o grão de pedido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68FC1021-B553-4B09-B64E-4FE855C8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9C08F32A-149F-4781-B408-C1234247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A543E5F-D2A9-4011-88BD-39D600C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Nomear métricas sem ambiguidade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949561B-1719-48F3-B04E-EFC5131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AACC7A3D-6775-4821-80BA-5D97D34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Ao final, você consegue...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19102319c42c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C2D201-1E2C-477D-A274-23268889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939D9186-524A-4739-827A-AC477648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BF8255-2E2D-4E01-8899-E594F2EF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70088413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F482CC-C396-4509-B80A-04AC9217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Quatro perguntas revelam a interface ausente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5FFDBE-2AA3-4620-812E-0521624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Grão, filtro, data e chave não podem ficar só na cabeça do autor.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0FAAF33A-4BB7-4B74-9DA8-8A42471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Qual é o grão?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Receita inclui cancelados?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Qual data e qual chave?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C0AF8920-64A6-4294-9D96-2124464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FB76AEFC-25B0-4818-93EA-6BD283B9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8AFC875-0DB7-4E55-9385-003BD1BE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BFE30E2-7AC5-48B8-B2FA-E3A97AB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1A228BE2-BD53-4720-B6E3-A6BABAC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Quatro perguntas revelam a interface ausente — Grão, filtro, data e chave não podem ficar só na cabeça do autor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1cdb934124d3e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2678EA-39DA-4F62-9E54-0A47071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6CD13C7F-E6EE-4A29-9965-35E7B801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D5B2D1-9EE7-448F-8E00-85D38A9F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1847250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A23BC5-2C45-4B36-8CF4-E8095FC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Cinco conceitos, cinco responsabilidades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42A5C6-9E27-444F-9950-2F99452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Tabela Gold, dimensional, semantic model, métrica e serviço não são sinônimos.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19787EEF-1E3B-4C5A-8FBA-C660A0CB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Gold prepara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Modelo organiza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Métrica nomeia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Serviço opera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0A82AD00-619B-40DE-8FB4-7637FD3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2FA2BD59-7E72-4A7C-95FC-159FA14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4BDCD61-1E96-44F4-8F4C-2073F5CA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30098AA-6FD6-4C41-9BD8-5B7D9E6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CE118580-45D5-44F8-8DA9-E628B76F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Cinco conceitos, cinco responsabilidades — Tabela Gold, dimensional, semantic model, métrica e serviço não são sinônimo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938c98968459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1648FF-678F-45C9-A099-4BB39BE9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9A48E1F-7F3B-4D26-96DE-18F1A1F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7B73A4-D698-4F87-9966-302CF95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105750743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B38BF8-CA0C-4635-9C8C-035634F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Cinco conceitos, cinco responsabilidades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7773F7D0-C2D0-4E16-8243-EFCD823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084480C8-C4FF-4A0B-AFFD-D50C17C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1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Dimensional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6266A27D-FD2E-4FAD-999D-739B2B8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40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Semântica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0D395124-72F1-4389-AC2B-4870D5C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29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6" name="flow-5">
            <a:extLst xmlns:a="http://schemas.openxmlformats.org/drawingml/2006/main">
              <a:ext uri="{FF2B5EF4-FFF2-40B4-BE49-F238E27FC236}">
                <a16:creationId xmlns:a16="http://schemas.microsoft.com/office/drawing/2014/main" id="{ADCE9C4B-DC5C-4CA9-BE1E-D6C94424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3429000"/>
            <a:ext cx="190119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Serviço</a:t>
            </a:r>
          </a:p>
        </p:txBody>
      </p:sp>
      <p:cxnSp>
        <p:nvCxnSpPr>
          <p:cNvPr id="34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71081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7870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04659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214485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B1989BC-BA5B-445D-BE4B-13CCDCC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12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3BF026D9-90CA-4914-96F1-E3351CD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40" name="" descr="Figura oficial da documentação dbt usada para explicar: Cinco conceitos, cinco responsabilidades — Gold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f60ee85dc4b0b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3FC2A-7531-4736-8205-E160EC2F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58C059CA-3973-4596-8F94-3FA657B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8B76E8-DE92-42A1-8A6B-9AB72A23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209202825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47DE1E-94E1-4120-AB01-3F4C8622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Join válido pode multiplicar dinheiro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9C2386-2934-4E5B-A41D-27E35D0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Dois itens × dois pagamentos produzem quatro combinações.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9D887B58-6758-42AA-A747-4D00E28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 SQL compila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 grão muda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 soma fica falsa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7923A23-6A95-4B6A-BF2B-DDBE49B2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61BEB8A-67D4-4520-9FCA-D7CEB72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7D1A0E5-A1EF-4B1B-9A66-9B9A809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7DC5F7B-3087-4C07-B437-70ABD22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3FD3EB0-1DBA-4913-8AE8-9F49C31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Join válido pode multiplicar dinheiro — Dois itens × dois pagamentos produzem quatro combinaçõe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debb7f258449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FBB1DA-BD0D-4590-B967-4C4BC048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D5CE13C-F193-4D02-BA9B-477C9DF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E7427A-E4B2-4A76-907F-06D0C1A8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246759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1A6295-9480-492C-BF61-748E6EED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Join válido pode multiplicar dinheiro</a:t>
            </a:r>
          </a:p>
        </p:txBody>
      </p:sp>
      <p:sp>
        <p:nvSpPr>
          <p:cNvPr id="2" name="metric-primary">
            <a:extLst xmlns:a="http://schemas.openxmlformats.org/drawingml/2006/main">
              <a:ext uri="{FF2B5EF4-FFF2-40B4-BE49-F238E27FC236}">
                <a16:creationId xmlns:a16="http://schemas.microsoft.com/office/drawing/2014/main" id="{47880858-BF69-4989-8628-497E5087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565C0"/>
                </a:solidFill>
              </a:defRPr>
            </a:pPr>
            <a:r>
              <a:rPr sz="3600" b="1">
                <a:solidFill>
                  <a:srgbClr val="1565C0"/>
                </a:solidFill>
              </a:rPr>
              <a:t>4 linhas</a:t>
            </a:r>
          </a:p>
        </p:txBody>
      </p:sp>
      <p:sp>
        <p:nvSpPr>
          <p:cNvPr id="3" name="metric-inputs">
            <a:extLst xmlns:a="http://schemas.openxmlformats.org/drawingml/2006/main">
              <a:ext uri="{FF2B5EF4-FFF2-40B4-BE49-F238E27FC236}">
                <a16:creationId xmlns:a16="http://schemas.microsoft.com/office/drawing/2014/main" id="{ACB081BA-9E8E-494C-ADEF-C8319C8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1 pedido  ×  2 itens  ×  2 pagamentos</a:t>
            </a:r>
          </a:p>
        </p:txBody>
      </p:sp>
      <p:sp>
        <p:nvSpPr>
          <p:cNvPr id="4" name="metric-arrow">
            <a:extLst xmlns:a="http://schemas.openxmlformats.org/drawingml/2006/main">
              <a:ext uri="{FF2B5EF4-FFF2-40B4-BE49-F238E27FC236}">
                <a16:creationId xmlns:a16="http://schemas.microsoft.com/office/drawing/2014/main" id="{6E6B70E7-D539-444B-B088-783A3F3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950455D-249F-4C07-ABEB-F1DECBA7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FD96A0C9-956F-406D-900A-F52D2C6A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Join válido pode multiplicar dinheiro — 4 linh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a46fd2ffa4bc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3F8C3B-CCBA-4239-B422-ECECEC8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3A9BA43-19CD-47B8-A498-66D5B963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22F00F-2EB9-40E3-B8DB-697E2B7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273745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206293-1EC4-44F6-8663-340A8C33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ERD torna cardinalidade visível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3F7C68-30E2-4074-84DA-6C4225D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Entidades e relações precisam anteceder a agregação.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6929098B-F868-4001-86E0-A080FB0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Chave primária real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Relações verificáveis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Agregação antes do join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C608A1D-A64B-4106-A426-4CF0E253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D9C18158-1DEA-49D7-95BC-4119698B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1A2DBAE-065E-4CC4-93D1-FEAAC08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8D1859C3-8BBE-4343-857D-4B34589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2C97994-7198-4D51-A8F0-F0A22FB0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O ERD torna cardinalidade visível — Entidades e relações precisam anteceder a agreg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66f54a45e494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0AE193-9A43-4E08-996D-F4A9BB6D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F3ABFF5-27B0-4FCE-B5F3-D4393AD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6CDA6E-9560-490A-BD0F-5B7E6FB5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393061786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3898C6-C720-4E83-8CC5-04E9C0E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ERD torna cardinalidade visível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2784C47C-6766-4488-9BFA-75126FFC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Entidades e relações precisam anteceder a agregação.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D53C275D-90B4-4D25-B455-B2318DF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8" name="" descr="Figura oficial da documentação dbt usada para explicar: O ERD torna cardinalidade visível — Entidades e relações precisam anteceder a agreg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29d72192a45d5"/>
          <a:stretch xmlns:a="http://schemas.openxmlformats.org/drawingml/2006/main"/>
        </p:blipFill>
        <p:spPr>
          <a:xfrm xmlns:a="http://schemas.openxmlformats.org/drawingml/2006/main">
            <a:off x="5429250" y="2153712"/>
            <a:ext cx="5791200" cy="2645827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0FB33F61-6281-4B41-8FBF-EC7EE75D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da documentação dbt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05BF9108-A827-40CE-8CB8-CD71D37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BEFA888-6652-4336-8895-7FE857B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2" name="" descr="Figura oficial da documentação dbt usada para explicar: O ERD torna cardinalidade visível — Entidades e relações precisam anteceder a agregação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b79a14ec547e6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4BDBFE-6E5F-45E3-8898-2789A2E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88B097E-1AC7-431D-8028-C0DF851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114B5A-ED47-4F0D-9520-028F5FF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75956360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97638B-7EA5-4396-AE78-16E0E932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Métricas válidas precisam de nomes distintos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28FE7F-2C5B-4D3D-BE6B-3911875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Receita bruta e receita entregue respondem perguntas diferentes.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435FE84B-AF9C-4267-B0F2-81B8297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orders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gross_revenue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delivered_revenue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average_order_value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F79631A-F04F-4FF9-9A98-450B04C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872BAEE3-4DAA-4BC8-B461-F344DC53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7E63220-224F-483B-A296-11B2E17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6A57AC6-F2C6-4539-A0A8-F9123406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B3F65A71-5D59-489D-9083-BD34AC4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Métricas válidas precisam de nomes distintos — Receita bruta e receita entregue respondem perguntas diferente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576f24e1242b8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FBC315-7A6D-41A9-9A98-4244DA0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CBDEA0E-AD71-4884-815F-85FCCFEA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CE46BA-C303-417E-8ACC-495F3E3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2135223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4322D2-3D33-4CFF-B22B-DE40B63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Métricas válidas precisam de nomes distintos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BD0213CA-8AE3-4442-94BF-0E9DE57E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Receita bruta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06C45187-A844-4629-AA9E-7F933FB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Receita entregue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09CB1EF5-B7BF-4705-9C7F-9CAA1C3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8D7645FD-2B09-4803-AA86-ED5CFAF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orders</a:t>
            </a:r>
          </a:p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gross_revenue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EE1B29E7-8EB9-4809-B546-BD4F13F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delivered_revenue</a:t>
            </a:r>
          </a:p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average_order_value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F9BDDFC-7048-4CE8-89F3-AE64226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8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88B9FF25-0878-4929-A390-CDF6D4F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3" name="" descr="Figura oficial da documentação dbt usada para explicar: Métricas válidas precisam de nomes distintos — Receita bru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d5ebb2ed44427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2A38C25-ADA9-4E39-A84E-E3202288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C4395A7-9746-4D7B-86DA-FFB24FBC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266402-5E05-4C01-9B27-45793516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1758042484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676757-1EEF-49B3-A659-5D4C85C6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A5AEC33F-9FB6-4DD5-A0DE-3BE56ED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76A13D5A-D9A8-463D-8751-8DBB57F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02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BFB0173A-1187-4F22-A5CB-0A538B69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5DC374C-1DD1-46DF-A6ED-95F8209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58D54A7-F606-4BD7-85CC-5643A0EA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Demonstração — execute — python course.py checkpoint 02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3a34406384b14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8F08F1-CAFB-4B51-9193-BA90A4D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46F20C9-4C49-4607-8E77-F2817E2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D09E77-D5F3-4BE4-82CF-937DEFAB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5034923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4EB64-6A67-4678-B500-45C00BF5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B7E534C1-ACD0-4764-ACA7-44D779CC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B4C5D0F-EAE0-4AE0-9BEE-4596C5CC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Gold no grão pedido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E8608C6-DD9C-40B6-8641-CF615B4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BBA57AED-DED2-4D62-A17E-75AF90C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9A37390-89B1-4257-9028-D8C46BA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Fachada commerce_orders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35AD338C-F6D0-45FF-BD99-58D864E0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12231837-EA46-45FF-BF5C-6DFCDEBF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A7D94AB-76FA-42E0-86E5-2EE01BD2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10 respostas reconciliadas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0E1A791F-5E24-4223-BDB1-946095E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458F969D-D296-477E-BE28-6DF67027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Demonstração — observe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7da64f7d9405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DA42596-4D34-49E3-9DC6-22F025A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F54A823E-3A80-4E0B-8948-8F307437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4DD5AF-D723-46DD-B00A-B4B1D73A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454444864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C45F66F-94D9-4E19-AEE9-92717F47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B602DF17-E01E-41D9-BE8F-EEFF67B2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Ground truth OK: 10 perguntas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C00F85BA-75AF-4023-9549-49CE448C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02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35140F5B-5EAD-49FC-B1FD-197D706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94AE3DFA-675E-495F-A016-AF94386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EF3D53F-9D08-40DB-B4D3-C3D1D60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60AB2F21-9E02-4102-9735-1B5591A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ESULTADO ESPERADO — Ground truth OK: 10 pergunta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096f463784e22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6EEF367-7957-4F52-8052-90112841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CBE0F5C-A228-4102-865D-27D0DB16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0373A2-9348-4044-B56F-4B4EB1E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410218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A54CC6-F060-4B65-B66F-FE3F1C49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D3CCE117-F329-4FB5-A9E4-4F3E836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BBB9CB5-4DAD-4B01-94D2-ED0508EC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nomes e owners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066AE7C5-69BF-4393-BB99-1AC549D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0E344945-82E2-403F-AC0A-958E8A8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27F50AB-B7A5-4E15-AED5-555D42F6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menos joins exploratórios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655F107-09D9-4701-90CB-6A655BF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79F0BE80-9D9D-49B5-ADCE-62A3959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E0BE9B7-0A6B-4556-96B6-3C814DBA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menos decisões probabilísticas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8F4368D-4B7B-4E27-B265-3419DDDD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11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9135D2D-63A9-4FD1-97C3-F07F0E4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9" name="" descr="Figura oficial da documentação dbt usada para explicar: O mesmo recurso afeta três decisões — 01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446651ef5464d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20CBF0-1CB9-43C7-9CD1-85F901FF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0A5C4A0-2B0B-487D-95A7-AC54098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453057-0A9D-41DB-931C-5D4A5234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864632826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se-number">
            <a:extLst xmlns:a="http://schemas.openxmlformats.org/drawingml/2006/main">
              <a:ext uri="{FF2B5EF4-FFF2-40B4-BE49-F238E27FC236}">
                <a16:creationId xmlns:a16="http://schemas.microsoft.com/office/drawing/2014/main" id="{3C7D1082-8549-4043-BDFE-C518FDB2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83 métricas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ED70640C-62A3-479E-9067-D530C14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centralizadas pela Inventa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F159B7FB-46C4-489A-9B81-C76FEFE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8590CDBD-6E8E-46F0-908B-0D0A00A4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90% de redução de manutenção reportada pela empresa/dbt Labs.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D4F23C3-C124-4548-9BF6-1010B706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6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D515E80E-0747-4506-8274-771596EE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9" name="" descr="Figura oficial da documentação dbt usada para explicar: 83 métricas — centralizadas pela Invent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60baf581f47ea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E637652-1C42-4D02-B639-D46F0B04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A29CAFB-5921-4F79-8029-4971121D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54F933-7C62-4873-B3D5-FE1E0938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995312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73C3C-B2FC-44A5-8F33-076B542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0DAC155C-66D8-4824-A5FA-59BBE637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YAML não resolve desacordo de negócio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Semântica não corrige fonte atrasada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Distinct não é cura para cardinalidade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651E1A0-DD76-4B5A-A8C2-A2D85CF4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4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62366FE-36CA-4814-9903-5CC03088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Limitações que precisam permanecer visíveis — • YAML não resolve desacordo de negóci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b1a001b2344fd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507FF5-E2D7-4C58-9271-81E84B8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C8EA4CD-D889-47A2-855B-06E039E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C2D37F-DC26-49A4-8D43-B53AA1DE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753988799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dar-label">
            <a:extLst xmlns:a="http://schemas.openxmlformats.org/drawingml/2006/main">
              <a:ext uri="{FF2B5EF4-FFF2-40B4-BE49-F238E27FC236}">
                <a16:creationId xmlns:a16="http://schemas.microsoft.com/office/drawing/2014/main" id="{212090E1-8772-4199-9695-CA9E240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741C97D7-E0AF-4CDF-A182-B4D58421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sintaxe executada é a spec suportada no Core 1.12; cross-project futuro fica no Radar.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9FD9CB0D-9B9A-46AF-9181-4B03DB1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5335B04-D0B1-455E-8A21-9C74B2D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FCE37A6-F565-4377-927F-305F64D3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F697CF1C-9D70-48F8-958F-DF4778F3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2  •  OPEN / CORE 1.12</a:t>
            </a:r>
          </a:p>
        </p:txBody>
      </p:sp>
      <p:sp>
        <p:nvSpPr>
          <p:cNvPr id="7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7933AA5A-C0FB-4455-87CF-87EF71A4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21" name="" descr="Figura oficial da documentação dbt usada para explicar: RADAR — A sintaxe executada é a spec suportada no Core 1.12; cross-project futuro fica no Radar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188a87ccc406b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F720AF-0C41-467F-B2CB-53DB93A4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F5253641-6861-4E44-BA08-67AE8294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059F57-9E5A-475A-883F-662F200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9872258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ta-label">
            <a:extLst xmlns:a="http://schemas.openxmlformats.org/drawingml/2006/main">
              <a:ext uri="{FF2B5EF4-FFF2-40B4-BE49-F238E27FC236}">
                <a16:creationId xmlns:a16="http://schemas.microsoft.com/office/drawing/2014/main" id="{AFA30C0D-CCC5-4E21-884B-C5CAD8E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ECDD9CE0-D312-4683-A691-D5F8A089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Documente nome, pergunta, grão, filtro, data e owner de três métricas.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7F6DBD4A-C6DE-447F-9DE6-0A7BAAF0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02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8DC8D97-9168-4EAA-8577-0474656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2  •  OPEN / CORE 1.12</a:t>
            </a:r>
          </a:p>
        </p:txBody>
      </p:sp>
      <p:sp>
        <p:nvSpPr>
          <p:cNvPr id="5" name="rescue-point-logo-background">
            <a:extLst xmlns:a="http://schemas.openxmlformats.org/drawingml/2006/main">
              <a:ext uri="{FF2B5EF4-FFF2-40B4-BE49-F238E27FC236}">
                <a16:creationId xmlns:a16="http://schemas.microsoft.com/office/drawing/2014/main" id="{25B3CF81-EA44-4A47-BE43-4988D5B8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3350"/>
            <a:ext cx="1733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42E"/>
          </a:solidFill>
          <a:ln xmlns:a="http://schemas.openxmlformats.org/drawingml/2006/main" w="9525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7" name="" descr="Figura oficial da documentação dbt usada para explicar: PRÓXIMO PASSO — Documente nome, pergunta, grão, filtro, data e owner de três métrica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67f3eee0848ef"/>
          <a:stretch xmlns:a="http://schemas.openxmlformats.org/drawingml/2006/main"/>
        </p:blipFill>
        <p:spPr>
          <a:xfrm xmlns:a="http://schemas.openxmlformats.org/drawingml/2006/main">
            <a:off x="9893718" y="209550"/>
            <a:ext cx="1491414" cy="323850"/>
          </a:xfrm>
          <a:prstGeom xmlns:a="http://schemas.openxmlformats.org/drawingml/2006/main" prst="rect">
            <a:avLst/>
          </a:prstGeom>
        </p:spPr>
      </p:pic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BF253B-B9DC-4730-86CD-902711AE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6FBC75C-EC2F-4520-A7C0-82BA11F7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7CE6E9-62E7-4785-8EC6-88BB2FA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1029796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2026-09-02T16:14:50.0390000Z</dcterms:created>
  <dcterms:modified xsi:type="dcterms:W3CDTF">2026-09-02T16:14:50.0390000Z</dcterms:modified>
</coreProperties>
</file>