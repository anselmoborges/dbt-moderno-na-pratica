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d91f8075f4acd" /><Relationship Type="http://schemas.openxmlformats.org/officeDocument/2006/relationships/extended-properties" Target="/docProps/app.xml" Id="R2eca013e705144e2" /><Relationship Type="http://schemas.openxmlformats.org/officeDocument/2006/relationships/officeDocument" Target="/ppt/presentation.xml" Id="R558375479004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d811504a104ef8"/>
    <p:sldMasterId xmlns:r="http://schemas.openxmlformats.org/officeDocument/2006/relationships" id="2147483650" r:id="Rb0d5c620a31e4e1c"/>
  </p:sldMasterIdLst>
  <p:notesMasterIdLst>
    <p:notesMasterId xmlns:r="http://schemas.openxmlformats.org/officeDocument/2006/relationships" r:id="Rcdc4134b08e348a7"/>
  </p:notesMasterIdLst>
  <p:sldIdLst>
    <p:sldId xmlns:r="http://schemas.openxmlformats.org/officeDocument/2006/relationships" id="256" r:id="R4188cfa633914594"/>
    <p:sldId xmlns:r="http://schemas.openxmlformats.org/officeDocument/2006/relationships" id="257" r:id="Rf268280474d24f0e"/>
    <p:sldId xmlns:r="http://schemas.openxmlformats.org/officeDocument/2006/relationships" id="258" r:id="R5b46c542d3664005"/>
    <p:sldId xmlns:r="http://schemas.openxmlformats.org/officeDocument/2006/relationships" id="259" r:id="R65744b1cdf2b4250"/>
    <p:sldId xmlns:r="http://schemas.openxmlformats.org/officeDocument/2006/relationships" id="260" r:id="R2c3c69e773de4598"/>
    <p:sldId xmlns:r="http://schemas.openxmlformats.org/officeDocument/2006/relationships" id="261" r:id="R28838d1b672c42bc"/>
    <p:sldId xmlns:r="http://schemas.openxmlformats.org/officeDocument/2006/relationships" id="262" r:id="Rfa91682e0a3f4f65"/>
    <p:sldId xmlns:r="http://schemas.openxmlformats.org/officeDocument/2006/relationships" id="263" r:id="Rbeaaeec9426d4307"/>
    <p:sldId xmlns:r="http://schemas.openxmlformats.org/officeDocument/2006/relationships" id="264" r:id="R42fe266615b44674"/>
    <p:sldId xmlns:r="http://schemas.openxmlformats.org/officeDocument/2006/relationships" id="265" r:id="Rbe5f8b48e5e143b9"/>
    <p:sldId xmlns:r="http://schemas.openxmlformats.org/officeDocument/2006/relationships" id="266" r:id="R127aa16d930c4719"/>
    <p:sldId xmlns:r="http://schemas.openxmlformats.org/officeDocument/2006/relationships" id="267" r:id="Rb7291d1f040a4223"/>
    <p:sldId xmlns:r="http://schemas.openxmlformats.org/officeDocument/2006/relationships" id="268" r:id="R6b9ac95477794cfd"/>
    <p:sldId xmlns:r="http://schemas.openxmlformats.org/officeDocument/2006/relationships" id="269" r:id="R9525a5c905604443"/>
    <p:sldId xmlns:r="http://schemas.openxmlformats.org/officeDocument/2006/relationships" id="270" r:id="Rf429195a82b44a3f"/>
    <p:sldId xmlns:r="http://schemas.openxmlformats.org/officeDocument/2006/relationships" id="271" r:id="Ref6215d21c7b4a1a"/>
    <p:sldId xmlns:r="http://schemas.openxmlformats.org/officeDocument/2006/relationships" id="272" r:id="R735d1808f1524046"/>
    <p:sldId xmlns:r="http://schemas.openxmlformats.org/officeDocument/2006/relationships" id="273" r:id="R7a8951a21602496b"/>
    <p:sldId xmlns:r="http://schemas.openxmlformats.org/officeDocument/2006/relationships" id="274" r:id="R2d56fa62d3934603"/>
    <p:sldId xmlns:r="http://schemas.openxmlformats.org/officeDocument/2006/relationships" id="275" r:id="Reb5718b0939e45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06ba4b0a0420b" /><Relationship Type="http://schemas.openxmlformats.org/officeDocument/2006/relationships/slideMaster" Target="/ppt/slideMasters/slideMaster1.xml" Id="Rb2d811504a104ef8" /><Relationship Type="http://schemas.openxmlformats.org/officeDocument/2006/relationships/slideMaster" Target="/ppt/slideMasters/slideMaster2.xml" Id="Rb0d5c620a31e4e1c" /><Relationship Type="http://schemas.openxmlformats.org/officeDocument/2006/relationships/notesMaster" Target="/ppt/notesMasters/notesMaster1.xml" Id="Rcdc4134b08e348a7" /><Relationship Type="http://schemas.openxmlformats.org/officeDocument/2006/relationships/presProps" Target="/ppt/presProps.xml" Id="R13f3cb5dc9c8446b" /><Relationship Type="http://schemas.openxmlformats.org/officeDocument/2006/relationships/tableStyles" Target="/ppt/tableStyles.xml" Id="R225cea6486694199" /><Relationship Type="http://schemas.openxmlformats.org/officeDocument/2006/relationships/slide" Target="/ppt/slides/slide1.xml" Id="R4188cfa633914594" /><Relationship Type="http://schemas.openxmlformats.org/officeDocument/2006/relationships/slide" Target="/ppt/slides/slide2.xml" Id="Rf268280474d24f0e" /><Relationship Type="http://schemas.openxmlformats.org/officeDocument/2006/relationships/slide" Target="/ppt/slides/slide3.xml" Id="R5b46c542d3664005" /><Relationship Type="http://schemas.openxmlformats.org/officeDocument/2006/relationships/slide" Target="/ppt/slides/slide4.xml" Id="R65744b1cdf2b4250" /><Relationship Type="http://schemas.openxmlformats.org/officeDocument/2006/relationships/slide" Target="/ppt/slides/slide5.xml" Id="R2c3c69e773de4598" /><Relationship Type="http://schemas.openxmlformats.org/officeDocument/2006/relationships/slide" Target="/ppt/slides/slide6.xml" Id="R28838d1b672c42bc" /><Relationship Type="http://schemas.openxmlformats.org/officeDocument/2006/relationships/slide" Target="/ppt/slides/slide7.xml" Id="Rfa91682e0a3f4f65" /><Relationship Type="http://schemas.openxmlformats.org/officeDocument/2006/relationships/slide" Target="/ppt/slides/slide8.xml" Id="Rbeaaeec9426d4307" /><Relationship Type="http://schemas.openxmlformats.org/officeDocument/2006/relationships/slide" Target="/ppt/slides/slide9.xml" Id="R42fe266615b44674" /><Relationship Type="http://schemas.openxmlformats.org/officeDocument/2006/relationships/slide" Target="/ppt/slides/slide10.xml" Id="Rbe5f8b48e5e143b9" /><Relationship Type="http://schemas.openxmlformats.org/officeDocument/2006/relationships/slide" Target="/ppt/slides/slide11.xml" Id="R127aa16d930c4719" /><Relationship Type="http://schemas.openxmlformats.org/officeDocument/2006/relationships/slide" Target="/ppt/slides/slide12.xml" Id="Rb7291d1f040a4223" /><Relationship Type="http://schemas.openxmlformats.org/officeDocument/2006/relationships/slide" Target="/ppt/slides/slide13.xml" Id="R6b9ac95477794cfd" /><Relationship Type="http://schemas.openxmlformats.org/officeDocument/2006/relationships/slide" Target="/ppt/slides/slide14.xml" Id="R9525a5c905604443" /><Relationship Type="http://schemas.openxmlformats.org/officeDocument/2006/relationships/slide" Target="/ppt/slides/slide15.xml" Id="Rf429195a82b44a3f" /><Relationship Type="http://schemas.openxmlformats.org/officeDocument/2006/relationships/slide" Target="/ppt/slides/slide16.xml" Id="Ref6215d21c7b4a1a" /><Relationship Type="http://schemas.openxmlformats.org/officeDocument/2006/relationships/slide" Target="/ppt/slides/slide17.xml" Id="R735d1808f1524046" /><Relationship Type="http://schemas.openxmlformats.org/officeDocument/2006/relationships/slide" Target="/ppt/slides/slide18.xml" Id="R7a8951a21602496b" /><Relationship Type="http://schemas.openxmlformats.org/officeDocument/2006/relationships/slide" Target="/ppt/slides/slide19.xml" Id="R2d56fa62d3934603" /><Relationship Type="http://schemas.openxmlformats.org/officeDocument/2006/relationships/slide" Target="/ppt/slides/slide20.xml" Id="Reb5718b0939e45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e1542c848234a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e99c7853074988" /><Relationship Type="http://schemas.openxmlformats.org/officeDocument/2006/relationships/notesMaster" Target="/ppt/notesMasters/notesMaster1.xml" Id="R19cb131c326c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f3affeaaed4cfa" /><Relationship Type="http://schemas.openxmlformats.org/officeDocument/2006/relationships/notesMaster" Target="/ppt/notesMasters/notesMaster1.xml" Id="R761cffce930a4c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e57da65994432c" /><Relationship Type="http://schemas.openxmlformats.org/officeDocument/2006/relationships/notesMaster" Target="/ppt/notesMasters/notesMaster1.xml" Id="Rec14450eff0e44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ddf1b568f744f8" /><Relationship Type="http://schemas.openxmlformats.org/officeDocument/2006/relationships/notesMaster" Target="/ppt/notesMasters/notesMaster1.xml" Id="R320f5bb2223343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9d6abede044040" /><Relationship Type="http://schemas.openxmlformats.org/officeDocument/2006/relationships/notesMaster" Target="/ppt/notesMasters/notesMaster1.xml" Id="R330c9c843477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02df6755a4331" /><Relationship Type="http://schemas.openxmlformats.org/officeDocument/2006/relationships/notesMaster" Target="/ppt/notesMasters/notesMaster1.xml" Id="Rdc09b689974041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ebb9cd82034297" /><Relationship Type="http://schemas.openxmlformats.org/officeDocument/2006/relationships/notesMaster" Target="/ppt/notesMasters/notesMaster1.xml" Id="R7581e643da5343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c2fc1da8ce4091" /><Relationship Type="http://schemas.openxmlformats.org/officeDocument/2006/relationships/notesMaster" Target="/ppt/notesMasters/notesMaster1.xml" Id="Reee567919cf74b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b093bcea2342cd" /><Relationship Type="http://schemas.openxmlformats.org/officeDocument/2006/relationships/notesMaster" Target="/ppt/notesMasters/notesMaster1.xml" Id="Rc98a5008a4d144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5935b8d0eb49a4" /><Relationship Type="http://schemas.openxmlformats.org/officeDocument/2006/relationships/notesMaster" Target="/ppt/notesMasters/notesMaster1.xml" Id="R388b8a606c9a4c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d83ad5a3f6495e" /><Relationship Type="http://schemas.openxmlformats.org/officeDocument/2006/relationships/notesMaster" Target="/ppt/notesMasters/notesMaster1.xml" Id="Rf7a95222954342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f1ccabbf9d40a0" /><Relationship Type="http://schemas.openxmlformats.org/officeDocument/2006/relationships/notesMaster" Target="/ppt/notesMasters/notesMaster1.xml" Id="R977800645c9345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15f036ec184347" /><Relationship Type="http://schemas.openxmlformats.org/officeDocument/2006/relationships/notesMaster" Target="/ppt/notesMasters/notesMaster1.xml" Id="R3b885dfe96564a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77a331c3c24c21" /><Relationship Type="http://schemas.openxmlformats.org/officeDocument/2006/relationships/notesMaster" Target="/ppt/notesMasters/notesMaster1.xml" Id="R48741968988b47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7b5efcde644ad7" /><Relationship Type="http://schemas.openxmlformats.org/officeDocument/2006/relationships/notesMaster" Target="/ppt/notesMasters/notesMaster1.xml" Id="Rd70f2fb547664c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b5e576b5cd4927" /><Relationship Type="http://schemas.openxmlformats.org/officeDocument/2006/relationships/notesMaster" Target="/ppt/notesMasters/notesMaster1.xml" Id="R7fbb1222ce334c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a0d5902a804100" /><Relationship Type="http://schemas.openxmlformats.org/officeDocument/2006/relationships/notesMaster" Target="/ppt/notesMasters/notesMaster1.xml" Id="R2f573d4fc40f48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6ea941dbe2482f" /><Relationship Type="http://schemas.openxmlformats.org/officeDocument/2006/relationships/notesMaster" Target="/ppt/notesMasters/notesMaster1.xml" Id="Rd08c48dc5fcb45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b6e43cf429452a" /><Relationship Type="http://schemas.openxmlformats.org/officeDocument/2006/relationships/notesMaster" Target="/ppt/notesMasters/notesMaster1.xml" Id="Rb79df3b7d70142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da5302b7c64182" /><Relationship Type="http://schemas.openxmlformats.org/officeDocument/2006/relationships/notesMaster" Target="/ppt/notesMasters/notesMaster1.xml" Id="Rf86af9b2532545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Bem-vindo ao episódio 9 do dbt Moderno na Prática. Hoje vamos trabalhar o tema “CI inteligente com artifacts, state e defer”. Teste o impacto necessário sem reconstruir o mundo. O objetivo não é apenas conhecer o conceito: vamos conectá-lo ao laboratório e terminar com uma evidência que você consegue reproduzir no seu próprio ambiente. Ao longo da aula, separe sempre o que é recurso aberto e estável daquilo que aparecerá apenas no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o título, situe o checkpoint 09 e deixe claro que a aula faz parte da trilha open/stable.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 rápida não significa selecionar menos; significa selecionar o impacto correto.”.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Quero começar com uma provocação: CI rápida não significa selecionar menos; significa selecionar o impacto correto. Essa pergunta orienta toda a aula. Em vez de aceitar uma afirmação porque ela parece correta, vamos procurar uma definição verificável e uma demonstração executável. Guarde essa tensão, porque voltaremos a ela quando compararmos o conceito com o resultado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Dê uma pausa depois da provocação e use o diagrama como mapa do problema, sem explicar todas as etapas ainda.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“Ao final, você consegue...”.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Ao final desta aula, você deverá conseguir comparar manifests, Selecionar modified+ e Usar defer com clareza. Esses resultados formam uma sequência: primeiro entendemos a regra, depois observamos sua representação no projeto e, por fim, comprovamos o comportamento no checkpoint. Se alguma dessas três partes não estiver clara, volte ao slide correspondente antes de executar a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objetivos da esquerda para a direita e apresente-os como resultados observáveis, não como uma agenda abstrata.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“Artifact não é lixo de build”.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 manifest anterior é a referência que permite calcular mudança. Para tornar isso concreto, observe estado anterior, Estado atual e Diff de recursos.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“state:modified encontra a mudança”.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O sufixo + inclui descendentes que podem ser afetados. Para tornar isso concreto, observe modelo editado, Testes associados e Consumidores descendentes.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“state:modified encontra a mudança”.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O sufixo + inclui descendentes que podem ser afetados. Siga a composição na ordem mostrada e conecte mudou, Filhos, Testes e Exposures.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“Seleção mínima ingênua perde risco”.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Testar apenas o arquivo alterado pode ignorar contratos e consumidores. Para tornar isso concreto, observe impacto no DAG, Testes indiretos e Dependências públicas.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“Seleção mínima ingênua perde risco”.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Testar apenas o arquivo alterado pode ignorar contratos e consumidores. Siga a composição na ordem mostrada e conecte arquivo, Impacto, Impacto no DAG, Testes indiretos e Dependências públicas.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“Defer reutiliza relações de outro estado”.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Modelos não construídos localmente podem apontar para produção ou staging. Para tornar isso concreto, observe resolve refs, Evita recomputação e Exige estado confiável.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“Defer reutiliza relações de outro estado”.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Modelos não construídos localmente podem apontar para produção ou staging. Siga a composição na ordem mostrada e conecte os elementos principais. A imagem ou o fluxo não cria uma regra nova; ele torna visível a relação que acabamos de explicar. A figura é identificada como figura oficial da documentação dbt — Apache 2.0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Aponte a legenda e deixe explícito quando a figura é oficial; as anotações do curso ficam fora da imagem.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 madura tem três níveis”.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  <a:p xmlns:a="http://schemas.openxmlformats.org/drawingml/2006/main">
            <a:r>
              <a:t>- https://github.com/dbt-labs/docs.getdbt.com/blob/8249c7c904848efa786831381ca1d53b4157e392/website/static/img/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 mensagem principal deste slide é: Parse barato, seleção por impacto e validação completa cumprem papéis diferentes. Para tornar isso concreto, observe PR rápido, Gate de integração e Build completo programado. Esses pontos devem ser entendidos em conjunto; não são funcionalidades isoladas. No projeto, essa combinação transforma uma convenção informal em algo que pode ser revisado, testado ou consumido de maneira consistente.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Comece pelo título, leia a afirmação abaixo dele e depois desenvolva os itens sem repetir o texto palavra por palavra.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“CI madura tem três níveis”.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ler a ideia visualmente. Parse barato, seleção por impacto e validação completa cumprem papéis diferentes. Siga a composição na ordem mostrada e conecte os elementos principais. A imagem ou o fluxo não cria uma regra nova; ele torna visível a relação que acabamos de explicar. Use a disposição dos elementos para reforçar causa, dependência ou comparação.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Acompanhe o fluxo ou a comparação com o cursor e preserve a ordem de leitura do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execute”.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01:20]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Agora vamos sair da explicação e comprovar o comportamento. Execute os comandos exatamente como aparecem: python course.py checkpoint 09. Não é necessário ativar o ambiente virtual manualmente; o launcher do curso seleciona o ambiente correto. Antes de avançar, confirme que o comando iniciou sem erro e dê tempo para o aluno acompanhar a mesma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comando completo, execute uma linha por vez quando houver mais de uma e mantenha o terminal visível.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“Demonstração — observe”.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01:10]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Enquanto a execução acontece, não olhe apenas para a mensagem final. Observe manifest baseline preservado, Mudança sintética isolada e Seleção e defer comparados. Cada sinal responde a uma pergunta diferente sobre o pipeline. Se um deles divergir, interrompa a demonstração e investigue; o objetivo do hands-on é produzir evidência, não apenas chegar rapidamente a uma tela verde.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Marque cada observação quando ela aparecer no terminal ou no artifact correspondente.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“RESULTADO ESPERADO”.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ponto de parada da demonstração: Somente o ramo afetado é selecionado. Esse resultado confirma que a etapa executada produziu a evidência esperada para o checkpoint 09. Se o valor, o status ou o artifact estiver diferente, não trate a divergência como detalhe de ambiente. Use o diagnóstico do curso e só avance quando a causa estiver compreendida.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Compare o resultado do terminal com a frase central do slide e registre a evidência antes de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“O mesmo recurso afeta três decisões”.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Antes de seguir, conecte a técnica às decisões que ela afeta: Governança: impacto visível, FinOps: menos recomputação e IA: artifacts atualizados. Governança define responsabilidade e consistência; FinOps pergunta quanto trabalho estamos repetindo; e IA depende do contexto que decidimos expor. A mesma implementação pode melhorar os três eixos, mas os ganhos devem ser medidos separadamente.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Percorra os três eixos e evite apresentar economia ou acurácia como consequência automática.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“modified+”.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Aqui temos modified+: mudança e descendentes. O número ajuda a dimensionar o exemplo, mas precisa ser lido com a ressalva correta. A economia depende do tamanho e da topologia do projeto. Use o case como evidência contextual e não como promessa de que outro projeto repetirá o mesmo resultado sem as mesmas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Apresente primeiro o número, depois a definição e termine obrigatoriamente com a ressalva.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“Limitações que precisam permanecer visíveis”.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01:00]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Também precisamos declarar os limites da recomendação. Neste cenário, considere estado velho seleciona errado, Defer pode esconder divergência e Full build continua necessário. Esses pontos não anulam a técnica; eles delimitam onde a demonstração é válida e quais condições precisam ser verificadas antes de levar o padrão para produção. Tratar limites como parte do design evita transformar uma boa prática em regra universal.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Leia os limites com o mesmo peso dado aos benefícios e diferencie restrição do laboratório de restrição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“RADAR”.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00:55]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Este é o nosso Radar: dbt State gerenciado permanece fora; artifacts abertos sustentam a aula. A intenção é mostrar a direção da ferramenta sem misturar preview com o caminho suportado da aula. Novidade observada não é recomendação de produção. Para adotar qualquer recurso futuro, confirme maturidade, adaptador, documentação e impacto sobre o projeto antes de alterar o baseline estável.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Reforce visualmente a regra do rodapé e não execute comandos beta ou preview como parte obrigatória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Com esse ponto estabelecido, avance para “PRÓXIMO PASSO”.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[Roteiro recomendado]</a:t>
            </a:r>
          </a:p>
          <a:p xmlns:a="http://schemas.openxmlformats.org/drawingml/2006/main">
            <a:r>
              <a:t>[Tempo sugerido: 00:40]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</a:t>
            </a:r>
          </a:p>
          <a:p xmlns:a="http://schemas.openxmlformats.org/drawingml/2006/main">
            <a:r>
              <a:t>Salve um manifest e compare a seleção antes e depois de uma mudança. Faça essa etapa antes de seguir para o próximo episódio, porque o curso é cumulativo e o checkpoint atual se torna a base da aula seguinte. Se houver divergência, use o relatório de suporte e registre o que foi observado. O objetivo é avançar com um estado conhecido e reproduzível, não apenas assistir ao conteúdo.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que destacar:</a:t>
            </a:r>
          </a:p>
          <a:p xmlns:a="http://schemas.openxmlformats.org/drawingml/2006/main">
            <a:r>
              <a:t>- Mostre o checkpoint e indique no repositório onde ficam o roteiro, os comandos e as referências da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Transição:</a:t>
            </a:r>
          </a:p>
          <a:p xmlns:a="http://schemas.openxmlformats.org/drawingml/2006/main">
            <a:r>
              <a:t>Encerre retomando a pergunta inicial e confirme que o aluno sabe qual ação executar depois do episódio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https://docs.getdbt.com/reference/node-selection/defer</a:t>
            </a:r>
          </a:p>
          <a:p xmlns:a="http://schemas.openxmlformats.org/drawingml/2006/main">
            <a:r>
              <a:t>- https://docs.getdbt.com/reference/node-selection/methods#the-state-method</a:t>
            </a:r>
          </a:p>
          <a:p xmlns:a="http://schemas.openxmlformats.org/drawingml/2006/main">
            <a:r>
              <a:t>- https://github.com/AnselmoBorges/dbt-moderno-na-pratica/blob/main/roteiros/09-ci-state-defer.md</a:t>
            </a:r>
          </a:p>
          <a:p xmlns:a="http://schemas.openxmlformats.org/drawingml/2006/main">
            <a:r>
              <a:t>- repo://laboratorio/checkpoints/ep09</a:t>
            </a:r>
          </a:p>
          <a:p xmlns:a="http://schemas.openxmlformats.org/drawingml/2006/main">
            <a:r>
              <a:t>- repo://assets/catalog.yml</a:t>
            </a:r>
          </a:p>
          <a:p xmlns:a="http://schemas.openxmlformats.org/drawingml/2006/main">
            <a:r>
              <a:t>- repo://assets/decks/provenance.yml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74cf5b2c741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c40bf040c243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29f0b925cd48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Rescue Point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Rescue Point Ligh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8c0fc92b04661" /><Relationship Type="http://schemas.openxmlformats.org/officeDocument/2006/relationships/slideLayout" Target="/ppt/slideLayouts/slideLayout1.xml" Id="Rfde14aa5a8c346c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fd7084c373c4746" /><Relationship Type="http://schemas.openxmlformats.org/officeDocument/2006/relationships/slideLayout" Target="/ppt/slideLayouts/slideLayout2.xml" Id="R869dc4442d154b83" /><Relationship Type="http://schemas.openxmlformats.org/officeDocument/2006/relationships/slideLayout" Target="/ppt/slideLayouts/slideLayout3.xml" Id="R28d12694515f48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e14aa5a8c346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Rescue Point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869dc4442d154b83"/>
    <p:sldLayoutId xmlns:r="http://schemas.openxmlformats.org/officeDocument/2006/relationships" id="2147483652" r:id="R28d12694515f487d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465d6df45b4c85" /><Relationship Type="http://schemas.openxmlformats.org/officeDocument/2006/relationships/image" Target="/ppt/media/image.jpeg" Id="R4931475c34e74e9c" /><Relationship Type="http://schemas.openxmlformats.org/officeDocument/2006/relationships/notesSlide" Target="/ppt/notesSlides/notesSlide1.xml" Id="R9ecaba6c28ee44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3c6bc4fce44f80" /><Relationship Type="http://schemas.openxmlformats.org/officeDocument/2006/relationships/image" Target="/ppt/media/image.png" Id="R0830353b45d14b6e" /><Relationship Type="http://schemas.openxmlformats.org/officeDocument/2006/relationships/notesSlide" Target="/ppt/notesSlides/notesSlide2.xml" Id="R8c62d37827324c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ea04f66a264d4c" /><Relationship Type="http://schemas.openxmlformats.org/officeDocument/2006/relationships/notesSlide" Target="/ppt/notesSlides/notesSlide3.xml" Id="Ra49f9c9d080a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825a60eb804b1b" /><Relationship Type="http://schemas.openxmlformats.org/officeDocument/2006/relationships/notesSlide" Target="/ppt/notesSlides/notesSlide4.xml" Id="R0d378488bbeb48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c0ca6abb32d475b" /><Relationship Type="http://schemas.openxmlformats.org/officeDocument/2006/relationships/notesSlide" Target="/ppt/notesSlides/notesSlide5.xml" Id="R1ba8fbbc34b54e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e7f6eaebba4d1d" /><Relationship Type="http://schemas.openxmlformats.org/officeDocument/2006/relationships/notesSlide" Target="/ppt/notesSlides/notesSlide6.xml" Id="Rb20a426e04f845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ac51d031741b3" /><Relationship Type="http://schemas.openxmlformats.org/officeDocument/2006/relationships/notesSlide" Target="/ppt/notesSlides/notesSlide7.xml" Id="Rcdfbc59e9c8149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91287b70a64d3d" /><Relationship Type="http://schemas.openxmlformats.org/officeDocument/2006/relationships/notesSlide" Target="/ppt/notesSlides/notesSlide8.xml" Id="R7ac3562b7814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bc1a3b45034d0d" /><Relationship Type="http://schemas.openxmlformats.org/officeDocument/2006/relationships/notesSlide" Target="/ppt/notesSlides/notesSlide9.xml" Id="R4699cf91fbaa48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61d6f327774056" /><Relationship Type="http://schemas.openxmlformats.org/officeDocument/2006/relationships/image" Target="/ppt/media/image2.png" Id="Rb46546c42ecd4b6d" /><Relationship Type="http://schemas.openxmlformats.org/officeDocument/2006/relationships/notesSlide" Target="/ppt/notesSlides/notesSlide10.xml" Id="R87317941717346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710fa29db644bb" /><Relationship Type="http://schemas.openxmlformats.org/officeDocument/2006/relationships/notesSlide" Target="/ppt/notesSlides/notesSlide11.xml" Id="Rae75a91df4644f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55ea3761f7414e" /><Relationship Type="http://schemas.openxmlformats.org/officeDocument/2006/relationships/notesSlide" Target="/ppt/notesSlides/notesSlide12.xml" Id="Rd09886cadf4044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f7ac4d8a8470a" /><Relationship Type="http://schemas.openxmlformats.org/officeDocument/2006/relationships/notesSlide" Target="/ppt/notesSlides/notesSlide13.xml" Id="R44589c87709649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d95f2a9d094f09" /><Relationship Type="http://schemas.openxmlformats.org/officeDocument/2006/relationships/notesSlide" Target="/ppt/notesSlides/notesSlide14.xml" Id="R5669a2af3d344a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7effc0341b4efc" /><Relationship Type="http://schemas.openxmlformats.org/officeDocument/2006/relationships/notesSlide" Target="/ppt/notesSlides/notesSlide15.xml" Id="Re9b9c543dc544a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75173feb074194" /><Relationship Type="http://schemas.openxmlformats.org/officeDocument/2006/relationships/notesSlide" Target="/ppt/notesSlides/notesSlide16.xml" Id="R14fcb261147140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0a0fb591a042dd" /><Relationship Type="http://schemas.openxmlformats.org/officeDocument/2006/relationships/notesSlide" Target="/ppt/notesSlides/notesSlide17.xml" Id="R1447d0ad0cdc41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f37c66933c4d9b" /><Relationship Type="http://schemas.openxmlformats.org/officeDocument/2006/relationships/notesSlide" Target="/ppt/notesSlides/notesSlide18.xml" Id="Rdef425ad5d2141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e8e3298dd04587" /><Relationship Type="http://schemas.openxmlformats.org/officeDocument/2006/relationships/notesSlide" Target="/ppt/notesSlides/notesSlide19.xml" Id="R7ba0121923f142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750bdf1f8b04f08" /><Relationship Type="http://schemas.openxmlformats.org/officeDocument/2006/relationships/notesSlide" Target="/ppt/notesSlides/notesSlide20.xml" Id="R7f5d3a46af88400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 descr="Ilustração conceitual autoral da capa: EPISÓDIO 9 — CI inteligente com artifacts, state e defe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1475c34e74e9c"/>
          <a:srcRect xmlns:a="http://schemas.openxmlformats.org/drawingml/2006/main" l="19785" t="0" r="197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ext-surface">
            <a:extLst xmlns:a="http://schemas.openxmlformats.org/drawingml/2006/main">
              <a:ext uri="{FF2B5EF4-FFF2-40B4-BE49-F238E27FC236}">
                <a16:creationId xmlns:a16="http://schemas.microsoft.com/office/drawing/2014/main" id="{7D4E95FA-5A42-4C32-8A6B-170DAA42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3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E"/>
          </a:solidFill>
          <a:ln xmlns:a="http://schemas.openxmlformats.org/drawingml/2006/main" w="0">
            <a:solidFill>
              <a:srgbClr val="06142E"/>
            </a:solidFill>
            <a:prstDash val="solid"/>
          </a:ln>
        </p:spPr>
      </p:sp>
      <p:sp>
        <p:nvSpPr>
          <p:cNvPr id="3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9EF9D1F6-E7CB-48C7-8CD2-4E600A4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4295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4" name="cover-episode">
            <a:extLst xmlns:a="http://schemas.openxmlformats.org/drawingml/2006/main">
              <a:ext uri="{FF2B5EF4-FFF2-40B4-BE49-F238E27FC236}">
                <a16:creationId xmlns:a16="http://schemas.microsoft.com/office/drawing/2014/main" id="{5650F32D-D207-4EB2-BF26-99E212F5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EPISÓDIO 9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6612A4-CCDA-42A4-ABA1-F6D2AFD0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CI inteligente com artifacts, state e defer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B876D1-10BC-413F-B513-20009540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Teste o impacto necessário sem reconstruir o mundo</a:t>
            </a:r>
          </a:p>
        </p:txBody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2212FCB-BA3A-40A6-9E60-3E8A6974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C5FF"/>
            </a:solidFill>
            <a:prstDash val="solid"/>
          </a:ln>
        </p:spPr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842DCDB0-8266-4D10-BE0A-8382815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>
                    <a:alpha val="66667"/>
                  </a:srgbClr>
                </a:solidFill>
              </a:defRPr>
            </a:pPr>
            <a:r>
              <a:rPr sz="1200" b="1">
                <a:solidFill>
                  <a:srgbClr val="FFFFFF">
                    <a:alpha val="66667"/>
                  </a:srgbClr>
                </a:solidFill>
              </a:rPr>
              <a:t>Checkpoint 09 • DuckDB local • sem cloud</a:t>
            </a:r>
          </a:p>
        </p:txBody>
      </p:sp>
    </p:spTree>
    <p:extLst>
      <p:ext uri="{BB962C8B-B14F-4D97-AF65-F5344CB8AC3E}">
        <p14:creationId xmlns:p14="http://schemas.microsoft.com/office/powerpoint/2010/main" val="845755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ook">
            <a:extLst xmlns:a="http://schemas.openxmlformats.org/drawingml/2006/main">
              <a:ext uri="{FF2B5EF4-FFF2-40B4-BE49-F238E27FC236}">
                <a16:creationId xmlns:a16="http://schemas.microsoft.com/office/drawing/2014/main" id="{9EAA4BEC-14D5-4EA5-A813-C1F7032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CI rápida não significa selecionar menos; significa selecionar o impacto correto.</a:t>
            </a:r>
          </a:p>
        </p:txBody>
      </p:sp>
      <p:sp>
        <p:nvSpPr>
          <p:cNvPr id="2" name="hook-rule">
            <a:extLst xmlns:a="http://schemas.openxmlformats.org/drawingml/2006/main">
              <a:ext uri="{FF2B5EF4-FFF2-40B4-BE49-F238E27FC236}">
                <a16:creationId xmlns:a16="http://schemas.microsoft.com/office/drawing/2014/main" id="{DF380909-6C73-4510-BD10-EEACA19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565C0"/>
            </a:solidFill>
            <a:prstDash val="solid"/>
          </a:ln>
        </p:spPr>
      </p:sp>
      <p:sp>
        <p:nvSpPr>
          <p:cNvPr id="3" name="hook-label">
            <a:extLst xmlns:a="http://schemas.openxmlformats.org/drawingml/2006/main">
              <a:ext uri="{FF2B5EF4-FFF2-40B4-BE49-F238E27FC236}">
                <a16:creationId xmlns:a16="http://schemas.microsoft.com/office/drawing/2014/main" id="{DC41801F-2875-4259-8FE9-BBE1B5D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65C0"/>
                </a:solidFill>
              </a:defRPr>
            </a:pPr>
            <a:r>
              <a:rPr sz="1425" b="1">
                <a:solidFill>
                  <a:srgbClr val="1565C0"/>
                </a:solidFill>
              </a:rPr>
              <a:t>A pergunta que guia a aula</a:t>
            </a:r>
          </a:p>
        </p:txBody>
      </p:sp>
      <p:sp>
        <p:nvSpPr>
          <p:cNvPr id="4" name="diagram-surface">
            <a:extLst xmlns:a="http://schemas.openxmlformats.org/drawingml/2006/main">
              <a:ext uri="{FF2B5EF4-FFF2-40B4-BE49-F238E27FC236}">
                <a16:creationId xmlns:a16="http://schemas.microsoft.com/office/drawing/2014/main" id="{D889389E-9166-414B-B564-82F30E13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7EA"/>
            </a:solidFill>
            <a:prstDash val="solid"/>
          </a:ln>
        </p:spPr>
      </p:sp>
      <p:pic>
        <p:nvPicPr>
          <p:cNvPr id="16" name="" descr="Diagrama didático autoral que apresenta: CI rápida não significa selecionar menos; significa selecionar o impacto correto. — A pergunta que guia a aula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0353b45d14b6e"/>
          <a:stretch xmlns:a="http://schemas.openxmlformats.org/drawingml/2006/main"/>
        </p:blipFill>
        <p:spPr>
          <a:xfrm xmlns:a="http://schemas.openxmlformats.org/drawingml/2006/main">
            <a:off x="3108960" y="3790950"/>
            <a:ext cx="5974080" cy="1562100"/>
          </a:xfrm>
          <a:prstGeom xmlns:a="http://schemas.openxmlformats.org/drawingml/2006/main" prst="rect">
            <a:avLst/>
          </a:prstGeom>
        </p:spPr>
      </p:pic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E5A7BBD-0580-4D52-BBAF-AF965A6E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F2D8B1-6979-4C7F-B53D-23A0A3A9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9F630ED-1CE7-4C17-9962-C279C8CE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62E892-993C-4026-AD24-15B31A1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2/20</a:t>
            </a:r>
          </a:p>
        </p:txBody>
      </p:sp>
    </p:spTree>
    <p:extLst>
      <p:ext uri="{BB962C8B-B14F-4D97-AF65-F5344CB8AC3E}">
        <p14:creationId xmlns:p14="http://schemas.microsoft.com/office/powerpoint/2010/main" val="201741999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FA1711-D845-4EEB-9E6B-C727465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Ao final, você consegue...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8DFF8C10-8B08-4239-BFC9-DB41CB8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1A332FC-E263-4464-98BE-7D4EEEB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Comparar manifests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6F4D3917-E423-4338-B449-1A5105FD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2BA3AA17-909E-480D-84A9-CA2741A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D1A5FE3C-FF7E-4B26-88BE-E15B68B2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Selecionar modified+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D033A3C1-17E9-44F9-93D0-7B61541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C5FF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42919279-DCFA-4D0E-9EDA-2877689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EC5FF"/>
                </a:solidFill>
              </a:defRPr>
            </a:pPr>
            <a:r>
              <a:rPr sz="34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4A704E7-143A-4DE0-B233-879DF7F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Usar defer com clareza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C9A69C2-99A5-4D35-B994-F08B184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1217D6-ACE0-4555-8443-1430EC4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E270D60-6DF9-49B6-8577-A811824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E7B65C-3E5C-4E04-AEC5-970E6B1D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3/20</a:t>
            </a:r>
          </a:p>
        </p:txBody>
      </p:sp>
    </p:spTree>
    <p:extLst>
      <p:ext uri="{BB962C8B-B14F-4D97-AF65-F5344CB8AC3E}">
        <p14:creationId xmlns:p14="http://schemas.microsoft.com/office/powerpoint/2010/main" val="520098986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F2BD00-F6EF-4FEE-B794-31B7A0B7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Artifact não é lixo de build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C2CD6E-4615-4CD7-8A87-B4C74390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O manifest anterior é a referência que permite calcular mudança.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B4199F1C-56C2-4F63-A330-0A63574D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Estado anterior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Estado atual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Diff de recursos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27966ED-149E-4FCA-A8D9-5C8F583A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AD104DE5-6694-4517-B5F3-AC241FB2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03036AC-967E-4D11-A000-2D8565D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01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C115C495-05B1-4CD8-ADCD-2DCF1889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E9CEC8-ED14-4B9F-A24C-60E494DF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9BE1E17-04F4-4A7E-AC68-6238C32C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CF99CF-183F-4C08-BEC2-1E07A375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4/20</a:t>
            </a:r>
          </a:p>
        </p:txBody>
      </p:sp>
    </p:spTree>
    <p:extLst>
      <p:ext uri="{BB962C8B-B14F-4D97-AF65-F5344CB8AC3E}">
        <p14:creationId xmlns:p14="http://schemas.microsoft.com/office/powerpoint/2010/main" val="806881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E7693B-9BD1-478C-952D-56F0A2B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state:modified encontra a mudança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06F306-C5AD-416A-A8C2-26C6866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O sufixo + inclui descendentes que podem ser afetados.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E58A4C78-A9B7-4969-B189-B07F362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Modelo editado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Testes associados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Consumidores descendentes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EA3056DA-8BEF-4E49-9DEF-A5374BC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59504E62-56E5-4AD4-A446-B72D781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4DE5E78-3020-4129-A828-63E4ECA5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60DC2A93-5744-4AFD-ADE9-AE11734C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BDA4931-C705-4466-9C2F-67B9C5A1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9B44B242-5CF4-4544-8753-ED515A6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EA2418-CA5E-4C02-8228-C627FAC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5/20</a:t>
            </a:r>
          </a:p>
        </p:txBody>
      </p:sp>
    </p:spTree>
    <p:extLst>
      <p:ext uri="{BB962C8B-B14F-4D97-AF65-F5344CB8AC3E}">
        <p14:creationId xmlns:p14="http://schemas.microsoft.com/office/powerpoint/2010/main" val="155816855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B82620-D839-4417-962F-8C2FD7C5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state:modified encontra a mudança</a:t>
            </a:r>
          </a:p>
        </p:txBody>
      </p:sp>
      <p:sp>
        <p:nvSpPr>
          <p:cNvPr id="2" name="flow-1">
            <a:extLst xmlns:a="http://schemas.openxmlformats.org/drawingml/2006/main">
              <a:ext uri="{FF2B5EF4-FFF2-40B4-BE49-F238E27FC236}">
                <a16:creationId xmlns:a16="http://schemas.microsoft.com/office/drawing/2014/main" id="{F14AF267-4CCF-4DD2-B2C5-D39AB319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Mudou</a:t>
            </a:r>
          </a:p>
        </p:txBody>
      </p:sp>
      <p:sp>
        <p:nvSpPr>
          <p:cNvPr id="3" name="flow-2">
            <a:extLst xmlns:a="http://schemas.openxmlformats.org/drawingml/2006/main">
              <a:ext uri="{FF2B5EF4-FFF2-40B4-BE49-F238E27FC236}">
                <a16:creationId xmlns:a16="http://schemas.microsoft.com/office/drawing/2014/main" id="{347C43E8-7919-443A-98EC-B2B36BD9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Filhos</a:t>
            </a:r>
          </a:p>
        </p:txBody>
      </p:sp>
      <p:sp>
        <p:nvSpPr>
          <p:cNvPr id="4" name="flow-3">
            <a:extLst xmlns:a="http://schemas.openxmlformats.org/drawingml/2006/main">
              <a:ext uri="{FF2B5EF4-FFF2-40B4-BE49-F238E27FC236}">
                <a16:creationId xmlns:a16="http://schemas.microsoft.com/office/drawing/2014/main" id="{26198295-969E-41B9-9467-2364124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Testes</a:t>
            </a:r>
          </a:p>
        </p:txBody>
      </p:sp>
      <p:sp>
        <p:nvSpPr>
          <p:cNvPr id="5" name="flow-4">
            <a:extLst xmlns:a="http://schemas.openxmlformats.org/drawingml/2006/main">
              <a:ext uri="{FF2B5EF4-FFF2-40B4-BE49-F238E27FC236}">
                <a16:creationId xmlns:a16="http://schemas.microsoft.com/office/drawing/2014/main" id="{5EC59CFE-34B7-4DCC-8143-B633781A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3429000"/>
            <a:ext cx="2443163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3260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Exposures</a:t>
            </a:r>
          </a:p>
        </p:txBody>
      </p:sp>
      <p:cxnSp>
        <p:nvCxnSpPr>
          <p:cNvPr id="26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252788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962651" y="3962400"/>
            <a:ext cx="26669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672513" y="39624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C5FF"/>
            </a:solidFill>
            <a:prstDash val="solid"/>
            <a:headEnd type="arrow" w="med" len="med"/>
          </a:ln>
        </p:spPr>
      </p:cxnSp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9F97F57-6B83-4B36-8CF6-63F38143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A10ABF4-00E9-41CA-B067-84BBE3F1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2A1076F-3FD8-45FB-B1E1-A79B8721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B2D6637-BCD5-4023-8364-4541916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6/20</a:t>
            </a:r>
          </a:p>
        </p:txBody>
      </p:sp>
    </p:spTree>
    <p:extLst>
      <p:ext uri="{BB962C8B-B14F-4D97-AF65-F5344CB8AC3E}">
        <p14:creationId xmlns:p14="http://schemas.microsoft.com/office/powerpoint/2010/main" val="210279197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47070-69ED-443A-AA40-A89ABC21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Seleção mínima ingênua perde risco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02464E-5C61-48DE-A602-F253945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Testar apenas o arquivo alterado pode ignorar contratos e consumidores.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A2A00ED6-C568-450B-A9F2-9ADF5EF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Impacto no DAG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Testes indiretos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Dependências públicas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5A16B45D-EBD7-4432-A550-51660BDA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6B2713AE-C297-45CB-8EFD-A7007A68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E1FEDDD-9C18-4A32-9890-256612B2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03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FC50BFC2-4A9D-4ADF-8E95-876FC00C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2D6AB4E-E423-4E8C-9617-1AB4B85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A288940-A9DE-4808-AD22-8CAF97B6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9F5833-BA55-4E22-AE2A-BA071745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7/20</a:t>
            </a:r>
          </a:p>
        </p:txBody>
      </p:sp>
    </p:spTree>
    <p:extLst>
      <p:ext uri="{BB962C8B-B14F-4D97-AF65-F5344CB8AC3E}">
        <p14:creationId xmlns:p14="http://schemas.microsoft.com/office/powerpoint/2010/main" val="7192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C9A645-7DAA-4032-A4FE-2F4D4A8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Seleção mínima ingênua perde risco</a:t>
            </a:r>
          </a:p>
        </p:txBody>
      </p:sp>
      <p:sp>
        <p:nvSpPr>
          <p:cNvPr id="2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F450DDEE-D3D9-43FE-BC14-FD8DEB09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Arquivo</a:t>
            </a:r>
          </a:p>
        </p:txBody>
      </p:sp>
      <p:sp>
        <p:nvSpPr>
          <p:cNvPr id="3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82176D22-B9D4-4264-B2F7-C7C0CF46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565C0"/>
                </a:solidFill>
              </a:defRPr>
            </a:pPr>
            <a:r>
              <a:rPr sz="2100" b="1">
                <a:solidFill>
                  <a:srgbClr val="1565C0"/>
                </a:solidFill>
              </a:rPr>
              <a:t>Impacto</a:t>
            </a:r>
          </a:p>
        </p:txBody>
      </p:sp>
      <p:sp>
        <p:nvSpPr>
          <p:cNvPr id="4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26A8B50D-95AB-4C39-A943-52271A62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0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7EA"/>
            </a:solidFill>
            <a:prstDash val="solid"/>
          </a:ln>
        </p:spPr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180A70F2-0373-48D8-9AA5-CE5314AC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Impacto no DAG</a:t>
            </a:r>
          </a:p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Testes indiretos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2167E8F6-4B1E-4AF7-8AB3-EED3B91F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24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B1F3A"/>
                </a:solidFill>
              </a:defRPr>
            </a:pPr>
            <a:r>
              <a:rPr sz="1650">
                <a:solidFill>
                  <a:srgbClr val="0B1F3A"/>
                </a:solidFill>
              </a:rPr>
              <a:t>• Dependências públicas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B9C5F443-3C6F-4422-B4F8-7CB5E29A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4810302-4D13-4F28-B639-09CEC3C9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84580C9-26FB-4973-A9CB-B0B89F1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26EC25-5C23-4C7B-8E42-88ED5E8E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8/20</a:t>
            </a:r>
          </a:p>
        </p:txBody>
      </p:sp>
    </p:spTree>
    <p:extLst>
      <p:ext uri="{BB962C8B-B14F-4D97-AF65-F5344CB8AC3E}">
        <p14:creationId xmlns:p14="http://schemas.microsoft.com/office/powerpoint/2010/main" val="133380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38340B-0D4E-4805-BA07-7E5703B5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Defer reutiliza relações de outro estado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16855B-CC63-445C-A9A2-4CF928CB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C6F86"/>
                </a:solidFill>
              </a:defRPr>
            </a:pPr>
            <a:r>
              <a:rPr sz="1650">
                <a:solidFill>
                  <a:srgbClr val="5C6F86"/>
                </a:solidFill>
              </a:rPr>
              <a:t>Modelos não construídos localmente podem apontar para produção ou staging.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7B8D623C-58F1-49CC-8064-BE246D87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Resolve refs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Evita recomputação</a:t>
            </a:r>
          </a:p>
          <a:p xmlns:a="http://schemas.openxmlformats.org/drawingml/2006/main">
            <a:pPr>
              <a:buNone/>
              <a:defRPr sz="1800">
                <a:solidFill>
                  <a:srgbClr val="0B1F3A"/>
                </a:solidFill>
              </a:defRPr>
            </a:pPr>
            <a:r>
              <a:rPr sz="1800">
                <a:solidFill>
                  <a:srgbClr val="0B1F3A"/>
                </a:solidFill>
              </a:rPr>
              <a:t>• Exige estado confiável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627FC0E6-F590-4AC8-B50B-17107C7B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A5247DE-8AB4-4534-8D08-80F2639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96C5784-ABF9-4154-A00E-4B19C2D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565C0"/>
                </a:solidFill>
              </a:defRPr>
            </a:pPr>
            <a:r>
              <a:rPr sz="4650" b="1">
                <a:solidFill>
                  <a:srgbClr val="1565C0"/>
                </a:solidFill>
              </a:rPr>
              <a:t>04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4514614-B9F4-4E53-B881-3745730A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54F1968-1ECD-4450-A1CB-84F06FAF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0D6C530-11DE-45AA-BFA0-420132B4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9A6D20-AA58-42CB-BAAA-51D55F52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9/20</a:t>
            </a:r>
          </a:p>
        </p:txBody>
      </p:sp>
    </p:spTree>
    <p:extLst>
      <p:ext uri="{BB962C8B-B14F-4D97-AF65-F5344CB8AC3E}">
        <p14:creationId xmlns:p14="http://schemas.microsoft.com/office/powerpoint/2010/main" val="9355853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5F67C4-7AF6-487E-8A44-FEF718D1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Defer reutiliza relações de outro estado</a:t>
            </a:r>
          </a:p>
        </p:txBody>
      </p:sp>
      <p:sp>
        <p:nvSpPr>
          <p:cNvPr id="2" name="visual-claim">
            <a:extLst xmlns:a="http://schemas.openxmlformats.org/drawingml/2006/main">
              <a:ext uri="{FF2B5EF4-FFF2-40B4-BE49-F238E27FC236}">
                <a16:creationId xmlns:a16="http://schemas.microsoft.com/office/drawing/2014/main" id="{7ED55796-7D89-4FDA-950F-F451D45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Modelos não construídos localmente podem apontar para produção ou staging.</a:t>
            </a:r>
          </a:p>
        </p:txBody>
      </p:sp>
      <p:sp>
        <p:nvSpPr>
          <p:cNvPr id="3" name="image-surface">
            <a:extLst xmlns:a="http://schemas.openxmlformats.org/drawingml/2006/main">
              <a:ext uri="{FF2B5EF4-FFF2-40B4-BE49-F238E27FC236}">
                <a16:creationId xmlns:a16="http://schemas.microsoft.com/office/drawing/2014/main" id="{C26ED348-A57F-48D4-BB0B-2EA529F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00200"/>
            <a:ext cx="6362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pic>
        <p:nvPicPr>
          <p:cNvPr id="15" name="" descr="Figura oficial da documentação dbt usada para explicar: Defer reutiliza relações de outro estado — Modelos não construídos localmente podem apontar para produção ou staging.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546c42ecd4b6d"/>
          <a:stretch xmlns:a="http://schemas.openxmlformats.org/drawingml/2006/main"/>
        </p:blipFill>
        <p:spPr>
          <a:xfrm xmlns:a="http://schemas.openxmlformats.org/drawingml/2006/main">
            <a:off x="7149489" y="1809750"/>
            <a:ext cx="2350721" cy="3333750"/>
          </a:xfrm>
          <a:prstGeom xmlns:a="http://schemas.openxmlformats.org/drawingml/2006/main" prst="rect">
            <a:avLst/>
          </a:prstGeom>
        </p:spPr>
      </p:pic>
      <p:sp>
        <p:nvSpPr>
          <p:cNvPr id="5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13E77BBD-9865-4F05-A8B9-339658F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i="1">
                <a:solidFill>
                  <a:srgbClr val="5C6F86"/>
                </a:solidFill>
              </a:defRPr>
            </a:pPr>
            <a:r>
              <a:rPr sz="900" i="1">
                <a:solidFill>
                  <a:srgbClr val="5C6F86"/>
                </a:solidFill>
              </a:rPr>
              <a:t>Figura oficial da documentação dbt — Apache 2.0</a:t>
            </a:r>
          </a:p>
        </p:txBody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1D06DEA-CF45-412B-9C60-9FB8ACB5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DDE901-491A-4E02-8A30-94A6783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34B0CAA-16E8-4733-A1D6-5E5FD3DE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BF199F-F0CF-4E53-9D38-6F234A2D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10/20</a:t>
            </a:r>
          </a:p>
        </p:txBody>
      </p:sp>
    </p:spTree>
    <p:extLst>
      <p:ext uri="{BB962C8B-B14F-4D97-AF65-F5344CB8AC3E}">
        <p14:creationId xmlns:p14="http://schemas.microsoft.com/office/powerpoint/2010/main" val="106177573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327F9D-D605-463A-859B-A268E9F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CI madura tem três níveis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D135551-D723-45B0-BABF-71CFA8C1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Parse barato, seleção por impacto e validação completa cumprem papéis diferentes.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D9A2686D-AC11-41DA-8CB5-DE92D9A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PR rápido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Gate de integração</a:t>
            </a:r>
          </a:p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• Build completo programado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6B49B11-5641-40A2-A2E0-4572E0FA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46166C8-F77B-4956-9086-BB4D35A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24BCA22-9F29-4F9E-AFB8-A8A810D6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1EC5FF"/>
                </a:solidFill>
              </a:defRPr>
            </a:pPr>
            <a:r>
              <a:rPr sz="4650" b="1">
                <a:solidFill>
                  <a:srgbClr val="1EC5FF"/>
                </a:solidFill>
              </a:rPr>
              <a:t>05</a:t>
            </a:r>
          </a:p>
        </p:txBody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9C3F52C2-4065-4788-879A-687B58C5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73A9BD-0318-4C40-B45D-0CC2F22A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D697DF3-1A8E-4C4C-8E9C-AABAC782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DF1F4F-07EF-4BC5-9B44-4DC4D6B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11/20</a:t>
            </a:r>
          </a:p>
        </p:txBody>
      </p:sp>
    </p:spTree>
    <p:extLst>
      <p:ext uri="{BB962C8B-B14F-4D97-AF65-F5344CB8AC3E}">
        <p14:creationId xmlns:p14="http://schemas.microsoft.com/office/powerpoint/2010/main" val="15654099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C8CB2E-F620-4FA4-A0B1-BE5F4B03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CI madura tem três níveis</a:t>
            </a:r>
          </a:p>
        </p:txBody>
      </p:sp>
      <p:sp>
        <p:nvSpPr>
          <p:cNvPr id="2" name="layer-1">
            <a:extLst xmlns:a="http://schemas.openxmlformats.org/drawingml/2006/main">
              <a:ext uri="{FF2B5EF4-FFF2-40B4-BE49-F238E27FC236}">
                <a16:creationId xmlns:a16="http://schemas.microsoft.com/office/drawing/2014/main" id="{95CE90DC-2EA5-4477-955F-8AC19616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Parse</a:t>
            </a:r>
          </a:p>
        </p:txBody>
      </p:sp>
      <p:sp>
        <p:nvSpPr>
          <p:cNvPr id="3" name="layer-2">
            <a:extLst xmlns:a="http://schemas.openxmlformats.org/drawingml/2006/main">
              <a:ext uri="{FF2B5EF4-FFF2-40B4-BE49-F238E27FC236}">
                <a16:creationId xmlns:a16="http://schemas.microsoft.com/office/drawing/2014/main" id="{6D163A0D-3C86-487B-A2C6-CDBFE121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162425"/>
            <a:ext cx="7572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9E8FA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Modified+</a:t>
            </a:r>
          </a:p>
        </p:txBody>
      </p:sp>
      <p:sp>
        <p:nvSpPr>
          <p:cNvPr id="4" name="layer-3">
            <a:extLst xmlns:a="http://schemas.openxmlformats.org/drawingml/2006/main">
              <a:ext uri="{FF2B5EF4-FFF2-40B4-BE49-F238E27FC236}">
                <a16:creationId xmlns:a16="http://schemas.microsoft.com/office/drawing/2014/main" id="{EF21FDD5-1B63-49EA-A77E-3F0BFE46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14725"/>
            <a:ext cx="6572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Full build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23484B4A-4808-4662-9DC0-96783025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D131327-E6FB-41D6-924C-7698A71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1C2CE85-EF65-4A51-B12F-9925B87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B5A8AF-26B7-45A8-8343-F04ECE27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12/20</a:t>
            </a:r>
          </a:p>
        </p:txBody>
      </p:sp>
    </p:spTree>
    <p:extLst>
      <p:ext uri="{BB962C8B-B14F-4D97-AF65-F5344CB8AC3E}">
        <p14:creationId xmlns:p14="http://schemas.microsoft.com/office/powerpoint/2010/main" val="506617080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AB0085-A541-451C-827A-1E1320A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Demonstração — execute</a:t>
            </a:r>
          </a:p>
        </p:txBody>
      </p:sp>
      <p:sp>
        <p:nvSpPr>
          <p:cNvPr id="2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78677BDC-06C8-4859-BC51-717E823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971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21"/>
          </a:solidFill>
          <a:ln xmlns:a="http://schemas.openxmlformats.org/drawingml/2006/main" w="19050">
            <a:solidFill>
              <a:srgbClr val="1EC5FF"/>
            </a:solidFill>
            <a:prstDash val="solid"/>
          </a:ln>
        </p:spPr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24222308-9F77-48E7-B785-90756A3E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00375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EC5FF"/>
                </a:solidFill>
              </a:defRPr>
            </a:pPr>
            <a:r>
              <a:rPr sz="1875" b="1">
                <a:solidFill>
                  <a:srgbClr val="1EC5FF"/>
                </a:solidFill>
              </a:rPr>
              <a:t>python course.py checkpoint 09</a:t>
            </a:r>
          </a:p>
        </p:txBody>
      </p:sp>
      <p:sp>
        <p:nvSpPr>
          <p:cNvPr id="4" name="command-help">
            <a:extLst xmlns:a="http://schemas.openxmlformats.org/drawingml/2006/main">
              <a:ext uri="{FF2B5EF4-FFF2-40B4-BE49-F238E27FC236}">
                <a16:creationId xmlns:a16="http://schemas.microsoft.com/office/drawing/2014/main" id="{14B9A1EA-586B-4D71-B628-E120F538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E2F2FF"/>
                </a:solidFill>
              </a:defRPr>
            </a:pPr>
            <a:r>
              <a:rPr sz="1425">
                <a:solidFill>
                  <a:srgbClr val="E2F2FF"/>
                </a:solidFill>
              </a:rPr>
              <a:t>Copie exatamente como aparece. O launcher escolhe o ambiente correto.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8FB3C386-D6FD-4447-A851-C6F6804F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8B15E1-B3DA-4851-9BBC-C3E4246E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5C7B447-89D8-422A-AD0A-AD86B9AD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DC1C02-2B11-4A1B-A941-62D55690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13/20</a:t>
            </a:r>
          </a:p>
        </p:txBody>
      </p:sp>
    </p:spTree>
    <p:extLst>
      <p:ext uri="{BB962C8B-B14F-4D97-AF65-F5344CB8AC3E}">
        <p14:creationId xmlns:p14="http://schemas.microsoft.com/office/powerpoint/2010/main" val="14181704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DBD120-79E4-4DDB-921C-B0F80E8D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Demonstração — observe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2B8C583F-82DF-43C8-9F2E-3A59FC1A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D323A62C-E70D-4145-9E23-62E9CBCF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Manifest baseline preservado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88824DEB-CCF7-4AB6-B1AF-95E6E2D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0A8756AF-2596-4AEA-BF7D-AF29D3D2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4D4F91C-CC00-43F7-9A54-5001A9A7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Mudança sintética isolada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2CEC108A-9F5F-443D-946E-E725FC40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12E6B566-99C6-4A4B-8892-CAB56B5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D09CCEF-EEF7-4DBE-9BAD-5ECFF47E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Seleção e defer comparados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3A4ECD3-50A2-4F21-92AB-66194036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2AC0074-A31F-4425-8EE6-35DA6547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4B7B3B2-A81F-4223-92C1-6A5D83B3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7897AD-59EF-4E99-B31A-B6849088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14/20</a:t>
            </a:r>
          </a:p>
        </p:txBody>
      </p:sp>
    </p:spTree>
    <p:extLst>
      <p:ext uri="{BB962C8B-B14F-4D97-AF65-F5344CB8AC3E}">
        <p14:creationId xmlns:p14="http://schemas.microsoft.com/office/powerpoint/2010/main" val="1896166518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DA857BF-4D4B-498E-BC85-472C4CF8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EC5FF"/>
                </a:solidFill>
              </a:defRPr>
            </a:pPr>
            <a:r>
              <a:rPr sz="1350" b="1">
                <a:solidFill>
                  <a:srgbClr val="1EC5FF"/>
                </a:solidFill>
              </a:rPr>
              <a:t>RESULTADO ESPERADO</a:t>
            </a:r>
          </a:p>
        </p:txBody>
      </p:sp>
      <p:sp>
        <p:nvSpPr>
          <p:cNvPr id="2" name="result">
            <a:extLst xmlns:a="http://schemas.openxmlformats.org/drawingml/2006/main">
              <a:ext uri="{FF2B5EF4-FFF2-40B4-BE49-F238E27FC236}">
                <a16:creationId xmlns:a16="http://schemas.microsoft.com/office/drawing/2014/main" id="{42B4653C-7957-4163-B34A-85F8CB4C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Somente o ramo afetado é selecionado</a:t>
            </a:r>
          </a:p>
        </p:txBody>
      </p:sp>
      <p:sp>
        <p:nvSpPr>
          <p:cNvPr id="3" name="result-meta">
            <a:extLst xmlns:a="http://schemas.openxmlformats.org/drawingml/2006/main">
              <a:ext uri="{FF2B5EF4-FFF2-40B4-BE49-F238E27FC236}">
                <a16:creationId xmlns:a16="http://schemas.microsoft.com/office/drawing/2014/main" id="{D463C541-2DE8-48FC-BDF1-AD5E3AA3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E2F2FF"/>
                </a:solidFill>
              </a:defRPr>
            </a:pPr>
            <a:r>
              <a:rPr sz="1650">
                <a:solidFill>
                  <a:srgbClr val="E2F2FF"/>
                </a:solidFill>
              </a:rPr>
              <a:t>Checkpoint 09 • evidência reproduzível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D3F22457-8CC4-4EA6-97FC-2C04645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44E53C84-0F2F-4BE0-979A-0C0A1C6B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905B43A-86B6-4640-9BCA-D8DF991B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2CA3173-55AA-4FA9-A155-D04ED3C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6D29458-FF7C-4712-9630-59ACD1BE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2B02AC-ED4B-4FDA-8F17-BD1F0FF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15/20</a:t>
            </a:r>
          </a:p>
        </p:txBody>
      </p:sp>
    </p:spTree>
    <p:extLst>
      <p:ext uri="{BB962C8B-B14F-4D97-AF65-F5344CB8AC3E}">
        <p14:creationId xmlns:p14="http://schemas.microsoft.com/office/powerpoint/2010/main" val="9170378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3D7A4A-F510-46FD-9C5E-264365D7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O mesmo recurso afeta três decisões</a:t>
            </a:r>
          </a:p>
        </p:txBody>
      </p:sp>
      <p:sp>
        <p:nvSpPr>
          <p:cNvPr id="2" name="step-num-1">
            <a:extLst xmlns:a="http://schemas.openxmlformats.org/drawingml/2006/main">
              <a:ext uri="{FF2B5EF4-FFF2-40B4-BE49-F238E27FC236}">
                <a16:creationId xmlns:a16="http://schemas.microsoft.com/office/drawing/2014/main" id="{6F9B29FD-D130-43F2-8382-8EDD209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01</a:t>
            </a:r>
          </a:p>
        </p:txBody>
      </p:sp>
      <p:sp>
        <p:nvSpPr>
          <p:cNvPr id="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A49A547-3EF8-4FA8-8975-7656C8B5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Governança: impacto visível</a:t>
            </a:r>
          </a:p>
        </p:txBody>
      </p:sp>
      <p:sp>
        <p:nvSpPr>
          <p:cNvPr id="4" name="step-line-1">
            <a:extLst xmlns:a="http://schemas.openxmlformats.org/drawingml/2006/main">
              <a:ext uri="{FF2B5EF4-FFF2-40B4-BE49-F238E27FC236}">
                <a16:creationId xmlns:a16="http://schemas.microsoft.com/office/drawing/2014/main" id="{509B6122-7FEE-46CA-B262-B2B5ABB1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5" name="step-num-2">
            <a:extLst xmlns:a="http://schemas.openxmlformats.org/drawingml/2006/main">
              <a:ext uri="{FF2B5EF4-FFF2-40B4-BE49-F238E27FC236}">
                <a16:creationId xmlns:a16="http://schemas.microsoft.com/office/drawing/2014/main" id="{1F7BD6DC-C67A-4D1F-BBEE-7583938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02</a:t>
            </a:r>
          </a:p>
        </p:txBody>
      </p:sp>
      <p:sp>
        <p:nvSpPr>
          <p:cNvPr id="6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D77C34D3-66C6-4B0C-B3F7-3ED1B81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FinOps: menos recomputação</a:t>
            </a:r>
          </a:p>
        </p:txBody>
      </p:sp>
      <p:sp>
        <p:nvSpPr>
          <p:cNvPr id="7" name="step-line-2">
            <a:extLst xmlns:a="http://schemas.openxmlformats.org/drawingml/2006/main">
              <a:ext uri="{FF2B5EF4-FFF2-40B4-BE49-F238E27FC236}">
                <a16:creationId xmlns:a16="http://schemas.microsoft.com/office/drawing/2014/main" id="{B4269EA7-8FC2-4DAD-BF77-FB721B49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65C0"/>
            </a:solidFill>
            <a:prstDash val="solid"/>
          </a:ln>
        </p:spPr>
      </p:sp>
      <p:sp>
        <p:nvSpPr>
          <p:cNvPr id="8" name="step-num-3">
            <a:extLst xmlns:a="http://schemas.openxmlformats.org/drawingml/2006/main">
              <a:ext uri="{FF2B5EF4-FFF2-40B4-BE49-F238E27FC236}">
                <a16:creationId xmlns:a16="http://schemas.microsoft.com/office/drawing/2014/main" id="{FE548400-8D4F-482F-A285-22FDDA4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565C0"/>
                </a:solidFill>
              </a:defRPr>
            </a:pPr>
            <a:r>
              <a:rPr sz="3450" b="1">
                <a:solidFill>
                  <a:srgbClr val="1565C0"/>
                </a:solidFill>
              </a:rPr>
              <a:t>03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D6C3641-0988-4009-8238-4694D155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IA: artifacts atualizados</a:t>
            </a:r>
          </a:p>
        </p:txBody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661FEFA-CC17-479E-BF56-23B8020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B9ACC8-AAA2-4641-A81C-AE2F04B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E751184-FA24-4EC4-9661-BB8C49C0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E153E3-4950-4577-9B1B-BFEDA8B5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16/20</a:t>
            </a:r>
          </a:p>
        </p:txBody>
      </p:sp>
    </p:spTree>
    <p:extLst>
      <p:ext uri="{BB962C8B-B14F-4D97-AF65-F5344CB8AC3E}">
        <p14:creationId xmlns:p14="http://schemas.microsoft.com/office/powerpoint/2010/main" val="1513038394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ase-number">
            <a:extLst xmlns:a="http://schemas.openxmlformats.org/drawingml/2006/main">
              <a:ext uri="{FF2B5EF4-FFF2-40B4-BE49-F238E27FC236}">
                <a16:creationId xmlns:a16="http://schemas.microsoft.com/office/drawing/2014/main" id="{23EF13B4-07D5-4444-838C-A5E7AAA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EC5FF"/>
                </a:solidFill>
              </a:defRPr>
            </a:pPr>
            <a:r>
              <a:rPr sz="5550" b="1">
                <a:solidFill>
                  <a:srgbClr val="1EC5FF"/>
                </a:solidFill>
              </a:rPr>
              <a:t>modified+</a:t>
            </a:r>
          </a:p>
        </p:txBody>
      </p:sp>
      <p:sp>
        <p:nvSpPr>
          <p:cNvPr id="2" name="case-label">
            <a:extLst xmlns:a="http://schemas.openxmlformats.org/drawingml/2006/main">
              <a:ext uri="{FF2B5EF4-FFF2-40B4-BE49-F238E27FC236}">
                <a16:creationId xmlns:a16="http://schemas.microsoft.com/office/drawing/2014/main" id="{8A717108-164C-43F9-A9FF-613483A3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mudança e descendentes</a:t>
            </a:r>
          </a:p>
        </p:txBody>
      </p:sp>
      <p:sp>
        <p:nvSpPr>
          <p:cNvPr id="3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1F223353-0A84-4039-A3D5-4823B1A6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27059"/>
              </a:srgbClr>
            </a:solidFill>
            <a:prstDash val="solid"/>
          </a:ln>
        </p:spPr>
      </p:sp>
      <p:sp>
        <p:nvSpPr>
          <p:cNvPr id="4" name="case-caveat">
            <a:extLst xmlns:a="http://schemas.openxmlformats.org/drawingml/2006/main">
              <a:ext uri="{FF2B5EF4-FFF2-40B4-BE49-F238E27FC236}">
                <a16:creationId xmlns:a16="http://schemas.microsoft.com/office/drawing/2014/main" id="{98E0BF30-2727-4167-8896-0AC3A233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E2F2FF"/>
                </a:solidFill>
              </a:defRPr>
            </a:pPr>
            <a:r>
              <a:rPr sz="1800">
                <a:solidFill>
                  <a:srgbClr val="E2F2FF"/>
                </a:solidFill>
              </a:rPr>
              <a:t>A economia depende do tamanho e da topologia do projeto.</a:t>
            </a:r>
          </a:p>
        </p:txBody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A1503E1D-BFE6-4F39-9974-2447B447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E257305-2E3F-4CAE-AE71-990ACDC9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570716C-91DD-4E32-BC26-A55DC1BC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797EFF-1664-490F-A353-9B02DA6B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17/20</a:t>
            </a:r>
          </a:p>
        </p:txBody>
      </p:sp>
    </p:spTree>
    <p:extLst>
      <p:ext uri="{BB962C8B-B14F-4D97-AF65-F5344CB8AC3E}">
        <p14:creationId xmlns:p14="http://schemas.microsoft.com/office/powerpoint/2010/main" val="17169126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2D5167-1DC7-4AB7-B9CF-EBAC96F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B1F3A"/>
                </a:solidFill>
              </a:defRPr>
            </a:pPr>
            <a:r>
              <a:rPr sz="2925" b="1">
                <a:solidFill>
                  <a:srgbClr val="0B1F3A"/>
                </a:solidFill>
              </a:rPr>
              <a:t>Limitações que precisam permanecer visíveis</a:t>
            </a:r>
          </a:p>
        </p:txBody>
      </p:sp>
      <p:sp>
        <p:nvSpPr>
          <p:cNvPr id="2" name="bullets">
            <a:extLst xmlns:a="http://schemas.openxmlformats.org/drawingml/2006/main">
              <a:ext uri="{FF2B5EF4-FFF2-40B4-BE49-F238E27FC236}">
                <a16:creationId xmlns:a16="http://schemas.microsoft.com/office/drawing/2014/main" id="{D337EB5B-4C41-447F-85BE-E6F4327E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9906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Estado velho seleciona errado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Defer pode esconder divergência</a:t>
            </a:r>
          </a:p>
          <a:p xmlns:a="http://schemas.openxmlformats.org/drawingml/2006/main">
            <a:pPr>
              <a:buNone/>
              <a:defRPr sz="1950">
                <a:solidFill>
                  <a:srgbClr val="0B1F3A"/>
                </a:solidFill>
              </a:defRPr>
            </a:pPr>
            <a:r>
              <a:rPr sz="1950">
                <a:solidFill>
                  <a:srgbClr val="0B1F3A"/>
                </a:solidFill>
              </a:rPr>
              <a:t>• Full build continua necessário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C6F4E87-E163-4FFB-8D24-C1E7B17E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935F522-3A0E-4C67-B091-8559C78A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DE43BB7-E8CA-4D5E-8306-6B47944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B289896-35F9-4C3D-B1BF-2AA7806B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18/20</a:t>
            </a:r>
          </a:p>
        </p:txBody>
      </p:sp>
    </p:spTree>
    <p:extLst>
      <p:ext uri="{BB962C8B-B14F-4D97-AF65-F5344CB8AC3E}">
        <p14:creationId xmlns:p14="http://schemas.microsoft.com/office/powerpoint/2010/main" val="45482785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42E"/>
            </a:gs>
            <a:gs pos="100000">
              <a:srgbClr val="0A234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adar-label">
            <a:extLst xmlns:a="http://schemas.openxmlformats.org/drawingml/2006/main">
              <a:ext uri="{FF2B5EF4-FFF2-40B4-BE49-F238E27FC236}">
                <a16:creationId xmlns:a16="http://schemas.microsoft.com/office/drawing/2014/main" id="{88368737-5885-4EB3-AFD7-BB56AE5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C5FF"/>
                </a:solidFill>
              </a:defRPr>
            </a:pPr>
            <a:r>
              <a:rPr sz="1500" b="1">
                <a:solidFill>
                  <a:srgbClr val="1EC5FF"/>
                </a:solidFill>
              </a:rPr>
              <a:t>RADAR</a:t>
            </a:r>
          </a:p>
        </p:txBody>
      </p:sp>
      <p:sp>
        <p:nvSpPr>
          <p:cNvPr id="2" name="radar-text">
            <a:extLst xmlns:a="http://schemas.openxmlformats.org/drawingml/2006/main">
              <a:ext uri="{FF2B5EF4-FFF2-40B4-BE49-F238E27FC236}">
                <a16:creationId xmlns:a16="http://schemas.microsoft.com/office/drawing/2014/main" id="{C26EAA5F-53E6-49E2-A290-A5BAFDAB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dbt State gerenciado permanece fora; artifacts abertos sustentam a aula.</a:t>
            </a:r>
          </a:p>
        </p:txBody>
      </p:sp>
      <p:sp>
        <p:nvSpPr>
          <p:cNvPr id="3" name="radar-rule">
            <a:extLst xmlns:a="http://schemas.openxmlformats.org/drawingml/2006/main">
              <a:ext uri="{FF2B5EF4-FFF2-40B4-BE49-F238E27FC236}">
                <a16:creationId xmlns:a16="http://schemas.microsoft.com/office/drawing/2014/main" id="{EF81B098-8A15-4AAC-BCC0-E46C0BE4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E2F2FF"/>
                </a:solidFill>
              </a:defRPr>
            </a:pPr>
            <a:r>
              <a:rPr sz="1500">
                <a:solidFill>
                  <a:srgbClr val="E2F2FF"/>
                </a:solidFill>
              </a:rPr>
              <a:t>Novidade observada ≠ recomendação de produção</a:t>
            </a:r>
          </a:p>
        </p:txBody>
      </p:sp>
      <p:sp>
        <p:nvSpPr>
          <p:cNvPr id="4" name="ambient-glow">
            <a:extLst xmlns:a="http://schemas.openxmlformats.org/drawingml/2006/main">
              <a:ext uri="{FF2B5EF4-FFF2-40B4-BE49-F238E27FC236}">
                <a16:creationId xmlns:a16="http://schemas.microsoft.com/office/drawing/2014/main" id="{7FB2DEA0-C470-4097-A282-6EEB8091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C5FF">
              <a:alpha val="9412"/>
            </a:srgbClr>
          </a:solidFill>
          <a:ln xmlns:a="http://schemas.openxmlformats.org/drawingml/2006/main" w="19050">
            <a:solidFill>
              <a:srgbClr val="1EC5FF">
                <a:alpha val="18824"/>
              </a:srgbClr>
            </a:solidFill>
            <a:prstDash val="solid"/>
          </a:ln>
        </p:spPr>
      </p:sp>
      <p:sp>
        <p:nvSpPr>
          <p:cNvPr id="5" name="ambient-core">
            <a:extLst xmlns:a="http://schemas.openxmlformats.org/drawingml/2006/main">
              <a:ext uri="{FF2B5EF4-FFF2-40B4-BE49-F238E27FC236}">
                <a16:creationId xmlns:a16="http://schemas.microsoft.com/office/drawing/2014/main" id="{C75AD3B6-8383-4671-AA3E-73643257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194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14510"/>
            </a:srgbClr>
          </a:solidFill>
          <a:ln xmlns:a="http://schemas.openxmlformats.org/drawingml/2006/main" w="19050">
            <a:solidFill>
              <a:srgbClr val="1EC5FF">
                <a:alpha val="33333"/>
              </a:srgbClr>
            </a:solidFill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CA8352A8-08D4-475B-B91F-A0A9CA37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EC5FF"/>
                </a:solidFill>
              </a:defRPr>
            </a:pPr>
            <a:r>
              <a:rPr sz="1050" b="1">
                <a:solidFill>
                  <a:srgbClr val="1EC5FF"/>
                </a:solidFill>
              </a:rPr>
              <a:t>EPISÓDIO 9  •  OPEN / CORE 1.12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5007C46-C44A-4A32-B999-ACE2B3E1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C3FE03C-A9FF-46AC-B5A6-F5D594F2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FFFFFF">
                    <a:alpha val="53333"/>
                  </a:srgbClr>
                </a:solidFill>
              </a:defRPr>
            </a:pPr>
            <a:r>
              <a:rPr sz="825">
                <a:solidFill>
                  <a:srgbClr val="FFFFFF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E52DA1-01E4-4DE0-925E-BB76CEF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>
                    <a:alpha val="53333"/>
                  </a:srgbClr>
                </a:solidFill>
              </a:defRPr>
            </a:pPr>
            <a:r>
              <a:rPr sz="825" b="1">
                <a:solidFill>
                  <a:srgbClr val="FFFFFF">
                    <a:alpha val="53333"/>
                  </a:srgbClr>
                </a:solidFill>
              </a:rPr>
              <a:t>19/20</a:t>
            </a:r>
          </a:p>
        </p:txBody>
      </p:sp>
    </p:spTree>
    <p:extLst>
      <p:ext uri="{BB962C8B-B14F-4D97-AF65-F5344CB8AC3E}">
        <p14:creationId xmlns:p14="http://schemas.microsoft.com/office/powerpoint/2010/main" val="18518697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2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ta-label">
            <a:extLst xmlns:a="http://schemas.openxmlformats.org/drawingml/2006/main">
              <a:ext uri="{FF2B5EF4-FFF2-40B4-BE49-F238E27FC236}">
                <a16:creationId xmlns:a16="http://schemas.microsoft.com/office/drawing/2014/main" id="{C74FEF11-56CB-4A7D-852E-1B7C9BB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565C0"/>
                </a:solidFill>
              </a:defRPr>
            </a:pPr>
            <a:r>
              <a:rPr sz="1350" b="1">
                <a:solidFill>
                  <a:srgbClr val="1565C0"/>
                </a:solidFill>
              </a:rPr>
              <a:t>PRÓXIMO PASSO</a:t>
            </a:r>
          </a:p>
        </p:txBody>
      </p:sp>
      <p:sp>
        <p:nvSpPr>
          <p:cNvPr id="2" name="cta">
            <a:extLst xmlns:a="http://schemas.openxmlformats.org/drawingml/2006/main">
              <a:ext uri="{FF2B5EF4-FFF2-40B4-BE49-F238E27FC236}">
                <a16:creationId xmlns:a16="http://schemas.microsoft.com/office/drawing/2014/main" id="{348D63E5-642B-4618-9E9D-7D6D64D9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B1F3A"/>
                </a:solidFill>
              </a:defRPr>
            </a:pPr>
            <a:r>
              <a:rPr sz="3300" b="1">
                <a:solidFill>
                  <a:srgbClr val="0B1F3A"/>
                </a:solidFill>
              </a:rPr>
              <a:t>Salve um manifest e compare a seleção antes e depois de uma mudança.</a:t>
            </a:r>
          </a:p>
        </p:txBody>
      </p:sp>
      <p:sp>
        <p:nvSpPr>
          <p:cNvPr id="3" name="cta-meta">
            <a:extLst xmlns:a="http://schemas.openxmlformats.org/drawingml/2006/main">
              <a:ext uri="{FF2B5EF4-FFF2-40B4-BE49-F238E27FC236}">
                <a16:creationId xmlns:a16="http://schemas.microsoft.com/office/drawing/2014/main" id="{D1667DC8-477D-44F3-B890-308C20BA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C6F86"/>
                </a:solidFill>
              </a:defRPr>
            </a:pPr>
            <a:r>
              <a:rPr sz="1500">
                <a:solidFill>
                  <a:srgbClr val="5C6F86"/>
                </a:solidFill>
              </a:rPr>
              <a:t>Checkpoint 09 • roteiro completo no repositório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F245D16-A279-406A-B7B3-F17DDF72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565C0"/>
                </a:solidFill>
              </a:defRPr>
            </a:pPr>
            <a:r>
              <a:rPr sz="1050" b="1">
                <a:solidFill>
                  <a:srgbClr val="1565C0"/>
                </a:solidFill>
              </a:rPr>
              <a:t>EPISÓDIO 9  •  OPEN / CORE 1.12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ACBD8B4-56AA-46FF-A64E-B2633B6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65C0">
                <a:alpha val="20784"/>
              </a:srgbClr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3FC195A-C483-4080-8758-DDF9F54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0B1F3A">
                    <a:alpha val="53333"/>
                  </a:srgbClr>
                </a:solidFill>
              </a:defRPr>
            </a:pPr>
            <a:r>
              <a:rPr sz="825">
                <a:solidFill>
                  <a:srgbClr val="0B1F3A">
                    <a:alpha val="53333"/>
                  </a:srgbClr>
                </a:solidFill>
              </a:rPr>
              <a:t>dbt Moderno na Prática • Rescue Point • curso independente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D84489-3F47-41A2-80A5-16BE1B5D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0B1F3A">
                    <a:alpha val="53333"/>
                  </a:srgbClr>
                </a:solidFill>
              </a:defRPr>
            </a:pPr>
            <a:r>
              <a:rPr sz="825" b="1">
                <a:solidFill>
                  <a:srgbClr val="0B1F3A">
                    <a:alpha val="53333"/>
                  </a:srgbClr>
                </a:solidFill>
              </a:rPr>
              <a:t>20/20</a:t>
            </a:r>
          </a:p>
        </p:txBody>
      </p:sp>
    </p:spTree>
    <p:extLst>
      <p:ext uri="{BB962C8B-B14F-4D97-AF65-F5344CB8AC3E}">
        <p14:creationId xmlns:p14="http://schemas.microsoft.com/office/powerpoint/2010/main" val="1247985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2026-09-02T01:19:29.8300000Z</dcterms:created>
  <dcterms:modified xsi:type="dcterms:W3CDTF">2026-09-02T01:19:29.8300000Z</dcterms:modified>
</coreProperties>
</file>