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Masters/slideMaster2.xml" ContentType="application/vnd.openxmlformats-officedocument.presentationml.slideMaster+xml"/>
  <Override PartName="/ppt/slideMasters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22921f176f48f7" /><Relationship Type="http://schemas.openxmlformats.org/officeDocument/2006/relationships/extended-properties" Target="/docProps/app.xml" Id="Rfc478b1ec1dd4035" /><Relationship Type="http://schemas.openxmlformats.org/officeDocument/2006/relationships/officeDocument" Target="/ppt/presentation.xml" Id="Rfb5cded2903d48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6d48f315f94450e"/>
    <p:sldMasterId xmlns:r="http://schemas.openxmlformats.org/officeDocument/2006/relationships" id="2147483650" r:id="Re42df548a1bf4511"/>
  </p:sldMasterIdLst>
  <p:notesMasterIdLst>
    <p:notesMasterId xmlns:r="http://schemas.openxmlformats.org/officeDocument/2006/relationships" r:id="Ra4996a1717e040fc"/>
  </p:notesMasterIdLst>
  <p:sldIdLst>
    <p:sldId xmlns:r="http://schemas.openxmlformats.org/officeDocument/2006/relationships" id="256" r:id="Rceeab2e019a34adf"/>
    <p:sldId xmlns:r="http://schemas.openxmlformats.org/officeDocument/2006/relationships" id="257" r:id="Rad6320d2ab95456b"/>
    <p:sldId xmlns:r="http://schemas.openxmlformats.org/officeDocument/2006/relationships" id="258" r:id="Rd754461141a045f3"/>
    <p:sldId xmlns:r="http://schemas.openxmlformats.org/officeDocument/2006/relationships" id="259" r:id="R567171cef41c44b0"/>
    <p:sldId xmlns:r="http://schemas.openxmlformats.org/officeDocument/2006/relationships" id="260" r:id="R03099dd1a305418e"/>
    <p:sldId xmlns:r="http://schemas.openxmlformats.org/officeDocument/2006/relationships" id="261" r:id="R760db62120db4691"/>
    <p:sldId xmlns:r="http://schemas.openxmlformats.org/officeDocument/2006/relationships" id="262" r:id="Rf2feb10649794b35"/>
    <p:sldId xmlns:r="http://schemas.openxmlformats.org/officeDocument/2006/relationships" id="263" r:id="R660b925f41d940d7"/>
    <p:sldId xmlns:r="http://schemas.openxmlformats.org/officeDocument/2006/relationships" id="264" r:id="R7e3231d2e8ec4c42"/>
    <p:sldId xmlns:r="http://schemas.openxmlformats.org/officeDocument/2006/relationships" id="265" r:id="R8fbc3719467e43b9"/>
    <p:sldId xmlns:r="http://schemas.openxmlformats.org/officeDocument/2006/relationships" id="266" r:id="Re1a86e2a521a440d"/>
    <p:sldId xmlns:r="http://schemas.openxmlformats.org/officeDocument/2006/relationships" id="267" r:id="Ra56425606e264fbc"/>
    <p:sldId xmlns:r="http://schemas.openxmlformats.org/officeDocument/2006/relationships" id="268" r:id="Re45a8faf82924496"/>
    <p:sldId xmlns:r="http://schemas.openxmlformats.org/officeDocument/2006/relationships" id="269" r:id="Rcdb128159fd2437e"/>
    <p:sldId xmlns:r="http://schemas.openxmlformats.org/officeDocument/2006/relationships" id="270" r:id="R9cefb4ca1bbe40b6"/>
    <p:sldId xmlns:r="http://schemas.openxmlformats.org/officeDocument/2006/relationships" id="271" r:id="R5394359d71f14271"/>
    <p:sldId xmlns:r="http://schemas.openxmlformats.org/officeDocument/2006/relationships" id="272" r:id="R76cdae3d4eee46cf"/>
    <p:sldId xmlns:r="http://schemas.openxmlformats.org/officeDocument/2006/relationships" id="273" r:id="R957fec416081409d"/>
    <p:sldId xmlns:r="http://schemas.openxmlformats.org/officeDocument/2006/relationships" id="274" r:id="Rd81a715f1ac0457a"/>
    <p:sldId xmlns:r="http://schemas.openxmlformats.org/officeDocument/2006/relationships" id="275" r:id="Rc9c010e84e244a3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e6f755a723947d2" /><Relationship Type="http://schemas.openxmlformats.org/officeDocument/2006/relationships/slideMaster" Target="/ppt/slideMasters/slideMaster1.xml" Id="R86d48f315f94450e" /><Relationship Type="http://schemas.openxmlformats.org/officeDocument/2006/relationships/slideMaster" Target="/ppt/slideMasters/slideMaster2.xml" Id="Re42df548a1bf4511" /><Relationship Type="http://schemas.openxmlformats.org/officeDocument/2006/relationships/notesMaster" Target="/ppt/notesMasters/notesMaster1.xml" Id="Ra4996a1717e040fc" /><Relationship Type="http://schemas.openxmlformats.org/officeDocument/2006/relationships/presProps" Target="/ppt/presProps.xml" Id="R7c24a03e839f4972" /><Relationship Type="http://schemas.openxmlformats.org/officeDocument/2006/relationships/tableStyles" Target="/ppt/tableStyles.xml" Id="R484b3e05fdd941a9" /><Relationship Type="http://schemas.openxmlformats.org/officeDocument/2006/relationships/slide" Target="/ppt/slides/slide1.xml" Id="Rceeab2e019a34adf" /><Relationship Type="http://schemas.openxmlformats.org/officeDocument/2006/relationships/slide" Target="/ppt/slides/slide2.xml" Id="Rad6320d2ab95456b" /><Relationship Type="http://schemas.openxmlformats.org/officeDocument/2006/relationships/slide" Target="/ppt/slides/slide3.xml" Id="Rd754461141a045f3" /><Relationship Type="http://schemas.openxmlformats.org/officeDocument/2006/relationships/slide" Target="/ppt/slides/slide4.xml" Id="R567171cef41c44b0" /><Relationship Type="http://schemas.openxmlformats.org/officeDocument/2006/relationships/slide" Target="/ppt/slides/slide5.xml" Id="R03099dd1a305418e" /><Relationship Type="http://schemas.openxmlformats.org/officeDocument/2006/relationships/slide" Target="/ppt/slides/slide6.xml" Id="R760db62120db4691" /><Relationship Type="http://schemas.openxmlformats.org/officeDocument/2006/relationships/slide" Target="/ppt/slides/slide7.xml" Id="Rf2feb10649794b35" /><Relationship Type="http://schemas.openxmlformats.org/officeDocument/2006/relationships/slide" Target="/ppt/slides/slide8.xml" Id="R660b925f41d940d7" /><Relationship Type="http://schemas.openxmlformats.org/officeDocument/2006/relationships/slide" Target="/ppt/slides/slide9.xml" Id="R7e3231d2e8ec4c42" /><Relationship Type="http://schemas.openxmlformats.org/officeDocument/2006/relationships/slide" Target="/ppt/slides/slide10.xml" Id="R8fbc3719467e43b9" /><Relationship Type="http://schemas.openxmlformats.org/officeDocument/2006/relationships/slide" Target="/ppt/slides/slide11.xml" Id="Re1a86e2a521a440d" /><Relationship Type="http://schemas.openxmlformats.org/officeDocument/2006/relationships/slide" Target="/ppt/slides/slide12.xml" Id="Ra56425606e264fbc" /><Relationship Type="http://schemas.openxmlformats.org/officeDocument/2006/relationships/slide" Target="/ppt/slides/slide13.xml" Id="Re45a8faf82924496" /><Relationship Type="http://schemas.openxmlformats.org/officeDocument/2006/relationships/slide" Target="/ppt/slides/slide14.xml" Id="Rcdb128159fd2437e" /><Relationship Type="http://schemas.openxmlformats.org/officeDocument/2006/relationships/slide" Target="/ppt/slides/slide15.xml" Id="R9cefb4ca1bbe40b6" /><Relationship Type="http://schemas.openxmlformats.org/officeDocument/2006/relationships/slide" Target="/ppt/slides/slide16.xml" Id="R5394359d71f14271" /><Relationship Type="http://schemas.openxmlformats.org/officeDocument/2006/relationships/slide" Target="/ppt/slides/slide17.xml" Id="R76cdae3d4eee46cf" /><Relationship Type="http://schemas.openxmlformats.org/officeDocument/2006/relationships/slide" Target="/ppt/slides/slide18.xml" Id="R957fec416081409d" /><Relationship Type="http://schemas.openxmlformats.org/officeDocument/2006/relationships/slide" Target="/ppt/slides/slide19.xml" Id="Rd81a715f1ac0457a" /><Relationship Type="http://schemas.openxmlformats.org/officeDocument/2006/relationships/slide" Target="/ppt/slides/slide20.xml" Id="Rc9c010e84e244a3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4.xml" Id="Rfdc84e62522442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d8d77adce04a8e" /><Relationship Type="http://schemas.openxmlformats.org/officeDocument/2006/relationships/notesMaster" Target="/ppt/notesMasters/notesMaster1.xml" Id="R4743e4522ff74ed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20e636855034227" /><Relationship Type="http://schemas.openxmlformats.org/officeDocument/2006/relationships/notesMaster" Target="/ppt/notesMasters/notesMaster1.xml" Id="R545d91096e3245f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79834e51ee4426" /><Relationship Type="http://schemas.openxmlformats.org/officeDocument/2006/relationships/notesMaster" Target="/ppt/notesMasters/notesMaster1.xml" Id="R975183d02fd143a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3b5d06364b4c88" /><Relationship Type="http://schemas.openxmlformats.org/officeDocument/2006/relationships/notesMaster" Target="/ppt/notesMasters/notesMaster1.xml" Id="R61786ccc3a4842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3d4915501e42a5" /><Relationship Type="http://schemas.openxmlformats.org/officeDocument/2006/relationships/notesMaster" Target="/ppt/notesMasters/notesMaster1.xml" Id="Rb44d2c0aca49468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9b7480cf2a546ef" /><Relationship Type="http://schemas.openxmlformats.org/officeDocument/2006/relationships/notesMaster" Target="/ppt/notesMasters/notesMaster1.xml" Id="R130c6a7a93424a6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c7876d15604755" /><Relationship Type="http://schemas.openxmlformats.org/officeDocument/2006/relationships/notesMaster" Target="/ppt/notesMasters/notesMaster1.xml" Id="Rde30706ec9684a5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0fea27bc6b140e2" /><Relationship Type="http://schemas.openxmlformats.org/officeDocument/2006/relationships/notesMaster" Target="/ppt/notesMasters/notesMaster1.xml" Id="R328781e1bcd449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e2682f8066194b8e" /><Relationship Type="http://schemas.openxmlformats.org/officeDocument/2006/relationships/notesMaster" Target="/ppt/notesMasters/notesMaster1.xml" Id="R325942a7b09241f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f91c7a268c04b05" /><Relationship Type="http://schemas.openxmlformats.org/officeDocument/2006/relationships/notesMaster" Target="/ppt/notesMasters/notesMaster1.xml" Id="R6e3865e5471648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53886bac84d94bd2" /><Relationship Type="http://schemas.openxmlformats.org/officeDocument/2006/relationships/notesMaster" Target="/ppt/notesMasters/notesMaster1.xml" Id="R2329c38ed0c246f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4266b46b36e4ae0" /><Relationship Type="http://schemas.openxmlformats.org/officeDocument/2006/relationships/notesMaster" Target="/ppt/notesMasters/notesMaster1.xml" Id="Rcd4cd53b943d495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64d328a960043b5" /><Relationship Type="http://schemas.openxmlformats.org/officeDocument/2006/relationships/notesMaster" Target="/ppt/notesMasters/notesMaster1.xml" Id="Re7161789cd8e41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ba888b82cd74286" /><Relationship Type="http://schemas.openxmlformats.org/officeDocument/2006/relationships/notesMaster" Target="/ppt/notesMasters/notesMaster1.xml" Id="R41216bea516b424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f90047bfb7d4690" /><Relationship Type="http://schemas.openxmlformats.org/officeDocument/2006/relationships/notesMaster" Target="/ppt/notesMasters/notesMaster1.xml" Id="Rb20e91249cdb48e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192310b07844b18" /><Relationship Type="http://schemas.openxmlformats.org/officeDocument/2006/relationships/notesMaster" Target="/ppt/notesMasters/notesMaster1.xml" Id="Rfe71345c34a244b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8e558c9376842b3" /><Relationship Type="http://schemas.openxmlformats.org/officeDocument/2006/relationships/notesMaster" Target="/ppt/notesMasters/notesMaster1.xml" Id="R14e9b6acec7941e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a7c2ce43636418e" /><Relationship Type="http://schemas.openxmlformats.org/officeDocument/2006/relationships/notesMaster" Target="/ppt/notesMasters/notesMaster1.xml" Id="R38c0346e15ce481c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f011b198b8d459c" /><Relationship Type="http://schemas.openxmlformats.org/officeDocument/2006/relationships/notesMaster" Target="/ppt/notesMasters/notesMaster1.xml" Id="Rbcff293e112f4e0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a136f6cd1054dc5" /><Relationship Type="http://schemas.openxmlformats.org/officeDocument/2006/relationships/notesMaster" Target="/ppt/notesMasters/notesMaster1.xml" Id="R0bf941ba13d04c4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 objetivo do EPISÓDIO 9 e conecte-o ao checkpoint executável. CI rápida não significa selecionar menos; significa selecionar o impacto correto.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CI rápida não significa selecionar menos; significa selecionar o impacto correto. Use o diagrama para antecipar o problema que será comprovado no laboratório.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Explique os três resultados observáveis da aula: Comparar manifests; Selecionar modified+; Usar defer com clareza.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manifest anterior é a referência que permite calcular mudança. Desenvolva os pontos: Estado anterior; Estado atual; Diff de recursos.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 sufixo + inclui descendentes que podem ser afetados. Desenvolva os pontos: Modelo editado; Testes associados; Consumidores descendentes.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O sufixo + inclui descendentes que podem ser afetados. Modelo editado Testes associados Consumidores descendentes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Testar apenas o arquivo alterado pode ignorar contratos e consumidores. Desenvolva os pontos: Impacto no DAG; Testes indiretos; Dependências públicas.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Testar apenas o arquivo alterado pode ignorar contratos e consumidores. Impacto no DAG Testes indiretos Dependências públicas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Modelos não construídos localmente podem apontar para produção ou staging. Desenvolva os pontos: Resolve refs; Evita recomputação; Exige estado confiável.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Modelos não construídos localmente podem apontar para produção ou staging. Resolve refs Evita recomputação Exige estado confiável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  <a:p xmlns:a="http://schemas.openxmlformats.org/drawingml/2006/main">
            <a:r>
              <a:t>- https://github.com/dbt-labs/docs.getdbt.com/blob/8249c7c904848efa786831381ca1d53b4157e392/website/static/img/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Parse barato, seleção por impacto e validação completa cumprem papéis diferentes. Desenvolva os pontos: PR rápido; Gate de integração; Build completo programado.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 composição para explicar visualmente: Parse barato, seleção por impacto e validação completa cumprem papéis diferentes. PR rápido Gate de integração Build completo programado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Execute python course.py checkpoint 09. Pause para o aluno acompanhar o terminal.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Durante a execução, destaque: Manifest baseline preservado; Mudança sintética isolada; Seleção e defer comparados.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Confirme o resultado esperado: Somente o ramo afetado é selecionado. Se o valor divergir, não avance sem investigar.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Conecte a técnica aos efeitos: Governança: impacto visível; FinOps: menos recomputação; IA: artifacts atualizados. Não prometa economia sem medição.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modified+: mudança e descendentes. A economia depende do tamanho e da topologia do projeto.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Apresente os limites sem minimizá-los: Estado velho seleciona errado; Defer pode esconder divergência; Full build continua necessário.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dbt State gerenciado permanece fora; artifacts abertos sustentam a aula. Reforce que beta e preview não fazem parte da aceitação.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Salve um manifest e compare a seleção antes e depois de uma mudança. Encerre conectando a aula ao próximo checkpoint.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https://docs.getdbt.com/reference/node-selection/defer</a:t>
            </a:r>
          </a:p>
          <a:p xmlns:a="http://schemas.openxmlformats.org/drawingml/2006/main">
            <a:r>
              <a:t>- https://docs.getdbt.com/reference/node-selection/methods#the-state-method</a:t>
            </a:r>
          </a:p>
          <a:p xmlns:a="http://schemas.openxmlformats.org/drawingml/2006/main">
            <a:r>
              <a:t>- https://github.com/AnselmoBorges/dbt-moderno-na-pratica/blob/main/roteiros/09-ci-state-defer.md</a:t>
            </a:r>
          </a:p>
          <a:p xmlns:a="http://schemas.openxmlformats.org/drawingml/2006/main">
            <a:r>
              <a:t>- repo://laboratorio/checkpoints/ep09</a:t>
            </a:r>
          </a:p>
          <a:p xmlns:a="http://schemas.openxmlformats.org/drawingml/2006/main">
            <a:r>
              <a:t>- repo://assets/catalog.yml</a:t>
            </a:r>
          </a:p>
          <a:p xmlns:a="http://schemas.openxmlformats.org/drawingml/2006/main">
            <a:r>
              <a:t>- repo://assets/decks/provenance.yml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8a93eea8c09476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d302d0cc043a42f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2.xml" Id="R24f5d34b831c4ad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>
  <p:cSld name="Rescue Point Dar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>
  <p:cSld name="Rescue Point Light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214241881464385" /><Relationship Type="http://schemas.openxmlformats.org/officeDocument/2006/relationships/slideLayout" Target="/ppt/slideLayouts/slideLayout1.xml" Id="R4efa1b3460f1444b" /></Relationships>
</file>

<file path=ppt/slideMasters/_rels/slideMaster2.xml.rels>&#65279;<?xml version="1.0" encoding="utf-8"?><Relationships xmlns="http://schemas.openxmlformats.org/package/2006/relationships"><Relationship Type="http://schemas.openxmlformats.org/officeDocument/2006/relationships/theme" Target="/ppt/slideMasters/theme/theme3.xml" Id="Rb77155ab582a430e" /><Relationship Type="http://schemas.openxmlformats.org/officeDocument/2006/relationships/slideLayout" Target="/ppt/slideLayouts/slideLayout2.xml" Id="Rb87622b6c3e3416d" /><Relationship Type="http://schemas.openxmlformats.org/officeDocument/2006/relationships/slideLayout" Target="/ppt/slideLayouts/slideLayout3.xml" Id="R90477355d2d945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efa1b3460f1444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Rescue Point Master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51" r:id="Rb87622b6c3e3416d"/>
    <p:sldLayoutId xmlns:r="http://schemas.openxmlformats.org/officeDocument/2006/relationships" id="2147483652" r:id="R90477355d2d94579"/>
  </p:sldLayoutIdLst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07391bb7ab4a44" /><Relationship Type="http://schemas.openxmlformats.org/officeDocument/2006/relationships/image" Target="/ppt/media/image.jpeg" Id="Rb9ed0e7b2a334269" /><Relationship Type="http://schemas.openxmlformats.org/officeDocument/2006/relationships/notesSlide" Target="/ppt/notesSlides/notesSlide1.xml" Id="R76cb158791d1401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40161ce803e4057" /><Relationship Type="http://schemas.openxmlformats.org/officeDocument/2006/relationships/image" Target="/ppt/media/image.png" Id="Rb7aa26e61db14e9e" /><Relationship Type="http://schemas.openxmlformats.org/officeDocument/2006/relationships/notesSlide" Target="/ppt/notesSlides/notesSlide2.xml" Id="Rd9a943ff11cf41c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8e989b71d8247bd" /><Relationship Type="http://schemas.openxmlformats.org/officeDocument/2006/relationships/notesSlide" Target="/ppt/notesSlides/notesSlide3.xml" Id="Rc859d20650b7453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a48330625b4627" /><Relationship Type="http://schemas.openxmlformats.org/officeDocument/2006/relationships/notesSlide" Target="/ppt/notesSlides/notesSlide4.xml" Id="Rab9e9f1f858a4c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d53fcde6ba54c11" /><Relationship Type="http://schemas.openxmlformats.org/officeDocument/2006/relationships/notesSlide" Target="/ppt/notesSlides/notesSlide5.xml" Id="R7580bf35226b407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60d8c026d34eb0" /><Relationship Type="http://schemas.openxmlformats.org/officeDocument/2006/relationships/notesSlide" Target="/ppt/notesSlides/notesSlide6.xml" Id="Rebeec5fbdb7e4d4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cf21cd5c52a495b" /><Relationship Type="http://schemas.openxmlformats.org/officeDocument/2006/relationships/notesSlide" Target="/ppt/notesSlides/notesSlide7.xml" Id="R6f126484ca9d4ba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c6151d39e4e40d9" /><Relationship Type="http://schemas.openxmlformats.org/officeDocument/2006/relationships/notesSlide" Target="/ppt/notesSlides/notesSlide8.xml" Id="Rcd3d1d0cef5c4f5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3df559ebacf4e84" /><Relationship Type="http://schemas.openxmlformats.org/officeDocument/2006/relationships/notesSlide" Target="/ppt/notesSlides/notesSlide9.xml" Id="R8d48d8ffb82044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3bf3ea4c6cc4ae2" /><Relationship Type="http://schemas.openxmlformats.org/officeDocument/2006/relationships/image" Target="/ppt/media/image2.png" Id="R9a2c2d29627d411b" /><Relationship Type="http://schemas.openxmlformats.org/officeDocument/2006/relationships/notesSlide" Target="/ppt/notesSlides/notesSlide10.xml" Id="R9ee43bad0f60421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bad7fb7f284356" /><Relationship Type="http://schemas.openxmlformats.org/officeDocument/2006/relationships/notesSlide" Target="/ppt/notesSlides/notesSlide11.xml" Id="R6d55f75395704c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71c5a84f4f4493a" /><Relationship Type="http://schemas.openxmlformats.org/officeDocument/2006/relationships/notesSlide" Target="/ppt/notesSlides/notesSlide12.xml" Id="R8f4407e805224bc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918121821ee499b" /><Relationship Type="http://schemas.openxmlformats.org/officeDocument/2006/relationships/notesSlide" Target="/ppt/notesSlides/notesSlide13.xml" Id="R70f8361363bb401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9ecfed497069418f" /><Relationship Type="http://schemas.openxmlformats.org/officeDocument/2006/relationships/notesSlide" Target="/ppt/notesSlides/notesSlide14.xml" Id="R50454eb1b72d498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837355d7ff4946" /><Relationship Type="http://schemas.openxmlformats.org/officeDocument/2006/relationships/notesSlide" Target="/ppt/notesSlides/notesSlide15.xml" Id="R7c9b13f712d045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8c103b5511d4347" /><Relationship Type="http://schemas.openxmlformats.org/officeDocument/2006/relationships/notesSlide" Target="/ppt/notesSlides/notesSlide16.xml" Id="R70985720ac904878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c1463053024614" /><Relationship Type="http://schemas.openxmlformats.org/officeDocument/2006/relationships/notesSlide" Target="/ppt/notesSlides/notesSlide17.xml" Id="R13b6cb294807499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fd86e4ee57941ae" /><Relationship Type="http://schemas.openxmlformats.org/officeDocument/2006/relationships/notesSlide" Target="/ppt/notesSlides/notesSlide18.xml" Id="R33bff64cd41c43b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28701c6d00b40d9" /><Relationship Type="http://schemas.openxmlformats.org/officeDocument/2006/relationships/notesSlide" Target="/ppt/notesSlides/notesSlide19.xml" Id="Rbd700db67a624bd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0440f2d87d44caa" /><Relationship Type="http://schemas.openxmlformats.org/officeDocument/2006/relationships/notesSlide" Target="/ppt/notesSlides/notesSlide20.xml" Id="Rb05a07bc7a6443b1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 descr="Ilustração conceitual autoral da capa: EPISÓDIO 9 — CI inteligente com artifacts, state e defer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d0e7b2a334269"/>
          <a:srcRect xmlns:a="http://schemas.openxmlformats.org/drawingml/2006/main" l="19785" t="0" r="1978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text-surface">
            <a:extLst xmlns:a="http://schemas.openxmlformats.org/drawingml/2006/main">
              <a:ext uri="{FF2B5EF4-FFF2-40B4-BE49-F238E27FC236}">
                <a16:creationId xmlns:a16="http://schemas.microsoft.com/office/drawing/2014/main" id="{7D4E95FA-5A42-4C32-8A6B-170DAA426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3341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42E"/>
          </a:solidFill>
          <a:ln xmlns:a="http://schemas.openxmlformats.org/drawingml/2006/main" w="0">
            <a:solidFill>
              <a:srgbClr val="06142E"/>
            </a:solidFill>
            <a:prstDash val="solid"/>
          </a:ln>
        </p:spPr>
      </p:sp>
      <p:sp>
        <p:nvSpPr>
          <p:cNvPr id="3" name="cover-divider">
            <a:extLst xmlns:a="http://schemas.openxmlformats.org/drawingml/2006/main">
              <a:ext uri="{FF2B5EF4-FFF2-40B4-BE49-F238E27FC236}">
                <a16:creationId xmlns:a16="http://schemas.microsoft.com/office/drawing/2014/main" id="{9EF9D1F6-E7CB-48C7-8CD2-4E600A48AC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742950"/>
            <a:ext cx="0" cy="5372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4" name="cover-episode">
            <a:extLst xmlns:a="http://schemas.openxmlformats.org/drawingml/2006/main">
              <a:ext uri="{FF2B5EF4-FFF2-40B4-BE49-F238E27FC236}">
                <a16:creationId xmlns:a16="http://schemas.microsoft.com/office/drawing/2014/main" id="{5650F32D-D207-4EB2-BF26-99E212F56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19150"/>
            <a:ext cx="2857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EPISÓDIO 9</a:t>
            </a:r>
          </a:p>
        </p:txBody>
      </p:sp>
      <p:sp>
        <p:nvSpPr>
          <p:cNvPr id="5" name="cover-title">
            <a:extLst xmlns:a="http://schemas.openxmlformats.org/drawingml/2006/main">
              <a:ext uri="{FF2B5EF4-FFF2-40B4-BE49-F238E27FC236}">
                <a16:creationId xmlns:a16="http://schemas.microsoft.com/office/drawing/2014/main" id="{CE6612A4-CCDA-42A4-ABA1-F6D2AFD06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4953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FFFFF"/>
                </a:solidFill>
              </a:defRPr>
            </a:pPr>
            <a:r>
              <a:rPr sz="3225" b="1">
                <a:solidFill>
                  <a:srgbClr val="FFFFFF"/>
                </a:solidFill>
              </a:rPr>
              <a:t>CI inteligente com artifacts, state e defer</a:t>
            </a:r>
          </a:p>
        </p:txBody>
      </p:sp>
      <p:sp>
        <p:nvSpPr>
          <p:cNvPr id="6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71B876D1-10BC-413F-B513-20009540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4857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Teste o impacto necessário sem reconstruir o mundo</a:t>
            </a:r>
          </a:p>
        </p:txBody>
      </p:sp>
      <p:sp>
        <p:nvSpPr>
          <p:cNvPr id="7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12212FCB-BA3A-40A6-9E60-3E8A6974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48250"/>
            <a:ext cx="2286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EC5FF"/>
            </a:solidFill>
            <a:prstDash val="solid"/>
          </a:ln>
        </p:spPr>
      </p:sp>
      <p:sp>
        <p:nvSpPr>
          <p:cNvPr id="8" name="cover-meta">
            <a:extLst xmlns:a="http://schemas.openxmlformats.org/drawingml/2006/main">
              <a:ext uri="{FF2B5EF4-FFF2-40B4-BE49-F238E27FC236}">
                <a16:creationId xmlns:a16="http://schemas.microsoft.com/office/drawing/2014/main" id="{842DCDB0-8266-4D10-BE0A-83828154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4857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>
                    <a:alpha val="66667"/>
                  </a:srgbClr>
                </a:solidFill>
              </a:defRPr>
            </a:pPr>
            <a:r>
              <a:rPr sz="1200" b="1">
                <a:solidFill>
                  <a:srgbClr val="FFFFFF">
                    <a:alpha val="66667"/>
                  </a:srgbClr>
                </a:solidFill>
              </a:rPr>
              <a:t>Checkpoint 09 • DuckDB local • sem cloud</a:t>
            </a:r>
          </a:p>
        </p:txBody>
      </p:sp>
    </p:spTree>
    <p:extLst>
      <p:ext uri="{BB962C8B-B14F-4D97-AF65-F5344CB8AC3E}">
        <p14:creationId xmlns:p14="http://schemas.microsoft.com/office/powerpoint/2010/main" val="84575598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hook">
            <a:extLst xmlns:a="http://schemas.openxmlformats.org/drawingml/2006/main">
              <a:ext uri="{FF2B5EF4-FFF2-40B4-BE49-F238E27FC236}">
                <a16:creationId xmlns:a16="http://schemas.microsoft.com/office/drawing/2014/main" id="{9EAA4BEC-14D5-4EA5-A813-C1F70327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287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0B1F3A"/>
                </a:solidFill>
              </a:defRPr>
            </a:pPr>
            <a:r>
              <a:rPr sz="2850" b="1">
                <a:solidFill>
                  <a:srgbClr val="0B1F3A"/>
                </a:solidFill>
              </a:rPr>
              <a:t>CI rápida não significa selecionar menos; significa selecionar o impacto correto.</a:t>
            </a:r>
          </a:p>
        </p:txBody>
      </p:sp>
      <p:sp>
        <p:nvSpPr>
          <p:cNvPr id="2" name="hook-rule">
            <a:extLst xmlns:a="http://schemas.openxmlformats.org/drawingml/2006/main">
              <a:ext uri="{FF2B5EF4-FFF2-40B4-BE49-F238E27FC236}">
                <a16:creationId xmlns:a16="http://schemas.microsoft.com/office/drawing/2014/main" id="{DF380909-6C73-4510-BD10-EEACA192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65C0"/>
            </a:solidFill>
            <a:prstDash val="solid"/>
          </a:ln>
        </p:spPr>
      </p:sp>
      <p:sp>
        <p:nvSpPr>
          <p:cNvPr id="3" name="hook-label">
            <a:extLst xmlns:a="http://schemas.openxmlformats.org/drawingml/2006/main">
              <a:ext uri="{FF2B5EF4-FFF2-40B4-BE49-F238E27FC236}">
                <a16:creationId xmlns:a16="http://schemas.microsoft.com/office/drawing/2014/main" id="{DC41801F-2875-4259-8FE9-BBE1B5D8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813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1565C0"/>
                </a:solidFill>
              </a:defRPr>
            </a:pPr>
            <a:r>
              <a:rPr sz="1425" b="1">
                <a:solidFill>
                  <a:srgbClr val="1565C0"/>
                </a:solidFill>
              </a:rPr>
              <a:t>A pergunta que guia a aula</a:t>
            </a:r>
          </a:p>
        </p:txBody>
      </p:sp>
      <p:sp>
        <p:nvSpPr>
          <p:cNvPr id="4" name="diagram-surface">
            <a:extLst xmlns:a="http://schemas.openxmlformats.org/drawingml/2006/main">
              <a:ext uri="{FF2B5EF4-FFF2-40B4-BE49-F238E27FC236}">
                <a16:creationId xmlns:a16="http://schemas.microsoft.com/office/drawing/2014/main" id="{D889389E-9166-414B-B564-82F30E138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24250"/>
            <a:ext cx="108204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DD7EA"/>
            </a:solidFill>
            <a:prstDash val="solid"/>
          </a:ln>
        </p:spPr>
      </p:sp>
      <p:pic>
        <p:nvPicPr>
          <p:cNvPr id="14" name="" descr="Diagrama didático autoral que apresenta: CI rápida não significa selecionar menos; significa selecionar o impacto correto. — A pergunta que guia a aula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aa26e61db14e9e"/>
          <a:stretch xmlns:a="http://schemas.openxmlformats.org/drawingml/2006/main"/>
        </p:blipFill>
        <p:spPr>
          <a:xfrm xmlns:a="http://schemas.openxmlformats.org/drawingml/2006/main">
            <a:off x="3108960" y="3790950"/>
            <a:ext cx="5974080" cy="1562100"/>
          </a:xfrm>
          <a:prstGeom xmlns:a="http://schemas.openxmlformats.org/drawingml/2006/main" prst="rect">
            <a:avLst/>
          </a:prstGeom>
        </p:spPr>
      </p:pic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E5A7BBD-0580-4D52-BBAF-AF965A6EA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0F2D8B1-6979-4C7F-B53D-23A0A3A9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29F630ED-1CE7-4C17-9962-C279C8CE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962E892-993C-4026-AD24-15B31A1F2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2/20</a:t>
            </a:r>
          </a:p>
        </p:txBody>
      </p:sp>
    </p:spTree>
    <p:extLst>
      <p:ext uri="{BB962C8B-B14F-4D97-AF65-F5344CB8AC3E}">
        <p14:creationId xmlns:p14="http://schemas.microsoft.com/office/powerpoint/2010/main" val="2017419998"/>
      </p:ext>
    </p:extLst>
  </p:cSld>
</p:sld>
</file>

<file path=ppt/slides/slide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BFA1711-D845-4EEB-9E6B-C7274651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Ao final, você consegue...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8DFF8C10-8B08-4239-BFC9-DB41CB863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61A332FC-E263-4464-98BE-7D4EEEBAC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Comparar manifests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6F4D3917-E423-4338-B449-1A5105FDA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2BA3AA17-909E-480D-84A9-CA2741A8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D1A5FE3C-FF7E-4B26-88BE-E15B68B28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Selecionar modified+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D033A3C1-17E9-44F9-93D0-7B6154119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C5FF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42919279-DCFA-4D0E-9EDA-2877689F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EC5FF"/>
                </a:solidFill>
              </a:defRPr>
            </a:pPr>
            <a:r>
              <a:rPr sz="34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74A704E7-143A-4DE0-B233-879DF7F12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Usar defer com clareza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EC9A69C2-99A5-4D35-B994-F08B1846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F1217D6-ACE0-4555-8443-1430EC4E0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0E270D60-6DF9-49B6-8577-A811824C3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E7B65C-3E5C-4E04-AEC5-970E6B1DF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3/20</a:t>
            </a:r>
          </a:p>
        </p:txBody>
      </p:sp>
    </p:spTree>
    <p:extLst>
      <p:ext uri="{BB962C8B-B14F-4D97-AF65-F5344CB8AC3E}">
        <p14:creationId xmlns:p14="http://schemas.microsoft.com/office/powerpoint/2010/main" val="520098986"/>
      </p:ext>
    </p:extLst>
  </p:cSld>
</p:sld>
</file>

<file path=ppt/slides/slide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CF2BD00-F6EF-4FEE-B794-31B7A0B71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Artifact não é lixo de build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2C2CD6E-4615-4CD7-8A87-B4C74390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O manifest anterior é a referência que permite calcular mudança.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B4199F1C-56C2-4F63-A330-0A63574D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anterior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Estado atual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Diff de recursos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27966ED-149E-4FCA-A8D9-5C8F583A7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AD104DE5-6694-4517-B5F3-AC241FB26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03036AC-967E-4D11-A000-2D8565DCC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01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C115C495-05B1-4CD8-ADCD-2DCF1889A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A3E9CEC8-ED14-4B9F-A24C-60E494DFE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9BE1E17-04F4-4A7E-AC68-6238C32C8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6CF99CF-183F-4C08-BEC2-1E07A3750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4/20</a:t>
            </a:r>
          </a:p>
        </p:txBody>
      </p:sp>
    </p:spTree>
    <p:extLst>
      <p:ext uri="{BB962C8B-B14F-4D97-AF65-F5344CB8AC3E}">
        <p14:creationId xmlns:p14="http://schemas.microsoft.com/office/powerpoint/2010/main" val="80688145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EE7693B-9BD1-478C-952D-56F0A2B86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state:modified encontra a mudança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D06F306-C5AD-416A-A8C2-26C68660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O sufixo + inclui descendentes que podem ser afetados.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E58A4C78-A9B7-4969-B189-B07F362A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Modelo editado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Testes associados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Consumidores descendentes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EA3056DA-8BEF-4E49-9DEF-A5374BCB7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59504E62-56E5-4AD4-A446-B72D78125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B4DE5E78-3020-4129-A828-63E4ECA5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60DC2A93-5744-4AFD-ADE9-AE11734C7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8BDA4931-C705-4466-9C2F-67B9C5A17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9B44B242-5CF4-4544-8753-ED515A602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BEA2418-CA5E-4C02-8228-C627FAC3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5/20</a:t>
            </a:r>
          </a:p>
        </p:txBody>
      </p:sp>
    </p:spTree>
    <p:extLst>
      <p:ext uri="{BB962C8B-B14F-4D97-AF65-F5344CB8AC3E}">
        <p14:creationId xmlns:p14="http://schemas.microsoft.com/office/powerpoint/2010/main" val="1558168550"/>
      </p:ext>
    </p:extLst>
  </p:cSld>
</p:sld>
</file>

<file path=ppt/slides/slide6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0B82620-D839-4417-962F-8C2FD7C58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state:modified encontra a mudança</a:t>
            </a:r>
          </a:p>
        </p:txBody>
      </p:sp>
      <p:sp>
        <p:nvSpPr>
          <p:cNvPr id="2" name="flow-1">
            <a:extLst xmlns:a="http://schemas.openxmlformats.org/drawingml/2006/main">
              <a:ext uri="{FF2B5EF4-FFF2-40B4-BE49-F238E27FC236}">
                <a16:creationId xmlns:a16="http://schemas.microsoft.com/office/drawing/2014/main" id="{F14AF267-4CCF-4DD2-B2C5-D39AB319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Mudou</a:t>
            </a:r>
          </a:p>
        </p:txBody>
      </p:sp>
      <p:sp>
        <p:nvSpPr>
          <p:cNvPr id="3" name="flow-2">
            <a:extLst xmlns:a="http://schemas.openxmlformats.org/drawingml/2006/main">
              <a:ext uri="{FF2B5EF4-FFF2-40B4-BE49-F238E27FC236}">
                <a16:creationId xmlns:a16="http://schemas.microsoft.com/office/drawing/2014/main" id="{347C43E8-7919-443A-98EC-B2B36BD9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9488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Filhos</a:t>
            </a:r>
          </a:p>
        </p:txBody>
      </p:sp>
      <p:sp>
        <p:nvSpPr>
          <p:cNvPr id="4" name="flow-3">
            <a:extLst xmlns:a="http://schemas.openxmlformats.org/drawingml/2006/main">
              <a:ext uri="{FF2B5EF4-FFF2-40B4-BE49-F238E27FC236}">
                <a16:creationId xmlns:a16="http://schemas.microsoft.com/office/drawing/2014/main" id="{26198295-969E-41B9-9467-2364124E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Testes</a:t>
            </a:r>
          </a:p>
        </p:txBody>
      </p:sp>
      <p:sp>
        <p:nvSpPr>
          <p:cNvPr id="5" name="flow-4">
            <a:extLst xmlns:a="http://schemas.openxmlformats.org/drawingml/2006/main">
              <a:ext uri="{FF2B5EF4-FFF2-40B4-BE49-F238E27FC236}">
                <a16:creationId xmlns:a16="http://schemas.microsoft.com/office/drawing/2014/main" id="{5EC59CFE-34B7-4DCC-8143-B633781A2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3429000"/>
            <a:ext cx="2443163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0D3260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</a:defRPr>
            </a:pPr>
            <a:r>
              <a:rPr sz="1575" b="1">
                <a:solidFill>
                  <a:srgbClr val="FFFFFF"/>
                </a:solidFill>
              </a:rPr>
              <a:t>Exposures</a:t>
            </a:r>
          </a:p>
        </p:txBody>
      </p:sp>
      <p:cxnSp>
        <p:nvCxnSpPr>
          <p:cNvPr id="18" name=""/>
          <p:cNvCxnSpPr>
            <a:stCxn xmlns:a="http://schemas.openxmlformats.org/drawingml/2006/main" id="2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3252788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19" name=""/>
          <p:cNvCxnSpPr>
            <a:stCxn xmlns:a="http://schemas.openxmlformats.org/drawingml/2006/main" id="3" idx="3"/>
            <a:endCxn xmlns:a="http://schemas.openxmlformats.org/drawingml/2006/main" id="4" idx="1"/>
          </p:cNvCxnSpPr>
          <p:nvPr/>
        </p:nvCxnSpPr>
        <p:spPr>
          <a:xfrm xmlns:a="http://schemas.openxmlformats.org/drawingml/2006/main">
            <a:off x="5962651" y="3962400"/>
            <a:ext cx="266699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cxnSp>
        <p:nvCxnSpPr>
          <p:cNvPr id="20" name=""/>
          <p:cNvCxnSpPr>
            <a:stCxn xmlns:a="http://schemas.openxmlformats.org/drawingml/2006/main" id="4" idx="3"/>
            <a:endCxn xmlns:a="http://schemas.openxmlformats.org/drawingml/2006/main" id="5" idx="1"/>
          </p:cNvCxnSpPr>
          <p:nvPr/>
        </p:nvCxnSpPr>
        <p:spPr>
          <a:xfrm xmlns:a="http://schemas.openxmlformats.org/drawingml/2006/main">
            <a:off x="8672513" y="3962400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EC5FF"/>
            </a:solidFill>
            <a:prstDash val="solid"/>
            <a:headEnd type="arrow" w="med" len="med"/>
          </a:ln>
        </p:spPr>
      </p:cxnSp>
      <p:sp>
        <p:nvSpPr>
          <p:cNvPr id="9" name="eyebrow">
            <a:extLst xmlns:a="http://schemas.openxmlformats.org/drawingml/2006/main">
              <a:ext uri="{FF2B5EF4-FFF2-40B4-BE49-F238E27FC236}">
                <a16:creationId xmlns:a16="http://schemas.microsoft.com/office/drawing/2014/main" id="{39F97F57-6B83-4B36-8CF6-63F381434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10" name="footer-rule">
            <a:extLst xmlns:a="http://schemas.openxmlformats.org/drawingml/2006/main">
              <a:ext uri="{FF2B5EF4-FFF2-40B4-BE49-F238E27FC236}">
                <a16:creationId xmlns:a16="http://schemas.microsoft.com/office/drawing/2014/main" id="{7A10ABF4-00E9-41CA-B067-84BBE3F15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11" name="footer">
            <a:extLst xmlns:a="http://schemas.openxmlformats.org/drawingml/2006/main">
              <a:ext uri="{FF2B5EF4-FFF2-40B4-BE49-F238E27FC236}">
                <a16:creationId xmlns:a16="http://schemas.microsoft.com/office/drawing/2014/main" id="{72A1076F-3FD8-45FB-B1E1-A79B8721B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2D6637-BCD5-4023-8364-4541916BA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6/20</a:t>
            </a:r>
          </a:p>
        </p:txBody>
      </p:sp>
    </p:spTree>
    <p:extLst>
      <p:ext uri="{BB962C8B-B14F-4D97-AF65-F5344CB8AC3E}">
        <p14:creationId xmlns:p14="http://schemas.microsoft.com/office/powerpoint/2010/main" val="2102791970"/>
      </p:ext>
    </p:extLst>
  </p:cSld>
</p:sld>
</file>

<file path=ppt/slides/slide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3C47070-69ED-443A-AA40-A89ABC21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Seleção mínima ingênua perde risco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C02464E-5C61-48DE-A602-F2539452C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Testar apenas o arquivo alterado pode ignorar contratos e consumidores.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A2A00ED6-C568-450B-A9F2-9ADF5EFFA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Impacto no DAG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Testes indiretos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Dependências públicas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5A16B45D-EBD7-4432-A550-51660BDAD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6B2713AE-C297-45CB-8EFD-A7007A686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6E1FEDDD-9C18-4A32-9890-256612B27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03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FC50BFC2-4A9D-4ADF-8E95-876FC00C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2D6AB4E-E423-4E8C-9617-1AB4B8591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EA288940-A9DE-4808-AD22-8CAF97B67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9F5833-BA55-4E22-AE2A-BA071745E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7/20</a:t>
            </a:r>
          </a:p>
        </p:txBody>
      </p:sp>
    </p:spTree>
    <p:extLst>
      <p:ext uri="{BB962C8B-B14F-4D97-AF65-F5344CB8AC3E}">
        <p14:creationId xmlns:p14="http://schemas.microsoft.com/office/powerpoint/2010/main" val="7192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5C9A645-7DAA-4032-A4FE-2F4D4A84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Seleção mínima ingênua perde risco</a:t>
            </a:r>
          </a:p>
        </p:txBody>
      </p:sp>
      <p:sp>
        <p:nvSpPr>
          <p:cNvPr id="2" name="compare-left-title">
            <a:extLst xmlns:a="http://schemas.openxmlformats.org/drawingml/2006/main">
              <a:ext uri="{FF2B5EF4-FFF2-40B4-BE49-F238E27FC236}">
                <a16:creationId xmlns:a16="http://schemas.microsoft.com/office/drawing/2014/main" id="{F450DDEE-D3D9-43FE-BC14-FD8DEB09B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Arquivo</a:t>
            </a:r>
          </a:p>
        </p:txBody>
      </p:sp>
      <p:sp>
        <p:nvSpPr>
          <p:cNvPr id="3" name="compare-right-title">
            <a:extLst xmlns:a="http://schemas.openxmlformats.org/drawingml/2006/main">
              <a:ext uri="{FF2B5EF4-FFF2-40B4-BE49-F238E27FC236}">
                <a16:creationId xmlns:a16="http://schemas.microsoft.com/office/drawing/2014/main" id="{82176D22-B9D4-4264-B2F7-C7C0CF465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857500"/>
            <a:ext cx="457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565C0"/>
                </a:solidFill>
              </a:defRPr>
            </a:pPr>
            <a:r>
              <a:rPr sz="2100" b="1">
                <a:solidFill>
                  <a:srgbClr val="1565C0"/>
                </a:solidFill>
              </a:rPr>
              <a:t>Impacto</a:t>
            </a:r>
          </a:p>
        </p:txBody>
      </p:sp>
      <p:sp>
        <p:nvSpPr>
          <p:cNvPr id="4" name="compare-divider">
            <a:extLst xmlns:a="http://schemas.openxmlformats.org/drawingml/2006/main">
              <a:ext uri="{FF2B5EF4-FFF2-40B4-BE49-F238E27FC236}">
                <a16:creationId xmlns:a16="http://schemas.microsoft.com/office/drawing/2014/main" id="{26A8B50D-95AB-4C39-A943-52271A623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0" cy="2571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BDD7EA"/>
            </a:solidFill>
            <a:prstDash val="solid"/>
          </a:ln>
        </p:spPr>
      </p:sp>
      <p:sp>
        <p:nvSpPr>
          <p:cNvPr id="5" name="bullets">
            <a:extLst xmlns:a="http://schemas.openxmlformats.org/drawingml/2006/main">
              <a:ext uri="{FF2B5EF4-FFF2-40B4-BE49-F238E27FC236}">
                <a16:creationId xmlns:a16="http://schemas.microsoft.com/office/drawing/2014/main" id="{180A70F2-0373-48D8-9AA5-CE5314ACD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Impacto no DAG</a:t>
            </a:r>
          </a:p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Testes indiretos</a:t>
            </a:r>
          </a:p>
        </p:txBody>
      </p:sp>
      <p:sp>
        <p:nvSpPr>
          <p:cNvPr id="6" name="bullets">
            <a:extLst xmlns:a="http://schemas.openxmlformats.org/drawingml/2006/main">
              <a:ext uri="{FF2B5EF4-FFF2-40B4-BE49-F238E27FC236}">
                <a16:creationId xmlns:a16="http://schemas.microsoft.com/office/drawing/2014/main" id="{2167E8F6-4B1E-4AF7-8AB3-EED3B91FD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524250"/>
            <a:ext cx="45720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0B1F3A"/>
                </a:solidFill>
              </a:defRPr>
            </a:pPr>
            <a:r>
              <a:rPr sz="1650">
                <a:solidFill>
                  <a:srgbClr val="0B1F3A"/>
                </a:solidFill>
              </a:rPr>
              <a:t>• Dependências públicas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B9C5F443-3C6F-4422-B4F8-7CB5E29A3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B4810302-4D13-4F28-B639-09CEC3C9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C84580C9-26FB-4973-A9CB-B0B89F1C5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326EC25-5C23-4C7B-8E42-88ED5E8E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8/20</a:t>
            </a:r>
          </a:p>
        </p:txBody>
      </p:sp>
    </p:spTree>
    <p:extLst>
      <p:ext uri="{BB962C8B-B14F-4D97-AF65-F5344CB8AC3E}">
        <p14:creationId xmlns:p14="http://schemas.microsoft.com/office/powerpoint/2010/main" val="13338034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F38340B-0D4E-4805-BA07-7E5703B50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Defer reutiliza relações de outro estado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916855B-CC63-445C-A9A2-4CF928CB0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C6F86"/>
                </a:solidFill>
              </a:defRPr>
            </a:pPr>
            <a:r>
              <a:rPr sz="1650">
                <a:solidFill>
                  <a:srgbClr val="5C6F86"/>
                </a:solidFill>
              </a:rPr>
              <a:t>Modelos não construídos localmente podem apontar para produção ou staging.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7B8D623C-58F1-49CC-8064-BE246D87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Resolve refs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Evita recomputação</a:t>
            </a:r>
          </a:p>
          <a:p xmlns:a="http://schemas.openxmlformats.org/drawingml/2006/main">
            <a:pPr>
              <a:defRPr sz="1800">
                <a:solidFill>
                  <a:srgbClr val="0B1F3A"/>
                </a:solidFill>
              </a:defRPr>
            </a:pPr>
            <a:r>
              <a:rPr sz="1800">
                <a:solidFill>
                  <a:srgbClr val="0B1F3A"/>
                </a:solidFill>
              </a:rPr>
              <a:t>• Exige estado confiável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627FC0E6-F590-4AC8-B50B-17107C7BC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A5247DE-8AB4-4534-8D08-80F263973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496C5784-ABF9-4154-A00E-4B19C2D4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565C0"/>
                </a:solidFill>
              </a:defRPr>
            </a:pPr>
            <a:r>
              <a:rPr sz="4650" b="1">
                <a:solidFill>
                  <a:srgbClr val="1565C0"/>
                </a:solidFill>
              </a:rPr>
              <a:t>04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4514614-B9F4-4E53-B881-3745730A6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454F1968-1ECD-4450-A1CB-84F06FAF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D0D6C530-11DE-45AA-BFA0-420132B4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99A6D20-AA58-42CB-BAAA-51D55F520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9/20</a:t>
            </a:r>
          </a:p>
        </p:txBody>
      </p:sp>
    </p:spTree>
    <p:extLst>
      <p:ext uri="{BB962C8B-B14F-4D97-AF65-F5344CB8AC3E}">
        <p14:creationId xmlns:p14="http://schemas.microsoft.com/office/powerpoint/2010/main" val="93558532"/>
      </p:ext>
    </p:extLst>
  </p:cSld>
</p:sld>
</file>

<file path=ppt/slides/slide10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85F67C4-7AF6-487E-8A44-FEF718D19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Defer reutiliza relações de outro estado</a:t>
            </a:r>
          </a:p>
        </p:txBody>
      </p:sp>
      <p:sp>
        <p:nvSpPr>
          <p:cNvPr id="2" name="visual-claim">
            <a:extLst xmlns:a="http://schemas.openxmlformats.org/drawingml/2006/main">
              <a:ext uri="{FF2B5EF4-FFF2-40B4-BE49-F238E27FC236}">
                <a16:creationId xmlns:a16="http://schemas.microsoft.com/office/drawing/2014/main" id="{7ED55796-7D89-4FDA-950F-F451D4518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81250"/>
            <a:ext cx="390525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FFFFF"/>
                </a:solidFill>
              </a:defRPr>
            </a:pPr>
            <a:r>
              <a:rPr sz="1950" b="1">
                <a:solidFill>
                  <a:srgbClr val="FFFFFF"/>
                </a:solidFill>
              </a:rPr>
              <a:t>Modelos não construídos localmente podem apontar para produção ou staging.</a:t>
            </a:r>
          </a:p>
        </p:txBody>
      </p:sp>
      <p:sp>
        <p:nvSpPr>
          <p:cNvPr id="3" name="image-surface">
            <a:extLst xmlns:a="http://schemas.openxmlformats.org/drawingml/2006/main">
              <a:ext uri="{FF2B5EF4-FFF2-40B4-BE49-F238E27FC236}">
                <a16:creationId xmlns:a16="http://schemas.microsoft.com/office/drawing/2014/main" id="{C26ED348-A57F-48D4-BB0B-2EA529FDF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0200"/>
            <a:ext cx="6362700" cy="4095750"/>
          </a:xfrm>
          <a:prstGeom xmlns:a="http://schemas.openxmlformats.org/drawingml/2006/main" prst="roundRect">
            <a:avLst>
              <a:gd name="adj" fmla="val 186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pic>
        <p:nvPicPr>
          <p:cNvPr id="13" name="" descr="Figura oficial da documentação dbt usada para explicar: Defer reutiliza relações de outro estado — Modelos não construídos localmente podem apontar para produção ou staging..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2c2d29627d411b"/>
          <a:stretch xmlns:a="http://schemas.openxmlformats.org/drawingml/2006/main"/>
        </p:blipFill>
        <p:spPr>
          <a:xfrm xmlns:a="http://schemas.openxmlformats.org/drawingml/2006/main">
            <a:off x="7149489" y="1809750"/>
            <a:ext cx="2350721" cy="3333750"/>
          </a:xfrm>
          <a:prstGeom xmlns:a="http://schemas.openxmlformats.org/drawingml/2006/main" prst="rect">
            <a:avLst/>
          </a:prstGeom>
        </p:spPr>
      </p:pic>
      <p:sp>
        <p:nvSpPr>
          <p:cNvPr id="5" name="image-caption">
            <a:extLst xmlns:a="http://schemas.openxmlformats.org/drawingml/2006/main">
              <a:ext uri="{FF2B5EF4-FFF2-40B4-BE49-F238E27FC236}">
                <a16:creationId xmlns:a16="http://schemas.microsoft.com/office/drawing/2014/main" id="{13E77BBD-9865-4F05-A8B9-339658F3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219700"/>
            <a:ext cx="5791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00" i="1">
                <a:solidFill>
                  <a:srgbClr val="5C6F86"/>
                </a:solidFill>
              </a:defRPr>
            </a:pPr>
            <a:r>
              <a:rPr sz="900" i="1">
                <a:solidFill>
                  <a:srgbClr val="5C6F86"/>
                </a:solidFill>
              </a:rPr>
              <a:t>Figura oficial da documentação dbt — Apache 2.0</a:t>
            </a:r>
          </a:p>
        </p:txBody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1D06DEA-CF45-412B-9C60-9FB8ACB58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DDE901-491A-4E02-8A30-94A678359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534B0CAA-16E8-4733-A1D6-5E5FD3DE5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4BF199F-F0CF-4E53-9D38-6F234A2D0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10/20</a:t>
            </a:r>
          </a:p>
        </p:txBody>
      </p:sp>
    </p:spTree>
    <p:extLst>
      <p:ext uri="{BB962C8B-B14F-4D97-AF65-F5344CB8AC3E}">
        <p14:creationId xmlns:p14="http://schemas.microsoft.com/office/powerpoint/2010/main" val="1061775737"/>
      </p:ext>
    </p:extLst>
  </p:cSld>
</p:sld>
</file>

<file path=ppt/slides/slide1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5327F9D-D605-463A-859B-A268E9F43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CI madura tem três níveis</a:t>
            </a:r>
          </a:p>
        </p:txBody>
      </p:sp>
      <p:sp>
        <p:nvSpPr>
          <p:cNvPr id="2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D135551-D723-45B0-BABF-71CFA8C19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953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Parse barato, seleção por impacto e validação completa cumprem papéis diferentes.</a:t>
            </a:r>
          </a:p>
        </p:txBody>
      </p:sp>
      <p:sp>
        <p:nvSpPr>
          <p:cNvPr id="3" name="bullets">
            <a:extLst xmlns:a="http://schemas.openxmlformats.org/drawingml/2006/main">
              <a:ext uri="{FF2B5EF4-FFF2-40B4-BE49-F238E27FC236}">
                <a16:creationId xmlns:a16="http://schemas.microsoft.com/office/drawing/2014/main" id="{D9A2686D-AC11-41DA-8CB5-DE92D9AC6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59055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PR rápido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Gate de integração</a:t>
            </a:r>
          </a:p>
          <a:p xmlns:a="http://schemas.openxmlformats.org/drawingml/2006/main">
            <a:pPr>
              <a:defRPr sz="1800">
                <a:solidFill>
                  <a:srgbClr val="FFFFFF"/>
                </a:solidFill>
              </a:defRPr>
            </a:pPr>
            <a:r>
              <a:rPr sz="1800">
                <a:solidFill>
                  <a:srgbClr val="FFFFFF"/>
                </a:solidFill>
              </a:rPr>
              <a:t>• Build completo programado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6B49B11-5641-40A2-A2E0-4572E0FA6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7175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46166C8-F77B-4956-9086-BB4D35A0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section-number">
            <a:extLst xmlns:a="http://schemas.openxmlformats.org/drawingml/2006/main">
              <a:ext uri="{FF2B5EF4-FFF2-40B4-BE49-F238E27FC236}">
                <a16:creationId xmlns:a16="http://schemas.microsoft.com/office/drawing/2014/main" id="{A24BCA22-9F29-4F9E-AFB8-A8A810D6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43250"/>
            <a:ext cx="142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650" b="1">
                <a:solidFill>
                  <a:srgbClr val="1EC5FF"/>
                </a:solidFill>
              </a:defRPr>
            </a:pPr>
            <a:r>
              <a:rPr sz="4650" b="1">
                <a:solidFill>
                  <a:srgbClr val="1EC5FF"/>
                </a:solidFill>
              </a:rPr>
              <a:t>05</a:t>
            </a:r>
          </a:p>
        </p:txBody>
      </p:sp>
      <p:sp>
        <p:nvSpPr>
          <p:cNvPr id="7" name="eyebrow">
            <a:extLst xmlns:a="http://schemas.openxmlformats.org/drawingml/2006/main">
              <a:ext uri="{FF2B5EF4-FFF2-40B4-BE49-F238E27FC236}">
                <a16:creationId xmlns:a16="http://schemas.microsoft.com/office/drawing/2014/main" id="{9C3F52C2-4065-4788-879A-687B58C5A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8" name="footer-rule">
            <a:extLst xmlns:a="http://schemas.openxmlformats.org/drawingml/2006/main">
              <a:ext uri="{FF2B5EF4-FFF2-40B4-BE49-F238E27FC236}">
                <a16:creationId xmlns:a16="http://schemas.microsoft.com/office/drawing/2014/main" id="{2973A9BD-0318-4C40-B45D-0CC2F22AC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9" name="footer">
            <a:extLst xmlns:a="http://schemas.openxmlformats.org/drawingml/2006/main">
              <a:ext uri="{FF2B5EF4-FFF2-40B4-BE49-F238E27FC236}">
                <a16:creationId xmlns:a16="http://schemas.microsoft.com/office/drawing/2014/main" id="{AD697DF3-1A8E-4C4C-8E9C-AABAC782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0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6DF1F4F-07EF-4BC5-9B44-4DC4D6BD6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11/20</a:t>
            </a:r>
          </a:p>
        </p:txBody>
      </p:sp>
    </p:spTree>
    <p:extLst>
      <p:ext uri="{BB962C8B-B14F-4D97-AF65-F5344CB8AC3E}">
        <p14:creationId xmlns:p14="http://schemas.microsoft.com/office/powerpoint/2010/main" val="156540999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4C8CB2E-F620-4FA4-A0B1-BE5F4B03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CI madura tem três níveis</a:t>
            </a:r>
          </a:p>
        </p:txBody>
      </p:sp>
      <p:sp>
        <p:nvSpPr>
          <p:cNvPr id="2" name="layer-1">
            <a:extLst xmlns:a="http://schemas.openxmlformats.org/drawingml/2006/main">
              <a:ext uri="{FF2B5EF4-FFF2-40B4-BE49-F238E27FC236}">
                <a16:creationId xmlns:a16="http://schemas.microsoft.com/office/drawing/2014/main" id="{95CE90DC-2EA5-4477-955F-8AC19616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810125"/>
            <a:ext cx="85725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Parse</a:t>
            </a:r>
          </a:p>
        </p:txBody>
      </p:sp>
      <p:sp>
        <p:nvSpPr>
          <p:cNvPr id="3" name="layer-2">
            <a:extLst xmlns:a="http://schemas.openxmlformats.org/drawingml/2006/main">
              <a:ext uri="{FF2B5EF4-FFF2-40B4-BE49-F238E27FC236}">
                <a16:creationId xmlns:a16="http://schemas.microsoft.com/office/drawing/2014/main" id="{6D163A0D-3C86-487B-A2C6-CDBFE1213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9813" y="4162425"/>
            <a:ext cx="7572375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C9E8FA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Modified+</a:t>
            </a:r>
          </a:p>
        </p:txBody>
      </p:sp>
      <p:sp>
        <p:nvSpPr>
          <p:cNvPr id="4" name="layer-3">
            <a:extLst xmlns:a="http://schemas.openxmlformats.org/drawingml/2006/main">
              <a:ext uri="{FF2B5EF4-FFF2-40B4-BE49-F238E27FC236}">
                <a16:creationId xmlns:a16="http://schemas.microsoft.com/office/drawing/2014/main" id="{EF21FDD5-1B63-49EA-A77E-3F0BFE46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3514725"/>
            <a:ext cx="657225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565C0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1F3A"/>
                </a:solidFill>
              </a:defRPr>
            </a:pPr>
            <a:r>
              <a:rPr sz="1500" b="1">
                <a:solidFill>
                  <a:srgbClr val="0B1F3A"/>
                </a:solidFill>
              </a:rPr>
              <a:t>Full build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23484B4A-4808-4662-9DC0-96783025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1D131327-E6FB-41D6-924C-7698A71E5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51C2CE85-EF65-4A51-B12F-9925B877E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1B5A8AF-26B7-45A8-8343-F04ECE27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12/20</a:t>
            </a:r>
          </a:p>
        </p:txBody>
      </p:sp>
    </p:spTree>
    <p:extLst>
      <p:ext uri="{BB962C8B-B14F-4D97-AF65-F5344CB8AC3E}">
        <p14:creationId xmlns:p14="http://schemas.microsoft.com/office/powerpoint/2010/main" val="506617080"/>
      </p:ext>
    </p:extLst>
  </p:cSld>
</p:sld>
</file>

<file path=ppt/slides/slide13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AB0085-A541-451C-827A-1E1320ACF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</a:defRPr>
            </a:pPr>
            <a:r>
              <a:rPr sz="2925" b="1">
                <a:solidFill>
                  <a:srgbClr val="FFFFFF"/>
                </a:solidFill>
              </a:rPr>
              <a:t>Demonstração — execute</a:t>
            </a:r>
          </a:p>
        </p:txBody>
      </p:sp>
      <p:sp>
        <p:nvSpPr>
          <p:cNvPr id="2" name="code-surface">
            <a:extLst xmlns:a="http://schemas.openxmlformats.org/drawingml/2006/main">
              <a:ext uri="{FF2B5EF4-FFF2-40B4-BE49-F238E27FC236}">
                <a16:creationId xmlns:a16="http://schemas.microsoft.com/office/drawing/2014/main" id="{78677BDC-06C8-4859-BC51-717E82381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571750"/>
            <a:ext cx="9715500" cy="1809750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31021"/>
          </a:solidFill>
          <a:ln xmlns:a="http://schemas.openxmlformats.org/drawingml/2006/main" w="19050">
            <a:solidFill>
              <a:srgbClr val="1EC5FF"/>
            </a:solidFill>
            <a:prstDash val="solid"/>
          </a:ln>
        </p:spPr>
      </p:sp>
      <p:sp>
        <p:nvSpPr>
          <p:cNvPr id="3" name="command">
            <a:extLst xmlns:a="http://schemas.openxmlformats.org/drawingml/2006/main">
              <a:ext uri="{FF2B5EF4-FFF2-40B4-BE49-F238E27FC236}">
                <a16:creationId xmlns:a16="http://schemas.microsoft.com/office/drawing/2014/main" id="{24222308-9F77-48E7-B785-90756A3E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3000375"/>
            <a:ext cx="885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EC5FF"/>
                </a:solidFill>
              </a:defRPr>
            </a:pPr>
            <a:r>
              <a:rPr sz="1875" b="1">
                <a:solidFill>
                  <a:srgbClr val="1EC5FF"/>
                </a:solidFill>
              </a:rPr>
              <a:t>python course.py checkpoint 09</a:t>
            </a:r>
          </a:p>
        </p:txBody>
      </p:sp>
      <p:sp>
        <p:nvSpPr>
          <p:cNvPr id="4" name="command-help">
            <a:extLst xmlns:a="http://schemas.openxmlformats.org/drawingml/2006/main">
              <a:ext uri="{FF2B5EF4-FFF2-40B4-BE49-F238E27FC236}">
                <a16:creationId xmlns:a16="http://schemas.microsoft.com/office/drawing/2014/main" id="{14B9A1EA-586B-4D71-B628-E120F5388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875" y="4619625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E2F2FF"/>
                </a:solidFill>
              </a:defRPr>
            </a:pPr>
            <a:r>
              <a:rPr sz="1425">
                <a:solidFill>
                  <a:srgbClr val="E2F2FF"/>
                </a:solidFill>
              </a:rPr>
              <a:t>Copie exatamente como aparece. O launcher escolhe o ambiente correto.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8FB3C386-D6FD-4447-A851-C6F6804F5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68B15E1-B3DA-4851-9BBC-C3E4246EC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B5C7B447-89D8-422A-AD0A-AD86B9AD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FDC1C02-2B11-4A1B-A941-62D556903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13/20</a:t>
            </a:r>
          </a:p>
        </p:txBody>
      </p:sp>
    </p:spTree>
    <p:extLst>
      <p:ext uri="{BB962C8B-B14F-4D97-AF65-F5344CB8AC3E}">
        <p14:creationId xmlns:p14="http://schemas.microsoft.com/office/powerpoint/2010/main" val="141817041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3DBD120-79E4-4DDB-921C-B0F80E8DA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Demonstração — observe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2B8C583F-82DF-43C8-9F2E-3A59FC1A8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D323A62C-E70D-4145-9E23-62E9CBCF6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Manifest baseline preservado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88824DEB-CCF7-4AB6-B1AF-95E6E2D3F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0A8756AF-2596-4AEA-BF7D-AF29D3D2B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C4D4F91C-CC00-43F7-9A54-5001A9A7B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Mudança sintética isolada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2CEC108A-9F5F-443D-946E-E725FC405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12E6B566-99C6-4A4B-8892-CAB56B5E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BD09CCEF-EEF7-4DBE-9BAD-5ECFF47E6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Seleção e defer comparados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53A4ECD3-50A2-4F21-92AB-661940364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E2AC0074-A31F-4425-8EE6-35DA65477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D4B7B3B2-A81F-4223-92C1-6A5D83B3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57897AD-59EF-4E99-B31A-B6849088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14/20</a:t>
            </a:r>
          </a:p>
        </p:txBody>
      </p:sp>
    </p:spTree>
    <p:extLst>
      <p:ext uri="{BB962C8B-B14F-4D97-AF65-F5344CB8AC3E}">
        <p14:creationId xmlns:p14="http://schemas.microsoft.com/office/powerpoint/2010/main" val="1896166518"/>
      </p:ext>
    </p:extLst>
  </p:cSld>
</p:sld>
</file>

<file path=ppt/slides/slide15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esult-label">
            <a:extLst xmlns:a="http://schemas.openxmlformats.org/drawingml/2006/main">
              <a:ext uri="{FF2B5EF4-FFF2-40B4-BE49-F238E27FC236}">
                <a16:creationId xmlns:a16="http://schemas.microsoft.com/office/drawing/2014/main" id="{7DA857BF-4D4B-498E-BC85-472C4CF8D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144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EC5FF"/>
                </a:solidFill>
              </a:defRPr>
            </a:pPr>
            <a:r>
              <a:rPr sz="1350" b="1">
                <a:solidFill>
                  <a:srgbClr val="1EC5FF"/>
                </a:solidFill>
              </a:rPr>
              <a:t>RESULTADO ESPERADO</a:t>
            </a:r>
          </a:p>
        </p:txBody>
      </p:sp>
      <p:sp>
        <p:nvSpPr>
          <p:cNvPr id="2" name="result">
            <a:extLst xmlns:a="http://schemas.openxmlformats.org/drawingml/2006/main">
              <a:ext uri="{FF2B5EF4-FFF2-40B4-BE49-F238E27FC236}">
                <a16:creationId xmlns:a16="http://schemas.microsoft.com/office/drawing/2014/main" id="{42B4653C-7957-4163-B34A-85F8CB4C9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001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FFFFF"/>
                </a:solidFill>
              </a:defRPr>
            </a:pPr>
            <a:r>
              <a:rPr sz="3450" b="1">
                <a:solidFill>
                  <a:srgbClr val="FFFFFF"/>
                </a:solidFill>
              </a:rPr>
              <a:t>Somente o ramo afetado é selecionado</a:t>
            </a:r>
          </a:p>
        </p:txBody>
      </p:sp>
      <p:sp>
        <p:nvSpPr>
          <p:cNvPr id="3" name="result-meta">
            <a:extLst xmlns:a="http://schemas.openxmlformats.org/drawingml/2006/main">
              <a:ext uri="{FF2B5EF4-FFF2-40B4-BE49-F238E27FC236}">
                <a16:creationId xmlns:a16="http://schemas.microsoft.com/office/drawing/2014/main" id="{D463C541-2DE8-48FC-BDF1-AD5E3AA3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E2F2FF"/>
                </a:solidFill>
              </a:defRPr>
            </a:pPr>
            <a:r>
              <a:rPr sz="1650">
                <a:solidFill>
                  <a:srgbClr val="E2F2FF"/>
                </a:solidFill>
              </a:rPr>
              <a:t>Checkpoint 09 • evidência reproduzível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D3F22457-8CC4-4EA6-97FC-2C0464574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476500"/>
            <a:ext cx="2190750" cy="2190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44E53C84-0F2F-4BE0-979A-0C0A1C6BF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933700"/>
            <a:ext cx="1276350" cy="1276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9905B43A-86B6-4640-9BCA-D8DF991B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2CA3173-55AA-4FA9-A155-D04ED3CAB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D6D29458-FF7C-4712-9630-59ACD1BE3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62B02AC-ED4B-4FDA-8F17-BD1F0FF2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15/20</a:t>
            </a:r>
          </a:p>
        </p:txBody>
      </p:sp>
    </p:spTree>
    <p:extLst>
      <p:ext uri="{BB962C8B-B14F-4D97-AF65-F5344CB8AC3E}">
        <p14:creationId xmlns:p14="http://schemas.microsoft.com/office/powerpoint/2010/main" val="91703786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43D7A4A-F510-46FD-9C5E-264365D74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O mesmo recurso afeta três decisões</a:t>
            </a:r>
          </a:p>
        </p:txBody>
      </p:sp>
      <p:sp>
        <p:nvSpPr>
          <p:cNvPr id="2" name="step-num-1">
            <a:extLst xmlns:a="http://schemas.openxmlformats.org/drawingml/2006/main">
              <a:ext uri="{FF2B5EF4-FFF2-40B4-BE49-F238E27FC236}">
                <a16:creationId xmlns:a16="http://schemas.microsoft.com/office/drawing/2014/main" id="{6F9B29FD-D130-43F2-8382-8EDD209B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01</a:t>
            </a:r>
          </a:p>
        </p:txBody>
      </p:sp>
      <p:sp>
        <p:nvSpPr>
          <p:cNvPr id="3" name="step-label-1">
            <a:extLst xmlns:a="http://schemas.openxmlformats.org/drawingml/2006/main">
              <a:ext uri="{FF2B5EF4-FFF2-40B4-BE49-F238E27FC236}">
                <a16:creationId xmlns:a16="http://schemas.microsoft.com/office/drawing/2014/main" id="{FA49A547-3EF8-4FA8-8975-7656C8B5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Governança: impacto visível</a:t>
            </a:r>
          </a:p>
        </p:txBody>
      </p:sp>
      <p:sp>
        <p:nvSpPr>
          <p:cNvPr id="4" name="step-line-1">
            <a:extLst xmlns:a="http://schemas.openxmlformats.org/drawingml/2006/main">
              <a:ext uri="{FF2B5EF4-FFF2-40B4-BE49-F238E27FC236}">
                <a16:creationId xmlns:a16="http://schemas.microsoft.com/office/drawing/2014/main" id="{509B6122-7FEE-46CA-B262-B2B5ABB12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5" name="step-num-2">
            <a:extLst xmlns:a="http://schemas.openxmlformats.org/drawingml/2006/main">
              <a:ext uri="{FF2B5EF4-FFF2-40B4-BE49-F238E27FC236}">
                <a16:creationId xmlns:a16="http://schemas.microsoft.com/office/drawing/2014/main" id="{1F7BD6DC-C67A-4D1F-BBEE-7583938C4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02</a:t>
            </a:r>
          </a:p>
        </p:txBody>
      </p:sp>
      <p:sp>
        <p:nvSpPr>
          <p:cNvPr id="6" name="step-label-2">
            <a:extLst xmlns:a="http://schemas.openxmlformats.org/drawingml/2006/main">
              <a:ext uri="{FF2B5EF4-FFF2-40B4-BE49-F238E27FC236}">
                <a16:creationId xmlns:a16="http://schemas.microsoft.com/office/drawing/2014/main" id="{D77C34D3-66C6-4B0C-B3F7-3ED1B81E1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FinOps: menos recomputação</a:t>
            </a:r>
          </a:p>
        </p:txBody>
      </p:sp>
      <p:sp>
        <p:nvSpPr>
          <p:cNvPr id="7" name="step-line-2">
            <a:extLst xmlns:a="http://schemas.openxmlformats.org/drawingml/2006/main">
              <a:ext uri="{FF2B5EF4-FFF2-40B4-BE49-F238E27FC236}">
                <a16:creationId xmlns:a16="http://schemas.microsoft.com/office/drawing/2014/main" id="{B4269EA7-8FC2-4DAD-BF77-FB721B49D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86125"/>
            <a:ext cx="704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565C0"/>
            </a:solidFill>
            <a:prstDash val="solid"/>
          </a:ln>
        </p:spPr>
      </p:sp>
      <p:sp>
        <p:nvSpPr>
          <p:cNvPr id="8" name="step-num-3">
            <a:extLst xmlns:a="http://schemas.openxmlformats.org/drawingml/2006/main">
              <a:ext uri="{FF2B5EF4-FFF2-40B4-BE49-F238E27FC236}">
                <a16:creationId xmlns:a16="http://schemas.microsoft.com/office/drawing/2014/main" id="{FE548400-8D4F-482F-A285-22FDDA494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2857500"/>
            <a:ext cx="876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565C0"/>
                </a:solidFill>
              </a:defRPr>
            </a:pPr>
            <a:r>
              <a:rPr sz="3450" b="1">
                <a:solidFill>
                  <a:srgbClr val="1565C0"/>
                </a:solidFill>
              </a:rPr>
              <a:t>03</a:t>
            </a:r>
          </a:p>
        </p:txBody>
      </p:sp>
      <p:sp>
        <p:nvSpPr>
          <p:cNvPr id="9" name="step-label-3">
            <a:extLst xmlns:a="http://schemas.openxmlformats.org/drawingml/2006/main">
              <a:ext uri="{FF2B5EF4-FFF2-40B4-BE49-F238E27FC236}">
                <a16:creationId xmlns:a16="http://schemas.microsoft.com/office/drawing/2014/main" id="{5D6C3641-0988-4009-8238-4694D155E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33800"/>
            <a:ext cx="2190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B1F3A"/>
                </a:solidFill>
              </a:defRPr>
            </a:pPr>
            <a:r>
              <a:rPr sz="1575" b="1">
                <a:solidFill>
                  <a:srgbClr val="0B1F3A"/>
                </a:solidFill>
              </a:rPr>
              <a:t>IA: artifacts atualizados</a:t>
            </a:r>
          </a:p>
        </p:txBody>
      </p:sp>
      <p:sp>
        <p:nvSpPr>
          <p:cNvPr id="10" name="eyebrow">
            <a:extLst xmlns:a="http://schemas.openxmlformats.org/drawingml/2006/main">
              <a:ext uri="{FF2B5EF4-FFF2-40B4-BE49-F238E27FC236}">
                <a16:creationId xmlns:a16="http://schemas.microsoft.com/office/drawing/2014/main" id="{7661FEFA-CC17-479E-BF56-23B80202E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11" name="footer-rule">
            <a:extLst xmlns:a="http://schemas.openxmlformats.org/drawingml/2006/main">
              <a:ext uri="{FF2B5EF4-FFF2-40B4-BE49-F238E27FC236}">
                <a16:creationId xmlns:a16="http://schemas.microsoft.com/office/drawing/2014/main" id="{31B9ACC8-AAA2-4641-A81C-AE2F04BC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12" name="footer">
            <a:extLst xmlns:a="http://schemas.openxmlformats.org/drawingml/2006/main">
              <a:ext uri="{FF2B5EF4-FFF2-40B4-BE49-F238E27FC236}">
                <a16:creationId xmlns:a16="http://schemas.microsoft.com/office/drawing/2014/main" id="{CE751184-FA24-4EC4-9661-BB8C49C01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13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E153E3-4950-4577-9B1B-BFEDA8B5A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16/20</a:t>
            </a:r>
          </a:p>
        </p:txBody>
      </p:sp>
    </p:spTree>
    <p:extLst>
      <p:ext uri="{BB962C8B-B14F-4D97-AF65-F5344CB8AC3E}">
        <p14:creationId xmlns:p14="http://schemas.microsoft.com/office/powerpoint/2010/main" val="1513038394"/>
      </p:ext>
    </p:extLst>
  </p:cSld>
</p:sld>
</file>

<file path=ppt/slides/slide17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ase-number">
            <a:extLst xmlns:a="http://schemas.openxmlformats.org/drawingml/2006/main">
              <a:ext uri="{FF2B5EF4-FFF2-40B4-BE49-F238E27FC236}">
                <a16:creationId xmlns:a16="http://schemas.microsoft.com/office/drawing/2014/main" id="{23EF13B4-07D5-4444-838C-A5E7AAAF0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1EC5FF"/>
                </a:solidFill>
              </a:defRPr>
            </a:pPr>
            <a:r>
              <a:rPr sz="5550" b="1">
                <a:solidFill>
                  <a:srgbClr val="1EC5FF"/>
                </a:solidFill>
              </a:rPr>
              <a:t>modified+</a:t>
            </a:r>
          </a:p>
        </p:txBody>
      </p:sp>
      <p:sp>
        <p:nvSpPr>
          <p:cNvPr id="2" name="case-label">
            <a:extLst xmlns:a="http://schemas.openxmlformats.org/drawingml/2006/main">
              <a:ext uri="{FF2B5EF4-FFF2-40B4-BE49-F238E27FC236}">
                <a16:creationId xmlns:a16="http://schemas.microsoft.com/office/drawing/2014/main" id="{8A717108-164C-43F9-A9FF-613483A3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mudança e descendentes</a:t>
            </a:r>
          </a:p>
        </p:txBody>
      </p:sp>
      <p:sp>
        <p:nvSpPr>
          <p:cNvPr id="3" name="case-divider">
            <a:extLst xmlns:a="http://schemas.openxmlformats.org/drawingml/2006/main">
              <a:ext uri="{FF2B5EF4-FFF2-40B4-BE49-F238E27FC236}">
                <a16:creationId xmlns:a16="http://schemas.microsoft.com/office/drawing/2014/main" id="{1F223353-0A84-4039-A3D5-4823B1A6D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524000"/>
            <a:ext cx="0" cy="3143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FFFF">
                <a:alpha val="27059"/>
              </a:srgbClr>
            </a:solidFill>
            <a:prstDash val="solid"/>
          </a:ln>
        </p:spPr>
      </p:sp>
      <p:sp>
        <p:nvSpPr>
          <p:cNvPr id="4" name="case-caveat">
            <a:extLst xmlns:a="http://schemas.openxmlformats.org/drawingml/2006/main">
              <a:ext uri="{FF2B5EF4-FFF2-40B4-BE49-F238E27FC236}">
                <a16:creationId xmlns:a16="http://schemas.microsoft.com/office/drawing/2014/main" id="{98E0BF30-2727-4167-8896-0AC3A2336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90750"/>
            <a:ext cx="33337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2F2FF"/>
                </a:solidFill>
              </a:defRPr>
            </a:pPr>
            <a:r>
              <a:rPr sz="1800">
                <a:solidFill>
                  <a:srgbClr val="E2F2FF"/>
                </a:solidFill>
              </a:rPr>
              <a:t>A economia depende do tamanho e da topologia do projeto.</a:t>
            </a:r>
          </a:p>
        </p:txBody>
      </p:sp>
      <p:sp>
        <p:nvSpPr>
          <p:cNvPr id="5" name="eyebrow">
            <a:extLst xmlns:a="http://schemas.openxmlformats.org/drawingml/2006/main">
              <a:ext uri="{FF2B5EF4-FFF2-40B4-BE49-F238E27FC236}">
                <a16:creationId xmlns:a16="http://schemas.microsoft.com/office/drawing/2014/main" id="{A1503E1D-BFE6-4F39-9974-2447B447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6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E257305-2E3F-4CAE-AE71-990ACDC9C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7" name="footer">
            <a:extLst xmlns:a="http://schemas.openxmlformats.org/drawingml/2006/main">
              <a:ext uri="{FF2B5EF4-FFF2-40B4-BE49-F238E27FC236}">
                <a16:creationId xmlns:a16="http://schemas.microsoft.com/office/drawing/2014/main" id="{8570716C-91DD-4E32-BC26-A55DC1BCA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B797EFF-1664-490F-A353-9B02DA6B7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17/20</a:t>
            </a:r>
          </a:p>
        </p:txBody>
      </p:sp>
    </p:spTree>
    <p:extLst>
      <p:ext uri="{BB962C8B-B14F-4D97-AF65-F5344CB8AC3E}">
        <p14:creationId xmlns:p14="http://schemas.microsoft.com/office/powerpoint/2010/main" val="1716912660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2D5167-1DC7-4AB7-B9CF-EBAC96FB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906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B1F3A"/>
                </a:solidFill>
              </a:defRPr>
            </a:pPr>
            <a:r>
              <a:rPr sz="2925" b="1">
                <a:solidFill>
                  <a:srgbClr val="0B1F3A"/>
                </a:solidFill>
              </a:rPr>
              <a:t>Limitações que precisam permanecer visíveis</a:t>
            </a:r>
          </a:p>
        </p:txBody>
      </p:sp>
      <p:sp>
        <p:nvSpPr>
          <p:cNvPr id="2" name="bullets">
            <a:extLst xmlns:a="http://schemas.openxmlformats.org/drawingml/2006/main">
              <a:ext uri="{FF2B5EF4-FFF2-40B4-BE49-F238E27FC236}">
                <a16:creationId xmlns:a16="http://schemas.microsoft.com/office/drawing/2014/main" id="{D337EB5B-4C41-447F-85BE-E6F4327E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667000"/>
            <a:ext cx="9906000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Estado velho seleciona errado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Defer pode esconder divergência</a:t>
            </a:r>
          </a:p>
          <a:p xmlns:a="http://schemas.openxmlformats.org/drawingml/2006/main">
            <a:pPr>
              <a:defRPr sz="1950">
                <a:solidFill>
                  <a:srgbClr val="0B1F3A"/>
                </a:solidFill>
              </a:defRPr>
            </a:pPr>
            <a:r>
              <a:rPr sz="1950">
                <a:solidFill>
                  <a:srgbClr val="0B1F3A"/>
                </a:solidFill>
              </a:rPr>
              <a:t>• Full build continua necessário</a:t>
            </a:r>
          </a:p>
        </p:txBody>
      </p:sp>
      <p:sp>
        <p:nvSpPr>
          <p:cNvPr id="3" name="eyebrow">
            <a:extLst xmlns:a="http://schemas.openxmlformats.org/drawingml/2006/main">
              <a:ext uri="{FF2B5EF4-FFF2-40B4-BE49-F238E27FC236}">
                <a16:creationId xmlns:a16="http://schemas.microsoft.com/office/drawing/2014/main" id="{BC6F4E87-E163-4FFB-8D24-C1E7B17E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4" name="footer-rule">
            <a:extLst xmlns:a="http://schemas.openxmlformats.org/drawingml/2006/main">
              <a:ext uri="{FF2B5EF4-FFF2-40B4-BE49-F238E27FC236}">
                <a16:creationId xmlns:a16="http://schemas.microsoft.com/office/drawing/2014/main" id="{D935F522-3A0E-4C67-B091-8559C78AF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5" name="footer">
            <a:extLst xmlns:a="http://schemas.openxmlformats.org/drawingml/2006/main">
              <a:ext uri="{FF2B5EF4-FFF2-40B4-BE49-F238E27FC236}">
                <a16:creationId xmlns:a16="http://schemas.microsoft.com/office/drawing/2014/main" id="{EDE43BB7-E8CA-4D5E-8306-6B47944FE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6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B289896-35F9-4C3D-B1BF-2AA7806B5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18/20</a:t>
            </a:r>
          </a:p>
        </p:txBody>
      </p:sp>
    </p:spTree>
    <p:extLst>
      <p:ext uri="{BB962C8B-B14F-4D97-AF65-F5344CB8AC3E}">
        <p14:creationId xmlns:p14="http://schemas.microsoft.com/office/powerpoint/2010/main" val="454827854"/>
      </p:ext>
    </p:extLst>
  </p:cSld>
</p:sld>
</file>

<file path=ppt/slides/slide19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6142E"/>
            </a:gs>
            <a:gs pos="100000">
              <a:srgbClr val="0A2348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radar-label">
            <a:extLst xmlns:a="http://schemas.openxmlformats.org/drawingml/2006/main">
              <a:ext uri="{FF2B5EF4-FFF2-40B4-BE49-F238E27FC236}">
                <a16:creationId xmlns:a16="http://schemas.microsoft.com/office/drawing/2014/main" id="{88368737-5885-4EB3-AFD7-BB56AE512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EC5FF"/>
                </a:solidFill>
              </a:defRPr>
            </a:pPr>
            <a:r>
              <a:rPr sz="1500" b="1">
                <a:solidFill>
                  <a:srgbClr val="1EC5FF"/>
                </a:solidFill>
              </a:rPr>
              <a:t>RADAR</a:t>
            </a:r>
          </a:p>
        </p:txBody>
      </p:sp>
      <p:sp>
        <p:nvSpPr>
          <p:cNvPr id="2" name="radar-text">
            <a:extLst xmlns:a="http://schemas.openxmlformats.org/drawingml/2006/main">
              <a:ext uri="{FF2B5EF4-FFF2-40B4-BE49-F238E27FC236}">
                <a16:creationId xmlns:a16="http://schemas.microsoft.com/office/drawing/2014/main" id="{C26EAA5F-53E6-49E2-A290-A5BAFDAB9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334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FFFFF"/>
                </a:solidFill>
              </a:defRPr>
            </a:pPr>
            <a:r>
              <a:rPr sz="2850" b="1">
                <a:solidFill>
                  <a:srgbClr val="FFFFFF"/>
                </a:solidFill>
              </a:rPr>
              <a:t>dbt State gerenciado permanece fora; artifacts abertos sustentam a aula.</a:t>
            </a:r>
          </a:p>
        </p:txBody>
      </p:sp>
      <p:sp>
        <p:nvSpPr>
          <p:cNvPr id="3" name="radar-rule">
            <a:extLst xmlns:a="http://schemas.openxmlformats.org/drawingml/2006/main">
              <a:ext uri="{FF2B5EF4-FFF2-40B4-BE49-F238E27FC236}">
                <a16:creationId xmlns:a16="http://schemas.microsoft.com/office/drawing/2014/main" id="{EF81B098-8A15-4AAC-BCC0-E46C0BE40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E2F2FF"/>
                </a:solidFill>
              </a:defRPr>
            </a:pPr>
            <a:r>
              <a:rPr sz="1500">
                <a:solidFill>
                  <a:srgbClr val="E2F2FF"/>
                </a:solidFill>
              </a:rPr>
              <a:t>Novidade observada ≠ recomendação de produção</a:t>
            </a:r>
          </a:p>
        </p:txBody>
      </p:sp>
      <p:sp>
        <p:nvSpPr>
          <p:cNvPr id="4" name="ambient-glow">
            <a:extLst xmlns:a="http://schemas.openxmlformats.org/drawingml/2006/main">
              <a:ext uri="{FF2B5EF4-FFF2-40B4-BE49-F238E27FC236}">
                <a16:creationId xmlns:a16="http://schemas.microsoft.com/office/drawing/2014/main" id="{7FB2DEA0-C470-4097-A282-6EEB8091B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76225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EC5FF">
              <a:alpha val="9412"/>
            </a:srgbClr>
          </a:solidFill>
          <a:ln xmlns:a="http://schemas.openxmlformats.org/drawingml/2006/main" w="19050">
            <a:solidFill>
              <a:srgbClr val="1EC5FF">
                <a:alpha val="18824"/>
              </a:srgbClr>
            </a:solidFill>
            <a:prstDash val="solid"/>
          </a:ln>
        </p:spPr>
      </p:sp>
      <p:sp>
        <p:nvSpPr>
          <p:cNvPr id="5" name="ambient-core">
            <a:extLst xmlns:a="http://schemas.openxmlformats.org/drawingml/2006/main">
              <a:ext uri="{FF2B5EF4-FFF2-40B4-BE49-F238E27FC236}">
                <a16:creationId xmlns:a16="http://schemas.microsoft.com/office/drawing/2014/main" id="{C75AD3B6-8383-4671-AA3E-73643257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21945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65C0">
              <a:alpha val="14510"/>
            </a:srgbClr>
          </a:solidFill>
          <a:ln xmlns:a="http://schemas.openxmlformats.org/drawingml/2006/main" w="19050">
            <a:solidFill>
              <a:srgbClr val="1EC5FF">
                <a:alpha val="33333"/>
              </a:srgbClr>
            </a:solidFill>
            <a:prstDash val="solid"/>
          </a:ln>
        </p:spPr>
      </p:sp>
      <p:sp>
        <p:nvSpPr>
          <p:cNvPr id="6" name="eyebrow">
            <a:extLst xmlns:a="http://schemas.openxmlformats.org/drawingml/2006/main">
              <a:ext uri="{FF2B5EF4-FFF2-40B4-BE49-F238E27FC236}">
                <a16:creationId xmlns:a16="http://schemas.microsoft.com/office/drawing/2014/main" id="{CA8352A8-08D4-475B-B91F-A0A9CA37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EC5FF"/>
                </a:solidFill>
              </a:defRPr>
            </a:pPr>
            <a:r>
              <a:rPr sz="1050" b="1">
                <a:solidFill>
                  <a:srgbClr val="1EC5FF"/>
                </a:solidFill>
              </a:rPr>
              <a:t>EPISÓDIO 9  •  OPEN / CORE 1.12</a:t>
            </a:r>
          </a:p>
        </p:txBody>
      </p:sp>
      <p:sp>
        <p:nvSpPr>
          <p:cNvPr id="7" name="footer-rule">
            <a:extLst xmlns:a="http://schemas.openxmlformats.org/drawingml/2006/main">
              <a:ext uri="{FF2B5EF4-FFF2-40B4-BE49-F238E27FC236}">
                <a16:creationId xmlns:a16="http://schemas.microsoft.com/office/drawing/2014/main" id="{95007C46-C44A-4A32-B999-ACE2B3E1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FFFF">
                <a:alpha val="18824"/>
              </a:srgbClr>
            </a:solidFill>
            <a:prstDash val="solid"/>
          </a:ln>
        </p:spPr>
      </p:sp>
      <p:sp>
        <p:nvSpPr>
          <p:cNvPr id="8" name="footer">
            <a:extLst xmlns:a="http://schemas.openxmlformats.org/drawingml/2006/main">
              <a:ext uri="{FF2B5EF4-FFF2-40B4-BE49-F238E27FC236}">
                <a16:creationId xmlns:a16="http://schemas.microsoft.com/office/drawing/2014/main" id="{8C3FE03C-A9FF-46AC-B5A6-F5D594F25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FFFFFF">
                    <a:alpha val="53333"/>
                  </a:srgbClr>
                </a:solidFill>
              </a:defRPr>
            </a:pPr>
            <a:r>
              <a:rPr sz="825">
                <a:solidFill>
                  <a:srgbClr val="FFFFFF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9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CE52DA1-01E4-4DE0-925E-BB76CEF7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FFFFFF">
                    <a:alpha val="53333"/>
                  </a:srgbClr>
                </a:solidFill>
              </a:defRPr>
            </a:pPr>
            <a:r>
              <a:rPr sz="825" b="1">
                <a:solidFill>
                  <a:srgbClr val="FFFFFF">
                    <a:alpha val="53333"/>
                  </a:srgbClr>
                </a:solidFill>
              </a:rPr>
              <a:t>19/20</a:t>
            </a:r>
          </a:p>
        </p:txBody>
      </p:sp>
    </p:spTree>
    <p:extLst>
      <p:ext uri="{BB962C8B-B14F-4D97-AF65-F5344CB8AC3E}">
        <p14:creationId xmlns:p14="http://schemas.microsoft.com/office/powerpoint/2010/main" val="185186973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E2F2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ta-label">
            <a:extLst xmlns:a="http://schemas.openxmlformats.org/drawingml/2006/main">
              <a:ext uri="{FF2B5EF4-FFF2-40B4-BE49-F238E27FC236}">
                <a16:creationId xmlns:a16="http://schemas.microsoft.com/office/drawing/2014/main" id="{C74FEF11-56CB-4A7D-852E-1B7C9BB99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33500"/>
            <a:ext cx="381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1565C0"/>
                </a:solidFill>
              </a:defRPr>
            </a:pPr>
            <a:r>
              <a:rPr sz="1350" b="1">
                <a:solidFill>
                  <a:srgbClr val="1565C0"/>
                </a:solidFill>
              </a:rPr>
              <a:t>PRÓXIMO PASSO</a:t>
            </a:r>
          </a:p>
        </p:txBody>
      </p:sp>
      <p:sp>
        <p:nvSpPr>
          <p:cNvPr id="2" name="cta">
            <a:extLst xmlns:a="http://schemas.openxmlformats.org/drawingml/2006/main">
              <a:ext uri="{FF2B5EF4-FFF2-40B4-BE49-F238E27FC236}">
                <a16:creationId xmlns:a16="http://schemas.microsoft.com/office/drawing/2014/main" id="{348D63E5-642B-4618-9E9D-7D6D64D90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971550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B1F3A"/>
                </a:solidFill>
              </a:defRPr>
            </a:pPr>
            <a:r>
              <a:rPr sz="3300" b="1">
                <a:solidFill>
                  <a:srgbClr val="0B1F3A"/>
                </a:solidFill>
              </a:rPr>
              <a:t>Salve um manifest e compare a seleção antes e depois de uma mudança.</a:t>
            </a:r>
          </a:p>
        </p:txBody>
      </p:sp>
      <p:sp>
        <p:nvSpPr>
          <p:cNvPr id="3" name="cta-meta">
            <a:extLst xmlns:a="http://schemas.openxmlformats.org/drawingml/2006/main">
              <a:ext uri="{FF2B5EF4-FFF2-40B4-BE49-F238E27FC236}">
                <a16:creationId xmlns:a16="http://schemas.microsoft.com/office/drawing/2014/main" id="{D1667DC8-477D-44F3-B890-308C20BAD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762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C6F86"/>
                </a:solidFill>
              </a:defRPr>
            </a:pPr>
            <a:r>
              <a:rPr sz="1500">
                <a:solidFill>
                  <a:srgbClr val="5C6F86"/>
                </a:solidFill>
              </a:rPr>
              <a:t>Checkpoint 09 • roteiro completo no repositório</a:t>
            </a:r>
          </a:p>
        </p:txBody>
      </p:sp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8F245D16-A279-406A-B7B3-F17DDF72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565C0"/>
                </a:solidFill>
              </a:defRPr>
            </a:pPr>
            <a:r>
              <a:rPr sz="1050" b="1">
                <a:solidFill>
                  <a:srgbClr val="1565C0"/>
                </a:solidFill>
              </a:rPr>
              <a:t>EPISÓDIO 9  •  OPEN / CORE 1.12</a:t>
            </a:r>
          </a:p>
        </p:txBody>
      </p:sp>
      <p:sp>
        <p:nvSpPr>
          <p:cNvPr id="5" name="footer-rule">
            <a:extLst xmlns:a="http://schemas.openxmlformats.org/drawingml/2006/main">
              <a:ext uri="{FF2B5EF4-FFF2-40B4-BE49-F238E27FC236}">
                <a16:creationId xmlns:a16="http://schemas.microsoft.com/office/drawing/2014/main" id="{0ACBD8B4-56AA-46FF-A64E-B2633B601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29375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565C0">
                <a:alpha val="20784"/>
              </a:srgbClr>
            </a:solidFill>
            <a:prstDash val="solid"/>
          </a:ln>
        </p:spPr>
      </p:sp>
      <p:sp>
        <p:nvSpPr>
          <p:cNvPr id="6" name="footer">
            <a:extLst xmlns:a="http://schemas.openxmlformats.org/drawingml/2006/main">
              <a:ext uri="{FF2B5EF4-FFF2-40B4-BE49-F238E27FC236}">
                <a16:creationId xmlns:a16="http://schemas.microsoft.com/office/drawing/2014/main" id="{13FC195A-C483-4080-8758-DDF9F5462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96050"/>
            <a:ext cx="838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0B1F3A">
                    <a:alpha val="53333"/>
                  </a:srgbClr>
                </a:solidFill>
              </a:defRPr>
            </a:pPr>
            <a:r>
              <a:rPr sz="825">
                <a:solidFill>
                  <a:srgbClr val="0B1F3A">
                    <a:alpha val="53333"/>
                  </a:srgbClr>
                </a:solidFill>
              </a:rPr>
              <a:t>dbt Moderno na Prática • Rescue Point • curso independente</a:t>
            </a:r>
          </a:p>
        </p:txBody>
      </p:sp>
      <p:sp>
        <p:nvSpPr>
          <p:cNvPr id="7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D84489-3F47-41A2-80A5-16BE1B5D8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96050"/>
            <a:ext cx="8382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>
                <a:solidFill>
                  <a:srgbClr val="0B1F3A">
                    <a:alpha val="53333"/>
                  </a:srgbClr>
                </a:solidFill>
              </a:defRPr>
            </a:pPr>
            <a:r>
              <a:rPr sz="825" b="1">
                <a:solidFill>
                  <a:srgbClr val="0B1F3A">
                    <a:alpha val="53333"/>
                  </a:srgbClr>
                </a:solidFill>
              </a:rPr>
              <a:t>20/20</a:t>
            </a:r>
          </a:p>
        </p:txBody>
      </p:sp>
    </p:spTree>
    <p:extLst>
      <p:ext uri="{BB962C8B-B14F-4D97-AF65-F5344CB8AC3E}">
        <p14:creationId xmlns:p14="http://schemas.microsoft.com/office/powerpoint/2010/main" val="12479850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2026-09-02T00:42:46.5200000Z</dcterms:created>
  <dcterms:modified xsi:type="dcterms:W3CDTF">2026-09-02T00:42:46.5200000Z</dcterms:modified>
</coreProperties>
</file>