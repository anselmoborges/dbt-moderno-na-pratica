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Masters/slideMaster2.xml" ContentType="application/vnd.openxmlformats-officedocument.presentationml.slideMaster+xml"/>
  <Override PartName="/ppt/slideMasters/theme/theme3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4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9d5b9600c0f4467" /><Relationship Type="http://schemas.openxmlformats.org/officeDocument/2006/relationships/extended-properties" Target="/docProps/app.xml" Id="R1f815c219add49e7" /><Relationship Type="http://schemas.openxmlformats.org/officeDocument/2006/relationships/officeDocument" Target="/ppt/presentation.xml" Id="R9475924b07e8453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e063621ce1040f8"/>
    <p:sldMasterId xmlns:r="http://schemas.openxmlformats.org/officeDocument/2006/relationships" id="2147483650" r:id="R11f76875f7044ec2"/>
  </p:sldMasterIdLst>
  <p:notesMasterIdLst>
    <p:notesMasterId xmlns:r="http://schemas.openxmlformats.org/officeDocument/2006/relationships" r:id="R5ea5e39ce6d34bab"/>
  </p:notesMasterIdLst>
  <p:sldIdLst>
    <p:sldId xmlns:r="http://schemas.openxmlformats.org/officeDocument/2006/relationships" id="256" r:id="Rabfa5147359a4aaf"/>
    <p:sldId xmlns:r="http://schemas.openxmlformats.org/officeDocument/2006/relationships" id="257" r:id="Rc8af07af236b4428"/>
    <p:sldId xmlns:r="http://schemas.openxmlformats.org/officeDocument/2006/relationships" id="258" r:id="R11fa807e908d4ece"/>
    <p:sldId xmlns:r="http://schemas.openxmlformats.org/officeDocument/2006/relationships" id="259" r:id="R9c79674dc49f426b"/>
    <p:sldId xmlns:r="http://schemas.openxmlformats.org/officeDocument/2006/relationships" id="260" r:id="Rbde7b3aa54ee4d50"/>
    <p:sldId xmlns:r="http://schemas.openxmlformats.org/officeDocument/2006/relationships" id="261" r:id="R3cabf5a7fc484277"/>
    <p:sldId xmlns:r="http://schemas.openxmlformats.org/officeDocument/2006/relationships" id="262" r:id="R2c252f8fccb14fa8"/>
    <p:sldId xmlns:r="http://schemas.openxmlformats.org/officeDocument/2006/relationships" id="263" r:id="R7af12a0ef6794517"/>
    <p:sldId xmlns:r="http://schemas.openxmlformats.org/officeDocument/2006/relationships" id="264" r:id="Re084bd7026fb43d3"/>
    <p:sldId xmlns:r="http://schemas.openxmlformats.org/officeDocument/2006/relationships" id="265" r:id="Ref4d45d57a154fc4"/>
    <p:sldId xmlns:r="http://schemas.openxmlformats.org/officeDocument/2006/relationships" id="266" r:id="R5c2a77a543034d2f"/>
    <p:sldId xmlns:r="http://schemas.openxmlformats.org/officeDocument/2006/relationships" id="267" r:id="R782108345b964b6c"/>
    <p:sldId xmlns:r="http://schemas.openxmlformats.org/officeDocument/2006/relationships" id="268" r:id="R667b2b6bb3c34c85"/>
    <p:sldId xmlns:r="http://schemas.openxmlformats.org/officeDocument/2006/relationships" id="269" r:id="Rb2b4321491d746ba"/>
    <p:sldId xmlns:r="http://schemas.openxmlformats.org/officeDocument/2006/relationships" id="270" r:id="R4bbc3beed89b4d41"/>
    <p:sldId xmlns:r="http://schemas.openxmlformats.org/officeDocument/2006/relationships" id="271" r:id="R867f4a5347954e59"/>
    <p:sldId xmlns:r="http://schemas.openxmlformats.org/officeDocument/2006/relationships" id="272" r:id="Rf775a7f4c4da466c"/>
    <p:sldId xmlns:r="http://schemas.openxmlformats.org/officeDocument/2006/relationships" id="273" r:id="Rdb0b0247e60c45b2"/>
    <p:sldId xmlns:r="http://schemas.openxmlformats.org/officeDocument/2006/relationships" id="274" r:id="R81319ac5977c45b7"/>
    <p:sldId xmlns:r="http://schemas.openxmlformats.org/officeDocument/2006/relationships" id="275" r:id="Rb65a6dcff65c4ac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3bd99ee379b49a7" /><Relationship Type="http://schemas.openxmlformats.org/officeDocument/2006/relationships/slideMaster" Target="/ppt/slideMasters/slideMaster1.xml" Id="Rde063621ce1040f8" /><Relationship Type="http://schemas.openxmlformats.org/officeDocument/2006/relationships/slideMaster" Target="/ppt/slideMasters/slideMaster2.xml" Id="R11f76875f7044ec2" /><Relationship Type="http://schemas.openxmlformats.org/officeDocument/2006/relationships/notesMaster" Target="/ppt/notesMasters/notesMaster1.xml" Id="R5ea5e39ce6d34bab" /><Relationship Type="http://schemas.openxmlformats.org/officeDocument/2006/relationships/presProps" Target="/ppt/presProps.xml" Id="R4e92568049b34f9e" /><Relationship Type="http://schemas.openxmlformats.org/officeDocument/2006/relationships/tableStyles" Target="/ppt/tableStyles.xml" Id="R8485cd9ef9af4bc9" /><Relationship Type="http://schemas.openxmlformats.org/officeDocument/2006/relationships/slide" Target="/ppt/slides/slide1.xml" Id="Rabfa5147359a4aaf" /><Relationship Type="http://schemas.openxmlformats.org/officeDocument/2006/relationships/slide" Target="/ppt/slides/slide2.xml" Id="Rc8af07af236b4428" /><Relationship Type="http://schemas.openxmlformats.org/officeDocument/2006/relationships/slide" Target="/ppt/slides/slide3.xml" Id="R11fa807e908d4ece" /><Relationship Type="http://schemas.openxmlformats.org/officeDocument/2006/relationships/slide" Target="/ppt/slides/slide4.xml" Id="R9c79674dc49f426b" /><Relationship Type="http://schemas.openxmlformats.org/officeDocument/2006/relationships/slide" Target="/ppt/slides/slide5.xml" Id="Rbde7b3aa54ee4d50" /><Relationship Type="http://schemas.openxmlformats.org/officeDocument/2006/relationships/slide" Target="/ppt/slides/slide6.xml" Id="R3cabf5a7fc484277" /><Relationship Type="http://schemas.openxmlformats.org/officeDocument/2006/relationships/slide" Target="/ppt/slides/slide7.xml" Id="R2c252f8fccb14fa8" /><Relationship Type="http://schemas.openxmlformats.org/officeDocument/2006/relationships/slide" Target="/ppt/slides/slide8.xml" Id="R7af12a0ef6794517" /><Relationship Type="http://schemas.openxmlformats.org/officeDocument/2006/relationships/slide" Target="/ppt/slides/slide9.xml" Id="Re084bd7026fb43d3" /><Relationship Type="http://schemas.openxmlformats.org/officeDocument/2006/relationships/slide" Target="/ppt/slides/slide10.xml" Id="Ref4d45d57a154fc4" /><Relationship Type="http://schemas.openxmlformats.org/officeDocument/2006/relationships/slide" Target="/ppt/slides/slide11.xml" Id="R5c2a77a543034d2f" /><Relationship Type="http://schemas.openxmlformats.org/officeDocument/2006/relationships/slide" Target="/ppt/slides/slide12.xml" Id="R782108345b964b6c" /><Relationship Type="http://schemas.openxmlformats.org/officeDocument/2006/relationships/slide" Target="/ppt/slides/slide13.xml" Id="R667b2b6bb3c34c85" /><Relationship Type="http://schemas.openxmlformats.org/officeDocument/2006/relationships/slide" Target="/ppt/slides/slide14.xml" Id="Rb2b4321491d746ba" /><Relationship Type="http://schemas.openxmlformats.org/officeDocument/2006/relationships/slide" Target="/ppt/slides/slide15.xml" Id="R4bbc3beed89b4d41" /><Relationship Type="http://schemas.openxmlformats.org/officeDocument/2006/relationships/slide" Target="/ppt/slides/slide16.xml" Id="R867f4a5347954e59" /><Relationship Type="http://schemas.openxmlformats.org/officeDocument/2006/relationships/slide" Target="/ppt/slides/slide17.xml" Id="Rf775a7f4c4da466c" /><Relationship Type="http://schemas.openxmlformats.org/officeDocument/2006/relationships/slide" Target="/ppt/slides/slide18.xml" Id="Rdb0b0247e60c45b2" /><Relationship Type="http://schemas.openxmlformats.org/officeDocument/2006/relationships/slide" Target="/ppt/slides/slide19.xml" Id="R81319ac5977c45b7" /><Relationship Type="http://schemas.openxmlformats.org/officeDocument/2006/relationships/slide" Target="/ppt/slides/slide20.xml" Id="Rb65a6dcff65c4ac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4.xml" Id="R4c769893c6464f3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4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332a90f9996400b" /><Relationship Type="http://schemas.openxmlformats.org/officeDocument/2006/relationships/notesMaster" Target="/ppt/notesMasters/notesMaster1.xml" Id="R5e715b2c0d11476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31fab7ae57f4983" /><Relationship Type="http://schemas.openxmlformats.org/officeDocument/2006/relationships/notesMaster" Target="/ppt/notesMasters/notesMaster1.xml" Id="Rca904d77eace472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5486e45d7754610" /><Relationship Type="http://schemas.openxmlformats.org/officeDocument/2006/relationships/notesMaster" Target="/ppt/notesMasters/notesMaster1.xml" Id="Re76a2510400f477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8ef35338fda4cb7" /><Relationship Type="http://schemas.openxmlformats.org/officeDocument/2006/relationships/notesMaster" Target="/ppt/notesMasters/notesMaster1.xml" Id="R14652bde59b9418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f2ecee836ed4347" /><Relationship Type="http://schemas.openxmlformats.org/officeDocument/2006/relationships/notesMaster" Target="/ppt/notesMasters/notesMaster1.xml" Id="R34b5bbc5f68b4c7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9d0b29758074cae" /><Relationship Type="http://schemas.openxmlformats.org/officeDocument/2006/relationships/notesMaster" Target="/ppt/notesMasters/notesMaster1.xml" Id="R50a7f1ffa81c458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4714daa1fb14278" /><Relationship Type="http://schemas.openxmlformats.org/officeDocument/2006/relationships/notesMaster" Target="/ppt/notesMasters/notesMaster1.xml" Id="R456e768a8e27493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60057ac48274dfd" /><Relationship Type="http://schemas.openxmlformats.org/officeDocument/2006/relationships/notesMaster" Target="/ppt/notesMasters/notesMaster1.xml" Id="R79e2f24b524b481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62b47da6c5f42d1" /><Relationship Type="http://schemas.openxmlformats.org/officeDocument/2006/relationships/notesMaster" Target="/ppt/notesMasters/notesMaster1.xml" Id="R7c55f949effd4d0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50897eaf4604eba" /><Relationship Type="http://schemas.openxmlformats.org/officeDocument/2006/relationships/notesMaster" Target="/ppt/notesMasters/notesMaster1.xml" Id="Rf545f24235ac427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257775db5904988" /><Relationship Type="http://schemas.openxmlformats.org/officeDocument/2006/relationships/notesMaster" Target="/ppt/notesMasters/notesMaster1.xml" Id="R3e485ff6d81944a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85f73f302ce4bdc" /><Relationship Type="http://schemas.openxmlformats.org/officeDocument/2006/relationships/notesMaster" Target="/ppt/notesMasters/notesMaster1.xml" Id="Ra6cc578acb6a45d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b2ce80bad68144e8" /><Relationship Type="http://schemas.openxmlformats.org/officeDocument/2006/relationships/notesMaster" Target="/ppt/notesMasters/notesMaster1.xml" Id="R7d19a9c74bdb48c6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246ae06576624d2e" /><Relationship Type="http://schemas.openxmlformats.org/officeDocument/2006/relationships/notesMaster" Target="/ppt/notesMasters/notesMaster1.xml" Id="R70e410d4340140a2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dbf530aaba494fc5" /><Relationship Type="http://schemas.openxmlformats.org/officeDocument/2006/relationships/notesMaster" Target="/ppt/notesMasters/notesMaster1.xml" Id="Rcf1c10fedcc34e97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8dca2fe1eb864a35" /><Relationship Type="http://schemas.openxmlformats.org/officeDocument/2006/relationships/notesMaster" Target="/ppt/notesMasters/notesMaster1.xml" Id="R74581f63bcb3464a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cec163c0d25e4c36" /><Relationship Type="http://schemas.openxmlformats.org/officeDocument/2006/relationships/notesMaster" Target="/ppt/notesMasters/notesMaster1.xml" Id="R181dd9b16c3745fb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617748f5ae6243c1" /><Relationship Type="http://schemas.openxmlformats.org/officeDocument/2006/relationships/notesMaster" Target="/ppt/notesMasters/notesMaster1.xml" Id="R0aafadf4eaff49e5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61e72e219dcc4691" /><Relationship Type="http://schemas.openxmlformats.org/officeDocument/2006/relationships/notesMaster" Target="/ppt/notesMasters/notesMaster1.xml" Id="Rd50c659242f945b3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ad181175d97c4fd6" /><Relationship Type="http://schemas.openxmlformats.org/officeDocument/2006/relationships/notesMaster" Target="/ppt/notesMasters/notesMaster1.xml" Id="R9dc310776cbc43a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00:45]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Bem-vindo ao episódio 9 do dbt Moderno na Prática. Hoje vamos trabalhar o tema “CI inteligente com artifacts, state e defer”. Teste o impacto necessário sem reconstruir o mundo. O objetivo não é apenas conhecer o conceito: vamos conectá-lo ao laboratório e terminar com uma evidência que você consegue reproduzir no seu próprio ambiente. Ao longo da aula, separe sempre o que é recurso aberto e estável daquilo que aparecerá apenas no Radar.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Apresente o título, situe o checkpoint 09 e deixe claro que a aula faz parte da trilha open/stable.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“CI rápida não significa selecionar menos; significa selecionar o impacto correto.”.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https://docs.getdbt.com/reference/node-selection/defer</a:t>
            </a:r>
          </a:p>
          <a:p xmlns:a="http://schemas.openxmlformats.org/drawingml/2006/main">
            <a:r>
              <a:t>- https://docs.getdbt.com/reference/node-selection/methods#the-state-method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https://github.com/AnselmoBorges/dbt-moderno-na-pratica/blob/main/roteiros/09-ci-state-defer.md</a:t>
            </a:r>
          </a:p>
          <a:p xmlns:a="http://schemas.openxmlformats.org/drawingml/2006/main">
            <a:r>
              <a:t>- repo://laboratorio/checkpoints/ep09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01:00]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Quero começar com uma provocação: CI rápida não significa selecionar menos; significa selecionar o impacto correto. Essa pergunta orienta toda a aula. Em vez de aceitar uma afirmação porque ela parece correta, vamos procurar uma definição verificável e uma demonstração executável. Guarde essa tensão, porque voltaremos a ela quando compararmos o conceito com o resultado do laboratório.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Dê uma pausa depois da provocação e use o diagrama como mapa do problema, sem explicar todas as etapas ainda.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“Ao final, você consegue...”.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https://docs.getdbt.com/reference/node-selection/defer</a:t>
            </a:r>
          </a:p>
          <a:p xmlns:a="http://schemas.openxmlformats.org/drawingml/2006/main">
            <a:r>
              <a:t>- https://docs.getdbt.com/reference/node-selection/methods#the-state-method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https://github.com/AnselmoBorges/dbt-moderno-na-pratica/blob/main/roteiros/09-ci-state-defer.md</a:t>
            </a:r>
          </a:p>
          <a:p xmlns:a="http://schemas.openxmlformats.org/drawingml/2006/main">
            <a:r>
              <a:t>- repo://laboratorio/checkpoints/ep09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01:00]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Ao final desta aula, você deverá conseguir comparar manifests, Selecionar modified+ e Usar defer com clareza. Esses resultados formam uma sequência: primeiro entendemos a regra, depois observamos sua representação no projeto e, por fim, comprovamos o comportamento no checkpoint. Se alguma dessas três partes não estiver clara, volte ao slide correspondente antes de executar a demonstração.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Percorra os objetivos da esquerda para a direita e apresente-os como resultados observáveis, não como uma agenda abstrata.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“Artifact não é lixo de build”.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https://docs.getdbt.com/reference/node-selection/defer</a:t>
            </a:r>
          </a:p>
          <a:p xmlns:a="http://schemas.openxmlformats.org/drawingml/2006/main">
            <a:r>
              <a:t>- https://docs.getdbt.com/reference/node-selection/methods#the-state-method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https://github.com/AnselmoBorges/dbt-moderno-na-pratica/blob/main/roteiros/09-ci-state-defer.md</a:t>
            </a:r>
          </a:p>
          <a:p xmlns:a="http://schemas.openxmlformats.org/drawingml/2006/main">
            <a:r>
              <a:t>- repo://laboratorio/checkpoints/ep09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01:10]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 mensagem principal deste slide é: O manifest anterior é a referência que permite calcular mudança. Para tornar isso concreto, observe estado anterior, Estado atual e Diff de recursos. Esses pontos devem ser entendidos em conjunto; não são funcionalidades isoladas. No projeto, essa combinação transforma uma convenção informal em algo que pode ser revisado, testado ou consumido de maneira consistente.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Comece pelo título, leia a afirmação abaixo dele e depois desenvolva os itens sem repetir o texto palavra por palavra.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“state:modified encontra a mudança”.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https://docs.getdbt.com/reference/node-selection/defer</a:t>
            </a:r>
          </a:p>
          <a:p xmlns:a="http://schemas.openxmlformats.org/drawingml/2006/main">
            <a:r>
              <a:t>- https://docs.getdbt.com/reference/node-selection/methods#the-state-method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https://github.com/AnselmoBorges/dbt-moderno-na-pratica/blob/main/roteiros/09-ci-state-defer.md</a:t>
            </a:r>
          </a:p>
          <a:p xmlns:a="http://schemas.openxmlformats.org/drawingml/2006/main">
            <a:r>
              <a:t>- repo://laboratorio/checkpoints/ep09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01:10]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 mensagem principal deste slide é: O sufixo + inclui descendentes que podem ser afetados. Para tornar isso concreto, observe modelo editado, Testes associados e Consumidores descendentes. Esses pontos devem ser entendidos em conjunto; não são funcionalidades isoladas. No projeto, essa combinação transforma uma convenção informal em algo que pode ser revisado, testado ou consumido de maneira consistente.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Comece pelo título, leia a afirmação abaixo dele e depois desenvolva os itens sem repetir o texto palavra por palavra.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“state:modified encontra a mudança”.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https://docs.getdbt.com/reference/node-selection/defer</a:t>
            </a:r>
          </a:p>
          <a:p xmlns:a="http://schemas.openxmlformats.org/drawingml/2006/main">
            <a:r>
              <a:t>- https://docs.getdbt.com/reference/node-selection/methods#the-state-method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https://github.com/AnselmoBorges/dbt-moderno-na-pratica/blob/main/roteiros/09-ci-state-defer.md</a:t>
            </a:r>
          </a:p>
          <a:p xmlns:a="http://schemas.openxmlformats.org/drawingml/2006/main">
            <a:r>
              <a:t>- repo://laboratorio/checkpoints/ep09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00:55]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Agora vamos ler a ideia visualmente. O sufixo + inclui descendentes que podem ser afetados. Siga a composição na ordem mostrada e conecte mudou, Filhos, Testes e Exposures. A imagem ou o fluxo não cria uma regra nova; ele torna visível a relação que acabamos de explicar. Use a disposição dos elementos para reforçar causa, dependência ou comparação.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Acompanhe o fluxo ou a comparação com o cursor e preserve a ordem de leitura do slide.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“Seleção mínima ingênua perde risco”.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https://docs.getdbt.com/reference/node-selection/defer</a:t>
            </a:r>
          </a:p>
          <a:p xmlns:a="http://schemas.openxmlformats.org/drawingml/2006/main">
            <a:r>
              <a:t>- https://docs.getdbt.com/reference/node-selection/methods#the-state-method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https://github.com/AnselmoBorges/dbt-moderno-na-pratica/blob/main/roteiros/09-ci-state-defer.md</a:t>
            </a:r>
          </a:p>
          <a:p xmlns:a="http://schemas.openxmlformats.org/drawingml/2006/main">
            <a:r>
              <a:t>- repo://laboratorio/checkpoints/ep09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01:10]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 mensagem principal deste slide é: Testar apenas o arquivo alterado pode ignorar contratos e consumidores. Para tornar isso concreto, observe impacto no DAG, Testes indiretos e Dependências públicas. Esses pontos devem ser entendidos em conjunto; não são funcionalidades isoladas. No projeto, essa combinação transforma uma convenção informal em algo que pode ser revisado, testado ou consumido de maneira consistente.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Comece pelo título, leia a afirmação abaixo dele e depois desenvolva os itens sem repetir o texto palavra por palavra.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“Seleção mínima ingênua perde risco”.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https://docs.getdbt.com/reference/node-selection/defer</a:t>
            </a:r>
          </a:p>
          <a:p xmlns:a="http://schemas.openxmlformats.org/drawingml/2006/main">
            <a:r>
              <a:t>- https://docs.getdbt.com/reference/node-selection/methods#the-state-method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https://github.com/AnselmoBorges/dbt-moderno-na-pratica/blob/main/roteiros/09-ci-state-defer.md</a:t>
            </a:r>
          </a:p>
          <a:p xmlns:a="http://schemas.openxmlformats.org/drawingml/2006/main">
            <a:r>
              <a:t>- repo://laboratorio/checkpoints/ep09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00:55]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Agora vamos ler a ideia visualmente. Testar apenas o arquivo alterado pode ignorar contratos e consumidores. Siga a composição na ordem mostrada e conecte arquivo, Impacto, Impacto no DAG, Testes indiretos e Dependências públicas. A imagem ou o fluxo não cria uma regra nova; ele torna visível a relação que acabamos de explicar. Use a disposição dos elementos para reforçar causa, dependência ou comparação.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Acompanhe o fluxo ou a comparação com o cursor e preserve a ordem de leitura do slide.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“Defer reutiliza relações de outro estado”.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https://docs.getdbt.com/reference/node-selection/defer</a:t>
            </a:r>
          </a:p>
          <a:p xmlns:a="http://schemas.openxmlformats.org/drawingml/2006/main">
            <a:r>
              <a:t>- https://docs.getdbt.com/reference/node-selection/methods#the-state-method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https://github.com/AnselmoBorges/dbt-moderno-na-pratica/blob/main/roteiros/09-ci-state-defer.md</a:t>
            </a:r>
          </a:p>
          <a:p xmlns:a="http://schemas.openxmlformats.org/drawingml/2006/main">
            <a:r>
              <a:t>- repo://laboratorio/checkpoints/ep09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01:10]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 mensagem principal deste slide é: Modelos não construídos localmente podem apontar para produção ou staging. Para tornar isso concreto, observe resolve refs, Evita recomputação e Exige estado confiável. Esses pontos devem ser entendidos em conjunto; não são funcionalidades isoladas. No projeto, essa combinação transforma uma convenção informal em algo que pode ser revisado, testado ou consumido de maneira consistente.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Comece pelo título, leia a afirmação abaixo dele e depois desenvolva os itens sem repetir o texto palavra por palavra.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“Defer reutiliza relações de outro estado”.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https://docs.getdbt.com/reference/node-selection/defer</a:t>
            </a:r>
          </a:p>
          <a:p xmlns:a="http://schemas.openxmlformats.org/drawingml/2006/main">
            <a:r>
              <a:t>- https://docs.getdbt.com/reference/node-selection/methods#the-state-method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https://github.com/AnselmoBorges/dbt-moderno-na-pratica/blob/main/roteiros/09-ci-state-defer.md</a:t>
            </a:r>
          </a:p>
          <a:p xmlns:a="http://schemas.openxmlformats.org/drawingml/2006/main">
            <a:r>
              <a:t>- repo://laboratorio/checkpoints/ep09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00:55]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Agora vamos ler a ideia visualmente. Modelos não construídos localmente podem apontar para produção ou staging. Siga a composição na ordem mostrada e conecte os elementos principais. A imagem ou o fluxo não cria uma regra nova; ele torna visível a relação que acabamos de explicar. A figura é identificada como figura oficial da documentação dbt — Apache 2.0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Aponte a legenda e deixe explícito quando a figura é oficial; as anotações do curso ficam fora da imagem.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“CI madura tem três níveis”.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https://docs.getdbt.com/reference/node-selection/defer</a:t>
            </a:r>
          </a:p>
          <a:p xmlns:a="http://schemas.openxmlformats.org/drawingml/2006/main">
            <a:r>
              <a:t>- https://docs.getdbt.com/reference/node-selection/methods#the-state-method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https://github.com/AnselmoBorges/dbt-moderno-na-pratica/blob/main/roteiros/09-ci-state-defer.md</a:t>
            </a:r>
          </a:p>
          <a:p xmlns:a="http://schemas.openxmlformats.org/drawingml/2006/main">
            <a:r>
              <a:t>- repo://laboratorio/checkpoints/ep09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  <a:p xmlns:a="http://schemas.openxmlformats.org/drawingml/2006/main">
            <a:r>
              <a:t>- https://github.com/dbt-labs/docs.getdbt.com/blob/8249c7c904848efa786831381ca1d53b4157e392/website/static/img/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01:10]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 mensagem principal deste slide é: Parse barato, seleção por impacto e validação completa cumprem papéis diferentes. Para tornar isso concreto, observe PR rápido, Gate de integração e Build completo programado. Esses pontos devem ser entendidos em conjunto; não são funcionalidades isoladas. No projeto, essa combinação transforma uma convenção informal em algo que pode ser revisado, testado ou consumido de maneira consistente.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Comece pelo título, leia a afirmação abaixo dele e depois desenvolva os itens sem repetir o texto palavra por palavra.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“CI madura tem três níveis”.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https://docs.getdbt.com/reference/node-selection/defer</a:t>
            </a:r>
          </a:p>
          <a:p xmlns:a="http://schemas.openxmlformats.org/drawingml/2006/main">
            <a:r>
              <a:t>- https://docs.getdbt.com/reference/node-selection/methods#the-state-method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https://github.com/AnselmoBorges/dbt-moderno-na-pratica/blob/main/roteiros/09-ci-state-defer.md</a:t>
            </a:r>
          </a:p>
          <a:p xmlns:a="http://schemas.openxmlformats.org/drawingml/2006/main">
            <a:r>
              <a:t>- repo://laboratorio/checkpoints/ep09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00:55]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Agora vamos ler a ideia visualmente. Parse barato, seleção por impacto e validação completa cumprem papéis diferentes. Siga a composição na ordem mostrada e conecte os elementos principais. A imagem ou o fluxo não cria uma regra nova; ele torna visível a relação que acabamos de explicar. Use a disposição dos elementos para reforçar causa, dependência ou comparação.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Acompanhe o fluxo ou a comparação com o cursor e preserve a ordem de leitura do slide.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“Demonstração — execute”.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https://docs.getdbt.com/reference/node-selection/defer</a:t>
            </a:r>
          </a:p>
          <a:p xmlns:a="http://schemas.openxmlformats.org/drawingml/2006/main">
            <a:r>
              <a:t>- https://docs.getdbt.com/reference/node-selection/methods#the-state-method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https://github.com/AnselmoBorges/dbt-moderno-na-pratica/blob/main/roteiros/09-ci-state-defer.md</a:t>
            </a:r>
          </a:p>
          <a:p xmlns:a="http://schemas.openxmlformats.org/drawingml/2006/main">
            <a:r>
              <a:t>- repo://laboratorio/checkpoints/ep09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01:20]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Agora vamos sair da explicação e comprovar o comportamento. Execute os comandos exatamente como aparecem: python course.py checkpoint 09. Não é necessário ativar o ambiente virtual manualmente; o launcher do curso seleciona o ambiente correto. Antes de avançar, confirme que o comando iniciou sem erro e dê tempo para o aluno acompanhar a mesma etapa.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Mostre o comando completo, execute uma linha por vez quando houver mais de uma e mantenha o terminal visível.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“Demonstração — observe”.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https://docs.getdbt.com/reference/node-selection/defer</a:t>
            </a:r>
          </a:p>
          <a:p xmlns:a="http://schemas.openxmlformats.org/drawingml/2006/main">
            <a:r>
              <a:t>- https://docs.getdbt.com/reference/node-selection/methods#the-state-method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https://github.com/AnselmoBorges/dbt-moderno-na-pratica/blob/main/roteiros/09-ci-state-defer.md</a:t>
            </a:r>
          </a:p>
          <a:p xmlns:a="http://schemas.openxmlformats.org/drawingml/2006/main">
            <a:r>
              <a:t>- repo://laboratorio/checkpoints/ep09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01:10]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Enquanto a execução acontece, não olhe apenas para a mensagem final. Observe manifest baseline preservado, Mudança sintética isolada e Seleção e defer comparados. Cada sinal responde a uma pergunta diferente sobre o pipeline. Se um deles divergir, interrompa a demonstração e investigue; o objetivo do hands-on é produzir evidência, não apenas chegar rapidamente a uma tela verde.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Marque cada observação quando ela aparecer no terminal ou no artifact correspondente.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“RESULTADO ESPERADO”.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https://docs.getdbt.com/reference/node-selection/defer</a:t>
            </a:r>
          </a:p>
          <a:p xmlns:a="http://schemas.openxmlformats.org/drawingml/2006/main">
            <a:r>
              <a:t>- https://docs.getdbt.com/reference/node-selection/methods#the-state-method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https://github.com/AnselmoBorges/dbt-moderno-na-pratica/blob/main/roteiros/09-ci-state-defer.md</a:t>
            </a:r>
          </a:p>
          <a:p xmlns:a="http://schemas.openxmlformats.org/drawingml/2006/main">
            <a:r>
              <a:t>- repo://laboratorio/checkpoints/ep09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00:45]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Este é o ponto de parada da demonstração: Somente o ramo afetado é selecionado. Esse resultado confirma que a etapa executada produziu a evidência esperada para o checkpoint 09. Se o valor, o status ou o artifact estiver diferente, não trate a divergência como detalhe de ambiente. Use o diagnóstico do curso e só avance quando a causa estiver compreendida.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Compare o resultado do terminal com a frase central do slide e registre a evidência antes de continuar.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“O mesmo recurso afeta três decisões”.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https://docs.getdbt.com/reference/node-selection/defer</a:t>
            </a:r>
          </a:p>
          <a:p xmlns:a="http://schemas.openxmlformats.org/drawingml/2006/main">
            <a:r>
              <a:t>- https://docs.getdbt.com/reference/node-selection/methods#the-state-method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https://github.com/AnselmoBorges/dbt-moderno-na-pratica/blob/main/roteiros/09-ci-state-defer.md</a:t>
            </a:r>
          </a:p>
          <a:p xmlns:a="http://schemas.openxmlformats.org/drawingml/2006/main">
            <a:r>
              <a:t>- repo://laboratorio/checkpoints/ep09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01:00]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Antes de seguir, conecte a técnica às decisões que ela afeta: Governança: impacto visível, FinOps: menos recomputação e IA: artifacts atualizados. Governança define responsabilidade e consistência; FinOps pergunta quanto trabalho estamos repetindo; e IA depende do contexto que decidimos expor. A mesma implementação pode melhorar os três eixos, mas os ganhos devem ser medidos separadamente.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Percorra os três eixos e evite apresentar economia ou acurácia como consequência automática.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“modified+”.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https://docs.getdbt.com/reference/node-selection/defer</a:t>
            </a:r>
          </a:p>
          <a:p xmlns:a="http://schemas.openxmlformats.org/drawingml/2006/main">
            <a:r>
              <a:t>- https://docs.getdbt.com/reference/node-selection/methods#the-state-method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https://github.com/AnselmoBorges/dbt-moderno-na-pratica/blob/main/roteiros/09-ci-state-defer.md</a:t>
            </a:r>
          </a:p>
          <a:p xmlns:a="http://schemas.openxmlformats.org/drawingml/2006/main">
            <a:r>
              <a:t>- repo://laboratorio/checkpoints/ep09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00:55]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Aqui temos modified+: mudança e descendentes. O número ajuda a dimensionar o exemplo, mas precisa ser lido com a ressalva correta. A economia depende do tamanho e da topologia do projeto. Use o case como evidência contextual e não como promessa de que outro projeto repetirá o mesmo resultado sem as mesmas condições.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Apresente primeiro o número, depois a definição e termine obrigatoriamente com a ressalva.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“Limitações que precisam permanecer visíveis”.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https://docs.getdbt.com/reference/node-selection/defer</a:t>
            </a:r>
          </a:p>
          <a:p xmlns:a="http://schemas.openxmlformats.org/drawingml/2006/main">
            <a:r>
              <a:t>- https://docs.getdbt.com/reference/node-selection/methods#the-state-method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https://github.com/AnselmoBorges/dbt-moderno-na-pratica/blob/main/roteiros/09-ci-state-defer.md</a:t>
            </a:r>
          </a:p>
          <a:p xmlns:a="http://schemas.openxmlformats.org/drawingml/2006/main">
            <a:r>
              <a:t>- repo://laboratorio/checkpoints/ep09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01:00]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Também precisamos declarar os limites da recomendação. Neste cenário, considere estado velho seleciona errado, Defer pode esconder divergência e Full build continua necessário. Esses pontos não anulam a técnica; eles delimitam onde a demonstração é válida e quais condições precisam ser verificadas antes de levar o padrão para produção. Tratar limites como parte do design evita transformar uma boa prática em regra universal.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Leia os limites com o mesmo peso dado aos benefícios e diferencie restrição do laboratório de restrição do produto.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“RADAR”.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https://docs.getdbt.com/reference/node-selection/defer</a:t>
            </a:r>
          </a:p>
          <a:p xmlns:a="http://schemas.openxmlformats.org/drawingml/2006/main">
            <a:r>
              <a:t>- https://docs.getdbt.com/reference/node-selection/methods#the-state-method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https://github.com/AnselmoBorges/dbt-moderno-na-pratica/blob/main/roteiros/09-ci-state-defer.md</a:t>
            </a:r>
          </a:p>
          <a:p xmlns:a="http://schemas.openxmlformats.org/drawingml/2006/main">
            <a:r>
              <a:t>- repo://laboratorio/checkpoints/ep09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00:55]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Este é o nosso Radar: dbt State gerenciado permanece fora; artifacts abertos sustentam a aula. A intenção é mostrar a direção da ferramenta sem misturar preview com o caminho suportado da aula. Novidade observada não é recomendação de produção. Para adotar qualquer recurso futuro, confirme maturidade, adaptador, documentação e impacto sobre o projeto antes de alterar o baseline estável.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Reforce visualmente a regra do rodapé e não execute comandos beta ou preview como parte obrigatória da aula.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“PRÓXIMO PASSO”.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https://docs.getdbt.com/reference/node-selection/defer</a:t>
            </a:r>
          </a:p>
          <a:p xmlns:a="http://schemas.openxmlformats.org/drawingml/2006/main">
            <a:r>
              <a:t>- https://docs.getdbt.com/reference/node-selection/methods#the-state-method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https://github.com/AnselmoBorges/dbt-moderno-na-pratica/blob/main/roteiros/09-ci-state-defer.md</a:t>
            </a:r>
          </a:p>
          <a:p xmlns:a="http://schemas.openxmlformats.org/drawingml/2006/main">
            <a:r>
              <a:t>- repo://laboratorio/checkpoints/ep09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00:40]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Salve um manifest e compare a seleção antes e depois de uma mudança. Faça essa etapa antes de seguir para o próximo episódio, porque o curso é cumulativo e o checkpoint atual se torna a base da aula seguinte. Se houver divergência, use o relatório de suporte e registre o que foi observado. O objetivo é avançar com um estado conhecido e reproduzível, não apenas assistir ao conteúdo.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Mostre o checkpoint e indique no repositório onde ficam o roteiro, os comandos e as referências da aula.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Encerre retomando a pergunta inicial e confirme que o aluno sabe qual ação executar depois do episódio 9.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https://docs.getdbt.com/reference/node-selection/defer</a:t>
            </a:r>
          </a:p>
          <a:p xmlns:a="http://schemas.openxmlformats.org/drawingml/2006/main">
            <a:r>
              <a:t>- https://docs.getdbt.com/reference/node-selection/methods#the-state-method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https://github.com/AnselmoBorges/dbt-moderno-na-pratica/blob/main/roteiros/09-ci-state-defer.md</a:t>
            </a:r>
          </a:p>
          <a:p xmlns:a="http://schemas.openxmlformats.org/drawingml/2006/main">
            <a:r>
              <a:t>- repo://laboratorio/checkpoints/ep09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9305959c84d43e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d18b6f0ed8bc4220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09b8b78f09fa41d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>
  <p:cSld name="Rescue Point Dar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3.xml><?xml version="1.0" encoding="utf-8"?>
<p:sldLayout xmlns:p="http://schemas.openxmlformats.org/presentationml/2006/main">
  <p:cSld name="Rescue Point Light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08fc9ec094c4c54" /><Relationship Type="http://schemas.openxmlformats.org/officeDocument/2006/relationships/slideLayout" Target="/ppt/slideLayouts/slideLayout1.xml" Id="R85f529a825be42f0" /></Relationships>
</file>

<file path=ppt/slideMasters/_rels/slideMaster2.xml.rels>&#65279;<?xml version="1.0" encoding="utf-8"?><Relationships xmlns="http://schemas.openxmlformats.org/package/2006/relationships"><Relationship Type="http://schemas.openxmlformats.org/officeDocument/2006/relationships/theme" Target="/ppt/slideMasters/theme/theme3.xml" Id="R91184b81c5284a3b" /><Relationship Type="http://schemas.openxmlformats.org/officeDocument/2006/relationships/slideLayout" Target="/ppt/slideLayouts/slideLayout2.xml" Id="Rc896edde0b624514" /><Relationship Type="http://schemas.openxmlformats.org/officeDocument/2006/relationships/slideLayout" Target="/ppt/slideLayouts/slideLayout3.xml" Id="R43a8ffa6afb2407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5f529a825be42f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p="http://schemas.openxmlformats.org/presentationml/2006/main">
  <p:cSld name="Rescue Point Master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51" r:id="Rc896edde0b624514"/>
    <p:sldLayoutId xmlns:r="http://schemas.openxmlformats.org/officeDocument/2006/relationships" id="2147483652" r:id="R43a8ffa6afb24070"/>
  </p:sldLayoutIdLst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96132189e1b4a3e" /><Relationship Type="http://schemas.openxmlformats.org/officeDocument/2006/relationships/image" Target="/ppt/media/image.jpeg" Id="Rb843a289f7a0441a" /><Relationship Type="http://schemas.openxmlformats.org/officeDocument/2006/relationships/image" Target="/ppt/media/image.png" Id="Rf09f92617a2c4af4" /><Relationship Type="http://schemas.openxmlformats.org/officeDocument/2006/relationships/notesSlide" Target="/ppt/notesSlides/notesSlide1.xml" Id="R8d399113be2841f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7182dcfbcbd64352" /><Relationship Type="http://schemas.openxmlformats.org/officeDocument/2006/relationships/image" Target="/ppt/media/image2.png" Id="Rfd80c6c48a4a44d6" /><Relationship Type="http://schemas.openxmlformats.org/officeDocument/2006/relationships/image" Target="/ppt/media/image3.png" Id="R8a2ebe103e1c40b0" /><Relationship Type="http://schemas.openxmlformats.org/officeDocument/2006/relationships/notesSlide" Target="/ppt/notesSlides/notesSlide2.xml" Id="Rcf017a680f4a477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d3b16bc9fdb4e5e" /><Relationship Type="http://schemas.openxmlformats.org/officeDocument/2006/relationships/image" Target="/ppt/media/image4.png" Id="R1eeb5aa12fab4fcd" /><Relationship Type="http://schemas.openxmlformats.org/officeDocument/2006/relationships/notesSlide" Target="/ppt/notesSlides/notesSlide3.xml" Id="Rad656570875d47d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212dd14d2c4416d" /><Relationship Type="http://schemas.openxmlformats.org/officeDocument/2006/relationships/image" Target="/ppt/media/image5.png" Id="R7c4676d955f049c9" /><Relationship Type="http://schemas.openxmlformats.org/officeDocument/2006/relationships/notesSlide" Target="/ppt/notesSlides/notesSlide4.xml" Id="R68cfef2f48a542b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c19add7e767744e1" /><Relationship Type="http://schemas.openxmlformats.org/officeDocument/2006/relationships/image" Target="/ppt/media/image6.png" Id="R6c2f4b0eaf004801" /><Relationship Type="http://schemas.openxmlformats.org/officeDocument/2006/relationships/notesSlide" Target="/ppt/notesSlides/notesSlide5.xml" Id="R93b4f2fbdb0641a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5b6290844e64306" /><Relationship Type="http://schemas.openxmlformats.org/officeDocument/2006/relationships/image" Target="/ppt/media/image7.png" Id="R5d029626e4324634" /><Relationship Type="http://schemas.openxmlformats.org/officeDocument/2006/relationships/notesSlide" Target="/ppt/notesSlides/notesSlide6.xml" Id="Rc2b882881da040e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a84610de6444f41" /><Relationship Type="http://schemas.openxmlformats.org/officeDocument/2006/relationships/image" Target="/ppt/media/image8.png" Id="R4ee3d52dbc3b4f30" /><Relationship Type="http://schemas.openxmlformats.org/officeDocument/2006/relationships/notesSlide" Target="/ppt/notesSlides/notesSlide7.xml" Id="R537acf257d6c4b1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e78d6715fd874c2d" /><Relationship Type="http://schemas.openxmlformats.org/officeDocument/2006/relationships/image" Target="/ppt/media/image9.png" Id="R3469880ff0194e2b" /><Relationship Type="http://schemas.openxmlformats.org/officeDocument/2006/relationships/notesSlide" Target="/ppt/notesSlides/notesSlide8.xml" Id="Rcd8dbc50c579466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0a0b9f118f2e48b7" /><Relationship Type="http://schemas.openxmlformats.org/officeDocument/2006/relationships/image" Target="/ppt/media/image10.png" Id="R0dd8c8943f3d4a70" /><Relationship Type="http://schemas.openxmlformats.org/officeDocument/2006/relationships/notesSlide" Target="/ppt/notesSlides/notesSlide9.xml" Id="Reee183b2de2f4b4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ad13ed9833b46e9" /><Relationship Type="http://schemas.openxmlformats.org/officeDocument/2006/relationships/image" Target="/ppt/media/image11.png" Id="Rd48ab41e4028490e" /><Relationship Type="http://schemas.openxmlformats.org/officeDocument/2006/relationships/image" Target="/ppt/media/image12.png" Id="R8593d7fd1b1b4c5c" /><Relationship Type="http://schemas.openxmlformats.org/officeDocument/2006/relationships/notesSlide" Target="/ppt/notesSlides/notesSlide10.xml" Id="R7e50c37fd76743c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1d7f73c80e6470f" /><Relationship Type="http://schemas.openxmlformats.org/officeDocument/2006/relationships/image" Target="/ppt/media/image13.png" Id="R45b1ba567bb841ac" /><Relationship Type="http://schemas.openxmlformats.org/officeDocument/2006/relationships/notesSlide" Target="/ppt/notesSlides/notesSlide11.xml" Id="Rfb86e8d080f1417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7565dad10bad418a" /><Relationship Type="http://schemas.openxmlformats.org/officeDocument/2006/relationships/image" Target="/ppt/media/image14.png" Id="R83fcf6e28f50451b" /><Relationship Type="http://schemas.openxmlformats.org/officeDocument/2006/relationships/notesSlide" Target="/ppt/notesSlides/notesSlide12.xml" Id="R14b2d3b59dc44a3b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1cbe51de4c244b4" /><Relationship Type="http://schemas.openxmlformats.org/officeDocument/2006/relationships/image" Target="/ppt/media/image15.png" Id="R613e6229a9354078" /><Relationship Type="http://schemas.openxmlformats.org/officeDocument/2006/relationships/notesSlide" Target="/ppt/notesSlides/notesSlide13.xml" Id="R5eee9f56fabf48f5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ced69766bee3450d" /><Relationship Type="http://schemas.openxmlformats.org/officeDocument/2006/relationships/image" Target="/ppt/media/image16.png" Id="Rc73234609e954cc5" /><Relationship Type="http://schemas.openxmlformats.org/officeDocument/2006/relationships/notesSlide" Target="/ppt/notesSlides/notesSlide14.xml" Id="Rbcde4a67d3144aae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7285e3132774436" /><Relationship Type="http://schemas.openxmlformats.org/officeDocument/2006/relationships/image" Target="/ppt/media/image17.png" Id="R6b64eb47dc9d4080" /><Relationship Type="http://schemas.openxmlformats.org/officeDocument/2006/relationships/notesSlide" Target="/ppt/notesSlides/notesSlide15.xml" Id="R8730be3b5c624dd5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a3bac685ee324ff5" /><Relationship Type="http://schemas.openxmlformats.org/officeDocument/2006/relationships/image" Target="/ppt/media/image18.png" Id="R54c0d149ea7a491d" /><Relationship Type="http://schemas.openxmlformats.org/officeDocument/2006/relationships/notesSlide" Target="/ppt/notesSlides/notesSlide16.xml" Id="R7e97ccb7b11f44fb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387b0ae18c94214" /><Relationship Type="http://schemas.openxmlformats.org/officeDocument/2006/relationships/image" Target="/ppt/media/image19.png" Id="R045bcf5ef9914510" /><Relationship Type="http://schemas.openxmlformats.org/officeDocument/2006/relationships/notesSlide" Target="/ppt/notesSlides/notesSlide17.xml" Id="Rb7b27f8b11bd4829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1c563bc36d9d4a20" /><Relationship Type="http://schemas.openxmlformats.org/officeDocument/2006/relationships/image" Target="/ppt/media/image20.png" Id="R96f5608e804c49fb" /><Relationship Type="http://schemas.openxmlformats.org/officeDocument/2006/relationships/notesSlide" Target="/ppt/notesSlides/notesSlide18.xml" Id="Rfee7ba8e78a54ea1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02155fcf5d04fdd" /><Relationship Type="http://schemas.openxmlformats.org/officeDocument/2006/relationships/image" Target="/ppt/media/image21.png" Id="R42f5fbf5c7674c4a" /><Relationship Type="http://schemas.openxmlformats.org/officeDocument/2006/relationships/notesSlide" Target="/ppt/notesSlides/notesSlide19.xml" Id="Ra7e90a99f9954f0a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a74df0da2fd449ab" /><Relationship Type="http://schemas.openxmlformats.org/officeDocument/2006/relationships/image" Target="/ppt/media/image22.png" Id="R28597f7881fb41ad" /><Relationship Type="http://schemas.openxmlformats.org/officeDocument/2006/relationships/notesSlide" Target="/ppt/notesSlides/notesSlide20.xml" Id="R41bea9af38794ac6" /></Relationships>
</file>

<file path=ppt/slides/slide1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" descr="Ilustração conceitual autoral da capa: EPISÓDIO 9 — CI inteligente com artifacts, state e defer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43a289f7a0441a"/>
          <a:srcRect xmlns:a="http://schemas.openxmlformats.org/drawingml/2006/main" l="19785" t="0" r="1978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762500" y="0"/>
            <a:ext cx="74295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cover-text-surface">
            <a:extLst xmlns:a="http://schemas.openxmlformats.org/drawingml/2006/main">
              <a:ext uri="{FF2B5EF4-FFF2-40B4-BE49-F238E27FC236}">
                <a16:creationId xmlns:a16="http://schemas.microsoft.com/office/drawing/2014/main" id="{91329514-C8EC-475A-B865-67AB0B26A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3341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42E"/>
          </a:solidFill>
          <a:ln xmlns:a="http://schemas.openxmlformats.org/drawingml/2006/main" w="0">
            <a:solidFill>
              <a:srgbClr val="06142E"/>
            </a:solidFill>
            <a:prstDash val="solid"/>
          </a:ln>
        </p:spPr>
      </p:sp>
      <p:sp>
        <p:nvSpPr>
          <p:cNvPr id="3" name="cover-divider">
            <a:extLst xmlns:a="http://schemas.openxmlformats.org/drawingml/2006/main">
              <a:ext uri="{FF2B5EF4-FFF2-40B4-BE49-F238E27FC236}">
                <a16:creationId xmlns:a16="http://schemas.microsoft.com/office/drawing/2014/main" id="{9A17CEFE-C6C1-4A1F-A99D-0015D85BB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742950"/>
            <a:ext cx="0" cy="5372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EC5FF"/>
            </a:solidFill>
            <a:prstDash val="solid"/>
          </a:ln>
        </p:spPr>
      </p:sp>
      <p:sp>
        <p:nvSpPr>
          <p:cNvPr id="4" name="cover-episode">
            <a:extLst xmlns:a="http://schemas.openxmlformats.org/drawingml/2006/main">
              <a:ext uri="{FF2B5EF4-FFF2-40B4-BE49-F238E27FC236}">
                <a16:creationId xmlns:a16="http://schemas.microsoft.com/office/drawing/2014/main" id="{CA5EC222-90D1-42EF-B3BA-EDE810B30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EC5FF"/>
                </a:solidFill>
              </a:defRPr>
            </a:pPr>
            <a:r>
              <a:rPr sz="1350" b="1">
                <a:solidFill>
                  <a:srgbClr val="1EC5FF"/>
                </a:solidFill>
              </a:rPr>
              <a:t>EPISÓDIO 9</a:t>
            </a:r>
          </a:p>
        </p:txBody>
      </p:sp>
      <p:sp>
        <p:nvSpPr>
          <p:cNvPr id="5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7802FF67-B64E-48FF-9BD2-5D78758AA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18" name="" descr="Ilustração conceitual autoral da capa: EPISÓDIO 9 — CI inteligente com artifacts, state e defer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9f92617a2c4af4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7" name="cover-title">
            <a:extLst xmlns:a="http://schemas.openxmlformats.org/drawingml/2006/main">
              <a:ext uri="{FF2B5EF4-FFF2-40B4-BE49-F238E27FC236}">
                <a16:creationId xmlns:a16="http://schemas.microsoft.com/office/drawing/2014/main" id="{656397F3-8E34-4923-BF10-4840EA40F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49530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FFFFFF"/>
                </a:solidFill>
              </a:defRPr>
            </a:pPr>
            <a:r>
              <a:rPr sz="3225" b="1">
                <a:solidFill>
                  <a:srgbClr val="FFFFFF"/>
                </a:solidFill>
              </a:rPr>
              <a:t>CI inteligente com artifacts, state e defer</a:t>
            </a:r>
          </a:p>
        </p:txBody>
      </p:sp>
      <p:sp>
        <p:nvSpPr>
          <p:cNvPr id="8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D7D027B2-1F7A-458F-932D-57C2B0AF3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0"/>
            <a:ext cx="4857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E2F2FF"/>
                </a:solidFill>
              </a:defRPr>
            </a:pPr>
            <a:r>
              <a:rPr sz="1800">
                <a:solidFill>
                  <a:srgbClr val="E2F2FF"/>
                </a:solidFill>
              </a:rPr>
              <a:t>Teste o impacto necessário sem reconstruir o mundo</a:t>
            </a:r>
          </a:p>
        </p:txBody>
      </p:sp>
      <p:sp>
        <p:nvSpPr>
          <p:cNvPr id="9" name="cover-accent">
            <a:extLst xmlns:a="http://schemas.openxmlformats.org/drawingml/2006/main">
              <a:ext uri="{FF2B5EF4-FFF2-40B4-BE49-F238E27FC236}">
                <a16:creationId xmlns:a16="http://schemas.microsoft.com/office/drawing/2014/main" id="{E17935BF-5D4F-4160-BC4D-62296A1E8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228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EC5FF"/>
            </a:solidFill>
            <a:prstDash val="solid"/>
          </a:ln>
        </p:spPr>
      </p:sp>
      <p:sp>
        <p:nvSpPr>
          <p:cNvPr id="10" name="cover-meta">
            <a:extLst xmlns:a="http://schemas.openxmlformats.org/drawingml/2006/main">
              <a:ext uri="{FF2B5EF4-FFF2-40B4-BE49-F238E27FC236}">
                <a16:creationId xmlns:a16="http://schemas.microsoft.com/office/drawing/2014/main" id="{5A915E5F-364B-43FF-8D1C-928496886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86375"/>
            <a:ext cx="4857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FFFFF">
                    <a:alpha val="66667"/>
                  </a:srgbClr>
                </a:solidFill>
              </a:defRPr>
            </a:pPr>
            <a:r>
              <a:rPr sz="1200" b="1">
                <a:solidFill>
                  <a:srgbClr val="FFFFFF">
                    <a:alpha val="66667"/>
                  </a:srgbClr>
                </a:solidFill>
              </a:rPr>
              <a:t>Checkpoint 09 • DuckDB local • sem cloud</a:t>
            </a:r>
          </a:p>
        </p:txBody>
      </p:sp>
    </p:spTree>
    <p:extLst>
      <p:ext uri="{BB962C8B-B14F-4D97-AF65-F5344CB8AC3E}">
        <p14:creationId xmlns:p14="http://schemas.microsoft.com/office/powerpoint/2010/main" val="170662990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hook">
            <a:extLst xmlns:a="http://schemas.openxmlformats.org/drawingml/2006/main">
              <a:ext uri="{FF2B5EF4-FFF2-40B4-BE49-F238E27FC236}">
                <a16:creationId xmlns:a16="http://schemas.microsoft.com/office/drawing/2014/main" id="{2272A561-224C-4A0B-9EB8-45E1A707A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10287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0B1F3A"/>
                </a:solidFill>
              </a:defRPr>
            </a:pPr>
            <a:r>
              <a:rPr sz="2850" b="1">
                <a:solidFill>
                  <a:srgbClr val="0B1F3A"/>
                </a:solidFill>
              </a:rPr>
              <a:t>CI rápida não significa selecionar menos; significa selecionar o impacto correto.</a:t>
            </a:r>
          </a:p>
        </p:txBody>
      </p:sp>
      <p:sp>
        <p:nvSpPr>
          <p:cNvPr id="2" name="hook-rule">
            <a:extLst xmlns:a="http://schemas.openxmlformats.org/drawingml/2006/main">
              <a:ext uri="{FF2B5EF4-FFF2-40B4-BE49-F238E27FC236}">
                <a16:creationId xmlns:a16="http://schemas.microsoft.com/office/drawing/2014/main" id="{AC624068-CAD7-48B5-A511-5849555DE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209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565C0"/>
            </a:solidFill>
            <a:prstDash val="solid"/>
          </a:ln>
        </p:spPr>
      </p:sp>
      <p:sp>
        <p:nvSpPr>
          <p:cNvPr id="3" name="hook-label">
            <a:extLst xmlns:a="http://schemas.openxmlformats.org/drawingml/2006/main">
              <a:ext uri="{FF2B5EF4-FFF2-40B4-BE49-F238E27FC236}">
                <a16:creationId xmlns:a16="http://schemas.microsoft.com/office/drawing/2014/main" id="{753D0ACD-B9E7-45B2-AF92-9C6B0DBF3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1300"/>
            <a:ext cx="400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1565C0"/>
                </a:solidFill>
              </a:defRPr>
            </a:pPr>
            <a:r>
              <a:rPr sz="1425" b="1">
                <a:solidFill>
                  <a:srgbClr val="1565C0"/>
                </a:solidFill>
              </a:rPr>
              <a:t>A pergunta que guia a aula</a:t>
            </a:r>
          </a:p>
        </p:txBody>
      </p:sp>
      <p:sp>
        <p:nvSpPr>
          <p:cNvPr id="4" name="diagram-surface">
            <a:extLst xmlns:a="http://schemas.openxmlformats.org/drawingml/2006/main">
              <a:ext uri="{FF2B5EF4-FFF2-40B4-BE49-F238E27FC236}">
                <a16:creationId xmlns:a16="http://schemas.microsoft.com/office/drawing/2014/main" id="{8299EFFF-876E-43F7-BE6C-A7C05DF2B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24250"/>
            <a:ext cx="108204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DD7EA"/>
            </a:solidFill>
            <a:prstDash val="solid"/>
          </a:ln>
        </p:spPr>
      </p:sp>
      <p:pic>
        <p:nvPicPr>
          <p:cNvPr id="19" name="" descr="Diagrama didático autoral que apresenta: CI rápida não significa selecionar menos; significa selecionar o impacto correto. — A pergunta que guia a aula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80c6c48a4a44d6"/>
          <a:stretch xmlns:a="http://schemas.openxmlformats.org/drawingml/2006/main"/>
        </p:blipFill>
        <p:spPr>
          <a:xfrm xmlns:a="http://schemas.openxmlformats.org/drawingml/2006/main">
            <a:off x="3108960" y="3790950"/>
            <a:ext cx="5974080" cy="1562100"/>
          </a:xfrm>
          <a:prstGeom xmlns:a="http://schemas.openxmlformats.org/drawingml/2006/main" prst="rect">
            <a:avLst/>
          </a:prstGeom>
        </p:spPr>
      </p:pic>
      <p:sp>
        <p:nvSpPr>
          <p:cNvPr id="6" name="eyebrow">
            <a:extLst xmlns:a="http://schemas.openxmlformats.org/drawingml/2006/main">
              <a:ext uri="{FF2B5EF4-FFF2-40B4-BE49-F238E27FC236}">
                <a16:creationId xmlns:a16="http://schemas.microsoft.com/office/drawing/2014/main" id="{32269C3A-3EF4-47DC-9354-5E6279C1F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9  •  OPEN / CORE 1.12</a:t>
            </a:r>
          </a:p>
        </p:txBody>
      </p:sp>
      <p:sp>
        <p:nvSpPr>
          <p:cNvPr id="7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47DD2085-A14E-4FF7-8535-CABB2DBBB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22" name="" descr="Diagrama didático autoral que apresenta: CI rápida não significa selecionar menos; significa selecionar o impacto correto. — A pergunta que guia a aula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2ebe103e1c40b0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9" name="footer-rule">
            <a:extLst xmlns:a="http://schemas.openxmlformats.org/drawingml/2006/main">
              <a:ext uri="{FF2B5EF4-FFF2-40B4-BE49-F238E27FC236}">
                <a16:creationId xmlns:a16="http://schemas.microsoft.com/office/drawing/2014/main" id="{EEC3A148-F71D-4CDB-8026-53B826F64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10" name="footer">
            <a:extLst xmlns:a="http://schemas.openxmlformats.org/drawingml/2006/main">
              <a:ext uri="{FF2B5EF4-FFF2-40B4-BE49-F238E27FC236}">
                <a16:creationId xmlns:a16="http://schemas.microsoft.com/office/drawing/2014/main" id="{BC35810E-A19D-4268-AEFA-71B668F98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1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72A39D2-767D-4C13-BDD8-E188574D1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2/20</a:t>
            </a:r>
          </a:p>
        </p:txBody>
      </p:sp>
    </p:spTree>
    <p:extLst>
      <p:ext uri="{BB962C8B-B14F-4D97-AF65-F5344CB8AC3E}">
        <p14:creationId xmlns:p14="http://schemas.microsoft.com/office/powerpoint/2010/main" val="796887018"/>
      </p:ext>
    </p:extLst>
  </p:cSld>
</p:sld>
</file>

<file path=ppt/slides/slide3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EA56017-59A6-4EF2-9BBA-0AFACE7FA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Ao final, você consegue...</a:t>
            </a:r>
          </a:p>
        </p:txBody>
      </p:sp>
      <p:sp>
        <p:nvSpPr>
          <p:cNvPr id="2" name="step-num-1">
            <a:extLst xmlns:a="http://schemas.openxmlformats.org/drawingml/2006/main">
              <a:ext uri="{FF2B5EF4-FFF2-40B4-BE49-F238E27FC236}">
                <a16:creationId xmlns:a16="http://schemas.microsoft.com/office/drawing/2014/main" id="{59902628-0C98-4A7A-8690-A108BBFDB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EC5FF"/>
                </a:solidFill>
              </a:defRPr>
            </a:pPr>
            <a:r>
              <a:rPr sz="3450" b="1">
                <a:solidFill>
                  <a:srgbClr val="1EC5FF"/>
                </a:solidFill>
              </a:rPr>
              <a:t>01</a:t>
            </a:r>
          </a:p>
        </p:txBody>
      </p:sp>
      <p:sp>
        <p:nvSpPr>
          <p:cNvPr id="3" name="step-label-1">
            <a:extLst xmlns:a="http://schemas.openxmlformats.org/drawingml/2006/main">
              <a:ext uri="{FF2B5EF4-FFF2-40B4-BE49-F238E27FC236}">
                <a16:creationId xmlns:a16="http://schemas.microsoft.com/office/drawing/2014/main" id="{63BD5AF4-25DD-4336-91AA-3B8D4ABBF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Comparar manifests</a:t>
            </a:r>
          </a:p>
        </p:txBody>
      </p:sp>
      <p:sp>
        <p:nvSpPr>
          <p:cNvPr id="4" name="step-line-1">
            <a:extLst xmlns:a="http://schemas.openxmlformats.org/drawingml/2006/main">
              <a:ext uri="{FF2B5EF4-FFF2-40B4-BE49-F238E27FC236}">
                <a16:creationId xmlns:a16="http://schemas.microsoft.com/office/drawing/2014/main" id="{A0D396EF-9DB7-4764-9A28-4B2A2BC1A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EC5FF"/>
            </a:solidFill>
            <a:prstDash val="solid"/>
          </a:ln>
        </p:spPr>
      </p:sp>
      <p:sp>
        <p:nvSpPr>
          <p:cNvPr id="5" name="step-num-2">
            <a:extLst xmlns:a="http://schemas.openxmlformats.org/drawingml/2006/main">
              <a:ext uri="{FF2B5EF4-FFF2-40B4-BE49-F238E27FC236}">
                <a16:creationId xmlns:a16="http://schemas.microsoft.com/office/drawing/2014/main" id="{527202F6-00FA-4009-AAA7-20EFFD867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EC5FF"/>
                </a:solidFill>
              </a:defRPr>
            </a:pPr>
            <a:r>
              <a:rPr sz="3450" b="1">
                <a:solidFill>
                  <a:srgbClr val="1EC5FF"/>
                </a:solidFill>
              </a:rPr>
              <a:t>02</a:t>
            </a:r>
          </a:p>
        </p:txBody>
      </p:sp>
      <p:sp>
        <p:nvSpPr>
          <p:cNvPr id="6" name="step-label-2">
            <a:extLst xmlns:a="http://schemas.openxmlformats.org/drawingml/2006/main">
              <a:ext uri="{FF2B5EF4-FFF2-40B4-BE49-F238E27FC236}">
                <a16:creationId xmlns:a16="http://schemas.microsoft.com/office/drawing/2014/main" id="{631B8CC9-DE44-469C-8AAD-0B2D85B96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Selecionar modified+</a:t>
            </a:r>
          </a:p>
        </p:txBody>
      </p:sp>
      <p:sp>
        <p:nvSpPr>
          <p:cNvPr id="7" name="step-line-2">
            <a:extLst xmlns:a="http://schemas.openxmlformats.org/drawingml/2006/main">
              <a:ext uri="{FF2B5EF4-FFF2-40B4-BE49-F238E27FC236}">
                <a16:creationId xmlns:a16="http://schemas.microsoft.com/office/drawing/2014/main" id="{0D92FF66-5A1D-4731-ADFF-99B44CC17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EC5FF"/>
            </a:solidFill>
            <a:prstDash val="solid"/>
          </a:ln>
        </p:spPr>
      </p:sp>
      <p:sp>
        <p:nvSpPr>
          <p:cNvPr id="8" name="step-num-3">
            <a:extLst xmlns:a="http://schemas.openxmlformats.org/drawingml/2006/main">
              <a:ext uri="{FF2B5EF4-FFF2-40B4-BE49-F238E27FC236}">
                <a16:creationId xmlns:a16="http://schemas.microsoft.com/office/drawing/2014/main" id="{7EBEB178-56A0-4B8C-B82A-C1379BE9D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EC5FF"/>
                </a:solidFill>
              </a:defRPr>
            </a:pPr>
            <a:r>
              <a:rPr sz="3450" b="1">
                <a:solidFill>
                  <a:srgbClr val="1EC5FF"/>
                </a:solidFill>
              </a:rPr>
              <a:t>03</a:t>
            </a:r>
          </a:p>
        </p:txBody>
      </p:sp>
      <p:sp>
        <p:nvSpPr>
          <p:cNvPr id="9" name="step-label-3">
            <a:extLst xmlns:a="http://schemas.openxmlformats.org/drawingml/2006/main">
              <a:ext uri="{FF2B5EF4-FFF2-40B4-BE49-F238E27FC236}">
                <a16:creationId xmlns:a16="http://schemas.microsoft.com/office/drawing/2014/main" id="{A171D45D-2789-4E2B-9ABA-B2DA882ED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Usar defer com clareza</a:t>
            </a:r>
          </a:p>
        </p:txBody>
      </p:sp>
      <p:sp>
        <p:nvSpPr>
          <p:cNvPr id="10" name="eyebrow">
            <a:extLst xmlns:a="http://schemas.openxmlformats.org/drawingml/2006/main">
              <a:ext uri="{FF2B5EF4-FFF2-40B4-BE49-F238E27FC236}">
                <a16:creationId xmlns:a16="http://schemas.microsoft.com/office/drawing/2014/main" id="{22B9B117-D275-47ED-98D0-CC4784999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9  •  OPEN / CORE 1.12</a:t>
            </a:r>
          </a:p>
        </p:txBody>
      </p:sp>
      <p:sp>
        <p:nvSpPr>
          <p:cNvPr id="11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DF35919D-8FE3-45D6-969B-8D823AA26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29" name="" descr="Figura oficial da documentação dbt usada para explicar: Ao final, você consegue... — 01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eb5aa12fab4fcd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13" name="footer-rule">
            <a:extLst xmlns:a="http://schemas.openxmlformats.org/drawingml/2006/main">
              <a:ext uri="{FF2B5EF4-FFF2-40B4-BE49-F238E27FC236}">
                <a16:creationId xmlns:a16="http://schemas.microsoft.com/office/drawing/2014/main" id="{32D54FE4-D5CF-4C73-B22F-82F921C25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14" name="footer">
            <a:extLst xmlns:a="http://schemas.openxmlformats.org/drawingml/2006/main">
              <a:ext uri="{FF2B5EF4-FFF2-40B4-BE49-F238E27FC236}">
                <a16:creationId xmlns:a16="http://schemas.microsoft.com/office/drawing/2014/main" id="{C3C91B44-8335-46BB-BE5F-7645516BE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449BCFD-0EA7-43B0-B65E-1D4D7FC33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3/20</a:t>
            </a:r>
          </a:p>
        </p:txBody>
      </p:sp>
    </p:spTree>
    <p:extLst>
      <p:ext uri="{BB962C8B-B14F-4D97-AF65-F5344CB8AC3E}">
        <p14:creationId xmlns:p14="http://schemas.microsoft.com/office/powerpoint/2010/main" val="1872071241"/>
      </p:ext>
    </p:extLst>
  </p:cSld>
</p:sld>
</file>

<file path=ppt/slides/slide4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2C678CE-D41F-4655-BAAE-8B1B5429B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Artifact não é lixo de build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76710745-B47D-4A8D-9CFD-DCC6ED316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E2F2FF"/>
                </a:solidFill>
              </a:defRPr>
            </a:pPr>
            <a:r>
              <a:rPr sz="1650">
                <a:solidFill>
                  <a:srgbClr val="E2F2FF"/>
                </a:solidFill>
              </a:rPr>
              <a:t>O manifest anterior é a referência que permite calcular mudança.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5F3CF686-B55F-4874-9B32-F09BE4AA2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Estado anterior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Estado atual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Diff de recursos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F1B68912-2110-4500-83CC-1ADFA0484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5EC6D5BC-654D-4741-A69C-21EA7B2BD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ACDCF420-6A82-46E1-BA60-A3B818211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650" b="1">
                <a:solidFill>
                  <a:srgbClr val="1EC5FF"/>
                </a:solidFill>
              </a:defRPr>
            </a:pPr>
            <a:r>
              <a:rPr sz="4650" b="1">
                <a:solidFill>
                  <a:srgbClr val="1EC5FF"/>
                </a:solidFill>
              </a:rPr>
              <a:t>01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831849BE-1AF0-4E4B-88C6-48A053A50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9  •  OPEN / CORE 1.12</a:t>
            </a:r>
          </a:p>
        </p:txBody>
      </p:sp>
      <p:sp>
        <p:nvSpPr>
          <p:cNvPr id="8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213D99D3-A07B-4E3D-B42B-F4DC3B43F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23" name="" descr="Figura oficial da documentação dbt usada para explicar: Artifact não é lixo de build — O manifest anterior é a referência que permite calcular mudança.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4676d955f049c9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10" name="footer-rule">
            <a:extLst xmlns:a="http://schemas.openxmlformats.org/drawingml/2006/main">
              <a:ext uri="{FF2B5EF4-FFF2-40B4-BE49-F238E27FC236}">
                <a16:creationId xmlns:a16="http://schemas.microsoft.com/office/drawing/2014/main" id="{8ED496AE-F0A9-4897-A7CF-6FFDA9CC1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11" name="footer">
            <a:extLst xmlns:a="http://schemas.openxmlformats.org/drawingml/2006/main">
              <a:ext uri="{FF2B5EF4-FFF2-40B4-BE49-F238E27FC236}">
                <a16:creationId xmlns:a16="http://schemas.microsoft.com/office/drawing/2014/main" id="{F57A0308-BB86-4213-ADC2-F7CC95E9E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95BD5639-B81C-4D06-8AF1-7A36E882A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4/20</a:t>
            </a:r>
          </a:p>
        </p:txBody>
      </p:sp>
    </p:spTree>
    <p:extLst>
      <p:ext uri="{BB962C8B-B14F-4D97-AF65-F5344CB8AC3E}">
        <p14:creationId xmlns:p14="http://schemas.microsoft.com/office/powerpoint/2010/main" val="12768321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1D1C882-561D-4ECE-8FD2-0A14D34ED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state:modified encontra a mudança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C5EE9E8D-D742-424F-8E0C-5AADEA4F8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5C6F86"/>
                </a:solidFill>
              </a:defRPr>
            </a:pPr>
            <a:r>
              <a:rPr sz="1650">
                <a:solidFill>
                  <a:srgbClr val="5C6F86"/>
                </a:solidFill>
              </a:rPr>
              <a:t>O sufixo + inclui descendentes que podem ser afetados.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8D57DF1D-6799-47FD-A734-0D2617614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Modelo editado</a:t>
            </a:r>
          </a:p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Testes associados</a:t>
            </a:r>
          </a:p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Consumidores descendentes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B85CBD64-2E46-4CF4-BFCB-326BE4D12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66EB1866-66A8-400E-AF14-8C2E29B85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141EE2CB-2C44-4728-980A-614B5A63B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650" b="1">
                <a:solidFill>
                  <a:srgbClr val="1565C0"/>
                </a:solidFill>
              </a:defRPr>
            </a:pPr>
            <a:r>
              <a:rPr sz="4650" b="1">
                <a:solidFill>
                  <a:srgbClr val="1565C0"/>
                </a:solidFill>
              </a:rPr>
              <a:t>02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0E89B9BC-8067-47A0-8DEF-236B9670C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9  •  OPEN / CORE 1.12</a:t>
            </a:r>
          </a:p>
        </p:txBody>
      </p:sp>
      <p:sp>
        <p:nvSpPr>
          <p:cNvPr id="8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C5C5139D-5838-4EBB-A17B-FC98AD5BD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23" name="" descr="Figura oficial da documentação dbt usada para explicar: state:modified encontra a mudança — O sufixo + inclui descendentes que podem ser afetados.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2f4b0eaf004801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10" name="footer-rule">
            <a:extLst xmlns:a="http://schemas.openxmlformats.org/drawingml/2006/main">
              <a:ext uri="{FF2B5EF4-FFF2-40B4-BE49-F238E27FC236}">
                <a16:creationId xmlns:a16="http://schemas.microsoft.com/office/drawing/2014/main" id="{DA80C0BF-7774-4936-B043-D43578632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11" name="footer">
            <a:extLst xmlns:a="http://schemas.openxmlformats.org/drawingml/2006/main">
              <a:ext uri="{FF2B5EF4-FFF2-40B4-BE49-F238E27FC236}">
                <a16:creationId xmlns:a16="http://schemas.microsoft.com/office/drawing/2014/main" id="{72BBCF22-16F7-440D-B33E-BC0579E7C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0FA908E-AD7D-4966-852A-E7309AD98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5/20</a:t>
            </a:r>
          </a:p>
        </p:txBody>
      </p:sp>
    </p:spTree>
    <p:extLst>
      <p:ext uri="{BB962C8B-B14F-4D97-AF65-F5344CB8AC3E}">
        <p14:creationId xmlns:p14="http://schemas.microsoft.com/office/powerpoint/2010/main" val="1228757313"/>
      </p:ext>
    </p:extLst>
  </p:cSld>
</p:sld>
</file>

<file path=ppt/slides/slide6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A4C600C-A900-489D-BC23-7562EA79A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state:modified encontra a mudança</a:t>
            </a:r>
          </a:p>
        </p:txBody>
      </p:sp>
      <p:sp>
        <p:nvSpPr>
          <p:cNvPr id="2" name="flow-1">
            <a:extLst xmlns:a="http://schemas.openxmlformats.org/drawingml/2006/main">
              <a:ext uri="{FF2B5EF4-FFF2-40B4-BE49-F238E27FC236}">
                <a16:creationId xmlns:a16="http://schemas.microsoft.com/office/drawing/2014/main" id="{B6AC3B74-7687-4503-888F-42E414194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429000"/>
            <a:ext cx="2443163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D3260"/>
          </a:solidFill>
          <a:ln xmlns:a="http://schemas.openxmlformats.org/drawingml/2006/main" w="19050">
            <a:solidFill>
              <a:srgbClr val="1EC5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Mudou</a:t>
            </a:r>
          </a:p>
        </p:txBody>
      </p:sp>
      <p:sp>
        <p:nvSpPr>
          <p:cNvPr id="3" name="flow-2">
            <a:extLst xmlns:a="http://schemas.openxmlformats.org/drawingml/2006/main">
              <a:ext uri="{FF2B5EF4-FFF2-40B4-BE49-F238E27FC236}">
                <a16:creationId xmlns:a16="http://schemas.microsoft.com/office/drawing/2014/main" id="{5989CB82-4CF9-425F-BE75-E2D0CC02A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9488" y="3429000"/>
            <a:ext cx="2443163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D3260"/>
          </a:solidFill>
          <a:ln xmlns:a="http://schemas.openxmlformats.org/drawingml/2006/main" w="19050">
            <a:solidFill>
              <a:srgbClr val="1EC5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Filhos</a:t>
            </a:r>
          </a:p>
        </p:txBody>
      </p:sp>
      <p:sp>
        <p:nvSpPr>
          <p:cNvPr id="4" name="flow-3">
            <a:extLst xmlns:a="http://schemas.openxmlformats.org/drawingml/2006/main">
              <a:ext uri="{FF2B5EF4-FFF2-40B4-BE49-F238E27FC236}">
                <a16:creationId xmlns:a16="http://schemas.microsoft.com/office/drawing/2014/main" id="{22DD7EB2-7151-4B2C-AEA3-B3E6CFBB5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429000"/>
            <a:ext cx="2443163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D3260"/>
          </a:solidFill>
          <a:ln xmlns:a="http://schemas.openxmlformats.org/drawingml/2006/main" w="19050">
            <a:solidFill>
              <a:srgbClr val="1EC5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Testes</a:t>
            </a:r>
          </a:p>
        </p:txBody>
      </p:sp>
      <p:sp>
        <p:nvSpPr>
          <p:cNvPr id="5" name="flow-4">
            <a:extLst xmlns:a="http://schemas.openxmlformats.org/drawingml/2006/main">
              <a:ext uri="{FF2B5EF4-FFF2-40B4-BE49-F238E27FC236}">
                <a16:creationId xmlns:a16="http://schemas.microsoft.com/office/drawing/2014/main" id="{E9CDD928-806D-425D-A5CC-56245E2F9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213" y="3429000"/>
            <a:ext cx="2443163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D3260"/>
          </a:solidFill>
          <a:ln xmlns:a="http://schemas.openxmlformats.org/drawingml/2006/main" w="19050">
            <a:solidFill>
              <a:srgbClr val="1EC5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Exposures</a:t>
            </a:r>
          </a:p>
        </p:txBody>
      </p:sp>
      <p:cxnSp>
        <p:nvCxnSpPr>
          <p:cNvPr id="29" name=""/>
          <p:cNvCxnSpPr>
            <a:stCxn xmlns:a="http://schemas.openxmlformats.org/drawingml/2006/main" id="2" idx="3"/>
            <a:endCxn xmlns:a="http://schemas.openxmlformats.org/drawingml/2006/main" id="3" idx="1"/>
          </p:cNvCxnSpPr>
          <p:nvPr/>
        </p:nvCxnSpPr>
        <p:spPr>
          <a:xfrm xmlns:a="http://schemas.openxmlformats.org/drawingml/2006/main">
            <a:off x="3252788" y="3962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EC5FF"/>
            </a:solidFill>
            <a:prstDash val="solid"/>
            <a:headEnd type="arrow" w="med" len="med"/>
          </a:ln>
        </p:spPr>
      </p:cxnSp>
      <p:cxnSp>
        <p:nvCxnSpPr>
          <p:cNvPr id="30" name=""/>
          <p:cNvCxnSpPr>
            <a:stCxn xmlns:a="http://schemas.openxmlformats.org/drawingml/2006/main" id="3" idx="3"/>
            <a:endCxn xmlns:a="http://schemas.openxmlformats.org/drawingml/2006/main" id="4" idx="1"/>
          </p:cNvCxnSpPr>
          <p:nvPr/>
        </p:nvCxnSpPr>
        <p:spPr>
          <a:xfrm xmlns:a="http://schemas.openxmlformats.org/drawingml/2006/main">
            <a:off x="5962651" y="3962400"/>
            <a:ext cx="266699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EC5FF"/>
            </a:solidFill>
            <a:prstDash val="solid"/>
            <a:headEnd type="arrow" w="med" len="med"/>
          </a:ln>
        </p:spPr>
      </p:cxnSp>
      <p:cxnSp>
        <p:nvCxnSpPr>
          <p:cNvPr id="31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8672513" y="3962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EC5FF"/>
            </a:solidFill>
            <a:prstDash val="solid"/>
            <a:headEnd type="arrow" w="med" len="med"/>
          </a:ln>
        </p:spPr>
      </p:cxnSp>
      <p:sp>
        <p:nvSpPr>
          <p:cNvPr id="9" name="eyebrow">
            <a:extLst xmlns:a="http://schemas.openxmlformats.org/drawingml/2006/main">
              <a:ext uri="{FF2B5EF4-FFF2-40B4-BE49-F238E27FC236}">
                <a16:creationId xmlns:a16="http://schemas.microsoft.com/office/drawing/2014/main" id="{FB9DE61A-E354-495A-967F-D9B543649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9  •  OPEN / CORE 1.12</a:t>
            </a:r>
          </a:p>
        </p:txBody>
      </p:sp>
      <p:sp>
        <p:nvSpPr>
          <p:cNvPr id="10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9256B420-7AF6-43CC-9167-940AEB2CE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34" name="" descr="Figura oficial da documentação dbt usada para explicar: state:modified encontra a mudança — Mudou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029626e4324634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12" name="footer-rule">
            <a:extLst xmlns:a="http://schemas.openxmlformats.org/drawingml/2006/main">
              <a:ext uri="{FF2B5EF4-FFF2-40B4-BE49-F238E27FC236}">
                <a16:creationId xmlns:a16="http://schemas.microsoft.com/office/drawing/2014/main" id="{F0327BBE-CF01-4616-9BBB-866E5BB59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13" name="footer">
            <a:extLst xmlns:a="http://schemas.openxmlformats.org/drawingml/2006/main">
              <a:ext uri="{FF2B5EF4-FFF2-40B4-BE49-F238E27FC236}">
                <a16:creationId xmlns:a16="http://schemas.microsoft.com/office/drawing/2014/main" id="{DE4A993C-137F-4B56-A800-518CD6D75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D2E959B-2B92-42FC-89A4-4A1B1FEFB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6/20</a:t>
            </a:r>
          </a:p>
        </p:txBody>
      </p:sp>
    </p:spTree>
    <p:extLst>
      <p:ext uri="{BB962C8B-B14F-4D97-AF65-F5344CB8AC3E}">
        <p14:creationId xmlns:p14="http://schemas.microsoft.com/office/powerpoint/2010/main" val="908613360"/>
      </p:ext>
    </p:extLst>
  </p:cSld>
</p:sld>
</file>

<file path=ppt/slides/slide7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0C1DD14-87BC-4B31-8FB1-9DB0224FF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Seleção mínima ingênua perde risco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1E86FBF7-B8DA-44B5-97BB-12E11C600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E2F2FF"/>
                </a:solidFill>
              </a:defRPr>
            </a:pPr>
            <a:r>
              <a:rPr sz="1650">
                <a:solidFill>
                  <a:srgbClr val="E2F2FF"/>
                </a:solidFill>
              </a:rPr>
              <a:t>Testar apenas o arquivo alterado pode ignorar contratos e consumidores.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6A719B2A-B83F-4585-9182-260B1E830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Impacto no DAG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Testes indiretos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Dependências públicas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305A4682-899B-42E4-9FBC-A93038702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17FD995D-ADB1-464F-8D2F-D790828C5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848B2DA6-7834-4ADD-87DC-7F2F5BB57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650" b="1">
                <a:solidFill>
                  <a:srgbClr val="1EC5FF"/>
                </a:solidFill>
              </a:defRPr>
            </a:pPr>
            <a:r>
              <a:rPr sz="4650" b="1">
                <a:solidFill>
                  <a:srgbClr val="1EC5FF"/>
                </a:solidFill>
              </a:rPr>
              <a:t>03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F62B09C4-1B92-4C3C-A861-AB7E2D90A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9  •  OPEN / CORE 1.12</a:t>
            </a:r>
          </a:p>
        </p:txBody>
      </p:sp>
      <p:sp>
        <p:nvSpPr>
          <p:cNvPr id="8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F114E105-252D-472B-9C55-69AB031A3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23" name="" descr="Figura oficial da documentação dbt usada para explicar: Seleção mínima ingênua perde risco — Testar apenas o arquivo alterado pode ignorar contratos e consumidores.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e3d52dbc3b4f30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10" name="footer-rule">
            <a:extLst xmlns:a="http://schemas.openxmlformats.org/drawingml/2006/main">
              <a:ext uri="{FF2B5EF4-FFF2-40B4-BE49-F238E27FC236}">
                <a16:creationId xmlns:a16="http://schemas.microsoft.com/office/drawing/2014/main" id="{2C7E21A1-5187-4CEC-9896-578DDF310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11" name="footer">
            <a:extLst xmlns:a="http://schemas.openxmlformats.org/drawingml/2006/main">
              <a:ext uri="{FF2B5EF4-FFF2-40B4-BE49-F238E27FC236}">
                <a16:creationId xmlns:a16="http://schemas.microsoft.com/office/drawing/2014/main" id="{61363E94-DB89-4316-A7EC-11F551272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D6FEEF9-A617-4581-999D-92100AF0B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7/20</a:t>
            </a:r>
          </a:p>
        </p:txBody>
      </p:sp>
    </p:spTree>
    <p:extLst>
      <p:ext uri="{BB962C8B-B14F-4D97-AF65-F5344CB8AC3E}">
        <p14:creationId xmlns:p14="http://schemas.microsoft.com/office/powerpoint/2010/main" val="203402241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E4FDC92-C076-4B5E-B2CF-6B24BE205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Seleção mínima ingênua perde risco</a:t>
            </a:r>
          </a:p>
        </p:txBody>
      </p:sp>
      <p:sp>
        <p:nvSpPr>
          <p:cNvPr id="2" name="compare-left-title">
            <a:extLst xmlns:a="http://schemas.openxmlformats.org/drawingml/2006/main">
              <a:ext uri="{FF2B5EF4-FFF2-40B4-BE49-F238E27FC236}">
                <a16:creationId xmlns:a16="http://schemas.microsoft.com/office/drawing/2014/main" id="{F2CB06A6-C3B8-4FFF-BC05-460A9EA36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57500"/>
            <a:ext cx="457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1565C0"/>
                </a:solidFill>
              </a:defRPr>
            </a:pPr>
            <a:r>
              <a:rPr sz="2100" b="1">
                <a:solidFill>
                  <a:srgbClr val="1565C0"/>
                </a:solidFill>
              </a:rPr>
              <a:t>Arquivo</a:t>
            </a:r>
          </a:p>
        </p:txBody>
      </p:sp>
      <p:sp>
        <p:nvSpPr>
          <p:cNvPr id="3" name="compare-right-title">
            <a:extLst xmlns:a="http://schemas.openxmlformats.org/drawingml/2006/main">
              <a:ext uri="{FF2B5EF4-FFF2-40B4-BE49-F238E27FC236}">
                <a16:creationId xmlns:a16="http://schemas.microsoft.com/office/drawing/2014/main" id="{4AB68357-4B5A-4D9E-84C2-BF058131C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857500"/>
            <a:ext cx="457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1565C0"/>
                </a:solidFill>
              </a:defRPr>
            </a:pPr>
            <a:r>
              <a:rPr sz="2100" b="1">
                <a:solidFill>
                  <a:srgbClr val="1565C0"/>
                </a:solidFill>
              </a:rPr>
              <a:t>Impacto</a:t>
            </a:r>
          </a:p>
        </p:txBody>
      </p:sp>
      <p:sp>
        <p:nvSpPr>
          <p:cNvPr id="4" name="compare-divider">
            <a:extLst xmlns:a="http://schemas.openxmlformats.org/drawingml/2006/main">
              <a:ext uri="{FF2B5EF4-FFF2-40B4-BE49-F238E27FC236}">
                <a16:creationId xmlns:a16="http://schemas.microsoft.com/office/drawing/2014/main" id="{45C3BFCB-2A32-4379-BFB4-E0E4D1327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724150"/>
            <a:ext cx="0" cy="2571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DD7EA"/>
            </a:solidFill>
            <a:prstDash val="solid"/>
          </a:ln>
        </p:spPr>
      </p:sp>
      <p:sp>
        <p:nvSpPr>
          <p:cNvPr id="5" name="bullets">
            <a:extLst xmlns:a="http://schemas.openxmlformats.org/drawingml/2006/main">
              <a:ext uri="{FF2B5EF4-FFF2-40B4-BE49-F238E27FC236}">
                <a16:creationId xmlns:a16="http://schemas.microsoft.com/office/drawing/2014/main" id="{CF8FF3A4-6034-4F3C-B449-2899A6074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24250"/>
            <a:ext cx="45720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0B1F3A"/>
                </a:solidFill>
              </a:defRPr>
            </a:pPr>
            <a:r>
              <a:rPr sz="1650">
                <a:solidFill>
                  <a:srgbClr val="0B1F3A"/>
                </a:solidFill>
              </a:rPr>
              <a:t>• Impacto no DAG</a:t>
            </a:r>
          </a:p>
          <a:p xmlns:a="http://schemas.openxmlformats.org/drawingml/2006/main">
            <a:pPr>
              <a:buNone/>
              <a:defRPr sz="1650">
                <a:solidFill>
                  <a:srgbClr val="0B1F3A"/>
                </a:solidFill>
              </a:defRPr>
            </a:pPr>
            <a:r>
              <a:rPr sz="1650">
                <a:solidFill>
                  <a:srgbClr val="0B1F3A"/>
                </a:solidFill>
              </a:rPr>
              <a:t>• Testes indiretos</a:t>
            </a:r>
          </a:p>
        </p:txBody>
      </p:sp>
      <p:sp>
        <p:nvSpPr>
          <p:cNvPr id="6" name="bullets">
            <a:extLst xmlns:a="http://schemas.openxmlformats.org/drawingml/2006/main">
              <a:ext uri="{FF2B5EF4-FFF2-40B4-BE49-F238E27FC236}">
                <a16:creationId xmlns:a16="http://schemas.microsoft.com/office/drawing/2014/main" id="{0A510A7E-F812-4D85-A367-CF42E4FEC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524250"/>
            <a:ext cx="45720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0B1F3A"/>
                </a:solidFill>
              </a:defRPr>
            </a:pPr>
            <a:r>
              <a:rPr sz="1650">
                <a:solidFill>
                  <a:srgbClr val="0B1F3A"/>
                </a:solidFill>
              </a:rPr>
              <a:t>• Dependências públicas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CAF05CC3-CC30-4586-8A21-98FA0D784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9  •  OPEN / CORE 1.12</a:t>
            </a:r>
          </a:p>
        </p:txBody>
      </p:sp>
      <p:sp>
        <p:nvSpPr>
          <p:cNvPr id="8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DAD92B21-E297-40B7-A950-B003F5AE9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23" name="" descr="Figura oficial da documentação dbt usada para explicar: Seleção mínima ingênua perde risco — Arquivo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69880ff0194e2b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10" name="footer-rule">
            <a:extLst xmlns:a="http://schemas.openxmlformats.org/drawingml/2006/main">
              <a:ext uri="{FF2B5EF4-FFF2-40B4-BE49-F238E27FC236}">
                <a16:creationId xmlns:a16="http://schemas.microsoft.com/office/drawing/2014/main" id="{B5F9675E-B492-40EE-BF6D-B9E5BD3AD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11" name="footer">
            <a:extLst xmlns:a="http://schemas.openxmlformats.org/drawingml/2006/main">
              <a:ext uri="{FF2B5EF4-FFF2-40B4-BE49-F238E27FC236}">
                <a16:creationId xmlns:a16="http://schemas.microsoft.com/office/drawing/2014/main" id="{F62C842D-C9C9-4AF5-85DA-C21B7D146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B2D2EEA-F39D-4B2F-8C3B-43EB4F04A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8/20</a:t>
            </a:r>
          </a:p>
        </p:txBody>
      </p:sp>
    </p:spTree>
    <p:extLst>
      <p:ext uri="{BB962C8B-B14F-4D97-AF65-F5344CB8AC3E}">
        <p14:creationId xmlns:p14="http://schemas.microsoft.com/office/powerpoint/2010/main" val="197246526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DBA6B6F-0352-443F-98E5-F885D9A13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Defer reutiliza relações de outro estado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918BD0A7-B09A-4FED-85D2-8AD008397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5C6F86"/>
                </a:solidFill>
              </a:defRPr>
            </a:pPr>
            <a:r>
              <a:rPr sz="1650">
                <a:solidFill>
                  <a:srgbClr val="5C6F86"/>
                </a:solidFill>
              </a:rPr>
              <a:t>Modelos não construídos localmente podem apontar para produção ou staging.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ADD24A07-B66D-4798-84E7-FE863CAAB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Resolve refs</a:t>
            </a:r>
          </a:p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Evita recomputação</a:t>
            </a:r>
          </a:p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Exige estado confiável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B9FF9C4A-8F2B-4006-BE3B-B1267A1D1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CAC66D7A-4B29-4583-828C-FCC5E2A4C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A9E3F778-BE46-4A0D-B97E-00CB7D4FC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650" b="1">
                <a:solidFill>
                  <a:srgbClr val="1565C0"/>
                </a:solidFill>
              </a:defRPr>
            </a:pPr>
            <a:r>
              <a:rPr sz="4650" b="1">
                <a:solidFill>
                  <a:srgbClr val="1565C0"/>
                </a:solidFill>
              </a:rPr>
              <a:t>04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FDB896A3-C16F-40D3-B2BA-03C4C982D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9  •  OPEN / CORE 1.12</a:t>
            </a:r>
          </a:p>
        </p:txBody>
      </p:sp>
      <p:sp>
        <p:nvSpPr>
          <p:cNvPr id="8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BC145D8E-4D6F-48B1-AB16-99CFA46E0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23" name="" descr="Figura oficial da documentação dbt usada para explicar: Defer reutiliza relações de outro estado — Modelos não construídos localmente podem apontar para produção ou staging.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d8c8943f3d4a70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10" name="footer-rule">
            <a:extLst xmlns:a="http://schemas.openxmlformats.org/drawingml/2006/main">
              <a:ext uri="{FF2B5EF4-FFF2-40B4-BE49-F238E27FC236}">
                <a16:creationId xmlns:a16="http://schemas.microsoft.com/office/drawing/2014/main" id="{E391A342-9BF4-4171-BFE7-DE8C7200D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11" name="footer">
            <a:extLst xmlns:a="http://schemas.openxmlformats.org/drawingml/2006/main">
              <a:ext uri="{FF2B5EF4-FFF2-40B4-BE49-F238E27FC236}">
                <a16:creationId xmlns:a16="http://schemas.microsoft.com/office/drawing/2014/main" id="{E3363A9B-F876-490E-92DE-EEFF03543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3294EC3-CB8F-4BCE-B662-0531C8705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9/20</a:t>
            </a:r>
          </a:p>
        </p:txBody>
      </p:sp>
    </p:spTree>
    <p:extLst>
      <p:ext uri="{BB962C8B-B14F-4D97-AF65-F5344CB8AC3E}">
        <p14:creationId xmlns:p14="http://schemas.microsoft.com/office/powerpoint/2010/main" val="976830060"/>
      </p:ext>
    </p:extLst>
  </p:cSld>
</p:sld>
</file>

<file path=ppt/slides/slide10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D4099B4-6884-4A4E-ABDA-1A68EE4A0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Defer reutiliza relações de outro estado</a:t>
            </a:r>
          </a:p>
        </p:txBody>
      </p:sp>
      <p:sp>
        <p:nvSpPr>
          <p:cNvPr id="2" name="visual-claim">
            <a:extLst xmlns:a="http://schemas.openxmlformats.org/drawingml/2006/main">
              <a:ext uri="{FF2B5EF4-FFF2-40B4-BE49-F238E27FC236}">
                <a16:creationId xmlns:a16="http://schemas.microsoft.com/office/drawing/2014/main" id="{F26EF338-B64B-446B-85AD-A0E92FEF2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39052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FFFFFF"/>
                </a:solidFill>
              </a:defRPr>
            </a:pPr>
            <a:r>
              <a:rPr sz="1950" b="1">
                <a:solidFill>
                  <a:srgbClr val="FFFFFF"/>
                </a:solidFill>
              </a:rPr>
              <a:t>Modelos não construídos localmente podem apontar para produção ou staging.</a:t>
            </a:r>
          </a:p>
        </p:txBody>
      </p:sp>
      <p:sp>
        <p:nvSpPr>
          <p:cNvPr id="3" name="image-surface">
            <a:extLst xmlns:a="http://schemas.openxmlformats.org/drawingml/2006/main">
              <a:ext uri="{FF2B5EF4-FFF2-40B4-BE49-F238E27FC236}">
                <a16:creationId xmlns:a16="http://schemas.microsoft.com/office/drawing/2014/main" id="{FDF6A7C6-45C9-4CD2-BAF8-D6371DB69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600200"/>
            <a:ext cx="6362700" cy="4095750"/>
          </a:xfrm>
          <a:prstGeom xmlns:a="http://schemas.openxmlformats.org/drawingml/2006/main" prst="roundRect">
            <a:avLst>
              <a:gd name="adj" fmla="val 18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18" name="" descr="Figura oficial da documentação dbt usada para explicar: Defer reutiliza relações de outro estado — Modelos não construídos localmente podem apontar para produção ou staging.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8ab41e4028490e"/>
          <a:stretch xmlns:a="http://schemas.openxmlformats.org/drawingml/2006/main"/>
        </p:blipFill>
        <p:spPr>
          <a:xfrm xmlns:a="http://schemas.openxmlformats.org/drawingml/2006/main">
            <a:off x="7149489" y="1809750"/>
            <a:ext cx="2350721" cy="3333750"/>
          </a:xfrm>
          <a:prstGeom xmlns:a="http://schemas.openxmlformats.org/drawingml/2006/main" prst="rect">
            <a:avLst/>
          </a:prstGeom>
        </p:spPr>
      </p:pic>
      <p:sp>
        <p:nvSpPr>
          <p:cNvPr id="5" name="image-caption">
            <a:extLst xmlns:a="http://schemas.openxmlformats.org/drawingml/2006/main">
              <a:ext uri="{FF2B5EF4-FFF2-40B4-BE49-F238E27FC236}">
                <a16:creationId xmlns:a16="http://schemas.microsoft.com/office/drawing/2014/main" id="{1E26C7BC-1CB4-41B7-A191-5E1EC91FC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219700"/>
            <a:ext cx="5791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i="1">
                <a:solidFill>
                  <a:srgbClr val="5C6F86"/>
                </a:solidFill>
              </a:defRPr>
            </a:pPr>
            <a:r>
              <a:rPr sz="900" i="1">
                <a:solidFill>
                  <a:srgbClr val="5C6F86"/>
                </a:solidFill>
              </a:rPr>
              <a:t>Figura oficial da documentação dbt — Apache 2.0</a:t>
            </a:r>
          </a:p>
        </p:txBody>
      </p:sp>
      <p:sp>
        <p:nvSpPr>
          <p:cNvPr id="6" name="eyebrow">
            <a:extLst xmlns:a="http://schemas.openxmlformats.org/drawingml/2006/main">
              <a:ext uri="{FF2B5EF4-FFF2-40B4-BE49-F238E27FC236}">
                <a16:creationId xmlns:a16="http://schemas.microsoft.com/office/drawing/2014/main" id="{1987969F-6D93-4AC6-8F02-AB6723A8E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9  •  OPEN / CORE 1.12</a:t>
            </a:r>
          </a:p>
        </p:txBody>
      </p:sp>
      <p:sp>
        <p:nvSpPr>
          <p:cNvPr id="7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04829D1B-6F4D-486D-8582-041CDE5E4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22" name="" descr="Figura oficial da documentação dbt usada para explicar: Defer reutiliza relações de outro estado — Modelos não construídos localmente podem apontar para produção ou staging.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593d7fd1b1b4c5c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9" name="footer-rule">
            <a:extLst xmlns:a="http://schemas.openxmlformats.org/drawingml/2006/main">
              <a:ext uri="{FF2B5EF4-FFF2-40B4-BE49-F238E27FC236}">
                <a16:creationId xmlns:a16="http://schemas.microsoft.com/office/drawing/2014/main" id="{680184F6-83A3-4790-B47C-5BAD11F78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10" name="footer">
            <a:extLst xmlns:a="http://schemas.openxmlformats.org/drawingml/2006/main">
              <a:ext uri="{FF2B5EF4-FFF2-40B4-BE49-F238E27FC236}">
                <a16:creationId xmlns:a16="http://schemas.microsoft.com/office/drawing/2014/main" id="{C184C143-5706-4D07-B5B6-9005C3C25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1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84C5393-57AC-4F33-ABB4-600058E7A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10/20</a:t>
            </a:r>
          </a:p>
        </p:txBody>
      </p:sp>
    </p:spTree>
    <p:extLst>
      <p:ext uri="{BB962C8B-B14F-4D97-AF65-F5344CB8AC3E}">
        <p14:creationId xmlns:p14="http://schemas.microsoft.com/office/powerpoint/2010/main" val="991463912"/>
      </p:ext>
    </p:extLst>
  </p:cSld>
</p:sld>
</file>

<file path=ppt/slides/slide11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7929E80-197F-495A-BB96-C73BCAA08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CI madura tem três níveis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3A6FAD3F-7A89-49A3-A784-566FE8249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E2F2FF"/>
                </a:solidFill>
              </a:defRPr>
            </a:pPr>
            <a:r>
              <a:rPr sz="1650">
                <a:solidFill>
                  <a:srgbClr val="E2F2FF"/>
                </a:solidFill>
              </a:rPr>
              <a:t>Parse barato, seleção por impacto e validação completa cumprem papéis diferentes.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F341A2B1-4F0C-4E1B-8592-4EAD56EF3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PR rápido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Gate de integração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Build completo programado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11BBA512-9DFC-4281-9870-5EC226097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0CFBCA76-D46E-4085-8546-51976A3F3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8A1E770B-03B4-4717-8EEF-AED3CC919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650" b="1">
                <a:solidFill>
                  <a:srgbClr val="1EC5FF"/>
                </a:solidFill>
              </a:defRPr>
            </a:pPr>
            <a:r>
              <a:rPr sz="4650" b="1">
                <a:solidFill>
                  <a:srgbClr val="1EC5FF"/>
                </a:solidFill>
              </a:rPr>
              <a:t>05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77C97E51-C8AE-4028-8E4D-21541DD3A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9  •  OPEN / CORE 1.12</a:t>
            </a:r>
          </a:p>
        </p:txBody>
      </p:sp>
      <p:sp>
        <p:nvSpPr>
          <p:cNvPr id="8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37380D3E-78B6-4E57-87A2-B0E4283C8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23" name="" descr="Figura oficial da documentação dbt usada para explicar: CI madura tem três níveis — Parse barato, seleção por impacto e validação completa cumprem papéis diferentes.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b1ba567bb841ac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10" name="footer-rule">
            <a:extLst xmlns:a="http://schemas.openxmlformats.org/drawingml/2006/main">
              <a:ext uri="{FF2B5EF4-FFF2-40B4-BE49-F238E27FC236}">
                <a16:creationId xmlns:a16="http://schemas.microsoft.com/office/drawing/2014/main" id="{44D975F0-0A63-404A-BB7A-904EE898F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11" name="footer">
            <a:extLst xmlns:a="http://schemas.openxmlformats.org/drawingml/2006/main">
              <a:ext uri="{FF2B5EF4-FFF2-40B4-BE49-F238E27FC236}">
                <a16:creationId xmlns:a16="http://schemas.microsoft.com/office/drawing/2014/main" id="{5EBBE239-A82C-4906-95C9-F2E397D37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F677B54-CF2F-4F33-9731-476799870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11/20</a:t>
            </a:r>
          </a:p>
        </p:txBody>
      </p:sp>
    </p:spTree>
    <p:extLst>
      <p:ext uri="{BB962C8B-B14F-4D97-AF65-F5344CB8AC3E}">
        <p14:creationId xmlns:p14="http://schemas.microsoft.com/office/powerpoint/2010/main" val="164685843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6C0F8BA-EE31-469F-8F7C-8CE545F0A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CI madura tem três níveis</a:t>
            </a:r>
          </a:p>
        </p:txBody>
      </p:sp>
      <p:sp>
        <p:nvSpPr>
          <p:cNvPr id="2" name="layer-1">
            <a:extLst xmlns:a="http://schemas.openxmlformats.org/drawingml/2006/main">
              <a:ext uri="{FF2B5EF4-FFF2-40B4-BE49-F238E27FC236}">
                <a16:creationId xmlns:a16="http://schemas.microsoft.com/office/drawing/2014/main" id="{65EB1310-707D-4F22-B00D-1D1C8A081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810125"/>
            <a:ext cx="857250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565C0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B1F3A"/>
                </a:solidFill>
              </a:defRPr>
            </a:pPr>
            <a:r>
              <a:rPr sz="1500" b="1">
                <a:solidFill>
                  <a:srgbClr val="0B1F3A"/>
                </a:solidFill>
              </a:rPr>
              <a:t>Parse</a:t>
            </a:r>
          </a:p>
        </p:txBody>
      </p:sp>
      <p:sp>
        <p:nvSpPr>
          <p:cNvPr id="3" name="layer-2">
            <a:extLst xmlns:a="http://schemas.openxmlformats.org/drawingml/2006/main">
              <a:ext uri="{FF2B5EF4-FFF2-40B4-BE49-F238E27FC236}">
                <a16:creationId xmlns:a16="http://schemas.microsoft.com/office/drawing/2014/main" id="{6B2D8E44-6F08-4F75-80FB-4DFE3398E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9813" y="4162425"/>
            <a:ext cx="7572375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C9E8FA"/>
          </a:solidFill>
          <a:ln xmlns:a="http://schemas.openxmlformats.org/drawingml/2006/main" w="9525">
            <a:solidFill>
              <a:srgbClr val="1565C0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B1F3A"/>
                </a:solidFill>
              </a:defRPr>
            </a:pPr>
            <a:r>
              <a:rPr sz="1500" b="1">
                <a:solidFill>
                  <a:srgbClr val="0B1F3A"/>
                </a:solidFill>
              </a:rPr>
              <a:t>Modified+</a:t>
            </a:r>
          </a:p>
        </p:txBody>
      </p:sp>
      <p:sp>
        <p:nvSpPr>
          <p:cNvPr id="4" name="layer-3">
            <a:extLst xmlns:a="http://schemas.openxmlformats.org/drawingml/2006/main">
              <a:ext uri="{FF2B5EF4-FFF2-40B4-BE49-F238E27FC236}">
                <a16:creationId xmlns:a16="http://schemas.microsoft.com/office/drawing/2014/main" id="{998DF9FE-77BB-469F-BD03-B627A9B57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3514725"/>
            <a:ext cx="657225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565C0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B1F3A"/>
                </a:solidFill>
              </a:defRPr>
            </a:pPr>
            <a:r>
              <a:rPr sz="1500" b="1">
                <a:solidFill>
                  <a:srgbClr val="0B1F3A"/>
                </a:solidFill>
              </a:rPr>
              <a:t>Full build</a:t>
            </a:r>
          </a:p>
        </p:txBody>
      </p:sp>
      <p:sp>
        <p:nvSpPr>
          <p:cNvPr id="5" name="eyebrow">
            <a:extLst xmlns:a="http://schemas.openxmlformats.org/drawingml/2006/main">
              <a:ext uri="{FF2B5EF4-FFF2-40B4-BE49-F238E27FC236}">
                <a16:creationId xmlns:a16="http://schemas.microsoft.com/office/drawing/2014/main" id="{C5E583BC-B364-4198-92F6-8226EEB9C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9  •  OPEN / CORE 1.12</a:t>
            </a:r>
          </a:p>
        </p:txBody>
      </p:sp>
      <p:sp>
        <p:nvSpPr>
          <p:cNvPr id="6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E7D26F4B-CAD9-4691-962A-E6BBB6A7B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19" name="" descr="Figura oficial da documentação dbt usada para explicar: CI madura tem três níveis — Parse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fcf6e28f50451b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9D86803E-529F-4767-8BE1-68F20950B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62AD9587-4050-4D32-AB66-C767ACED5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9186CD6E-360E-4933-B39D-51F5A816E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12/20</a:t>
            </a:r>
          </a:p>
        </p:txBody>
      </p:sp>
    </p:spTree>
    <p:extLst>
      <p:ext uri="{BB962C8B-B14F-4D97-AF65-F5344CB8AC3E}">
        <p14:creationId xmlns:p14="http://schemas.microsoft.com/office/powerpoint/2010/main" val="488482184"/>
      </p:ext>
    </p:extLst>
  </p:cSld>
</p:sld>
</file>

<file path=ppt/slides/slide13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C506C1A-05E7-40D7-99BC-F6EE0AF2D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Demonstração — execute</a:t>
            </a:r>
          </a:p>
        </p:txBody>
      </p:sp>
      <p:sp>
        <p:nvSpPr>
          <p:cNvPr id="2" name="code-surface">
            <a:extLst xmlns:a="http://schemas.openxmlformats.org/drawingml/2006/main">
              <a:ext uri="{FF2B5EF4-FFF2-40B4-BE49-F238E27FC236}">
                <a16:creationId xmlns:a16="http://schemas.microsoft.com/office/drawing/2014/main" id="{D36E5C42-C1F6-449B-83B2-91F1D4CA2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571750"/>
            <a:ext cx="97155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031021"/>
          </a:solidFill>
          <a:ln xmlns:a="http://schemas.openxmlformats.org/drawingml/2006/main" w="19050">
            <a:solidFill>
              <a:srgbClr val="1EC5FF"/>
            </a:solidFill>
            <a:prstDash val="solid"/>
          </a:ln>
        </p:spPr>
      </p:sp>
      <p:sp>
        <p:nvSpPr>
          <p:cNvPr id="3" name="command">
            <a:extLst xmlns:a="http://schemas.openxmlformats.org/drawingml/2006/main">
              <a:ext uri="{FF2B5EF4-FFF2-40B4-BE49-F238E27FC236}">
                <a16:creationId xmlns:a16="http://schemas.microsoft.com/office/drawing/2014/main" id="{D6FD220E-BFFF-48EB-8E4E-605102754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3000375"/>
            <a:ext cx="8858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1EC5FF"/>
                </a:solidFill>
              </a:defRPr>
            </a:pPr>
            <a:r>
              <a:rPr sz="1875" b="1">
                <a:solidFill>
                  <a:srgbClr val="1EC5FF"/>
                </a:solidFill>
              </a:rPr>
              <a:t>python course.py checkpoint 09</a:t>
            </a:r>
          </a:p>
        </p:txBody>
      </p:sp>
      <p:sp>
        <p:nvSpPr>
          <p:cNvPr id="4" name="command-help">
            <a:extLst xmlns:a="http://schemas.openxmlformats.org/drawingml/2006/main">
              <a:ext uri="{FF2B5EF4-FFF2-40B4-BE49-F238E27FC236}">
                <a16:creationId xmlns:a16="http://schemas.microsoft.com/office/drawing/2014/main" id="{1918A126-4E1E-424D-9C6A-49560CE31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4619625"/>
            <a:ext cx="885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>
                <a:solidFill>
                  <a:srgbClr val="E2F2FF"/>
                </a:solidFill>
              </a:defRPr>
            </a:pPr>
            <a:r>
              <a:rPr sz="1425">
                <a:solidFill>
                  <a:srgbClr val="E2F2FF"/>
                </a:solidFill>
              </a:rPr>
              <a:t>Copie exatamente como aparece. O launcher escolhe o ambiente correto.</a:t>
            </a:r>
          </a:p>
        </p:txBody>
      </p:sp>
      <p:sp>
        <p:nvSpPr>
          <p:cNvPr id="5" name="eyebrow">
            <a:extLst xmlns:a="http://schemas.openxmlformats.org/drawingml/2006/main">
              <a:ext uri="{FF2B5EF4-FFF2-40B4-BE49-F238E27FC236}">
                <a16:creationId xmlns:a16="http://schemas.microsoft.com/office/drawing/2014/main" id="{CAD36389-6F40-45AA-8781-527969786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9  •  OPEN / CORE 1.12</a:t>
            </a:r>
          </a:p>
        </p:txBody>
      </p:sp>
      <p:sp>
        <p:nvSpPr>
          <p:cNvPr id="6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E562BCE8-C177-4200-A23C-70C1A4B79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19" name="" descr="Figura oficial da documentação dbt usada para explicar: Demonstração — execute — python course.py checkpoint 09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3e6229a9354078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9560A3DB-1F41-47DB-9142-453011088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1E6CBA9B-6E9E-4CA5-87D3-575E38F1D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433B5D6-8BC0-4C00-9D35-5891B9CDF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13/20</a:t>
            </a:r>
          </a:p>
        </p:txBody>
      </p:sp>
    </p:spTree>
    <p:extLst>
      <p:ext uri="{BB962C8B-B14F-4D97-AF65-F5344CB8AC3E}">
        <p14:creationId xmlns:p14="http://schemas.microsoft.com/office/powerpoint/2010/main" val="1525103946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C652247-6F24-465A-B25A-5B9D4D838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Demonstração — observe</a:t>
            </a:r>
          </a:p>
        </p:txBody>
      </p:sp>
      <p:sp>
        <p:nvSpPr>
          <p:cNvPr id="2" name="step-num-1">
            <a:extLst xmlns:a="http://schemas.openxmlformats.org/drawingml/2006/main">
              <a:ext uri="{FF2B5EF4-FFF2-40B4-BE49-F238E27FC236}">
                <a16:creationId xmlns:a16="http://schemas.microsoft.com/office/drawing/2014/main" id="{B467B2B7-7B92-4E1A-B491-098DEF76E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01</a:t>
            </a:r>
          </a:p>
        </p:txBody>
      </p:sp>
      <p:sp>
        <p:nvSpPr>
          <p:cNvPr id="3" name="step-label-1">
            <a:extLst xmlns:a="http://schemas.openxmlformats.org/drawingml/2006/main">
              <a:ext uri="{FF2B5EF4-FFF2-40B4-BE49-F238E27FC236}">
                <a16:creationId xmlns:a16="http://schemas.microsoft.com/office/drawing/2014/main" id="{76B5E198-0C11-4E82-B430-430E28C39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Manifest baseline preservado</a:t>
            </a:r>
          </a:p>
        </p:txBody>
      </p:sp>
      <p:sp>
        <p:nvSpPr>
          <p:cNvPr id="4" name="step-line-1">
            <a:extLst xmlns:a="http://schemas.openxmlformats.org/drawingml/2006/main">
              <a:ext uri="{FF2B5EF4-FFF2-40B4-BE49-F238E27FC236}">
                <a16:creationId xmlns:a16="http://schemas.microsoft.com/office/drawing/2014/main" id="{102DD50A-FBBF-4637-9E54-6E9C62E4E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565C0"/>
            </a:solidFill>
            <a:prstDash val="solid"/>
          </a:ln>
        </p:spPr>
      </p:sp>
      <p:sp>
        <p:nvSpPr>
          <p:cNvPr id="5" name="step-num-2">
            <a:extLst xmlns:a="http://schemas.openxmlformats.org/drawingml/2006/main">
              <a:ext uri="{FF2B5EF4-FFF2-40B4-BE49-F238E27FC236}">
                <a16:creationId xmlns:a16="http://schemas.microsoft.com/office/drawing/2014/main" id="{2301B818-6E99-4516-B2FD-B148C6145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02</a:t>
            </a:r>
          </a:p>
        </p:txBody>
      </p:sp>
      <p:sp>
        <p:nvSpPr>
          <p:cNvPr id="6" name="step-label-2">
            <a:extLst xmlns:a="http://schemas.openxmlformats.org/drawingml/2006/main">
              <a:ext uri="{FF2B5EF4-FFF2-40B4-BE49-F238E27FC236}">
                <a16:creationId xmlns:a16="http://schemas.microsoft.com/office/drawing/2014/main" id="{3FEAE215-3381-472C-9F6D-9AAF77B64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Mudança sintética isolada</a:t>
            </a:r>
          </a:p>
        </p:txBody>
      </p:sp>
      <p:sp>
        <p:nvSpPr>
          <p:cNvPr id="7" name="step-line-2">
            <a:extLst xmlns:a="http://schemas.openxmlformats.org/drawingml/2006/main">
              <a:ext uri="{FF2B5EF4-FFF2-40B4-BE49-F238E27FC236}">
                <a16:creationId xmlns:a16="http://schemas.microsoft.com/office/drawing/2014/main" id="{0FFB532B-AE40-4758-8E59-6642A8F74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565C0"/>
            </a:solidFill>
            <a:prstDash val="solid"/>
          </a:ln>
        </p:spPr>
      </p:sp>
      <p:sp>
        <p:nvSpPr>
          <p:cNvPr id="8" name="step-num-3">
            <a:extLst xmlns:a="http://schemas.openxmlformats.org/drawingml/2006/main">
              <a:ext uri="{FF2B5EF4-FFF2-40B4-BE49-F238E27FC236}">
                <a16:creationId xmlns:a16="http://schemas.microsoft.com/office/drawing/2014/main" id="{092D2391-2202-4AAB-84DB-52A63410C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03</a:t>
            </a:r>
          </a:p>
        </p:txBody>
      </p:sp>
      <p:sp>
        <p:nvSpPr>
          <p:cNvPr id="9" name="step-label-3">
            <a:extLst xmlns:a="http://schemas.openxmlformats.org/drawingml/2006/main">
              <a:ext uri="{FF2B5EF4-FFF2-40B4-BE49-F238E27FC236}">
                <a16:creationId xmlns:a16="http://schemas.microsoft.com/office/drawing/2014/main" id="{4F83035F-040C-42C7-A146-6813EB7EA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Seleção e defer comparados</a:t>
            </a:r>
          </a:p>
        </p:txBody>
      </p:sp>
      <p:sp>
        <p:nvSpPr>
          <p:cNvPr id="10" name="eyebrow">
            <a:extLst xmlns:a="http://schemas.openxmlformats.org/drawingml/2006/main">
              <a:ext uri="{FF2B5EF4-FFF2-40B4-BE49-F238E27FC236}">
                <a16:creationId xmlns:a16="http://schemas.microsoft.com/office/drawing/2014/main" id="{2BEB7EDF-0DEE-4D0C-931E-59348DABC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9  •  OPEN / CORE 1.12</a:t>
            </a:r>
          </a:p>
        </p:txBody>
      </p:sp>
      <p:sp>
        <p:nvSpPr>
          <p:cNvPr id="11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382280B0-BB44-4C6F-8662-33C21B210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29" name="" descr="Figura oficial da documentação dbt usada para explicar: Demonstração — observe — 01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3234609e954cc5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13" name="footer-rule">
            <a:extLst xmlns:a="http://schemas.openxmlformats.org/drawingml/2006/main">
              <a:ext uri="{FF2B5EF4-FFF2-40B4-BE49-F238E27FC236}">
                <a16:creationId xmlns:a16="http://schemas.microsoft.com/office/drawing/2014/main" id="{A4167911-7436-42E4-97C8-F77CE91DF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14" name="footer">
            <a:extLst xmlns:a="http://schemas.openxmlformats.org/drawingml/2006/main">
              <a:ext uri="{FF2B5EF4-FFF2-40B4-BE49-F238E27FC236}">
                <a16:creationId xmlns:a16="http://schemas.microsoft.com/office/drawing/2014/main" id="{6278094E-8B57-462F-9948-49FC13D49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C0046EF-C273-417B-A111-B3B8882B5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14/20</a:t>
            </a:r>
          </a:p>
        </p:txBody>
      </p:sp>
    </p:spTree>
    <p:extLst>
      <p:ext uri="{BB962C8B-B14F-4D97-AF65-F5344CB8AC3E}">
        <p14:creationId xmlns:p14="http://schemas.microsoft.com/office/powerpoint/2010/main" val="1541787959"/>
      </p:ext>
    </p:extLst>
  </p:cSld>
</p:sld>
</file>

<file path=ppt/slides/slide15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result-label">
            <a:extLst xmlns:a="http://schemas.openxmlformats.org/drawingml/2006/main">
              <a:ext uri="{FF2B5EF4-FFF2-40B4-BE49-F238E27FC236}">
                <a16:creationId xmlns:a16="http://schemas.microsoft.com/office/drawing/2014/main" id="{68374B96-78FB-49D3-96DC-14DBCB1BD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1445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EC5FF"/>
                </a:solidFill>
              </a:defRPr>
            </a:pPr>
            <a:r>
              <a:rPr sz="1350" b="1">
                <a:solidFill>
                  <a:srgbClr val="1EC5FF"/>
                </a:solidFill>
              </a:rPr>
              <a:t>RESULTADO ESPERADO</a:t>
            </a:r>
          </a:p>
        </p:txBody>
      </p:sp>
      <p:sp>
        <p:nvSpPr>
          <p:cNvPr id="2" name="result">
            <a:extLst xmlns:a="http://schemas.openxmlformats.org/drawingml/2006/main">
              <a:ext uri="{FF2B5EF4-FFF2-40B4-BE49-F238E27FC236}">
                <a16:creationId xmlns:a16="http://schemas.microsoft.com/office/drawing/2014/main" id="{51CFA0C6-029E-469B-978A-CC2FF737F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10001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FFFFFF"/>
                </a:solidFill>
              </a:defRPr>
            </a:pPr>
            <a:r>
              <a:rPr sz="3450" b="1">
                <a:solidFill>
                  <a:srgbClr val="FFFFFF"/>
                </a:solidFill>
              </a:rPr>
              <a:t>Somente o ramo afetado é selecionado</a:t>
            </a:r>
          </a:p>
        </p:txBody>
      </p:sp>
      <p:sp>
        <p:nvSpPr>
          <p:cNvPr id="3" name="result-meta">
            <a:extLst xmlns:a="http://schemas.openxmlformats.org/drawingml/2006/main">
              <a:ext uri="{FF2B5EF4-FFF2-40B4-BE49-F238E27FC236}">
                <a16:creationId xmlns:a16="http://schemas.microsoft.com/office/drawing/2014/main" id="{39614A1C-5DB4-4F1F-913B-87EBC0522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E2F2FF"/>
                </a:solidFill>
              </a:defRPr>
            </a:pPr>
            <a:r>
              <a:rPr sz="1650">
                <a:solidFill>
                  <a:srgbClr val="E2F2FF"/>
                </a:solidFill>
              </a:rPr>
              <a:t>Checkpoint 09 • evidência reproduzível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68B8D320-4C12-4B04-BCDC-0117E9FA5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47650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740AE5F4-544E-4560-A493-3A22FE048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93370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eyebrow">
            <a:extLst xmlns:a="http://schemas.openxmlformats.org/drawingml/2006/main">
              <a:ext uri="{FF2B5EF4-FFF2-40B4-BE49-F238E27FC236}">
                <a16:creationId xmlns:a16="http://schemas.microsoft.com/office/drawing/2014/main" id="{8F3014B2-67BF-4C1E-9C97-CDAB3D63D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9  •  OPEN / CORE 1.12</a:t>
            </a:r>
          </a:p>
        </p:txBody>
      </p:sp>
      <p:sp>
        <p:nvSpPr>
          <p:cNvPr id="7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4D77CF2F-91CB-40AE-AED1-327CB86B2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21" name="" descr="Figura oficial da documentação dbt usada para explicar: RESULTADO ESPERADO — Somente o ramo afetado é selecionado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64eb47dc9d4080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9" name="footer-rule">
            <a:extLst xmlns:a="http://schemas.openxmlformats.org/drawingml/2006/main">
              <a:ext uri="{FF2B5EF4-FFF2-40B4-BE49-F238E27FC236}">
                <a16:creationId xmlns:a16="http://schemas.microsoft.com/office/drawing/2014/main" id="{D355BA41-8B4A-459A-8939-766E2590B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10" name="footer">
            <a:extLst xmlns:a="http://schemas.openxmlformats.org/drawingml/2006/main">
              <a:ext uri="{FF2B5EF4-FFF2-40B4-BE49-F238E27FC236}">
                <a16:creationId xmlns:a16="http://schemas.microsoft.com/office/drawing/2014/main" id="{B50B0031-D839-48BE-B9A3-2E0603810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1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D9C1AE7-6446-48DF-8EFA-439EB5931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15/20</a:t>
            </a:r>
          </a:p>
        </p:txBody>
      </p:sp>
    </p:spTree>
    <p:extLst>
      <p:ext uri="{BB962C8B-B14F-4D97-AF65-F5344CB8AC3E}">
        <p14:creationId xmlns:p14="http://schemas.microsoft.com/office/powerpoint/2010/main" val="641274446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ED1ADAD-03F1-4885-A07D-6B30CEC31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O mesmo recurso afeta três decisões</a:t>
            </a:r>
          </a:p>
        </p:txBody>
      </p:sp>
      <p:sp>
        <p:nvSpPr>
          <p:cNvPr id="2" name="step-num-1">
            <a:extLst xmlns:a="http://schemas.openxmlformats.org/drawingml/2006/main">
              <a:ext uri="{FF2B5EF4-FFF2-40B4-BE49-F238E27FC236}">
                <a16:creationId xmlns:a16="http://schemas.microsoft.com/office/drawing/2014/main" id="{A4E79699-FCC1-41E2-B715-75C743968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01</a:t>
            </a:r>
          </a:p>
        </p:txBody>
      </p:sp>
      <p:sp>
        <p:nvSpPr>
          <p:cNvPr id="3" name="step-label-1">
            <a:extLst xmlns:a="http://schemas.openxmlformats.org/drawingml/2006/main">
              <a:ext uri="{FF2B5EF4-FFF2-40B4-BE49-F238E27FC236}">
                <a16:creationId xmlns:a16="http://schemas.microsoft.com/office/drawing/2014/main" id="{92B8BA91-7C1A-4F73-993B-E53451DAC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Governança: impacto visível</a:t>
            </a:r>
          </a:p>
        </p:txBody>
      </p:sp>
      <p:sp>
        <p:nvSpPr>
          <p:cNvPr id="4" name="step-line-1">
            <a:extLst xmlns:a="http://schemas.openxmlformats.org/drawingml/2006/main">
              <a:ext uri="{FF2B5EF4-FFF2-40B4-BE49-F238E27FC236}">
                <a16:creationId xmlns:a16="http://schemas.microsoft.com/office/drawing/2014/main" id="{5B69E9AC-695E-4C9D-944D-4E6C0A2AF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565C0"/>
            </a:solidFill>
            <a:prstDash val="solid"/>
          </a:ln>
        </p:spPr>
      </p:sp>
      <p:sp>
        <p:nvSpPr>
          <p:cNvPr id="5" name="step-num-2">
            <a:extLst xmlns:a="http://schemas.openxmlformats.org/drawingml/2006/main">
              <a:ext uri="{FF2B5EF4-FFF2-40B4-BE49-F238E27FC236}">
                <a16:creationId xmlns:a16="http://schemas.microsoft.com/office/drawing/2014/main" id="{2986BB7D-68D9-4095-B014-177467EC4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02</a:t>
            </a:r>
          </a:p>
        </p:txBody>
      </p:sp>
      <p:sp>
        <p:nvSpPr>
          <p:cNvPr id="6" name="step-label-2">
            <a:extLst xmlns:a="http://schemas.openxmlformats.org/drawingml/2006/main">
              <a:ext uri="{FF2B5EF4-FFF2-40B4-BE49-F238E27FC236}">
                <a16:creationId xmlns:a16="http://schemas.microsoft.com/office/drawing/2014/main" id="{D3E53D0A-948B-4194-8FFA-CD3014F78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FinOps: menos recomputação</a:t>
            </a:r>
          </a:p>
        </p:txBody>
      </p:sp>
      <p:sp>
        <p:nvSpPr>
          <p:cNvPr id="7" name="step-line-2">
            <a:extLst xmlns:a="http://schemas.openxmlformats.org/drawingml/2006/main">
              <a:ext uri="{FF2B5EF4-FFF2-40B4-BE49-F238E27FC236}">
                <a16:creationId xmlns:a16="http://schemas.microsoft.com/office/drawing/2014/main" id="{BE00D814-0D6E-4142-ACB5-AEF9E89B0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565C0"/>
            </a:solidFill>
            <a:prstDash val="solid"/>
          </a:ln>
        </p:spPr>
      </p:sp>
      <p:sp>
        <p:nvSpPr>
          <p:cNvPr id="8" name="step-num-3">
            <a:extLst xmlns:a="http://schemas.openxmlformats.org/drawingml/2006/main">
              <a:ext uri="{FF2B5EF4-FFF2-40B4-BE49-F238E27FC236}">
                <a16:creationId xmlns:a16="http://schemas.microsoft.com/office/drawing/2014/main" id="{8C8D5131-36DA-4574-B374-C4F174E8C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03</a:t>
            </a:r>
          </a:p>
        </p:txBody>
      </p:sp>
      <p:sp>
        <p:nvSpPr>
          <p:cNvPr id="9" name="step-label-3">
            <a:extLst xmlns:a="http://schemas.openxmlformats.org/drawingml/2006/main">
              <a:ext uri="{FF2B5EF4-FFF2-40B4-BE49-F238E27FC236}">
                <a16:creationId xmlns:a16="http://schemas.microsoft.com/office/drawing/2014/main" id="{C4016227-AEA7-46CA-B81A-E4BD2CA2B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IA: artifacts atualizados</a:t>
            </a:r>
          </a:p>
        </p:txBody>
      </p:sp>
      <p:sp>
        <p:nvSpPr>
          <p:cNvPr id="10" name="eyebrow">
            <a:extLst xmlns:a="http://schemas.openxmlformats.org/drawingml/2006/main">
              <a:ext uri="{FF2B5EF4-FFF2-40B4-BE49-F238E27FC236}">
                <a16:creationId xmlns:a16="http://schemas.microsoft.com/office/drawing/2014/main" id="{180323E6-94BA-4F25-9516-9A78F02E4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9  •  OPEN / CORE 1.12</a:t>
            </a:r>
          </a:p>
        </p:txBody>
      </p:sp>
      <p:sp>
        <p:nvSpPr>
          <p:cNvPr id="11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23EDF99B-16E1-4EB3-934E-3059DF3E5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29" name="" descr="Figura oficial da documentação dbt usada para explicar: O mesmo recurso afeta três decisões — 01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c0d149ea7a491d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13" name="footer-rule">
            <a:extLst xmlns:a="http://schemas.openxmlformats.org/drawingml/2006/main">
              <a:ext uri="{FF2B5EF4-FFF2-40B4-BE49-F238E27FC236}">
                <a16:creationId xmlns:a16="http://schemas.microsoft.com/office/drawing/2014/main" id="{CBDBA3B3-7B8E-4C98-98D1-DBCD16F22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14" name="footer">
            <a:extLst xmlns:a="http://schemas.openxmlformats.org/drawingml/2006/main">
              <a:ext uri="{FF2B5EF4-FFF2-40B4-BE49-F238E27FC236}">
                <a16:creationId xmlns:a16="http://schemas.microsoft.com/office/drawing/2014/main" id="{D2D50015-4EE5-413B-B714-7A3936BCA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B3B2385-8A59-4D27-8F98-0CA835A8E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16/20</a:t>
            </a:r>
          </a:p>
        </p:txBody>
      </p:sp>
    </p:spTree>
    <p:extLst>
      <p:ext uri="{BB962C8B-B14F-4D97-AF65-F5344CB8AC3E}">
        <p14:creationId xmlns:p14="http://schemas.microsoft.com/office/powerpoint/2010/main" val="2079436555"/>
      </p:ext>
    </p:extLst>
  </p:cSld>
</p:sld>
</file>

<file path=ppt/slides/slide17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case-number">
            <a:extLst xmlns:a="http://schemas.openxmlformats.org/drawingml/2006/main">
              <a:ext uri="{FF2B5EF4-FFF2-40B4-BE49-F238E27FC236}">
                <a16:creationId xmlns:a16="http://schemas.microsoft.com/office/drawing/2014/main" id="{88B9DA49-8ABA-4BA0-98E2-4703C64C1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5334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5550" b="1">
                <a:solidFill>
                  <a:srgbClr val="1EC5FF"/>
                </a:solidFill>
              </a:defRPr>
            </a:pPr>
            <a:r>
              <a:rPr sz="5550" b="1">
                <a:solidFill>
                  <a:srgbClr val="1EC5FF"/>
                </a:solidFill>
              </a:rPr>
              <a:t>modified+</a:t>
            </a:r>
          </a:p>
        </p:txBody>
      </p:sp>
      <p:sp>
        <p:nvSpPr>
          <p:cNvPr id="2" name="case-label">
            <a:extLst xmlns:a="http://schemas.openxmlformats.org/drawingml/2006/main">
              <a:ext uri="{FF2B5EF4-FFF2-40B4-BE49-F238E27FC236}">
                <a16:creationId xmlns:a16="http://schemas.microsoft.com/office/drawing/2014/main" id="{7A05AE69-5381-484A-87F9-3C17C0E47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</a:rPr>
              <a:t>mudança e descendentes</a:t>
            </a:r>
          </a:p>
        </p:txBody>
      </p:sp>
      <p:sp>
        <p:nvSpPr>
          <p:cNvPr id="3" name="case-divider">
            <a:extLst xmlns:a="http://schemas.openxmlformats.org/drawingml/2006/main">
              <a:ext uri="{FF2B5EF4-FFF2-40B4-BE49-F238E27FC236}">
                <a16:creationId xmlns:a16="http://schemas.microsoft.com/office/drawing/2014/main" id="{97EAA9EC-5F3B-46BD-A472-A2812FF96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524000"/>
            <a:ext cx="0" cy="3143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FFFF">
                <a:alpha val="27059"/>
              </a:srgbClr>
            </a:solidFill>
            <a:prstDash val="solid"/>
          </a:ln>
        </p:spPr>
      </p:sp>
      <p:sp>
        <p:nvSpPr>
          <p:cNvPr id="4" name="case-caveat">
            <a:extLst xmlns:a="http://schemas.openxmlformats.org/drawingml/2006/main">
              <a:ext uri="{FF2B5EF4-FFF2-40B4-BE49-F238E27FC236}">
                <a16:creationId xmlns:a16="http://schemas.microsoft.com/office/drawing/2014/main" id="{CC6B4690-AA83-403C-B22B-54D1489F1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190750"/>
            <a:ext cx="33337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E2F2FF"/>
                </a:solidFill>
              </a:defRPr>
            </a:pPr>
            <a:r>
              <a:rPr sz="1800">
                <a:solidFill>
                  <a:srgbClr val="E2F2FF"/>
                </a:solidFill>
              </a:rPr>
              <a:t>A economia depende do tamanho e da topologia do projeto.</a:t>
            </a:r>
          </a:p>
        </p:txBody>
      </p:sp>
      <p:sp>
        <p:nvSpPr>
          <p:cNvPr id="5" name="eyebrow">
            <a:extLst xmlns:a="http://schemas.openxmlformats.org/drawingml/2006/main">
              <a:ext uri="{FF2B5EF4-FFF2-40B4-BE49-F238E27FC236}">
                <a16:creationId xmlns:a16="http://schemas.microsoft.com/office/drawing/2014/main" id="{334D1C7F-A19F-4CBA-A00C-7F7AAAA3E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9  •  OPEN / CORE 1.12</a:t>
            </a:r>
          </a:p>
        </p:txBody>
      </p:sp>
      <p:sp>
        <p:nvSpPr>
          <p:cNvPr id="6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A995E94B-9BD6-41DB-B3FC-2E3538798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19" name="" descr="Figura oficial da documentação dbt usada para explicar: modified+ — mudança e descendentes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5bcf5ef9914510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74C214FA-358A-4A02-81C1-75681CF1A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4B0B5FA4-A2D0-4037-BB71-21A1CB0DF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C9482BB-5B87-4FDC-845D-BE7009B8B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17/20</a:t>
            </a:r>
          </a:p>
        </p:txBody>
      </p:sp>
    </p:spTree>
    <p:extLst>
      <p:ext uri="{BB962C8B-B14F-4D97-AF65-F5344CB8AC3E}">
        <p14:creationId xmlns:p14="http://schemas.microsoft.com/office/powerpoint/2010/main" val="2040366151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907BA48-67E4-4AC5-AE80-9F7871B36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Limitações que precisam permanecer visíveis</a:t>
            </a:r>
          </a:p>
        </p:txBody>
      </p:sp>
      <p:sp>
        <p:nvSpPr>
          <p:cNvPr id="2" name="bullets">
            <a:extLst xmlns:a="http://schemas.openxmlformats.org/drawingml/2006/main">
              <a:ext uri="{FF2B5EF4-FFF2-40B4-BE49-F238E27FC236}">
                <a16:creationId xmlns:a16="http://schemas.microsoft.com/office/drawing/2014/main" id="{26ED5D94-5AD3-4546-85BF-3807E42A0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667000"/>
            <a:ext cx="99060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950">
                <a:solidFill>
                  <a:srgbClr val="0B1F3A"/>
                </a:solidFill>
              </a:defRPr>
            </a:pPr>
            <a:r>
              <a:rPr sz="1950">
                <a:solidFill>
                  <a:srgbClr val="0B1F3A"/>
                </a:solidFill>
              </a:rPr>
              <a:t>• Estado velho seleciona errado</a:t>
            </a:r>
          </a:p>
          <a:p xmlns:a="http://schemas.openxmlformats.org/drawingml/2006/main">
            <a:pPr>
              <a:buNone/>
              <a:defRPr sz="1950">
                <a:solidFill>
                  <a:srgbClr val="0B1F3A"/>
                </a:solidFill>
              </a:defRPr>
            </a:pPr>
            <a:r>
              <a:rPr sz="1950">
                <a:solidFill>
                  <a:srgbClr val="0B1F3A"/>
                </a:solidFill>
              </a:rPr>
              <a:t>• Defer pode esconder divergência</a:t>
            </a:r>
          </a:p>
          <a:p xmlns:a="http://schemas.openxmlformats.org/drawingml/2006/main">
            <a:pPr>
              <a:buNone/>
              <a:defRPr sz="1950">
                <a:solidFill>
                  <a:srgbClr val="0B1F3A"/>
                </a:solidFill>
              </a:defRPr>
            </a:pPr>
            <a:r>
              <a:rPr sz="1950">
                <a:solidFill>
                  <a:srgbClr val="0B1F3A"/>
                </a:solidFill>
              </a:rPr>
              <a:t>• Full build continua necessário</a:t>
            </a:r>
          </a:p>
        </p:txBody>
      </p:sp>
      <p:sp>
        <p:nvSpPr>
          <p:cNvPr id="3" name="eyebrow">
            <a:extLst xmlns:a="http://schemas.openxmlformats.org/drawingml/2006/main">
              <a:ext uri="{FF2B5EF4-FFF2-40B4-BE49-F238E27FC236}">
                <a16:creationId xmlns:a16="http://schemas.microsoft.com/office/drawing/2014/main" id="{E1EDF515-7EBC-4862-921F-925002F35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9  •  OPEN / CORE 1.12</a:t>
            </a:r>
          </a:p>
        </p:txBody>
      </p:sp>
      <p:sp>
        <p:nvSpPr>
          <p:cNvPr id="4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915B704B-58E5-4262-90E2-6764BA521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15" name="" descr="Figura oficial da documentação dbt usada para explicar: Limitações que precisam permanecer visíveis — • Estado velho seleciona errado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f5608e804c49fb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6" name="footer-rule">
            <a:extLst xmlns:a="http://schemas.openxmlformats.org/drawingml/2006/main">
              <a:ext uri="{FF2B5EF4-FFF2-40B4-BE49-F238E27FC236}">
                <a16:creationId xmlns:a16="http://schemas.microsoft.com/office/drawing/2014/main" id="{6DF2C44D-553E-4369-B507-27E8393E7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E7AA1AE6-D763-4563-A8F8-4297DB638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5CA8004-5ADA-4B92-9EB0-0E87D8749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18/20</a:t>
            </a:r>
          </a:p>
        </p:txBody>
      </p:sp>
    </p:spTree>
    <p:extLst>
      <p:ext uri="{BB962C8B-B14F-4D97-AF65-F5344CB8AC3E}">
        <p14:creationId xmlns:p14="http://schemas.microsoft.com/office/powerpoint/2010/main" val="1444193448"/>
      </p:ext>
    </p:extLst>
  </p:cSld>
</p:sld>
</file>

<file path=ppt/slides/slide19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radar-label">
            <a:extLst xmlns:a="http://schemas.openxmlformats.org/drawingml/2006/main">
              <a:ext uri="{FF2B5EF4-FFF2-40B4-BE49-F238E27FC236}">
                <a16:creationId xmlns:a16="http://schemas.microsoft.com/office/drawing/2014/main" id="{5EBAE61F-1E5E-4052-AAF2-C7AD737E6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2476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EC5FF"/>
                </a:solidFill>
              </a:defRPr>
            </a:pPr>
            <a:r>
              <a:rPr sz="1500" b="1">
                <a:solidFill>
                  <a:srgbClr val="1EC5FF"/>
                </a:solidFill>
              </a:rPr>
              <a:t>RADAR</a:t>
            </a:r>
          </a:p>
        </p:txBody>
      </p:sp>
      <p:sp>
        <p:nvSpPr>
          <p:cNvPr id="2" name="radar-text">
            <a:extLst xmlns:a="http://schemas.openxmlformats.org/drawingml/2006/main">
              <a:ext uri="{FF2B5EF4-FFF2-40B4-BE49-F238E27FC236}">
                <a16:creationId xmlns:a16="http://schemas.microsoft.com/office/drawing/2014/main" id="{0FDB03BC-C9BC-4EB8-BC88-18BDC7FCF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9334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dbt State gerenciado permanece fora; artifacts abertos sustentam a aula.</a:t>
            </a:r>
          </a:p>
        </p:txBody>
      </p:sp>
      <p:sp>
        <p:nvSpPr>
          <p:cNvPr id="3" name="radar-rule">
            <a:extLst xmlns:a="http://schemas.openxmlformats.org/drawingml/2006/main">
              <a:ext uri="{FF2B5EF4-FFF2-40B4-BE49-F238E27FC236}">
                <a16:creationId xmlns:a16="http://schemas.microsoft.com/office/drawing/2014/main" id="{77277043-B2A8-4619-B569-CAB7AC7F0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E2F2FF"/>
                </a:solidFill>
              </a:defRPr>
            </a:pPr>
            <a:r>
              <a:rPr sz="1500">
                <a:solidFill>
                  <a:srgbClr val="E2F2FF"/>
                </a:solidFill>
              </a:rPr>
              <a:t>Novidade observada ≠ recomendação de produção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8EF8108C-4254-4D08-8552-337502468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762250"/>
            <a:ext cx="1809750" cy="1809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878B5F81-2A78-46D3-85AE-25074462A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3219450"/>
            <a:ext cx="895350" cy="895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eyebrow">
            <a:extLst xmlns:a="http://schemas.openxmlformats.org/drawingml/2006/main">
              <a:ext uri="{FF2B5EF4-FFF2-40B4-BE49-F238E27FC236}">
                <a16:creationId xmlns:a16="http://schemas.microsoft.com/office/drawing/2014/main" id="{5734AFD5-14E8-42AC-81E3-9BB67AE02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9  •  OPEN / CORE 1.12</a:t>
            </a:r>
          </a:p>
        </p:txBody>
      </p:sp>
      <p:sp>
        <p:nvSpPr>
          <p:cNvPr id="7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D1487878-89D3-48A0-8126-0EC52EA8C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21" name="" descr="Figura oficial da documentação dbt usada para explicar: RADAR — dbt State gerenciado permanece fora; artifacts abertos sustentam a aula.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f5fbf5c7674c4a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9" name="footer-rule">
            <a:extLst xmlns:a="http://schemas.openxmlformats.org/drawingml/2006/main">
              <a:ext uri="{FF2B5EF4-FFF2-40B4-BE49-F238E27FC236}">
                <a16:creationId xmlns:a16="http://schemas.microsoft.com/office/drawing/2014/main" id="{F5A3E083-2E9E-4889-B41B-BFA82F464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10" name="footer">
            <a:extLst xmlns:a="http://schemas.openxmlformats.org/drawingml/2006/main">
              <a:ext uri="{FF2B5EF4-FFF2-40B4-BE49-F238E27FC236}">
                <a16:creationId xmlns:a16="http://schemas.microsoft.com/office/drawing/2014/main" id="{C1C625C6-3F87-4918-9776-5B24E53AE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1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1342D3D-24A8-4B55-AD1B-E698908C3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19/20</a:t>
            </a:r>
          </a:p>
        </p:txBody>
      </p:sp>
    </p:spTree>
    <p:extLst>
      <p:ext uri="{BB962C8B-B14F-4D97-AF65-F5344CB8AC3E}">
        <p14:creationId xmlns:p14="http://schemas.microsoft.com/office/powerpoint/2010/main" val="1328813760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cta-label">
            <a:extLst xmlns:a="http://schemas.openxmlformats.org/drawingml/2006/main">
              <a:ext uri="{FF2B5EF4-FFF2-40B4-BE49-F238E27FC236}">
                <a16:creationId xmlns:a16="http://schemas.microsoft.com/office/drawing/2014/main" id="{9F28EEB9-78FB-422E-BF0D-78E3FF18D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33500"/>
            <a:ext cx="3810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565C0"/>
                </a:solidFill>
              </a:defRPr>
            </a:pPr>
            <a:r>
              <a:rPr sz="1350" b="1">
                <a:solidFill>
                  <a:srgbClr val="1565C0"/>
                </a:solidFill>
              </a:rPr>
              <a:t>PRÓXIMO PASSO</a:t>
            </a:r>
          </a:p>
        </p:txBody>
      </p:sp>
      <p:sp>
        <p:nvSpPr>
          <p:cNvPr id="2" name="cta">
            <a:extLst xmlns:a="http://schemas.openxmlformats.org/drawingml/2006/main">
              <a:ext uri="{FF2B5EF4-FFF2-40B4-BE49-F238E27FC236}">
                <a16:creationId xmlns:a16="http://schemas.microsoft.com/office/drawing/2014/main" id="{FC57BFC7-DF3B-42A5-AE8E-F887DC363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9715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0B1F3A"/>
                </a:solidFill>
              </a:defRPr>
            </a:pPr>
            <a:r>
              <a:rPr sz="3300" b="1">
                <a:solidFill>
                  <a:srgbClr val="0B1F3A"/>
                </a:solidFill>
              </a:rPr>
              <a:t>Salve um manifest e compare a seleção antes e depois de uma mudança.</a:t>
            </a:r>
          </a:p>
        </p:txBody>
      </p:sp>
      <p:sp>
        <p:nvSpPr>
          <p:cNvPr id="3" name="cta-meta">
            <a:extLst xmlns:a="http://schemas.openxmlformats.org/drawingml/2006/main">
              <a:ext uri="{FF2B5EF4-FFF2-40B4-BE49-F238E27FC236}">
                <a16:creationId xmlns:a16="http://schemas.microsoft.com/office/drawing/2014/main" id="{66B8ED40-9CC9-428A-A32E-66016DBF2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7620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5C6F86"/>
                </a:solidFill>
              </a:defRPr>
            </a:pPr>
            <a:r>
              <a:rPr sz="1500">
                <a:solidFill>
                  <a:srgbClr val="5C6F86"/>
                </a:solidFill>
              </a:rPr>
              <a:t>Checkpoint 09 • roteiro completo no repositório</a:t>
            </a:r>
          </a:p>
        </p:txBody>
      </p:sp>
      <p:sp>
        <p:nvSpPr>
          <p:cNvPr id="4" name="eyebrow">
            <a:extLst xmlns:a="http://schemas.openxmlformats.org/drawingml/2006/main">
              <a:ext uri="{FF2B5EF4-FFF2-40B4-BE49-F238E27FC236}">
                <a16:creationId xmlns:a16="http://schemas.microsoft.com/office/drawing/2014/main" id="{CAEF8626-3DB1-46F7-84BC-B425E2FD1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9  •  OPEN / CORE 1.12</a:t>
            </a:r>
          </a:p>
        </p:txBody>
      </p:sp>
      <p:sp>
        <p:nvSpPr>
          <p:cNvPr id="5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94FC9ED0-5FA7-4FBD-87B3-90256359D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17" name="" descr="Figura oficial da documentação dbt usada para explicar: PRÓXIMO PASSO — Salve um manifest e compare a seleção antes e depois de uma mudança.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597f7881fb41ad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7" name="footer-rule">
            <a:extLst xmlns:a="http://schemas.openxmlformats.org/drawingml/2006/main">
              <a:ext uri="{FF2B5EF4-FFF2-40B4-BE49-F238E27FC236}">
                <a16:creationId xmlns:a16="http://schemas.microsoft.com/office/drawing/2014/main" id="{9EF709FC-D4A9-4014-BC2B-E3E64D575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8" name="footer">
            <a:extLst xmlns:a="http://schemas.openxmlformats.org/drawingml/2006/main">
              <a:ext uri="{FF2B5EF4-FFF2-40B4-BE49-F238E27FC236}">
                <a16:creationId xmlns:a16="http://schemas.microsoft.com/office/drawing/2014/main" id="{1F298A7F-E37A-45DD-A8AD-79A485F5D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9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F0E2B20-740C-40F6-B151-AD13C1C2F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20/20</a:t>
            </a:r>
          </a:p>
        </p:txBody>
      </p:sp>
    </p:spTree>
    <p:extLst>
      <p:ext uri="{BB962C8B-B14F-4D97-AF65-F5344CB8AC3E}">
        <p14:creationId xmlns:p14="http://schemas.microsoft.com/office/powerpoint/2010/main" val="149686105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2026-09-02T16:14:52.3790000Z</dcterms:created>
  <dcterms:modified xsi:type="dcterms:W3CDTF">2026-09-02T16:14:52.3790000Z</dcterms:modified>
</coreProperties>
</file>