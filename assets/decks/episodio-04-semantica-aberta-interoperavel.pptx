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dcc1597704898" /><Relationship Type="http://schemas.openxmlformats.org/officeDocument/2006/relationships/extended-properties" Target="/docProps/app.xml" Id="Rd83eb6b2a9104672" /><Relationship Type="http://schemas.openxmlformats.org/officeDocument/2006/relationships/officeDocument" Target="/ppt/presentation.xml" Id="R5e79f225ff6340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c038a26ac74342"/>
    <p:sldMasterId xmlns:r="http://schemas.openxmlformats.org/officeDocument/2006/relationships" id="2147483650" r:id="R95739d479ac04afc"/>
  </p:sldMasterIdLst>
  <p:notesMasterIdLst>
    <p:notesMasterId xmlns:r="http://schemas.openxmlformats.org/officeDocument/2006/relationships" r:id="Rc797b68fcc884681"/>
  </p:notesMasterIdLst>
  <p:sldIdLst>
    <p:sldId xmlns:r="http://schemas.openxmlformats.org/officeDocument/2006/relationships" id="256" r:id="Rf74499d18fe1439b"/>
    <p:sldId xmlns:r="http://schemas.openxmlformats.org/officeDocument/2006/relationships" id="257" r:id="R91ad48fed0314291"/>
    <p:sldId xmlns:r="http://schemas.openxmlformats.org/officeDocument/2006/relationships" id="258" r:id="R66b9aa260a9044fa"/>
    <p:sldId xmlns:r="http://schemas.openxmlformats.org/officeDocument/2006/relationships" id="259" r:id="R5e194a0fcf904e1c"/>
    <p:sldId xmlns:r="http://schemas.openxmlformats.org/officeDocument/2006/relationships" id="260" r:id="Racd3d3c4cffd468b"/>
    <p:sldId xmlns:r="http://schemas.openxmlformats.org/officeDocument/2006/relationships" id="261" r:id="R9606a61ea58d4de9"/>
    <p:sldId xmlns:r="http://schemas.openxmlformats.org/officeDocument/2006/relationships" id="262" r:id="R95155d9b0d234651"/>
    <p:sldId xmlns:r="http://schemas.openxmlformats.org/officeDocument/2006/relationships" id="263" r:id="Rea40b6f1ad974442"/>
    <p:sldId xmlns:r="http://schemas.openxmlformats.org/officeDocument/2006/relationships" id="264" r:id="R8330d685304f4fab"/>
    <p:sldId xmlns:r="http://schemas.openxmlformats.org/officeDocument/2006/relationships" id="265" r:id="Raddf89974e4d4be5"/>
    <p:sldId xmlns:r="http://schemas.openxmlformats.org/officeDocument/2006/relationships" id="266" r:id="R4fce361e682c4810"/>
    <p:sldId xmlns:r="http://schemas.openxmlformats.org/officeDocument/2006/relationships" id="267" r:id="Rf6e7084ced2646f2"/>
    <p:sldId xmlns:r="http://schemas.openxmlformats.org/officeDocument/2006/relationships" id="268" r:id="Rb0eb20ea46494fb7"/>
    <p:sldId xmlns:r="http://schemas.openxmlformats.org/officeDocument/2006/relationships" id="269" r:id="R3c66ae38520d4ba1"/>
    <p:sldId xmlns:r="http://schemas.openxmlformats.org/officeDocument/2006/relationships" id="270" r:id="R67c80a1c21574b28"/>
    <p:sldId xmlns:r="http://schemas.openxmlformats.org/officeDocument/2006/relationships" id="271" r:id="Ree0485642f274eda"/>
    <p:sldId xmlns:r="http://schemas.openxmlformats.org/officeDocument/2006/relationships" id="272" r:id="R692dd86651bd4309"/>
    <p:sldId xmlns:r="http://schemas.openxmlformats.org/officeDocument/2006/relationships" id="273" r:id="Rcd42604e1adc4e2e"/>
    <p:sldId xmlns:r="http://schemas.openxmlformats.org/officeDocument/2006/relationships" id="274" r:id="R246a1b338deb4542"/>
    <p:sldId xmlns:r="http://schemas.openxmlformats.org/officeDocument/2006/relationships" id="275" r:id="Rf592a5c30fb744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bd38a1d7724949" /><Relationship Type="http://schemas.openxmlformats.org/officeDocument/2006/relationships/slideMaster" Target="/ppt/slideMasters/slideMaster1.xml" Id="Rb8c038a26ac74342" /><Relationship Type="http://schemas.openxmlformats.org/officeDocument/2006/relationships/slideMaster" Target="/ppt/slideMasters/slideMaster2.xml" Id="R95739d479ac04afc" /><Relationship Type="http://schemas.openxmlformats.org/officeDocument/2006/relationships/notesMaster" Target="/ppt/notesMasters/notesMaster1.xml" Id="Rc797b68fcc884681" /><Relationship Type="http://schemas.openxmlformats.org/officeDocument/2006/relationships/presProps" Target="/ppt/presProps.xml" Id="Rcfd87e0d792541ea" /><Relationship Type="http://schemas.openxmlformats.org/officeDocument/2006/relationships/tableStyles" Target="/ppt/tableStyles.xml" Id="R976b88b7ab694194" /><Relationship Type="http://schemas.openxmlformats.org/officeDocument/2006/relationships/slide" Target="/ppt/slides/slide1.xml" Id="Rf74499d18fe1439b" /><Relationship Type="http://schemas.openxmlformats.org/officeDocument/2006/relationships/slide" Target="/ppt/slides/slide2.xml" Id="R91ad48fed0314291" /><Relationship Type="http://schemas.openxmlformats.org/officeDocument/2006/relationships/slide" Target="/ppt/slides/slide3.xml" Id="R66b9aa260a9044fa" /><Relationship Type="http://schemas.openxmlformats.org/officeDocument/2006/relationships/slide" Target="/ppt/slides/slide4.xml" Id="R5e194a0fcf904e1c" /><Relationship Type="http://schemas.openxmlformats.org/officeDocument/2006/relationships/slide" Target="/ppt/slides/slide5.xml" Id="Racd3d3c4cffd468b" /><Relationship Type="http://schemas.openxmlformats.org/officeDocument/2006/relationships/slide" Target="/ppt/slides/slide6.xml" Id="R9606a61ea58d4de9" /><Relationship Type="http://schemas.openxmlformats.org/officeDocument/2006/relationships/slide" Target="/ppt/slides/slide7.xml" Id="R95155d9b0d234651" /><Relationship Type="http://schemas.openxmlformats.org/officeDocument/2006/relationships/slide" Target="/ppt/slides/slide8.xml" Id="Rea40b6f1ad974442" /><Relationship Type="http://schemas.openxmlformats.org/officeDocument/2006/relationships/slide" Target="/ppt/slides/slide9.xml" Id="R8330d685304f4fab" /><Relationship Type="http://schemas.openxmlformats.org/officeDocument/2006/relationships/slide" Target="/ppt/slides/slide10.xml" Id="Raddf89974e4d4be5" /><Relationship Type="http://schemas.openxmlformats.org/officeDocument/2006/relationships/slide" Target="/ppt/slides/slide11.xml" Id="R4fce361e682c4810" /><Relationship Type="http://schemas.openxmlformats.org/officeDocument/2006/relationships/slide" Target="/ppt/slides/slide12.xml" Id="Rf6e7084ced2646f2" /><Relationship Type="http://schemas.openxmlformats.org/officeDocument/2006/relationships/slide" Target="/ppt/slides/slide13.xml" Id="Rb0eb20ea46494fb7" /><Relationship Type="http://schemas.openxmlformats.org/officeDocument/2006/relationships/slide" Target="/ppt/slides/slide14.xml" Id="R3c66ae38520d4ba1" /><Relationship Type="http://schemas.openxmlformats.org/officeDocument/2006/relationships/slide" Target="/ppt/slides/slide15.xml" Id="R67c80a1c21574b28" /><Relationship Type="http://schemas.openxmlformats.org/officeDocument/2006/relationships/slide" Target="/ppt/slides/slide16.xml" Id="Ree0485642f274eda" /><Relationship Type="http://schemas.openxmlformats.org/officeDocument/2006/relationships/slide" Target="/ppt/slides/slide17.xml" Id="R692dd86651bd4309" /><Relationship Type="http://schemas.openxmlformats.org/officeDocument/2006/relationships/slide" Target="/ppt/slides/slide18.xml" Id="Rcd42604e1adc4e2e" /><Relationship Type="http://schemas.openxmlformats.org/officeDocument/2006/relationships/slide" Target="/ppt/slides/slide19.xml" Id="R246a1b338deb4542" /><Relationship Type="http://schemas.openxmlformats.org/officeDocument/2006/relationships/slide" Target="/ppt/slides/slide20.xml" Id="Rf592a5c30fb744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c918efc92f44e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af79a2e85246a7" /><Relationship Type="http://schemas.openxmlformats.org/officeDocument/2006/relationships/notesMaster" Target="/ppt/notesMasters/notesMaster1.xml" Id="Rdf02371c72f045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b33e81a80d48e0" /><Relationship Type="http://schemas.openxmlformats.org/officeDocument/2006/relationships/notesMaster" Target="/ppt/notesMasters/notesMaster1.xml" Id="R80cc38011fd745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8a12a5a7204921" /><Relationship Type="http://schemas.openxmlformats.org/officeDocument/2006/relationships/notesMaster" Target="/ppt/notesMasters/notesMaster1.xml" Id="R271b4b85dbad4e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0688c8008242cb" /><Relationship Type="http://schemas.openxmlformats.org/officeDocument/2006/relationships/notesMaster" Target="/ppt/notesMasters/notesMaster1.xml" Id="Rc1bdc5ad03764c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f1bdde0b4248fb" /><Relationship Type="http://schemas.openxmlformats.org/officeDocument/2006/relationships/notesMaster" Target="/ppt/notesMasters/notesMaster1.xml" Id="R48b4087c99ce4a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49a82d775e4d0e" /><Relationship Type="http://schemas.openxmlformats.org/officeDocument/2006/relationships/notesMaster" Target="/ppt/notesMasters/notesMaster1.xml" Id="Rb233898735e64e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d8626f4b3b4a4b" /><Relationship Type="http://schemas.openxmlformats.org/officeDocument/2006/relationships/notesMaster" Target="/ppt/notesMasters/notesMaster1.xml" Id="Rf7bdada4bfe64a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687ef6a08243ef" /><Relationship Type="http://schemas.openxmlformats.org/officeDocument/2006/relationships/notesMaster" Target="/ppt/notesMasters/notesMaster1.xml" Id="R03c66053c7bf43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b24b68514249b3" /><Relationship Type="http://schemas.openxmlformats.org/officeDocument/2006/relationships/notesMaster" Target="/ppt/notesMasters/notesMaster1.xml" Id="Ra033908cb7b544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2ac370060146ba" /><Relationship Type="http://schemas.openxmlformats.org/officeDocument/2006/relationships/notesMaster" Target="/ppt/notesMasters/notesMaster1.xml" Id="Ref5734628aef41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0562f4622a4058" /><Relationship Type="http://schemas.openxmlformats.org/officeDocument/2006/relationships/notesMaster" Target="/ppt/notesMasters/notesMaster1.xml" Id="R4ccd08cc4be44b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676f58f5b14a6b" /><Relationship Type="http://schemas.openxmlformats.org/officeDocument/2006/relationships/notesMaster" Target="/ppt/notesMasters/notesMaster1.xml" Id="Re5b193b858514e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c6fab8a2114563" /><Relationship Type="http://schemas.openxmlformats.org/officeDocument/2006/relationships/notesMaster" Target="/ppt/notesMasters/notesMaster1.xml" Id="Rc5fe20ea43134f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9d0e97ebd64236" /><Relationship Type="http://schemas.openxmlformats.org/officeDocument/2006/relationships/notesMaster" Target="/ppt/notesMasters/notesMaster1.xml" Id="R636c636fff804a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10cdcb6d744a5f" /><Relationship Type="http://schemas.openxmlformats.org/officeDocument/2006/relationships/notesMaster" Target="/ppt/notesMasters/notesMaster1.xml" Id="R851fccaf6ece40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77589c6f184f61" /><Relationship Type="http://schemas.openxmlformats.org/officeDocument/2006/relationships/notesMaster" Target="/ppt/notesMasters/notesMaster1.xml" Id="R38b4e8c10a534e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cd3b9ba51742f4" /><Relationship Type="http://schemas.openxmlformats.org/officeDocument/2006/relationships/notesMaster" Target="/ppt/notesMasters/notesMaster1.xml" Id="R3d28e7a2c9dd48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cb73b4898249fa" /><Relationship Type="http://schemas.openxmlformats.org/officeDocument/2006/relationships/notesMaster" Target="/ppt/notesMasters/notesMaster1.xml" Id="R428b09a01b4640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4f877c622a4bca" /><Relationship Type="http://schemas.openxmlformats.org/officeDocument/2006/relationships/notesMaster" Target="/ppt/notesMasters/notesMaster1.xml" Id="R90760098dbb44b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ea8cdbbc0514b55" /><Relationship Type="http://schemas.openxmlformats.org/officeDocument/2006/relationships/notesMaster" Target="/ppt/notesMasters/notesMaster1.xml" Id="Rbb4d01a80d314b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Bem-vindo ao episódio 4 do dbt Moderno na Prática. Hoje vamos trabalhar o tema “Semântica aberta e interoperável”. Uma definição, múltiplos canais de consumo. O objetivo não é apenas conhecer o conceito: vamos conectá-lo ao laboratório e terminar com uma evidência que você consegue reproduzir no seu próprio ambiente. Ao longo da aula, separe sempre o que é recurso aberto e estável daquilo que aparecerá apenas no Radar.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o título, situe o checkpoint 04 e deixe claro que a aula faz parte da trilha open/stable.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“Interoperabilidade começa quando o consumidor não precisa copiar a fórmula.”.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Quero começar com uma provocação: Interoperabilidade começa quando o consumidor não precisa copiar a fórmula. Essa pergunta orienta toda a aula. Em vez de aceitar uma afirmação porque ela parece correta, vamos procurar uma definição verificável e uma demonstração executável. Guarde essa tensão, porque voltaremos a ela quando compararmos o conceito com o resultado do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Dê uma pausa depois da provocação e use o diagrama como mapa do problema, sem explicar todas as etapas ainda.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“Ao final, você consegue...”.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Ao final desta aula, você deverá conseguir consultar MetricFlow, Publicar SQL governado e Validar um artifact OSI. Esses resultados formam uma sequência: primeiro entendemos a regra, depois observamos sua representação no projeto e, por fim, comprovamos o comportamento no checkpoint. Se alguma dessas três partes não estiver clara, volte ao slide correspondente antes de executar a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objetivos da esquerda para a direita e apresente-os como resultados observáveis, não como uma agenda abstrata.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“Três interfaces, uma fonte de significado”.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MetricFlow, SQL e OSI reutilizam o mesmo contrato semântico. Para tornar isso concreto, observe consulta local, Fachada estável e Artifact versionado.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“Consulta lógica reduz acoplamento”.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O consumidor pede métrica e dimensão; o compilador resolve o caminho. Para tornar isso concreto, observe nome estável, Filtro permitido e SQL inspecionável.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“Consulta lógica reduz acoplamento”.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O consumidor pede métrica e dimensão; o compilador resolve o caminho. Siga a composição na ordem mostrada e conecte pedido, Plano, SQL e Resultado.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“SQL governado continua útil”.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BI e APIs podem consumir uma fachada sem reimplementar regra. Para tornar isso concreto, observe schema e versão, Owner e SLA e Freshness e lineage.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“SQL governado continua útil”.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BI e APIs podem consumir uma fachada sem reimplementar regra. Siga a composição na ordem mostrada e conecte contrato, Consumidor, Schema e versão, Owner e SLA e Freshness e lineage.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“OSI é um contrato, não um conector mágico”.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O artifact descreve semântica; cada consumidor ainda precisa implementar compatibilidade. Para tornar isso concreto, observe documento validável, Versão explícita e Sem promessa de universalidade.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“OSI é um contrato, não um conector mágico”.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O artifact descreve semântica; cada consumidor ainda precisa implementar compatibilidade. Siga a composição na ordem mostrada e conecte artifact, Validação e Compatibilidade.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“Agentes ganham vocabulário compacto”.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Nomes de métricas comprimem contexto e reduzem joins inventados. Para tornar isso concreto, observe delivered_revenue, metric_time e Dimensões permitidas.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“Agentes ganham vocabulário compacto”.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Nomes de métricas comprimem contexto e reduzem joins inventados. Siga a composição na ordem mostrada e conecte pergunta, Métrica, SQL e Resposta.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execute”.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01:20]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sair da explicação e comprovar o comportamento. Execute os comandos exatamente como aparecem: python course.py checkpoint 04. Não é necessário ativar o ambiente virtual manualmente; o launcher do curso seleciona o ambiente correto. Antes de avançar, confirme que o comando iniciou sem erro e dê tempo para o aluno acompanhar a mesma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comando completo, execute uma linha por vez quando houver mais de uma e mantenha o terminal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observe”.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Enquanto a execução acontece, não olhe apenas para a mensagem final. Observe metricFlow consultado, Artifact OSI validado e 10 perguntas executadas em DuckDB. Cada sinal responde a uma pergunta diferente sobre o pipeline. Se um deles divergir, interrompa a demonstração e investigue; o objetivo do hands-on é produzir evidência, não apenas chegar rapidamente a uma tela verde.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Marque cada observação quando ela aparecer no terminal ou no artifact correspondente.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“RESULTADO ESPERADO”.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ponto de parada da demonstração: Mesmo valor via métrica e SQL. Esse resultado confirma que a etapa executada produziu a evidência esperada para o checkpoint 04. Se o valor, o status ou o artifact estiver diferente, não trate a divergência como detalhe de ambiente. Use o diagnóstico do curso e só avance quando a causa estiver compreendida.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Compare o resultado do terminal com a frase central do slide e registre a evidência antes de continuar.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mesmo recurso afeta três decisões”.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Antes de seguir, conecte a técnica às decisões que ela afeta: Governança: fórmula versionada, FinOps: reuso mensurável e IA: contexto mais curto. Governança define responsabilidade e consistência; FinOps pergunta quanto trabalho estamos repetindo; e IA depende do contexto que decidimos expor. A mesma implementação pode melhorar os três eixos, mas os ganhos devem ser medidos separadamente.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três eixos e evite apresentar economia ou acurácia como consequência automática.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“83 métricas”.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Aqui temos 83 métricas: mantidas pela Inventa. O número ajuda a dimensionar o exemplo, mas precisa ser lido com a ressalva correta. Resultado reportado; o mecanismo é centralização com ownership. Use o case como evidência contextual e não como promessa de que outro projeto repetirá o mesmo resultado sem as mesmas condições.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primeiro o número, depois a definição e termine obrigatoriamente com a ressalva.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“Limitações que precisam permanecer visíveis”.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Também precisamos declarar os limites da recomendação. Neste cenário, considere OSI continua evoluindo, Export exige freshness e lineage e API local não é a Semantic Layer gerenciada. Esses pontos não anulam a técnica; eles delimitam onde a demonstração é válida e quais condições precisam ser verificadas antes de levar o padrão para produção. Tratar limites como parte do design evita transformar uma boa prática em regra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Leia os limites com o mesmo peso dado aos benefícios e diferencie restrição do laboratório de restrição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“RADAR”.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nosso Radar: APIs, cache e integrações hospedadas ficam para a temporada de plataforma. A intenção é mostrar a direção da ferramenta sem misturar preview com o caminho suportado da aula. Novidade observada não é recomendação de produção. Para adotar qualquer recurso futuro, confirme maturidade, adaptador, documentação e impacto sobre o projeto antes de alterar o baseline estável.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Reforce visualmente a regra do rodapé e não execute comandos beta ou preview como parte obrigatória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“PRÓXIMO PASSO”.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Prove a mesma métrica via MetricFlow e SQL sem copiar a fórmula. Faça essa etapa antes de seguir para o próximo episódio, porque o curso é cumulativo e o checkpoint atual se torna a base da aula seguinte. Se houver divergência, use o relatório de suporte e registre o que foi observado. O objetivo é avançar com um estado conhecido e reproduzível, não apenas assistir ao conteúdo.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checkpoint e indique no repositório onde ficam o roteiro, os comandos e as referências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Encerre retomando a pergunta inicial e confirme que o aluno sabe qual ação executar depois do episódio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https://github.com/open-semantic-interchange/OSI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https://www.getdbt.com/blog/how-the-dbt-semantic-layer-works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https://github.com/AnselmoBorges/dbt-moderno-na-pratica/blob/main/roteiros/04-semantica-aberta-interoperavel.md</a:t>
            </a:r>
          </a:p>
          <a:p xmlns:a="http://schemas.openxmlformats.org/drawingml/2006/main">
            <a:r>
              <a:t>- repo://laboratorio/checkpoints/ep04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1ab1097ee44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ddae41f2664d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fb12a3454c47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55ba069da7462d" /><Relationship Type="http://schemas.openxmlformats.org/officeDocument/2006/relationships/slideLayout" Target="/ppt/slideLayouts/slideLayout1.xml" Id="R99edea73deb74b0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ed765e2866843bd" /><Relationship Type="http://schemas.openxmlformats.org/officeDocument/2006/relationships/slideLayout" Target="/ppt/slideLayouts/slideLayout2.xml" Id="R76e2bbd006914515" /><Relationship Type="http://schemas.openxmlformats.org/officeDocument/2006/relationships/slideLayout" Target="/ppt/slideLayouts/slideLayout3.xml" Id="R9dd2f5d1a04045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edea73deb74b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76e2bbd006914515"/>
    <p:sldLayoutId xmlns:r="http://schemas.openxmlformats.org/officeDocument/2006/relationships" id="2147483652" r:id="R9dd2f5d1a04045c4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736754d244758" /><Relationship Type="http://schemas.openxmlformats.org/officeDocument/2006/relationships/image" Target="/ppt/media/image.jpeg" Id="R4c94e64cd5c84769" /><Relationship Type="http://schemas.openxmlformats.org/officeDocument/2006/relationships/image" Target="/ppt/media/image.png" Id="R71049697783c4e46" /><Relationship Type="http://schemas.openxmlformats.org/officeDocument/2006/relationships/notesSlide" Target="/ppt/notesSlides/notesSlide1.xml" Id="R113890cfe72345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a4af29f40a45dc" /><Relationship Type="http://schemas.openxmlformats.org/officeDocument/2006/relationships/image" Target="/ppt/media/image2.png" Id="R19015cb30a20467b" /><Relationship Type="http://schemas.openxmlformats.org/officeDocument/2006/relationships/image" Target="/ppt/media/image3.png" Id="Rb85b97c0f7144573" /><Relationship Type="http://schemas.openxmlformats.org/officeDocument/2006/relationships/notesSlide" Target="/ppt/notesSlides/notesSlide2.xml" Id="R768c32cffbec47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a900e3e3c743a7" /><Relationship Type="http://schemas.openxmlformats.org/officeDocument/2006/relationships/image" Target="/ppt/media/image4.png" Id="R1ea3fee9c2534ab2" /><Relationship Type="http://schemas.openxmlformats.org/officeDocument/2006/relationships/notesSlide" Target="/ppt/notesSlides/notesSlide3.xml" Id="R664a8560e82c4c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480c9b91a846ae" /><Relationship Type="http://schemas.openxmlformats.org/officeDocument/2006/relationships/image" Target="/ppt/media/image5.png" Id="R54ff138418094445" /><Relationship Type="http://schemas.openxmlformats.org/officeDocument/2006/relationships/notesSlide" Target="/ppt/notesSlides/notesSlide4.xml" Id="R9e3061fd6bd941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37163d793142cb" /><Relationship Type="http://schemas.openxmlformats.org/officeDocument/2006/relationships/image" Target="/ppt/media/image6.png" Id="R380098c4f1f14b1f" /><Relationship Type="http://schemas.openxmlformats.org/officeDocument/2006/relationships/notesSlide" Target="/ppt/notesSlides/notesSlide5.xml" Id="Rf18282b27a1d4a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903995ddc0448b" /><Relationship Type="http://schemas.openxmlformats.org/officeDocument/2006/relationships/image" Target="/ppt/media/image7.png" Id="R93223046dfa149f6" /><Relationship Type="http://schemas.openxmlformats.org/officeDocument/2006/relationships/notesSlide" Target="/ppt/notesSlides/notesSlide6.xml" Id="R2cb83581cd3849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009f1f26af4155" /><Relationship Type="http://schemas.openxmlformats.org/officeDocument/2006/relationships/image" Target="/ppt/media/image8.png" Id="Rbaaf5c39d0ea413f" /><Relationship Type="http://schemas.openxmlformats.org/officeDocument/2006/relationships/notesSlide" Target="/ppt/notesSlides/notesSlide7.xml" Id="Re7f1e5c7bfbc43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37dff3f87f427a" /><Relationship Type="http://schemas.openxmlformats.org/officeDocument/2006/relationships/image" Target="/ppt/media/image9.png" Id="Raacb0482fdaa43ba" /><Relationship Type="http://schemas.openxmlformats.org/officeDocument/2006/relationships/notesSlide" Target="/ppt/notesSlides/notesSlide8.xml" Id="R3a66e7b5ef6d48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7201dc4e2f47a2" /><Relationship Type="http://schemas.openxmlformats.org/officeDocument/2006/relationships/image" Target="/ppt/media/image10.png" Id="R7fa3087de19440e5" /><Relationship Type="http://schemas.openxmlformats.org/officeDocument/2006/relationships/notesSlide" Target="/ppt/notesSlides/notesSlide9.xml" Id="R29093521104644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bc0e7fdf154afa" /><Relationship Type="http://schemas.openxmlformats.org/officeDocument/2006/relationships/image" Target="/ppt/media/image11.png" Id="Rae83cb79a36240f2" /><Relationship Type="http://schemas.openxmlformats.org/officeDocument/2006/relationships/notesSlide" Target="/ppt/notesSlides/notesSlide10.xml" Id="R490517ba54ae4e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e4438f84bd47ce" /><Relationship Type="http://schemas.openxmlformats.org/officeDocument/2006/relationships/image" Target="/ppt/media/image12.png" Id="R6a5b27bf020b423a" /><Relationship Type="http://schemas.openxmlformats.org/officeDocument/2006/relationships/notesSlide" Target="/ppt/notesSlides/notesSlide11.xml" Id="R0394235028bb4b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25c8409e98452e" /><Relationship Type="http://schemas.openxmlformats.org/officeDocument/2006/relationships/image" Target="/ppt/media/image13.png" Id="Rfa9f3a77b0eb4062" /><Relationship Type="http://schemas.openxmlformats.org/officeDocument/2006/relationships/notesSlide" Target="/ppt/notesSlides/notesSlide12.xml" Id="R1fd1f44b365a4d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a692a6374c421a" /><Relationship Type="http://schemas.openxmlformats.org/officeDocument/2006/relationships/image" Target="/ppt/media/image14.png" Id="R3665628ee2294eaf" /><Relationship Type="http://schemas.openxmlformats.org/officeDocument/2006/relationships/notesSlide" Target="/ppt/notesSlides/notesSlide13.xml" Id="R07e262c646e949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6336739f814900" /><Relationship Type="http://schemas.openxmlformats.org/officeDocument/2006/relationships/image" Target="/ppt/media/image15.png" Id="R8d30f34a88084bb2" /><Relationship Type="http://schemas.openxmlformats.org/officeDocument/2006/relationships/notesSlide" Target="/ppt/notesSlides/notesSlide14.xml" Id="Rf2a62959eff947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2479d9c6104d28" /><Relationship Type="http://schemas.openxmlformats.org/officeDocument/2006/relationships/image" Target="/ppt/media/image16.png" Id="Reebef6d5794146fa" /><Relationship Type="http://schemas.openxmlformats.org/officeDocument/2006/relationships/notesSlide" Target="/ppt/notesSlides/notesSlide15.xml" Id="R128462397da44c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fce9647c5e4897" /><Relationship Type="http://schemas.openxmlformats.org/officeDocument/2006/relationships/image" Target="/ppt/media/image17.png" Id="R73209d21f7b64de3" /><Relationship Type="http://schemas.openxmlformats.org/officeDocument/2006/relationships/notesSlide" Target="/ppt/notesSlides/notesSlide16.xml" Id="R9f21815757ce4a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2b239a5c434172" /><Relationship Type="http://schemas.openxmlformats.org/officeDocument/2006/relationships/image" Target="/ppt/media/image18.png" Id="Ra53004880cb44724" /><Relationship Type="http://schemas.openxmlformats.org/officeDocument/2006/relationships/notesSlide" Target="/ppt/notesSlides/notesSlide17.xml" Id="Rd0ce316b6e0142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fd0961f6ff94606" /><Relationship Type="http://schemas.openxmlformats.org/officeDocument/2006/relationships/image" Target="/ppt/media/image19.png" Id="R8fbf5494eea34a50" /><Relationship Type="http://schemas.openxmlformats.org/officeDocument/2006/relationships/notesSlide" Target="/ppt/notesSlides/notesSlide18.xml" Id="R25ba5ab366014d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4293f6cfe44681" /><Relationship Type="http://schemas.openxmlformats.org/officeDocument/2006/relationships/image" Target="/ppt/media/image20.png" Id="Re58e50480a8a4961" /><Relationship Type="http://schemas.openxmlformats.org/officeDocument/2006/relationships/notesSlide" Target="/ppt/notesSlides/notesSlide19.xml" Id="R3106dc5d0dfe46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c2b4ccc1824e75" /><Relationship Type="http://schemas.openxmlformats.org/officeDocument/2006/relationships/image" Target="/ppt/media/image21.png" Id="R8eb47cfa124e4225" /><Relationship Type="http://schemas.openxmlformats.org/officeDocument/2006/relationships/notesSlide" Target="/ppt/notesSlides/notesSlide20.xml" Id="R1f7cea557aa5421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 descr="Ilustração conceitual autoral da capa: EPISÓDIO 4 — Semântica aberta e interoperáve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4e64cd5c84769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292104A5-E036-4131-8176-78E678A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43509F47-B8C9-443B-9734-16A28BB8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867E6524-E5CD-4C28-810C-5CBE8D61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4</a:t>
            </a:r>
          </a:p>
        </p:txBody>
      </p:sp>
      <p:sp>
        <p:nvSpPr>
          <p:cNvPr id="5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4E574079-B695-4A8A-A602-12681D14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8" name="" descr="Ilustração conceitual autoral da capa: EPISÓDIO 4 — Semântica aberta e interoperáve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9697783c4e46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9F511DD-E3B0-4A5B-BCDA-C4914768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Semântica aberta e interoperável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0183F0A-D38B-4312-8C60-73803DB9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Uma definição, múltiplos canais de consumo</a:t>
            </a:r>
          </a:p>
        </p:txBody>
      </p:sp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4D2ADA8-C126-47FD-A72C-4A13B073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10" name="cover-meta">
            <a:extLst xmlns:a="http://schemas.openxmlformats.org/drawingml/2006/main">
              <a:ext uri="{FF2B5EF4-FFF2-40B4-BE49-F238E27FC236}">
                <a16:creationId xmlns:a16="http://schemas.microsoft.com/office/drawing/2014/main" id="{0DDE1668-7B1E-46EB-8A70-CCCB2CEF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04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1626006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ook">
            <a:extLst xmlns:a="http://schemas.openxmlformats.org/drawingml/2006/main">
              <a:ext uri="{FF2B5EF4-FFF2-40B4-BE49-F238E27FC236}">
                <a16:creationId xmlns:a16="http://schemas.microsoft.com/office/drawing/2014/main" id="{1E5E63D8-D19E-4257-9882-A229E23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Interoperabilidade começa quando o consumidor não precisa copiar a fórmula.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2ECDAD82-6604-4157-AA38-8890B4A0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6622FDEB-7228-48BB-AE6F-D47D3334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A310C11B-C3CB-46F9-B869-3A080994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9" name="" descr="Diagrama didático autoral que apresenta: Interoperabilidade começa quando o consumidor não precisa copiar a fórmula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15cb30a20467b"/>
          <a:stretch xmlns:a="http://schemas.openxmlformats.org/drawingml/2006/main"/>
        </p:blipFill>
        <p:spPr>
          <a:xfrm xmlns:a="http://schemas.openxmlformats.org/drawingml/2006/main">
            <a:off x="2244785" y="3790950"/>
            <a:ext cx="7702430" cy="1562100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6673AA58-6A78-461D-BAD2-D52AE4FC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4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2A6C9FF0-C779-460C-93BB-0E4A676F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2" name="" descr="Diagrama didático autoral que apresenta: Interoperabilidade começa quando o consumidor não precisa copiar a fórmula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97c0f7144573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102377-5ED5-4265-8CB8-7938893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27F446A-6F2D-4399-865C-9920284A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92B3B7-95D7-4E63-9BF9-03BD1165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2/20</a:t>
            </a:r>
          </a:p>
        </p:txBody>
      </p:sp>
    </p:spTree>
    <p:extLst>
      <p:ext uri="{BB962C8B-B14F-4D97-AF65-F5344CB8AC3E}">
        <p14:creationId xmlns:p14="http://schemas.microsoft.com/office/powerpoint/2010/main" val="199371322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D8B08C-242D-4C2D-B2BB-AA435A6C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7D7476EC-E0B5-4FD6-A481-3B03BD7B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670A2421-8D8A-499C-AC2E-9ADD37A5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Consultar MetricFlow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6F98FEB0-C1EE-4973-BA13-EC37907C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1B94196A-1CEC-477B-B22A-608C7D40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855BDC81-292C-4457-A460-5A9BDEF7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Publicar SQL governado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BB077995-CFBE-4335-A033-8E03DB77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E0C3218A-E923-432E-812A-4C7B32C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DE0EE587-FC20-43A7-9D5B-2CA22DAE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Validar um artifact OSI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EF51453-4509-444F-896B-A049B739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4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58D31E92-E6B1-431D-AB9B-233C2EB0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Ao final, você consegue...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3fee9c2534ab2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08A161A-A468-4FA4-9CBE-A48F70CA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37B07233-FB6E-42DD-82D3-3B7E47FA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CED00AB-1618-470B-8990-34025B57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3/20</a:t>
            </a:r>
          </a:p>
        </p:txBody>
      </p:sp>
    </p:spTree>
    <p:extLst>
      <p:ext uri="{BB962C8B-B14F-4D97-AF65-F5344CB8AC3E}">
        <p14:creationId xmlns:p14="http://schemas.microsoft.com/office/powerpoint/2010/main" val="811666614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15B6B5-A9F6-42FA-9BF2-584BBA0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Três interfaces, uma fonte de significado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67781A8-72CC-42C3-88FD-CACECC27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MetricFlow, SQL e OSI reutilizam o mesmo contrato semântico.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805D1CB8-CB99-4241-B944-63406312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Consulta local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Fachada estável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Artifact versionado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99645BC5-8E53-48D2-A8B4-63B4AED7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F6BEFD93-6756-47EC-BABF-8B103F09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85ACE0B-B890-43DE-B03D-41C7C576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D0B6E52-6221-4706-A3FC-0A634034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4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7EEF3C4A-CDCE-4385-B768-CB6F2273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Três interfaces, uma fonte de significado — MetricFlow, SQL e OSI reutilizam o mesmo contrato semântic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f138418094445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EFF6CB-41E9-4FE2-AE93-6E9BFB0A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26B9B5E-CA65-4E4F-AAEB-C232332C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434A11-9FE6-46A8-93BC-386D0687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4/20</a:t>
            </a:r>
          </a:p>
        </p:txBody>
      </p:sp>
    </p:spTree>
    <p:extLst>
      <p:ext uri="{BB962C8B-B14F-4D97-AF65-F5344CB8AC3E}">
        <p14:creationId xmlns:p14="http://schemas.microsoft.com/office/powerpoint/2010/main" val="199258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381C42-009A-4A62-9197-CB31FE9B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Consulta lógica reduz acoplamento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6590FA-E96E-4BFE-A6F9-B97DA8AA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O consumidor pede métrica e dimensão; o compilador resolve o caminho.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67541C03-DF81-4219-BE22-567910CD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Nome estável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Filtro permitido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SQL inspecionável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E10142AD-814D-40C3-9209-F1EC3D9C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B18A2896-7E29-4A66-A144-EEF5C051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EE385B31-7F25-44CB-9912-EC4E0B1E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5AD979B7-391E-430E-973A-C1CDE583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4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FD5D8566-62B0-4DDA-B564-B8493FC6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Consulta lógica reduz acoplamento — O consumidor pede métrica e dimensão; o compilador resolve o caminh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098c4f1f14b1f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22B846C-CAFB-4733-A934-553BFBA3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ECED0FF-141F-4690-A105-A52E9320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4517B5-84E6-4EFA-B4E0-96059C53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5/20</a:t>
            </a:r>
          </a:p>
        </p:txBody>
      </p:sp>
    </p:spTree>
    <p:extLst>
      <p:ext uri="{BB962C8B-B14F-4D97-AF65-F5344CB8AC3E}">
        <p14:creationId xmlns:p14="http://schemas.microsoft.com/office/powerpoint/2010/main" val="62285830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63AFD9-3929-41CD-89B3-27FF4713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Consulta lógica reduz acoplamento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FC435357-6E88-4E60-8423-BAD80C8B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EFE8EE7E-6B08-44FE-B2DC-84781606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Pedido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B4466833-785B-43D5-AC1E-D5D02E3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2C4BB413-CA26-4A7C-AD0F-9097B777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BD2944A5-E79D-480F-B57F-CB711DE2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Plano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FC09209D-C430-4EC9-AF82-8F4365CF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3D61DFC2-5891-4BE3-A8EB-A0F5781E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406DDA08-E4BE-48A4-BF7E-A37698B3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10" name="step-line-3">
            <a:extLst xmlns:a="http://schemas.openxmlformats.org/drawingml/2006/main">
              <a:ext uri="{FF2B5EF4-FFF2-40B4-BE49-F238E27FC236}">
                <a16:creationId xmlns:a16="http://schemas.microsoft.com/office/drawing/2014/main" id="{65C5483A-04D6-4165-8B8E-1A009DCC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11" name="step-num-4">
            <a:extLst xmlns:a="http://schemas.openxmlformats.org/drawingml/2006/main">
              <a:ext uri="{FF2B5EF4-FFF2-40B4-BE49-F238E27FC236}">
                <a16:creationId xmlns:a16="http://schemas.microsoft.com/office/drawing/2014/main" id="{21501244-2ADC-4415-8F22-957AFA0D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04</a:t>
            </a:r>
          </a:p>
        </p:txBody>
      </p:sp>
      <p:sp>
        <p:nvSpPr>
          <p:cNvPr id="12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9F5F53FB-60A5-418A-A8B3-C440FFA2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456A996B-A57B-4BA3-B7C8-EA7C840F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4  •  OPEN / CORE 1.12</a:t>
            </a:r>
          </a:p>
        </p:txBody>
      </p:sp>
      <p:sp>
        <p:nvSpPr>
          <p:cNvPr id="14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6BBCB9F5-49E0-4ACF-AB00-04105EF8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35" name="" descr="Figura oficial da documentação dbt usada para explicar: Consulta lógica reduz acoplamento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23046dfa149f6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8414BA8-6CA0-4576-8479-75C940EE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39C7634B-1AE8-45A5-87FE-3D32CB1A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1A666E0-DDDE-448B-989F-4011AE35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6/20</a:t>
            </a:r>
          </a:p>
        </p:txBody>
      </p:sp>
    </p:spTree>
    <p:extLst>
      <p:ext uri="{BB962C8B-B14F-4D97-AF65-F5344CB8AC3E}">
        <p14:creationId xmlns:p14="http://schemas.microsoft.com/office/powerpoint/2010/main" val="766395142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2E5F36-17AF-439C-9AB3-2E36ACD1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SQL governado continua útil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C5D6C1-B7B3-4666-8F44-3DAB1D3B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BI e APIs podem consumir uma fachada sem reimplementar regra.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B7979139-6962-49F7-B6D1-181F8F42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Schema e versão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Owner e SLA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Freshness e lineage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AF5A7698-97D4-4082-802C-56B0D796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B8283269-41FC-4995-A5FF-B196B9F0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37E0AA70-D715-4417-81EE-FB041DC7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EA24EF32-6A4C-41F5-9962-BE14A052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4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1DA1886F-2A4D-4496-92B5-A126CBD4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SQL governado continua útil — BI e APIs podem consumir uma fachada sem reimplementar regra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f5c39d0ea413f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95AA685-E7E7-40A2-A293-0E957D7C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DFEC2B8-F72F-4D57-AAA4-78B8D669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780513-747B-4159-BD54-7F2C6FC0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7/20</a:t>
            </a:r>
          </a:p>
        </p:txBody>
      </p:sp>
    </p:spTree>
    <p:extLst>
      <p:ext uri="{BB962C8B-B14F-4D97-AF65-F5344CB8AC3E}">
        <p14:creationId xmlns:p14="http://schemas.microsoft.com/office/powerpoint/2010/main" val="1967302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A44A12-1FEA-48D4-9ED8-8E3A3825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SQL governado continua útil</a:t>
            </a:r>
          </a:p>
        </p:txBody>
      </p:sp>
      <p:sp>
        <p:nvSpPr>
          <p:cNvPr id="2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C6F6093A-2914-46FA-8B10-0E26FDBC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65C0"/>
                </a:solidFill>
              </a:defRPr>
            </a:pPr>
            <a:r>
              <a:rPr sz="2100" b="1">
                <a:solidFill>
                  <a:srgbClr val="1565C0"/>
                </a:solidFill>
              </a:rPr>
              <a:t>Contrato</a:t>
            </a:r>
          </a:p>
        </p:txBody>
      </p:sp>
      <p:sp>
        <p:nvSpPr>
          <p:cNvPr id="3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29942244-EB70-4C88-A5E8-B2200193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65C0"/>
                </a:solidFill>
              </a:defRPr>
            </a:pPr>
            <a:r>
              <a:rPr sz="2100" b="1">
                <a:solidFill>
                  <a:srgbClr val="1565C0"/>
                </a:solidFill>
              </a:rPr>
              <a:t>Consumidor</a:t>
            </a:r>
          </a:p>
        </p:txBody>
      </p:sp>
      <p:sp>
        <p:nvSpPr>
          <p:cNvPr id="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4E31174C-5817-40EF-A07F-6D5EDCDA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D7EA"/>
            </a:solidFill>
            <a:prstDash val="solid"/>
          </a:ln>
        </p:spPr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B7520A97-192F-4C7A-A8B2-B17C63E1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Schema e versão</a:t>
            </a:r>
          </a:p>
          <a:p xmlns:a="http://schemas.openxmlformats.org/drawingml/2006/main">
            <a:pPr>
              <a:buNone/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Owner e SLA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E13D8FED-3CEC-4928-89E7-EB7EE78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Freshness e lineage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B18DF9C-90EA-427D-BDA9-DBB03C62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4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29D82322-EC9E-47CB-8149-A7F317EA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SQL governado continua útil — Contrat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b0482fdaa43ba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5AE85CB-3E04-4A8B-874E-0B721043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8FD4A39-92B8-412A-B9D7-E0EDD9C8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A199B5-CA1D-44F1-AB1B-523ED345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8/20</a:t>
            </a:r>
          </a:p>
        </p:txBody>
      </p:sp>
    </p:spTree>
    <p:extLst>
      <p:ext uri="{BB962C8B-B14F-4D97-AF65-F5344CB8AC3E}">
        <p14:creationId xmlns:p14="http://schemas.microsoft.com/office/powerpoint/2010/main" val="2104949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E7547A-2EBC-4EF3-B680-46A2D87C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OSI é um contrato, não um conector mágico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5F56EA-A685-4ADE-86AC-21C27F9D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O artifact descreve semântica; cada consumidor ainda precisa implementar compatibilidade.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FD785E1A-816B-4ABF-8CEB-14978E86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Documento validável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Versão explícita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Sem promessa de universalidade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EEAFC83D-CE10-4BF4-A5BD-B322EB44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EEA63D3A-A5EA-4497-AE8E-0A35A5A9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7A5B1040-9CE0-42C0-A13A-DEACD7B4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42CD274D-1385-461B-9DAB-E8F16977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4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639BCF0D-A9D0-423E-AF2F-FEC4FE23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OSI é um contrato, não um conector mágico — O artifact descreve semântica; cada consumidor ainda precisa implementar compatibilidade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3087de19440e5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7E43351-A1B2-4DF4-A0AB-C03FCDAC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3CD4ED8-FB3D-4EF1-9E1E-0F7E608A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9019A2-9CA9-4BE2-84E8-F683B4FB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9/20</a:t>
            </a:r>
          </a:p>
        </p:txBody>
      </p:sp>
    </p:spTree>
    <p:extLst>
      <p:ext uri="{BB962C8B-B14F-4D97-AF65-F5344CB8AC3E}">
        <p14:creationId xmlns:p14="http://schemas.microsoft.com/office/powerpoint/2010/main" val="85223706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C531E0-70CD-409F-A573-D81D5D2B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OSI é um contrato, não um conector mágico</a:t>
            </a:r>
          </a:p>
        </p:txBody>
      </p:sp>
      <p:sp>
        <p:nvSpPr>
          <p:cNvPr id="2" name="status-dot-1">
            <a:extLst xmlns:a="http://schemas.openxmlformats.org/drawingml/2006/main">
              <a:ext uri="{FF2B5EF4-FFF2-40B4-BE49-F238E27FC236}">
                <a16:creationId xmlns:a16="http://schemas.microsoft.com/office/drawing/2014/main" id="{A7550407-D4B5-4AE9-8097-C8653139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0699AE7B-37ED-460B-849A-E04F1135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Artifact</a:t>
            </a:r>
          </a:p>
        </p:txBody>
      </p:sp>
      <p:sp>
        <p:nvSpPr>
          <p:cNvPr id="4" name="status-dot-2">
            <a:extLst xmlns:a="http://schemas.openxmlformats.org/drawingml/2006/main">
              <a:ext uri="{FF2B5EF4-FFF2-40B4-BE49-F238E27FC236}">
                <a16:creationId xmlns:a16="http://schemas.microsoft.com/office/drawing/2014/main" id="{4E165173-CE93-40A8-815B-65F43E2F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C92A9842-8CDF-444E-8816-400138F4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Validação</a:t>
            </a:r>
          </a:p>
        </p:txBody>
      </p:sp>
      <p:sp>
        <p:nvSpPr>
          <p:cNvPr id="6" name="status-dot-3">
            <a:extLst xmlns:a="http://schemas.openxmlformats.org/drawingml/2006/main">
              <a:ext uri="{FF2B5EF4-FFF2-40B4-BE49-F238E27FC236}">
                <a16:creationId xmlns:a16="http://schemas.microsoft.com/office/drawing/2014/main" id="{9E76940D-0FED-48CC-AEB4-3DF18DCF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B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1514355B-8457-4688-B24C-02DDB242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Compatibilidade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BACB847-E689-406F-BC7C-10B460E5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4  •  OPEN / CORE 1.12</a:t>
            </a:r>
          </a:p>
        </p:txBody>
      </p:sp>
      <p:sp>
        <p:nvSpPr>
          <p:cNvPr id="9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6406518E-FAD0-4F3E-9DD3-64B6B547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5" name="" descr="Figura oficial da documentação dbt usada para explicar: OSI é um contrato, não um conector mágico — Artifact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3cb79a36240f2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B26DC12-F764-4EF2-904C-88F17885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52622E70-ED7F-4DFF-B234-A8D34907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79B850-ECD1-4226-8F7C-9081B172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10/20</a:t>
            </a:r>
          </a:p>
        </p:txBody>
      </p:sp>
    </p:spTree>
    <p:extLst>
      <p:ext uri="{BB962C8B-B14F-4D97-AF65-F5344CB8AC3E}">
        <p14:creationId xmlns:p14="http://schemas.microsoft.com/office/powerpoint/2010/main" val="128640573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4A6833-A21F-4DDC-832E-DD9BCE81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Agentes ganham vocabulário compacto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61BDEE-A0A8-4F6A-8DFA-F655DA1A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Nomes de métricas comprimem contexto e reduzem joins inventados.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1E6CCFA7-C5E2-4529-AB32-C8A5614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delivered_revenue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metric_time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Dimensões permitidas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E82D1A77-08BA-4964-8D23-FC50370D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E11067A9-CE48-41A6-9F75-3BE06E29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E11109BD-540B-42CC-8F51-ED3B9ABB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05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B227F5F-1568-4984-9826-A6C196AA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4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07207DB0-197C-433B-8960-9794F21B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Agentes ganham vocabulário compacto — Nomes de métricas comprimem contexto e reduzem joins inventado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b27bf020b423a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A174777-18D3-4F1E-8731-05B4A205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ABAF450-F671-4FFA-9159-C2AF7C86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B39217-926D-4BEE-A28C-92EA289C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9228377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311DAE-D24D-448B-B638-75CBC240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Agentes ganham vocabulário compacto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98257B5F-D488-40AE-B4E5-BDC2C5F9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Pergunta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EAA665F7-1443-4E39-A56E-8B6FDE57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Métrica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276214D6-FA85-4FC8-8215-891895BF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SQL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C05BA1B8-B268-4E03-A6E0-8EAB283C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Resposta</a:t>
            </a:r>
          </a:p>
        </p:txBody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52788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62651" y="3962400"/>
            <a:ext cx="26669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672513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8DDF771D-9D0C-41E9-A784-8854F563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4  •  OPEN / CORE 1.12</a:t>
            </a:r>
          </a:p>
        </p:txBody>
      </p:sp>
      <p:sp>
        <p:nvSpPr>
          <p:cNvPr id="10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2D1329CF-0A3C-4CA9-A98A-4B4A7D87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34" name="" descr="Figura oficial da documentação dbt usada para explicar: Agentes ganham vocabulário compacto — Pergunt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f3a77b0eb4062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B1EF222-8397-4834-9AF7-6675CC3B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EB9F2F8-C834-4CDC-82A6-C5827C0C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709840-9EDB-4C91-8AE5-0A31EA5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686381222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D8F4E-CEDB-4236-A3E0-C0262869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3AB8FD26-1958-484B-92A5-D7FF07D7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AE7B8024-F7AD-4480-B8A0-A2CEFD33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04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41102E08-2724-4732-9698-9E255437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D5268C43-6F90-40B3-BA83-6FE695D1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4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FE401BA2-1E04-4EC3-8F03-531B6B9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Demonstração — execute — python course.py checkpoint 04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5628ee2294eaf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5425F79-40EA-4661-9E3C-629F4C14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2EEA321-2813-40B9-8E80-77C02FD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7D8425-C9C5-4FB9-BEAD-F98F13D3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13/20</a:t>
            </a:r>
          </a:p>
        </p:txBody>
      </p:sp>
    </p:spTree>
    <p:extLst>
      <p:ext uri="{BB962C8B-B14F-4D97-AF65-F5344CB8AC3E}">
        <p14:creationId xmlns:p14="http://schemas.microsoft.com/office/powerpoint/2010/main" val="6775601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E87A8A-B799-486F-AF59-76260990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65FBD3C1-B91C-45D1-9D56-827612AB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9688B413-97E0-4C8D-B837-6C20F09C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MetricFlow consultado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2292B801-2BA1-46B5-9EE9-076DD6FE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EE6C8149-39CD-4FC2-B3BF-B60EB045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31066025-7189-450D-8719-DE760CC4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Artifact OSI validado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9C8791E3-51D2-4E4D-AB89-38F03C1C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BFB63742-E303-4E47-B23C-D5C8949D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592995EB-8DC9-43A0-8977-4DD1EC71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10 perguntas executadas em DuckDB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64EF7120-D196-440F-8D45-FAF4AC1A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4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20A245DF-F13A-4B71-93CF-40BB3DE1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Demonstração — observe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0f34a88084bb2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1DEE9B1-F325-4FFB-9A25-FC73124D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43FF4958-E36E-4F1C-BF79-20247CAA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47EC0E-49C3-485F-936D-B4F1618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14/20</a:t>
            </a:r>
          </a:p>
        </p:txBody>
      </p:sp>
    </p:spTree>
    <p:extLst>
      <p:ext uri="{BB962C8B-B14F-4D97-AF65-F5344CB8AC3E}">
        <p14:creationId xmlns:p14="http://schemas.microsoft.com/office/powerpoint/2010/main" val="1785512660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8F35CC2-C8E7-4D92-9123-390C884D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C0EB65BA-B1E2-4894-A861-8DCD0EF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Mesmo valor via métrica e SQL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53FD64DD-2600-4E3F-9442-D318AEDE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04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B6A0C108-B7EF-4DE2-9858-AE9B5008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CC743AD3-2726-4CB6-B1D0-AC1FA0D0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E252BA9D-9322-4AA4-9A2A-1BF9B4A3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4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1B9BB479-D892-4A63-B899-F4ED11CB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1" name="" descr="Figura oficial da documentação dbt usada para explicar: RESULTADO ESPERADO — Mesmo valor via métrica e SQ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ef6d5794146fa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485E31A-D218-474C-8638-78A4F048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7AFBE2D-B92E-46D3-AE82-12DDCF4D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F17F7F-7121-4479-ABA1-BA422356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4965751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99102A-0A80-4664-AADE-44AE57C8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115FCC9B-F0F7-4AC3-A5C9-16316E8F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55E9E6DB-6C8F-4B72-AC6C-6316B7BF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fórmula versionada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ED0CC637-6127-4890-859F-914473B4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A11BAEBB-467D-4CBB-A0EC-A83A4D37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753C00E-129C-4309-99B2-E5B88C62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reuso mensurável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732ECC4E-8D11-43D6-8AC7-666C276C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484CA953-594B-4763-9F99-61FA05B0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877A9447-9C5D-45F1-83CC-448DAC91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contexto mais curto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B6CEFB9-A1AF-4FF5-AF82-8B4452C4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4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3DDE8AAA-090F-48D9-84B7-7793BD43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O mesmo recurso afeta três decisões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09d21f7b64de3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14AF1F-994E-4625-BF59-9E133AD9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6EE597E7-B32A-4E9D-A4E1-31D42A78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B22709-4B14-43EE-BBCD-79A2EB4A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1596490064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ase-number">
            <a:extLst xmlns:a="http://schemas.openxmlformats.org/drawingml/2006/main">
              <a:ext uri="{FF2B5EF4-FFF2-40B4-BE49-F238E27FC236}">
                <a16:creationId xmlns:a16="http://schemas.microsoft.com/office/drawing/2014/main" id="{380E773C-30FD-466B-8E41-43CF1384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83 métricas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220442FC-DEAB-4C3F-96DA-4C29FA0A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mantidas pela Inventa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3A8F13B5-2011-4C45-8428-A86A9003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7D43C0F2-8B0F-4425-8A71-31B1B957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Resultado reportado; o mecanismo é centralização com ownership.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BAEE4F3-C093-42CD-8977-F1B521D7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4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C3FB1002-AAD1-4DF2-A6FE-153D81C9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83 métricas — mantidas pela Invent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004880cb44724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6CE2A7-2A35-45EA-A50A-2E8E503D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9C9AAF8-E7B2-4762-857E-0FE32B67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0A0E57-028F-4572-90D0-F51FC744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15399808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095A76-3892-417B-8A4D-512C5F14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DB4DCBB2-D42B-4B10-90E2-61A887BD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OSI continua evoluindo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Export exige freshness e lineage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API local não é a Semantic Layer gerenciada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875CF20-CB2C-413A-97DE-7624058A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4  •  OPEN / CORE 1.12</a:t>
            </a:r>
          </a:p>
        </p:txBody>
      </p:sp>
      <p:sp>
        <p:nvSpPr>
          <p:cNvPr id="4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1E020BCF-6878-4E9D-992E-FA3793EF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5" name="" descr="Figura oficial da documentação dbt usada para explicar: Limitações que precisam permanecer visíveis — • OSI continua evoluind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f5494eea34a50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80631BC-8B9E-4350-9EFD-4BFABA04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9E1F4EC-5C63-4E6B-8BA0-ADA06C87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E75736-A145-4853-A67B-8A0E184C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1398406574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adar-label">
            <a:extLst xmlns:a="http://schemas.openxmlformats.org/drawingml/2006/main">
              <a:ext uri="{FF2B5EF4-FFF2-40B4-BE49-F238E27FC236}">
                <a16:creationId xmlns:a16="http://schemas.microsoft.com/office/drawing/2014/main" id="{37D2EBEA-AD4D-4672-920A-9A569524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411D949A-C59B-469B-AF71-E1D92B79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APIs, cache e integrações hospedadas ficam para a temporada de plataforma.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8A5DBCE5-83D1-46DD-A1D8-CF072AD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AA988B36-86C3-4420-8E8C-B72E9748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70771554-EF16-49BF-BACF-632B739C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6614A81A-E220-4F4F-991F-6CAFDBDC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4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70950E92-FE05-40EF-AD03-8C783D9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1" name="" descr="Figura oficial da documentação dbt usada para explicar: RADAR — APIs, cache e integrações hospedadas ficam para a temporada de plataforma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e50480a8a4961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D53FA3-34B6-44B9-8B17-E9BEF02C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C4DF7A32-4CA7-4DD2-8CCB-168C9F5E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B391F2-6930-4344-AA56-17CBC085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9530215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ta-label">
            <a:extLst xmlns:a="http://schemas.openxmlformats.org/drawingml/2006/main">
              <a:ext uri="{FF2B5EF4-FFF2-40B4-BE49-F238E27FC236}">
                <a16:creationId xmlns:a16="http://schemas.microsoft.com/office/drawing/2014/main" id="{DB97FCE2-E669-4D45-9331-1D521411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A681DC43-F10B-4080-8373-96809E1A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Prove a mesma métrica via MetricFlow e SQL sem copiar a fórmula.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986FD500-09A5-4D98-BEF4-A71B0E39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04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4BDC3BB-5002-4871-ABDE-04520430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4  •  OPEN / CORE 1.12</a:t>
            </a:r>
          </a:p>
        </p:txBody>
      </p:sp>
      <p:sp>
        <p:nvSpPr>
          <p:cNvPr id="5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6C736777-DC94-46D7-9AB2-707A6BF2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7" name="" descr="Figura oficial da documentação dbt usada para explicar: PRÓXIMO PASSO — Prove a mesma métrica via MetricFlow e SQL sem copiar a fórmula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47cfa124e4225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2FAE48F-EB1C-4D7B-B628-1AD95DD9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A92BF15-0FCB-4B29-8D32-B88B4AD1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9D83C3-1F80-4C8C-B37D-AAFBF174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20/20</a:t>
            </a:r>
          </a:p>
        </p:txBody>
      </p:sp>
    </p:spTree>
    <p:extLst>
      <p:ext uri="{BB962C8B-B14F-4D97-AF65-F5344CB8AC3E}">
        <p14:creationId xmlns:p14="http://schemas.microsoft.com/office/powerpoint/2010/main" val="13642187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2026-09-02T16:14:50.8290000Z</dcterms:created>
  <dcterms:modified xsi:type="dcterms:W3CDTF">2026-09-02T16:14:50.8290000Z</dcterms:modified>
</coreProperties>
</file>