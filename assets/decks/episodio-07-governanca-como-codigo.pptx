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d5fb598d1b4b24" /><Relationship Type="http://schemas.openxmlformats.org/officeDocument/2006/relationships/extended-properties" Target="/docProps/app.xml" Id="R0186d2f04d6c47ca" /><Relationship Type="http://schemas.openxmlformats.org/officeDocument/2006/relationships/officeDocument" Target="/ppt/presentation.xml" Id="R8a28e559905d40b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f97504616144c79"/>
    <p:sldMasterId xmlns:r="http://schemas.openxmlformats.org/officeDocument/2006/relationships" id="2147483650" r:id="R010407b00b2646cb"/>
  </p:sldMasterIdLst>
  <p:notesMasterIdLst>
    <p:notesMasterId xmlns:r="http://schemas.openxmlformats.org/officeDocument/2006/relationships" r:id="Rf941f39cf33543c7"/>
  </p:notesMasterIdLst>
  <p:sldIdLst>
    <p:sldId xmlns:r="http://schemas.openxmlformats.org/officeDocument/2006/relationships" id="256" r:id="Re2a50d45552745aa"/>
    <p:sldId xmlns:r="http://schemas.openxmlformats.org/officeDocument/2006/relationships" id="257" r:id="R5d603fe022f448b6"/>
    <p:sldId xmlns:r="http://schemas.openxmlformats.org/officeDocument/2006/relationships" id="258" r:id="R2c2000249904478a"/>
    <p:sldId xmlns:r="http://schemas.openxmlformats.org/officeDocument/2006/relationships" id="259" r:id="Rfc140d186b75496a"/>
    <p:sldId xmlns:r="http://schemas.openxmlformats.org/officeDocument/2006/relationships" id="260" r:id="Rf0cfde24a1b845bb"/>
    <p:sldId xmlns:r="http://schemas.openxmlformats.org/officeDocument/2006/relationships" id="261" r:id="Ra7199f378c5a4719"/>
    <p:sldId xmlns:r="http://schemas.openxmlformats.org/officeDocument/2006/relationships" id="262" r:id="R352626ab1ee74e92"/>
    <p:sldId xmlns:r="http://schemas.openxmlformats.org/officeDocument/2006/relationships" id="263" r:id="R338f21bdcc424f9d"/>
    <p:sldId xmlns:r="http://schemas.openxmlformats.org/officeDocument/2006/relationships" id="264" r:id="Rf85aea4f56f04fe2"/>
    <p:sldId xmlns:r="http://schemas.openxmlformats.org/officeDocument/2006/relationships" id="265" r:id="R070b8d076e72491d"/>
    <p:sldId xmlns:r="http://schemas.openxmlformats.org/officeDocument/2006/relationships" id="266" r:id="R8ab47913b9794117"/>
    <p:sldId xmlns:r="http://schemas.openxmlformats.org/officeDocument/2006/relationships" id="267" r:id="Rf2195c67dfb94477"/>
    <p:sldId xmlns:r="http://schemas.openxmlformats.org/officeDocument/2006/relationships" id="268" r:id="Ra1947bb7ee3f473e"/>
    <p:sldId xmlns:r="http://schemas.openxmlformats.org/officeDocument/2006/relationships" id="269" r:id="Rc6ac486625b04ba3"/>
    <p:sldId xmlns:r="http://schemas.openxmlformats.org/officeDocument/2006/relationships" id="270" r:id="Rc0c2a381b99f41b5"/>
    <p:sldId xmlns:r="http://schemas.openxmlformats.org/officeDocument/2006/relationships" id="271" r:id="Rd2699720d09d4c14"/>
    <p:sldId xmlns:r="http://schemas.openxmlformats.org/officeDocument/2006/relationships" id="272" r:id="R4f2fc043c49645f6"/>
    <p:sldId xmlns:r="http://schemas.openxmlformats.org/officeDocument/2006/relationships" id="273" r:id="R7fe88bb8452a4154"/>
    <p:sldId xmlns:r="http://schemas.openxmlformats.org/officeDocument/2006/relationships" id="274" r:id="R3919d4c580ad422c"/>
    <p:sldId xmlns:r="http://schemas.openxmlformats.org/officeDocument/2006/relationships" id="275" r:id="R3fe4eab8aed54ae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a4b1dff4124156" /><Relationship Type="http://schemas.openxmlformats.org/officeDocument/2006/relationships/slideMaster" Target="/ppt/slideMasters/slideMaster1.xml" Id="R5f97504616144c79" /><Relationship Type="http://schemas.openxmlformats.org/officeDocument/2006/relationships/slideMaster" Target="/ppt/slideMasters/slideMaster2.xml" Id="R010407b00b2646cb" /><Relationship Type="http://schemas.openxmlformats.org/officeDocument/2006/relationships/notesMaster" Target="/ppt/notesMasters/notesMaster1.xml" Id="Rf941f39cf33543c7" /><Relationship Type="http://schemas.openxmlformats.org/officeDocument/2006/relationships/presProps" Target="/ppt/presProps.xml" Id="R06e89d03b5e643b3" /><Relationship Type="http://schemas.openxmlformats.org/officeDocument/2006/relationships/tableStyles" Target="/ppt/tableStyles.xml" Id="R8754a562704c43be" /><Relationship Type="http://schemas.openxmlformats.org/officeDocument/2006/relationships/slide" Target="/ppt/slides/slide1.xml" Id="Re2a50d45552745aa" /><Relationship Type="http://schemas.openxmlformats.org/officeDocument/2006/relationships/slide" Target="/ppt/slides/slide2.xml" Id="R5d603fe022f448b6" /><Relationship Type="http://schemas.openxmlformats.org/officeDocument/2006/relationships/slide" Target="/ppt/slides/slide3.xml" Id="R2c2000249904478a" /><Relationship Type="http://schemas.openxmlformats.org/officeDocument/2006/relationships/slide" Target="/ppt/slides/slide4.xml" Id="Rfc140d186b75496a" /><Relationship Type="http://schemas.openxmlformats.org/officeDocument/2006/relationships/slide" Target="/ppt/slides/slide5.xml" Id="Rf0cfde24a1b845bb" /><Relationship Type="http://schemas.openxmlformats.org/officeDocument/2006/relationships/slide" Target="/ppt/slides/slide6.xml" Id="Ra7199f378c5a4719" /><Relationship Type="http://schemas.openxmlformats.org/officeDocument/2006/relationships/slide" Target="/ppt/slides/slide7.xml" Id="R352626ab1ee74e92" /><Relationship Type="http://schemas.openxmlformats.org/officeDocument/2006/relationships/slide" Target="/ppt/slides/slide8.xml" Id="R338f21bdcc424f9d" /><Relationship Type="http://schemas.openxmlformats.org/officeDocument/2006/relationships/slide" Target="/ppt/slides/slide9.xml" Id="Rf85aea4f56f04fe2" /><Relationship Type="http://schemas.openxmlformats.org/officeDocument/2006/relationships/slide" Target="/ppt/slides/slide10.xml" Id="R070b8d076e72491d" /><Relationship Type="http://schemas.openxmlformats.org/officeDocument/2006/relationships/slide" Target="/ppt/slides/slide11.xml" Id="R8ab47913b9794117" /><Relationship Type="http://schemas.openxmlformats.org/officeDocument/2006/relationships/slide" Target="/ppt/slides/slide12.xml" Id="Rf2195c67dfb94477" /><Relationship Type="http://schemas.openxmlformats.org/officeDocument/2006/relationships/slide" Target="/ppt/slides/slide13.xml" Id="Ra1947bb7ee3f473e" /><Relationship Type="http://schemas.openxmlformats.org/officeDocument/2006/relationships/slide" Target="/ppt/slides/slide14.xml" Id="Rc6ac486625b04ba3" /><Relationship Type="http://schemas.openxmlformats.org/officeDocument/2006/relationships/slide" Target="/ppt/slides/slide15.xml" Id="Rc0c2a381b99f41b5" /><Relationship Type="http://schemas.openxmlformats.org/officeDocument/2006/relationships/slide" Target="/ppt/slides/slide16.xml" Id="Rd2699720d09d4c14" /><Relationship Type="http://schemas.openxmlformats.org/officeDocument/2006/relationships/slide" Target="/ppt/slides/slide17.xml" Id="R4f2fc043c49645f6" /><Relationship Type="http://schemas.openxmlformats.org/officeDocument/2006/relationships/slide" Target="/ppt/slides/slide18.xml" Id="R7fe88bb8452a4154" /><Relationship Type="http://schemas.openxmlformats.org/officeDocument/2006/relationships/slide" Target="/ppt/slides/slide19.xml" Id="R3919d4c580ad422c" /><Relationship Type="http://schemas.openxmlformats.org/officeDocument/2006/relationships/slide" Target="/ppt/slides/slide20.xml" Id="R3fe4eab8aed54a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eda6fbfc743647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e0e5cc359e41c5" /><Relationship Type="http://schemas.openxmlformats.org/officeDocument/2006/relationships/notesMaster" Target="/ppt/notesMasters/notesMaster1.xml" Id="R07e0f702abb44b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b6be1596f94511" /><Relationship Type="http://schemas.openxmlformats.org/officeDocument/2006/relationships/notesMaster" Target="/ppt/notesMasters/notesMaster1.xml" Id="R91876d009a0e43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5cb7cbb9294f1c" /><Relationship Type="http://schemas.openxmlformats.org/officeDocument/2006/relationships/notesMaster" Target="/ppt/notesMasters/notesMaster1.xml" Id="R30efdcc7867e4e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65b47554e34e75" /><Relationship Type="http://schemas.openxmlformats.org/officeDocument/2006/relationships/notesMaster" Target="/ppt/notesMasters/notesMaster1.xml" Id="R1be8a0c04ebf43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4119ea58164784" /><Relationship Type="http://schemas.openxmlformats.org/officeDocument/2006/relationships/notesMaster" Target="/ppt/notesMasters/notesMaster1.xml" Id="R47aad9c069324d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21facc572bf49ff" /><Relationship Type="http://schemas.openxmlformats.org/officeDocument/2006/relationships/notesMaster" Target="/ppt/notesMasters/notesMaster1.xml" Id="Rd1d8292b887643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af2f3d9ec74123" /><Relationship Type="http://schemas.openxmlformats.org/officeDocument/2006/relationships/notesMaster" Target="/ppt/notesMasters/notesMaster1.xml" Id="Rc795d64b7b2742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77d6c046a342e0" /><Relationship Type="http://schemas.openxmlformats.org/officeDocument/2006/relationships/notesMaster" Target="/ppt/notesMasters/notesMaster1.xml" Id="R11e8d88804964f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01337bc9f7e40d1" /><Relationship Type="http://schemas.openxmlformats.org/officeDocument/2006/relationships/notesMaster" Target="/ppt/notesMasters/notesMaster1.xml" Id="R7571686595664f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477e9332f74947" /><Relationship Type="http://schemas.openxmlformats.org/officeDocument/2006/relationships/notesMaster" Target="/ppt/notesMasters/notesMaster1.xml" Id="R5f3192e142a94ba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ba1298637c41c1" /><Relationship Type="http://schemas.openxmlformats.org/officeDocument/2006/relationships/notesMaster" Target="/ppt/notesMasters/notesMaster1.xml" Id="R356bc4f714264a6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475e24ab375419d" /><Relationship Type="http://schemas.openxmlformats.org/officeDocument/2006/relationships/notesMaster" Target="/ppt/notesMasters/notesMaster1.xml" Id="R187a4fb9f5184b7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0f4f7279c7c48e0" /><Relationship Type="http://schemas.openxmlformats.org/officeDocument/2006/relationships/notesMaster" Target="/ppt/notesMasters/notesMaster1.xml" Id="R3cfcd56c8268451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f3bcdc8210049f3" /><Relationship Type="http://schemas.openxmlformats.org/officeDocument/2006/relationships/notesMaster" Target="/ppt/notesMasters/notesMaster1.xml" Id="R141888bd96e2437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fc9f13b32b54fe7" /><Relationship Type="http://schemas.openxmlformats.org/officeDocument/2006/relationships/notesMaster" Target="/ppt/notesMasters/notesMaster1.xml" Id="Rbae78f42e95344d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42f765ca31d4415" /><Relationship Type="http://schemas.openxmlformats.org/officeDocument/2006/relationships/notesMaster" Target="/ppt/notesMasters/notesMaster1.xml" Id="Re2b793f2d4064a3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b2bd9b141ff4603" /><Relationship Type="http://schemas.openxmlformats.org/officeDocument/2006/relationships/notesMaster" Target="/ppt/notesMasters/notesMaster1.xml" Id="Rf60447d870894f1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cad37a1b4764deb" /><Relationship Type="http://schemas.openxmlformats.org/officeDocument/2006/relationships/notesMaster" Target="/ppt/notesMasters/notesMaster1.xml" Id="Rf76229514656463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97e922622114c52" /><Relationship Type="http://schemas.openxmlformats.org/officeDocument/2006/relationships/notesMaster" Target="/ppt/notesMasters/notesMaster1.xml" Id="Rf65d0e65b4b74e9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54cde9b57184b36" /><Relationship Type="http://schemas.openxmlformats.org/officeDocument/2006/relationships/notesMaster" Target="/ppt/notesMasters/notesMaster1.xml" Id="R80193bfea8104c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7 do dbt Moderno na Prática. Hoje vamos trabalhar o tema “Governança como código”. Metadado útil produz uma ação verificável.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07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“Owner sem alerta e tag sem seleção são apenas decoração no YAML.”.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Owner sem alerta e tag sem seleção são apenas decoração no YAML.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definir responsabilidade, Controlar acesso lógico e Expor dashboards e agentes.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“Todo metadado precisa produzir uma ação”.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Owner roteia alerta; access bloqueia ref; exposure revela impacto. Para tornar isso concreto, observe owner → resposta, access → compilação, tag → seleção e exposure → impacto.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“Group e access criam uma fronteira”.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Modelos privados evoluem dentro do domínio; públicos viram interface. Para tornar isso concreto, observe private, protected e public.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“Group e access criam uma fronteira”.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Modelos privados evoluem dentro do domínio; públicos viram interface. Siga a composição na ordem mostrada e conecte os elementos principais.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“Tags e meta carregam política”.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Classificação só é útil quando seleção e validação a consomem. Para tornar isso concreto, observe pii, critical, gold e agent_readable.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“Tags e meta carregam política”.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Classificação só é útil quando seleção e validação a consomem. Siga a composição na ordem mostrada e conecte classificar, Selecionar e Validar.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“Exposure coloca o consumidor no grafo”.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Dashboard e agente deixam de ser dependências invisíveis. Para tornar isso concreto, observe owner, Maturidade, URL descritiva e Modelos dependentes.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“Exposure coloca o consumidor no grafo”.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Dashboard e agente deixam de ser dependências invisíveis. Siga a composição na ordem mostrada e conecte os elementos principais. A imagem ou o fluxo não cria uma regra nova; ele torna visível a relação que acabamos de explicar. A figura é identificada como figura oficial da documentação dbt — Apache 2.0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“Project Evaluator transforma convenção em teste”.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Regras de estrutura podem ser avaliadas como parte da CI. Para tornar isso concreto, observe governance tests, Padrões compartilhados e Exceções conscientes.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“Project Evaluator transforma convenção em teste”.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Regras de estrutura podem ser avaliadas como parte da CI. Siga a composição na ordem mostrada e conecte projeto, Evaluator, Finding e Ação.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07.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groups e owners, Access público/privado e Exposure de dashboard e agente.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Metadados governados no manifest. Esse resultado confirma que a etapa executada produziu a evidência esperada para o checkpoint 07.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ação e owner, FinOps: seleção por tag e IA: escopo de leitura.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“2 exposures”.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2 exposures: dashboard e agente no grafo. O número ajuda a dimensionar o exemplo, mas precisa ser lido com a ressalva correta. Evidência do laboratório, sem recurso Enterprise.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meta não aplica segurança física, Tag sem processo não governa e Owner precisa de canal operacional.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Catálogo avançado amplia experiência, mas o contrato open já é executável.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Escolha um produto Gold e declare owner, group, access e exposure.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https://docs.getdbt.com/docs/build/exposures</a:t>
            </a:r>
          </a:p>
          <a:p xmlns:a="http://schemas.openxmlformats.org/drawingml/2006/main">
            <a:r>
              <a:t>- https://docs.getdbt.com/docs/mesh/govern/about-model-governance</a:t>
            </a:r>
          </a:p>
          <a:p xmlns:a="http://schemas.openxmlformats.org/drawingml/2006/main">
            <a:r>
              <a:t>- https://github.com/dbt-labs/dbt-project-evaluator</a:t>
            </a:r>
          </a:p>
          <a:p xmlns:a="http://schemas.openxmlformats.org/drawingml/2006/main">
            <a:r>
              <a:t>- https://github.com/AnselmoBorges/dbt-moderno-na-pratica/blob/main/roteiros/07-governanca-como-codigo.md</a:t>
            </a:r>
          </a:p>
          <a:p xmlns:a="http://schemas.openxmlformats.org/drawingml/2006/main">
            <a:r>
              <a:t>- repo://laboratorio/checkpoints/ep07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251bfcfef940a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3c24ff65a4b444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f5e59548f2e4f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0d9dd631c14e90" /><Relationship Type="http://schemas.openxmlformats.org/officeDocument/2006/relationships/slideLayout" Target="/ppt/slideLayouts/slideLayout1.xml" Id="R63acb38ddfa04e93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a35380d2832f4f9b" /><Relationship Type="http://schemas.openxmlformats.org/officeDocument/2006/relationships/slideLayout" Target="/ppt/slideLayouts/slideLayout2.xml" Id="R8f1f11c5a80b4925" /><Relationship Type="http://schemas.openxmlformats.org/officeDocument/2006/relationships/slideLayout" Target="/ppt/slideLayouts/slideLayout3.xml" Id="Rad72c22fddab46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3acb38ddfa0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8f1f11c5a80b4925"/>
    <p:sldLayoutId xmlns:r="http://schemas.openxmlformats.org/officeDocument/2006/relationships" id="2147483652" r:id="Rad72c22fddab46a6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859290e40d4655" /><Relationship Type="http://schemas.openxmlformats.org/officeDocument/2006/relationships/image" Target="/ppt/media/image.jpeg" Id="Rbaa0ed888c804ace" /><Relationship Type="http://schemas.openxmlformats.org/officeDocument/2006/relationships/notesSlide" Target="/ppt/notesSlides/notesSlide1.xml" Id="Rbec15fcc7c1947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a2b183ec0f4bfe" /><Relationship Type="http://schemas.openxmlformats.org/officeDocument/2006/relationships/image" Target="/ppt/media/image.png" Id="Ra3a4ce14934a4732" /><Relationship Type="http://schemas.openxmlformats.org/officeDocument/2006/relationships/notesSlide" Target="/ppt/notesSlides/notesSlide2.xml" Id="R600651eebdaa4d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6be1ed7a6b4f05" /><Relationship Type="http://schemas.openxmlformats.org/officeDocument/2006/relationships/notesSlide" Target="/ppt/notesSlides/notesSlide3.xml" Id="R4e7bbe65505c49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0df3b46b714b80" /><Relationship Type="http://schemas.openxmlformats.org/officeDocument/2006/relationships/notesSlide" Target="/ppt/notesSlides/notesSlide4.xml" Id="R953ccbb7adad4f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a049b0f16d049aa" /><Relationship Type="http://schemas.openxmlformats.org/officeDocument/2006/relationships/notesSlide" Target="/ppt/notesSlides/notesSlide5.xml" Id="R14f2a51f5e4445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56615c19e048d9" /><Relationship Type="http://schemas.openxmlformats.org/officeDocument/2006/relationships/notesSlide" Target="/ppt/notesSlides/notesSlide6.xml" Id="R063b47f7a3334c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56d100c99f450d" /><Relationship Type="http://schemas.openxmlformats.org/officeDocument/2006/relationships/notesSlide" Target="/ppt/notesSlides/notesSlide7.xml" Id="R5b75ca1a9f3d46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c5a6f147f1b4967" /><Relationship Type="http://schemas.openxmlformats.org/officeDocument/2006/relationships/notesSlide" Target="/ppt/notesSlides/notesSlide8.xml" Id="R1b41b21800e346c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27ce6582fe849d0" /><Relationship Type="http://schemas.openxmlformats.org/officeDocument/2006/relationships/notesSlide" Target="/ppt/notesSlides/notesSlide9.xml" Id="Rb4b2f098a16243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b05a2c1fa649e7" /><Relationship Type="http://schemas.openxmlformats.org/officeDocument/2006/relationships/image" Target="/ppt/media/image2.png" Id="R0acee4bd685442b8" /><Relationship Type="http://schemas.openxmlformats.org/officeDocument/2006/relationships/notesSlide" Target="/ppt/notesSlides/notesSlide10.xml" Id="Rc46b234467134a9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d1a789222c4fc0" /><Relationship Type="http://schemas.openxmlformats.org/officeDocument/2006/relationships/notesSlide" Target="/ppt/notesSlides/notesSlide11.xml" Id="R604243de7c2f42f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7c910907d0e405e" /><Relationship Type="http://schemas.openxmlformats.org/officeDocument/2006/relationships/notesSlide" Target="/ppt/notesSlides/notesSlide12.xml" Id="R7059cc9eff79471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438e6504ae456a" /><Relationship Type="http://schemas.openxmlformats.org/officeDocument/2006/relationships/notesSlide" Target="/ppt/notesSlides/notesSlide13.xml" Id="Rc4fd62caec854c2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c7236cdb5914a9e" /><Relationship Type="http://schemas.openxmlformats.org/officeDocument/2006/relationships/notesSlide" Target="/ppt/notesSlides/notesSlide14.xml" Id="R6d3a0f3d3eea415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4b33587a604ff9" /><Relationship Type="http://schemas.openxmlformats.org/officeDocument/2006/relationships/notesSlide" Target="/ppt/notesSlides/notesSlide15.xml" Id="R4f656845d71c4cd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2cf89668a9244cc" /><Relationship Type="http://schemas.openxmlformats.org/officeDocument/2006/relationships/notesSlide" Target="/ppt/notesSlides/notesSlide16.xml" Id="Rc59d5e858d3d445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823767656f4e66" /><Relationship Type="http://schemas.openxmlformats.org/officeDocument/2006/relationships/notesSlide" Target="/ppt/notesSlides/notesSlide17.xml" Id="Ra603c826fadb44e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4f83a57204246d5" /><Relationship Type="http://schemas.openxmlformats.org/officeDocument/2006/relationships/notesSlide" Target="/ppt/notesSlides/notesSlide18.xml" Id="R0148e1d890a4460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eebb09a68346b3" /><Relationship Type="http://schemas.openxmlformats.org/officeDocument/2006/relationships/notesSlide" Target="/ppt/notesSlides/notesSlide19.xml" Id="R4e182508ff96465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848b63847f141c5" /><Relationship Type="http://schemas.openxmlformats.org/officeDocument/2006/relationships/notesSlide" Target="/ppt/notesSlides/notesSlide20.xml" Id="R83150c37ee1a46ab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 descr="Ilustração conceitual autoral da capa: EPISÓDIO 7 — Governança como códig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0ed888c804ace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AE6E0018-8BFC-4789-B08D-AF080860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589F72CB-041B-4A46-B924-44C09F61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1B197A76-3309-4287-A482-E9ABF8CC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7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80BF435-3318-4BFA-9F68-D6A4D73E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Governança como código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60E0FF5-B156-42EA-959E-A985664A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Metadado útil produz uma ação verificável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3207D70E-B7E2-4C45-A8FF-0722D110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7AB5422B-CDC3-4B2F-971C-B68656B1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07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11925460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F449247B-A1E2-4E3D-8FAB-1664AA3F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5334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Owner sem alerta e tag sem seleção são apenas decoração no YAML.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B438FB8E-C056-4F81-9C7B-35DD09C4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729721E9-F586-4F6E-89F3-00533F5A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F66E3A41-48DB-4E1C-BD87-268C8BFA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952500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6" name="" descr="Diagrama didático autoral que apresenta: Owner sem alerta e tag sem seleção são apenas decoração no YAML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a4ce14934a4732"/>
          <a:stretch xmlns:a="http://schemas.openxmlformats.org/drawingml/2006/main"/>
        </p:blipFill>
        <p:spPr>
          <a:xfrm xmlns:a="http://schemas.openxmlformats.org/drawingml/2006/main">
            <a:off x="7292235" y="1257300"/>
            <a:ext cx="3322529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C24BBE01-95BA-406C-90AF-574E690D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C34D942-49F4-4A77-B758-BA64E3922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3998F9E8-D4D1-413F-B366-72025F7F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C9F9DF5-395D-4BBA-8B87-42DADD26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1837596999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2A576A-DDCA-45EB-9917-3F6B8F84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96A70D07-7751-43DB-866D-B3B0CECE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D0369784-10C2-4452-9406-552355EE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Definir responsabilidade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E36905B3-8DF6-4FBB-A996-3F9D5063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1D8CFF76-15B5-4F3F-AD92-540B5C8A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B0C12FEB-7D25-4006-90E5-55AAF631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Controlar acesso lógico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A2FA9A9C-8284-4597-829D-B7C6DED1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7D6CB022-C557-4287-98D2-AB445878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7BA43F02-D3A4-4257-9DC0-1AFA4EFA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Expor dashboards e agentes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18FEC939-44C8-408E-8605-12F0E009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28AD84B-DA55-4D2B-AA58-C374CC39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D087F791-CB60-4B57-BBD3-863F155E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17EA2B1-ED16-437B-A0C3-9CA12AE4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3/20</a:t>
            </a:r>
          </a:p>
        </p:txBody>
      </p:sp>
    </p:spTree>
    <p:extLst>
      <p:ext uri="{BB962C8B-B14F-4D97-AF65-F5344CB8AC3E}">
        <p14:creationId xmlns:p14="http://schemas.microsoft.com/office/powerpoint/2010/main" val="276550005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A51481-6533-468E-A926-3A309F1E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Todo metadado precisa produzir uma ação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F4FDEF1-81AB-4A5A-BBD1-2034FDF9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Owner roteia alerta; access bloqueia ref; exposure revela impacto.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655D6F55-83D2-4643-9530-BAE2C21C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owner → resposta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access → compilação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tag → seleção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exposure → impacto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B59746F6-BCAB-4A8D-B0FB-907BEBFF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49F5522-61F6-45C0-9F23-0F42F6C0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A93344F8-5EEB-4E4A-9037-875D130E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3244167B-F587-4EF2-8183-947651FB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5F7281C-6869-42F4-83C2-0FFAF289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0B2B5938-09D1-4254-B746-D834ED8F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762A19B-7911-4863-BA1E-591A89B4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4/20</a:t>
            </a:r>
          </a:p>
        </p:txBody>
      </p:sp>
    </p:spTree>
    <p:extLst>
      <p:ext uri="{BB962C8B-B14F-4D97-AF65-F5344CB8AC3E}">
        <p14:creationId xmlns:p14="http://schemas.microsoft.com/office/powerpoint/2010/main" val="13361094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9F8F2E8-9021-4D6A-88FC-F4A4D615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Group e access criam uma fronteira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E68D225-55CE-4A19-A293-C4E0CEA7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Modelos privados evoluem dentro do domínio; públicos viram interface.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5988A62F-5D65-499C-B994-2F0A21E1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private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protected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public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0E95C718-3D58-4C10-8571-E362552F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17B773E-85C6-49D8-A1F2-5740CCCD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7CBCB0B-650A-44E2-9039-0CE62107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73D63231-37FB-489B-A9F5-FFC82C62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A165F3A-F219-490A-8B6F-A188E06B9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4B3FA129-92C7-4DF0-90AF-8142A8CA7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DD65D39-9530-4728-9143-BAF28F0D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5/20</a:t>
            </a:r>
          </a:p>
        </p:txBody>
      </p:sp>
    </p:spTree>
    <p:extLst>
      <p:ext uri="{BB962C8B-B14F-4D97-AF65-F5344CB8AC3E}">
        <p14:creationId xmlns:p14="http://schemas.microsoft.com/office/powerpoint/2010/main" val="7657289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E0653F1-35B0-4264-9C16-ED610AC5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Group e access criam uma fronteira</a:t>
            </a:r>
          </a:p>
        </p:txBody>
      </p:sp>
      <p:sp>
        <p:nvSpPr>
          <p:cNvPr id="2" name="layer-1">
            <a:extLst xmlns:a="http://schemas.openxmlformats.org/drawingml/2006/main">
              <a:ext uri="{FF2B5EF4-FFF2-40B4-BE49-F238E27FC236}">
                <a16:creationId xmlns:a16="http://schemas.microsoft.com/office/drawing/2014/main" id="{D9528F03-3CBA-4F29-8EBC-570AD6EF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0125"/>
            <a:ext cx="8572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565C0">
              <a:alpha val="33333"/>
            </a:srgbClr>
          </a:solidFill>
          <a:ln xmlns:a="http://schemas.openxmlformats.org/drawingml/2006/main" w="9525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private</a:t>
            </a:r>
          </a:p>
        </p:txBody>
      </p:sp>
      <p:sp>
        <p:nvSpPr>
          <p:cNvPr id="3" name="layer-2">
            <a:extLst xmlns:a="http://schemas.openxmlformats.org/drawingml/2006/main">
              <a:ext uri="{FF2B5EF4-FFF2-40B4-BE49-F238E27FC236}">
                <a16:creationId xmlns:a16="http://schemas.microsoft.com/office/drawing/2014/main" id="{A6A1BF9A-9244-4B56-93B4-5E90E02F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813" y="4162425"/>
            <a:ext cx="75723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565C0">
              <a:alpha val="43922"/>
            </a:srgbClr>
          </a:solidFill>
          <a:ln xmlns:a="http://schemas.openxmlformats.org/drawingml/2006/main" w="9525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protected</a:t>
            </a:r>
          </a:p>
        </p:txBody>
      </p:sp>
      <p:sp>
        <p:nvSpPr>
          <p:cNvPr id="4" name="layer-3">
            <a:extLst xmlns:a="http://schemas.openxmlformats.org/drawingml/2006/main">
              <a:ext uri="{FF2B5EF4-FFF2-40B4-BE49-F238E27FC236}">
                <a16:creationId xmlns:a16="http://schemas.microsoft.com/office/drawing/2014/main" id="{C996F655-8A4E-4D92-8537-72900A4F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14725"/>
            <a:ext cx="6572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565C0">
              <a:alpha val="52157"/>
            </a:srgbClr>
          </a:solidFill>
          <a:ln xmlns:a="http://schemas.openxmlformats.org/drawingml/2006/main" w="9525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public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66ECB752-4E6D-43EA-834E-97E45E95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59C8F27-0A01-4BDF-A015-D5C72ED1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C912D82-F6A0-45E3-93C3-ABE258F4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CC30346-9344-40D4-8926-DE48FDD6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6/20</a:t>
            </a:r>
          </a:p>
        </p:txBody>
      </p:sp>
    </p:spTree>
    <p:extLst>
      <p:ext uri="{BB962C8B-B14F-4D97-AF65-F5344CB8AC3E}">
        <p14:creationId xmlns:p14="http://schemas.microsoft.com/office/powerpoint/2010/main" val="662898776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6ADAACF-52F4-4358-A24E-281CE036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Tags e meta carregam política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A155DFF-4427-49B1-BAB9-8B7C1783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Classificação só é útil quando seleção e validação a consomem.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7968288F-2918-4CFC-A621-62778ACB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pii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critical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gold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agent_readable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223BB37-8828-4C2C-AA90-DDF82425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EC82BC33-EED3-43B5-8B4C-982550A1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B68F5597-1995-44BF-8DD9-FFDD229E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5E9EC6D1-DF56-4AEB-857A-FDA05665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DF43933-2DF2-4ED2-9F00-201A7102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8F8FBAD7-29DC-463D-8777-AD657843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5F32A2E-F13E-469B-8FE3-EBF19D8B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7/20</a:t>
            </a:r>
          </a:p>
        </p:txBody>
      </p:sp>
    </p:spTree>
    <p:extLst>
      <p:ext uri="{BB962C8B-B14F-4D97-AF65-F5344CB8AC3E}">
        <p14:creationId xmlns:p14="http://schemas.microsoft.com/office/powerpoint/2010/main" val="16774019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8A34A4C-274A-425F-8E66-1E92AB45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Tags e meta carregam política</a:t>
            </a:r>
          </a:p>
        </p:txBody>
      </p:sp>
      <p:sp>
        <p:nvSpPr>
          <p:cNvPr id="2" name="status-dot-1">
            <a:extLst xmlns:a="http://schemas.openxmlformats.org/drawingml/2006/main">
              <a:ext uri="{FF2B5EF4-FFF2-40B4-BE49-F238E27FC236}">
                <a16:creationId xmlns:a16="http://schemas.microsoft.com/office/drawing/2014/main" id="{0B901510-B41E-42D7-8213-BEB7490B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BE8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" name="status-label-1">
            <a:extLst xmlns:a="http://schemas.openxmlformats.org/drawingml/2006/main">
              <a:ext uri="{FF2B5EF4-FFF2-40B4-BE49-F238E27FC236}">
                <a16:creationId xmlns:a16="http://schemas.microsoft.com/office/drawing/2014/main" id="{98F45AAB-1E1D-4D03-A7B8-D8931762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Classificar</a:t>
            </a:r>
          </a:p>
        </p:txBody>
      </p:sp>
      <p:sp>
        <p:nvSpPr>
          <p:cNvPr id="4" name="status-dot-2">
            <a:extLst xmlns:a="http://schemas.openxmlformats.org/drawingml/2006/main">
              <a:ext uri="{FF2B5EF4-FFF2-40B4-BE49-F238E27FC236}">
                <a16:creationId xmlns:a16="http://schemas.microsoft.com/office/drawing/2014/main" id="{CA5C0725-C580-48D2-9D48-71153A0E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status-label-2">
            <a:extLst xmlns:a="http://schemas.openxmlformats.org/drawingml/2006/main">
              <a:ext uri="{FF2B5EF4-FFF2-40B4-BE49-F238E27FC236}">
                <a16:creationId xmlns:a16="http://schemas.microsoft.com/office/drawing/2014/main" id="{65ABC6B7-90C6-49B0-9671-4FB6EDBD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Selecionar</a:t>
            </a:r>
          </a:p>
        </p:txBody>
      </p:sp>
      <p:sp>
        <p:nvSpPr>
          <p:cNvPr id="6" name="status-dot-3">
            <a:extLst xmlns:a="http://schemas.openxmlformats.org/drawingml/2006/main">
              <a:ext uri="{FF2B5EF4-FFF2-40B4-BE49-F238E27FC236}">
                <a16:creationId xmlns:a16="http://schemas.microsoft.com/office/drawing/2014/main" id="{5CFD8D73-34A6-4856-AAB7-CDBCF4BA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B5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status-label-3">
            <a:extLst xmlns:a="http://schemas.openxmlformats.org/drawingml/2006/main">
              <a:ext uri="{FF2B5EF4-FFF2-40B4-BE49-F238E27FC236}">
                <a16:creationId xmlns:a16="http://schemas.microsoft.com/office/drawing/2014/main" id="{1786FF16-D86D-46F0-9A9C-1408B8D4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Validar</a:t>
            </a:r>
          </a:p>
        </p:txBody>
      </p:sp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D21E6FDF-E90D-480A-B0C3-32F344BE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CCDC0CB-D8D2-4D10-8AB2-F41AF8B7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935CC317-19A4-4385-96B9-909B0B81A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3629B69-5AA8-4912-8147-312509B7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8/20</a:t>
            </a:r>
          </a:p>
        </p:txBody>
      </p:sp>
    </p:spTree>
    <p:extLst>
      <p:ext uri="{BB962C8B-B14F-4D97-AF65-F5344CB8AC3E}">
        <p14:creationId xmlns:p14="http://schemas.microsoft.com/office/powerpoint/2010/main" val="21112479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3E9968C-D31E-4D84-B424-C5C7C591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Exposure coloca o consumidor no grafo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A1E8F11-BC00-4B79-B59C-0C995899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Dashboard e agente deixam de ser dependências invisíveis.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5FB83E97-5674-4B47-9B2E-190D9E7E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Owner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Maturidade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URL descritiva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Modelos dependentes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8AEC6D15-E25C-453A-86D9-B876DA7B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E814531A-A3A9-44FF-89E2-6BBCA2D6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CEE2F61C-793E-4B99-9FE8-0353FBA15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C8457C1-D3E7-4B36-A136-C8A2D1FB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D5721E0-62DA-46DE-8FD0-A591A649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742F290-ADE8-4FED-9C74-C40768F3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E94DD69-0AD5-4A96-AC87-DDE4C745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9/20</a:t>
            </a:r>
          </a:p>
        </p:txBody>
      </p:sp>
    </p:spTree>
    <p:extLst>
      <p:ext uri="{BB962C8B-B14F-4D97-AF65-F5344CB8AC3E}">
        <p14:creationId xmlns:p14="http://schemas.microsoft.com/office/powerpoint/2010/main" val="812320860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99E967-117A-42CC-B3A6-805CA65D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Exposure coloca o consumidor no grafo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2E07B395-402E-4AC9-ADC1-7256F3BE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Dashboard e agente deixam de ser dependências invisíveis.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72241FBF-5260-4E1B-A1B4-EBA08F2F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Exposure coloca o consumidor no grafo — Dashboard e agente deixam de ser dependências invisívei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cee4bd685442b8"/>
          <a:stretch xmlns:a="http://schemas.openxmlformats.org/drawingml/2006/main"/>
        </p:blipFill>
        <p:spPr>
          <a:xfrm xmlns:a="http://schemas.openxmlformats.org/drawingml/2006/main">
            <a:off x="5477638" y="1809750"/>
            <a:ext cx="5694424" cy="3333750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38AA2975-12D2-4B2F-A4F8-ACBE7695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da documentação dbt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6F7386A9-2B19-44A0-B741-C0705E85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B1F1DE1-BF5A-4279-AB2B-0BC31510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FF5EB512-4C82-4344-8A00-E5F30781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0789FE4-7DBB-44F4-9BDA-ED5FAB79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10/20</a:t>
            </a:r>
          </a:p>
        </p:txBody>
      </p:sp>
    </p:spTree>
    <p:extLst>
      <p:ext uri="{BB962C8B-B14F-4D97-AF65-F5344CB8AC3E}">
        <p14:creationId xmlns:p14="http://schemas.microsoft.com/office/powerpoint/2010/main" val="417680298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150306-C27F-4834-9058-CECD0A6C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Project Evaluator transforma convenção em teste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1E745E4-2D11-4787-8AFA-EC9D03EB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Regras de estrutura podem ser avaliadas como parte da CI.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5AF4B1B-741D-4937-AA30-CBAFDFAE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Governance tests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Padrões compartilhados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Exceções conscientes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3A0D8F7-A310-4B9D-BBDC-D8FEB1DBA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782D3C6-B2D4-4460-8B0D-1EEF41AD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A4DD9124-7288-4F2F-BB3C-6745D259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E3B08AB-1A33-4187-84B5-743A7AE8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039CD91-8AF4-468F-9062-DF08AD48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878ABC7-2B5B-49F5-8648-548E4B41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0BA0F82-26D1-4E42-9F95-51236BF2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11/20</a:t>
            </a:r>
          </a:p>
        </p:txBody>
      </p:sp>
    </p:spTree>
    <p:extLst>
      <p:ext uri="{BB962C8B-B14F-4D97-AF65-F5344CB8AC3E}">
        <p14:creationId xmlns:p14="http://schemas.microsoft.com/office/powerpoint/2010/main" val="13517247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AF7A98-E6BE-4A03-8B5A-76CBC4F5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Project Evaluator transforma convenção em teste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0DF59D7D-EAC3-483E-8DE1-F328CB06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Projeto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6F8AC1CF-6532-40AB-A44B-4A0DAB6C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Evaluator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B9E9436F-2464-4C2D-8CBD-69A75A8A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Finding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7FEAA2FE-EDBB-4AB4-95B2-BD6E8AB6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Ação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FAA66AC8-1665-4ED7-8EB5-3D4386E2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DFD07A5-7284-46A2-B760-ECAE10A1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C266FC35-2DDA-4E42-AFE4-9C1EA611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85D2797-8A90-428E-A432-C51BD883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12/20</a:t>
            </a:r>
          </a:p>
        </p:txBody>
      </p:sp>
    </p:spTree>
    <p:extLst>
      <p:ext uri="{BB962C8B-B14F-4D97-AF65-F5344CB8AC3E}">
        <p14:creationId xmlns:p14="http://schemas.microsoft.com/office/powerpoint/2010/main" val="202482568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F5DA5C-8010-496D-97B8-C149BFC1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6057C99C-4479-4835-90E0-460D777C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EADE8322-684F-4CEA-B8A5-24F5BFD4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07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E16700A7-678A-48B7-AF1A-9F02C5F9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7C589221-511E-4DF4-A2BE-D4F82567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87DD045-FE57-482B-965F-1D653724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6E6E6CC-8E57-425D-84A8-104C5BBD3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53FBE1-8B37-4641-8313-1B6EEEB1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13/20</a:t>
            </a:r>
          </a:p>
        </p:txBody>
      </p:sp>
    </p:spTree>
    <p:extLst>
      <p:ext uri="{BB962C8B-B14F-4D97-AF65-F5344CB8AC3E}">
        <p14:creationId xmlns:p14="http://schemas.microsoft.com/office/powerpoint/2010/main" val="14835962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EDC443-D5D4-4228-8B1D-44FC0B3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B4893569-0751-4BC0-B8E1-358E1E5B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F5AABBCD-6219-4738-9E32-5C8439E6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Groups e owners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8E325C1A-8A55-44D1-BD98-7052F5BE5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5DF5E0FC-2306-4DDE-BE55-6DA13EAA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F43350A8-C479-44E2-A359-67013113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Access público/privado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29C2B846-820D-4329-955C-231C1C98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439DEAD9-35C8-4E81-9F33-42E770F2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2C93C406-7EC3-4DC7-80C4-1C415A67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Exposure de dashboard e agente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26AF8400-9491-47F3-BBB3-702B1F58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1F8D5AB-3E4F-4B84-9CAC-2CBB23FD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B281C163-A413-4C98-98FD-73D913F2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FCE9F61-F042-48D4-86DF-D9671523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14/20</a:t>
            </a:r>
          </a:p>
        </p:txBody>
      </p:sp>
    </p:spTree>
    <p:extLst>
      <p:ext uri="{BB962C8B-B14F-4D97-AF65-F5344CB8AC3E}">
        <p14:creationId xmlns:p14="http://schemas.microsoft.com/office/powerpoint/2010/main" val="1621065321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AD1966EB-9547-4F48-A46F-7A559BC9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17DD5CB9-16C1-4351-90C3-55CC0F2B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Metadados governados no manifest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30EEE164-663E-4D7D-99D3-C0B5503C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07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78B168C-0B73-4714-8E6E-2EB7820B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D2CA62B9-61B8-4BE2-A3C9-FC9596EC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BA3517F8-6D30-4804-A8DD-038256CA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BD1BCFA-03BF-46F6-B933-FF16CBD3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A9FB2E5E-F596-48F8-ABAC-07D49B31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843C722-AC75-4F81-B0F0-F072DE86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15/20</a:t>
            </a:r>
          </a:p>
        </p:txBody>
      </p:sp>
    </p:spTree>
    <p:extLst>
      <p:ext uri="{BB962C8B-B14F-4D97-AF65-F5344CB8AC3E}">
        <p14:creationId xmlns:p14="http://schemas.microsoft.com/office/powerpoint/2010/main" val="15075619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A98389-CC4F-470E-9C4B-91D912F4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308650E8-22E2-4C13-BF51-E3935125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04BA2B48-C86B-440E-9639-950A6BF8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ação e owner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58A3C8DF-0E1C-4F8B-B51B-7D1242BF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ACB1CD4E-9824-4D9B-B3BC-64517413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6F784EE8-6BB9-4AAA-B121-950C904D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seleção por tag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1AF42DFC-30FD-4BC5-99C6-66A1C8A9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1CA6DA20-6F1D-453C-B92E-CF424410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096533C5-0148-4879-B2AF-0096BC71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escopo de leitura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A9F04214-2EB2-4146-9FBE-A1D952E6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FA2CE19-0532-4761-A20E-CE2719A0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ADA5D3FD-C221-4BC0-9772-8D4FC4EE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0983EF1-7468-44BD-AC2A-429906A3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16/20</a:t>
            </a:r>
          </a:p>
        </p:txBody>
      </p:sp>
    </p:spTree>
    <p:extLst>
      <p:ext uri="{BB962C8B-B14F-4D97-AF65-F5344CB8AC3E}">
        <p14:creationId xmlns:p14="http://schemas.microsoft.com/office/powerpoint/2010/main" val="1578703468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87B08487-A5E3-4A5C-AA30-0B5B316F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2 exposures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EE170E58-6A63-4CC4-A9BB-ABAF5C5C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dashboard e agente no grafo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CAE0B6C9-1491-496B-B30B-B3995387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E2AAB392-E19D-4FC3-A30C-724085F70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Evidência do laboratório, sem recurso Enterprise.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661058AE-6D7D-4217-9625-119B20DF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AE9B856-700B-4172-9D7C-667CEA94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A0DAF3C3-935E-4A3C-A1E7-72B9FE24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2EDB04-FF39-440A-83D7-532ED770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17/20</a:t>
            </a:r>
          </a:p>
        </p:txBody>
      </p:sp>
    </p:spTree>
    <p:extLst>
      <p:ext uri="{BB962C8B-B14F-4D97-AF65-F5344CB8AC3E}">
        <p14:creationId xmlns:p14="http://schemas.microsoft.com/office/powerpoint/2010/main" val="168420234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42B3D21-ED89-437C-A62A-1110C10E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FFFA2559-D508-45FE-B625-C6AEDA3E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Meta não aplica segurança física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Tag sem processo não governa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Owner precisa de canal operacional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55DB43C5-F365-48C8-A855-B7858193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D75D19E-26D2-4189-909F-9F4DCBAE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39110C16-626F-4F8E-9B7A-11CA2093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A177245-3FEC-413F-9056-A38EA5F4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18/20</a:t>
            </a:r>
          </a:p>
        </p:txBody>
      </p:sp>
    </p:spTree>
    <p:extLst>
      <p:ext uri="{BB962C8B-B14F-4D97-AF65-F5344CB8AC3E}">
        <p14:creationId xmlns:p14="http://schemas.microsoft.com/office/powerpoint/2010/main" val="363884895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6A6FAA00-5FDA-44BC-BA28-6CD97711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3394BFB3-E609-48F4-BC9B-062DD8E5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Catálogo avançado amplia experiência, mas o contrato open já é executável.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3B53BAF5-8BA5-4A56-BD01-570A489C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CF6E2A06-90F7-49F1-9A5F-E84C3348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CAC99219-EE09-411C-8405-01C74708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50CBE451-9FD1-489C-8AE0-CC109C5E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7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63C0700-A8FD-4C25-A8D4-33799D79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A0A50B0E-8D57-4E6C-8EB5-D2DF1708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2CAAC8D-9044-4F7D-B62D-C58FCECD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19/20</a:t>
            </a:r>
          </a:p>
        </p:txBody>
      </p:sp>
    </p:spTree>
    <p:extLst>
      <p:ext uri="{BB962C8B-B14F-4D97-AF65-F5344CB8AC3E}">
        <p14:creationId xmlns:p14="http://schemas.microsoft.com/office/powerpoint/2010/main" val="16857940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F3D693B7-891B-450C-B592-E335D0E5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51F04A0F-5C79-44E9-99F2-5CE9BFA6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Escolha um produto Gold e declare owner, group, access e exposure.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E1548E0D-1935-4A1A-B2C9-DC25C07F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07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716C92CF-EE21-4192-96F6-E9C4A5E9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7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A51320A-A61B-4556-9165-2573BCC6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D9D7234B-F137-4ED6-91F9-7D87CBA5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A06A270-1C36-4551-97E0-DED90548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7699951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2026-09-02T01:19:29.3510000Z</dcterms:created>
  <dcterms:modified xsi:type="dcterms:W3CDTF">2026-09-02T01:19:29.3510000Z</dcterms:modified>
</coreProperties>
</file>