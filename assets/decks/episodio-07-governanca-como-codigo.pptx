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599fdf095f482f" /><Relationship Type="http://schemas.openxmlformats.org/officeDocument/2006/relationships/extended-properties" Target="/docProps/app.xml" Id="Rf0fc2e2d0d6a4da4" /><Relationship Type="http://schemas.openxmlformats.org/officeDocument/2006/relationships/officeDocument" Target="/ppt/presentation.xml" Id="Rceedeeb656db4a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81984df45f4fde"/>
    <p:sldMasterId xmlns:r="http://schemas.openxmlformats.org/officeDocument/2006/relationships" id="2147483650" r:id="R8fac7558b74e425b"/>
  </p:sldMasterIdLst>
  <p:notesMasterIdLst>
    <p:notesMasterId xmlns:r="http://schemas.openxmlformats.org/officeDocument/2006/relationships" r:id="R42ad50372f53447f"/>
  </p:notesMasterIdLst>
  <p:sldIdLst>
    <p:sldId xmlns:r="http://schemas.openxmlformats.org/officeDocument/2006/relationships" id="256" r:id="R81fca32c41504c44"/>
    <p:sldId xmlns:r="http://schemas.openxmlformats.org/officeDocument/2006/relationships" id="257" r:id="Rb9431540cb5c4f57"/>
    <p:sldId xmlns:r="http://schemas.openxmlformats.org/officeDocument/2006/relationships" id="258" r:id="Ra69042600afa43e7"/>
    <p:sldId xmlns:r="http://schemas.openxmlformats.org/officeDocument/2006/relationships" id="259" r:id="Rfd8f876437374556"/>
    <p:sldId xmlns:r="http://schemas.openxmlformats.org/officeDocument/2006/relationships" id="260" r:id="Rb6aefc99931a415d"/>
    <p:sldId xmlns:r="http://schemas.openxmlformats.org/officeDocument/2006/relationships" id="261" r:id="R11d7b7e3ef624de1"/>
    <p:sldId xmlns:r="http://schemas.openxmlformats.org/officeDocument/2006/relationships" id="262" r:id="R59346bf271af4f88"/>
    <p:sldId xmlns:r="http://schemas.openxmlformats.org/officeDocument/2006/relationships" id="263" r:id="Rd0806d83a7564878"/>
    <p:sldId xmlns:r="http://schemas.openxmlformats.org/officeDocument/2006/relationships" id="264" r:id="Reaccfe44a0404147"/>
    <p:sldId xmlns:r="http://schemas.openxmlformats.org/officeDocument/2006/relationships" id="265" r:id="R71f460d6c8fe4622"/>
    <p:sldId xmlns:r="http://schemas.openxmlformats.org/officeDocument/2006/relationships" id="266" r:id="Re4e3a3b2cf814702"/>
    <p:sldId xmlns:r="http://schemas.openxmlformats.org/officeDocument/2006/relationships" id="267" r:id="Rc7e4f68907844452"/>
    <p:sldId xmlns:r="http://schemas.openxmlformats.org/officeDocument/2006/relationships" id="268" r:id="R6817441d63bb46af"/>
    <p:sldId xmlns:r="http://schemas.openxmlformats.org/officeDocument/2006/relationships" id="269" r:id="Raabd93cff6a64749"/>
    <p:sldId xmlns:r="http://schemas.openxmlformats.org/officeDocument/2006/relationships" id="270" r:id="R1eba9ed83c344838"/>
    <p:sldId xmlns:r="http://schemas.openxmlformats.org/officeDocument/2006/relationships" id="271" r:id="R427ac1caa98b4297"/>
    <p:sldId xmlns:r="http://schemas.openxmlformats.org/officeDocument/2006/relationships" id="272" r:id="R6f05340b4b06469d"/>
    <p:sldId xmlns:r="http://schemas.openxmlformats.org/officeDocument/2006/relationships" id="273" r:id="R2051c56e47e34766"/>
    <p:sldId xmlns:r="http://schemas.openxmlformats.org/officeDocument/2006/relationships" id="274" r:id="R443430cef06c47be"/>
    <p:sldId xmlns:r="http://schemas.openxmlformats.org/officeDocument/2006/relationships" id="275" r:id="R41231d4f128e40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dd92cd79b4c58" /><Relationship Type="http://schemas.openxmlformats.org/officeDocument/2006/relationships/slideMaster" Target="/ppt/slideMasters/slideMaster1.xml" Id="R2981984df45f4fde" /><Relationship Type="http://schemas.openxmlformats.org/officeDocument/2006/relationships/slideMaster" Target="/ppt/slideMasters/slideMaster2.xml" Id="R8fac7558b74e425b" /><Relationship Type="http://schemas.openxmlformats.org/officeDocument/2006/relationships/notesMaster" Target="/ppt/notesMasters/notesMaster1.xml" Id="R42ad50372f53447f" /><Relationship Type="http://schemas.openxmlformats.org/officeDocument/2006/relationships/presProps" Target="/ppt/presProps.xml" Id="R8594e5fe544341c4" /><Relationship Type="http://schemas.openxmlformats.org/officeDocument/2006/relationships/tableStyles" Target="/ppt/tableStyles.xml" Id="Rbe8f092141ea46d6" /><Relationship Type="http://schemas.openxmlformats.org/officeDocument/2006/relationships/slide" Target="/ppt/slides/slide1.xml" Id="R81fca32c41504c44" /><Relationship Type="http://schemas.openxmlformats.org/officeDocument/2006/relationships/slide" Target="/ppt/slides/slide2.xml" Id="Rb9431540cb5c4f57" /><Relationship Type="http://schemas.openxmlformats.org/officeDocument/2006/relationships/slide" Target="/ppt/slides/slide3.xml" Id="Ra69042600afa43e7" /><Relationship Type="http://schemas.openxmlformats.org/officeDocument/2006/relationships/slide" Target="/ppt/slides/slide4.xml" Id="Rfd8f876437374556" /><Relationship Type="http://schemas.openxmlformats.org/officeDocument/2006/relationships/slide" Target="/ppt/slides/slide5.xml" Id="Rb6aefc99931a415d" /><Relationship Type="http://schemas.openxmlformats.org/officeDocument/2006/relationships/slide" Target="/ppt/slides/slide6.xml" Id="R11d7b7e3ef624de1" /><Relationship Type="http://schemas.openxmlformats.org/officeDocument/2006/relationships/slide" Target="/ppt/slides/slide7.xml" Id="R59346bf271af4f88" /><Relationship Type="http://schemas.openxmlformats.org/officeDocument/2006/relationships/slide" Target="/ppt/slides/slide8.xml" Id="Rd0806d83a7564878" /><Relationship Type="http://schemas.openxmlformats.org/officeDocument/2006/relationships/slide" Target="/ppt/slides/slide9.xml" Id="Reaccfe44a0404147" /><Relationship Type="http://schemas.openxmlformats.org/officeDocument/2006/relationships/slide" Target="/ppt/slides/slide10.xml" Id="R71f460d6c8fe4622" /><Relationship Type="http://schemas.openxmlformats.org/officeDocument/2006/relationships/slide" Target="/ppt/slides/slide11.xml" Id="Re4e3a3b2cf814702" /><Relationship Type="http://schemas.openxmlformats.org/officeDocument/2006/relationships/slide" Target="/ppt/slides/slide12.xml" Id="Rc7e4f68907844452" /><Relationship Type="http://schemas.openxmlformats.org/officeDocument/2006/relationships/slide" Target="/ppt/slides/slide13.xml" Id="R6817441d63bb46af" /><Relationship Type="http://schemas.openxmlformats.org/officeDocument/2006/relationships/slide" Target="/ppt/slides/slide14.xml" Id="Raabd93cff6a64749" /><Relationship Type="http://schemas.openxmlformats.org/officeDocument/2006/relationships/slide" Target="/ppt/slides/slide15.xml" Id="R1eba9ed83c344838" /><Relationship Type="http://schemas.openxmlformats.org/officeDocument/2006/relationships/slide" Target="/ppt/slides/slide16.xml" Id="R427ac1caa98b4297" /><Relationship Type="http://schemas.openxmlformats.org/officeDocument/2006/relationships/slide" Target="/ppt/slides/slide17.xml" Id="R6f05340b4b06469d" /><Relationship Type="http://schemas.openxmlformats.org/officeDocument/2006/relationships/slide" Target="/ppt/slides/slide18.xml" Id="R2051c56e47e34766" /><Relationship Type="http://schemas.openxmlformats.org/officeDocument/2006/relationships/slide" Target="/ppt/slides/slide19.xml" Id="R443430cef06c47be" /><Relationship Type="http://schemas.openxmlformats.org/officeDocument/2006/relationships/slide" Target="/ppt/slides/slide20.xml" Id="R41231d4f128e40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6e88947ded1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064c506b054776" /><Relationship Type="http://schemas.openxmlformats.org/officeDocument/2006/relationships/notesMaster" Target="/ppt/notesMasters/notesMaster1.xml" Id="R448d965506614b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5f278d8f584b11" /><Relationship Type="http://schemas.openxmlformats.org/officeDocument/2006/relationships/notesMaster" Target="/ppt/notesMasters/notesMaster1.xml" Id="R81d4f09d009441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757c20f1c54e14" /><Relationship Type="http://schemas.openxmlformats.org/officeDocument/2006/relationships/notesMaster" Target="/ppt/notesMasters/notesMaster1.xml" Id="R3612be395e9143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3354acea9f4ecd" /><Relationship Type="http://schemas.openxmlformats.org/officeDocument/2006/relationships/notesMaster" Target="/ppt/notesMasters/notesMaster1.xml" Id="R76d918a57985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f7770e57b54de4" /><Relationship Type="http://schemas.openxmlformats.org/officeDocument/2006/relationships/notesMaster" Target="/ppt/notesMasters/notesMaster1.xml" Id="R02aa675011f24c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b2e0757b44dd7" /><Relationship Type="http://schemas.openxmlformats.org/officeDocument/2006/relationships/notesMaster" Target="/ppt/notesMasters/notesMaster1.xml" Id="Rcaf104895a3d41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18475e2d5b4336" /><Relationship Type="http://schemas.openxmlformats.org/officeDocument/2006/relationships/notesMaster" Target="/ppt/notesMasters/notesMaster1.xml" Id="Rf6570bfc187d4a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f3ae71dddc464d" /><Relationship Type="http://schemas.openxmlformats.org/officeDocument/2006/relationships/notesMaster" Target="/ppt/notesMasters/notesMaster1.xml" Id="R476517748d9948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c71a0d86954e73" /><Relationship Type="http://schemas.openxmlformats.org/officeDocument/2006/relationships/notesMaster" Target="/ppt/notesMasters/notesMaster1.xml" Id="Rbf6b528cd06b41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1440ae300e4fc4" /><Relationship Type="http://schemas.openxmlformats.org/officeDocument/2006/relationships/notesMaster" Target="/ppt/notesMasters/notesMaster1.xml" Id="R1e0848fb7a2d40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2b8d8b3bb1419b" /><Relationship Type="http://schemas.openxmlformats.org/officeDocument/2006/relationships/notesMaster" Target="/ppt/notesMasters/notesMaster1.xml" Id="Rde3fb72f241549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5ee516e7574cc1" /><Relationship Type="http://schemas.openxmlformats.org/officeDocument/2006/relationships/notesMaster" Target="/ppt/notesMasters/notesMaster1.xml" Id="R31cb80ef13bf4c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e1801e42cc48e4" /><Relationship Type="http://schemas.openxmlformats.org/officeDocument/2006/relationships/notesMaster" Target="/ppt/notesMasters/notesMaster1.xml" Id="Rb7aeb881d3c34c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901b8cbf3d4b3c" /><Relationship Type="http://schemas.openxmlformats.org/officeDocument/2006/relationships/notesMaster" Target="/ppt/notesMasters/notesMaster1.xml" Id="R544111b36eed46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00c8eee66547a7" /><Relationship Type="http://schemas.openxmlformats.org/officeDocument/2006/relationships/notesMaster" Target="/ppt/notesMasters/notesMaster1.xml" Id="R3293fe2a78ca4b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0e1e91f6274e70" /><Relationship Type="http://schemas.openxmlformats.org/officeDocument/2006/relationships/notesMaster" Target="/ppt/notesMasters/notesMaster1.xml" Id="R0c2c39ae1f1c45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ac1333ae4247f6" /><Relationship Type="http://schemas.openxmlformats.org/officeDocument/2006/relationships/notesMaster" Target="/ppt/notesMasters/notesMaster1.xml" Id="R9eb1927116cb4b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62ef25044b4d4c" /><Relationship Type="http://schemas.openxmlformats.org/officeDocument/2006/relationships/notesMaster" Target="/ppt/notesMasters/notesMaster1.xml" Id="Re2fb6b416e2b4c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be801daa6b4621" /><Relationship Type="http://schemas.openxmlformats.org/officeDocument/2006/relationships/notesMaster" Target="/ppt/notesMasters/notesMaster1.xml" Id="R469571a6c74742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b3b8cbf34c4400" /><Relationship Type="http://schemas.openxmlformats.org/officeDocument/2006/relationships/notesMaster" Target="/ppt/notesMasters/notesMaster1.xml" Id="R6c6bda1853ee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Bem-vindo ao episódio 7 do dbt Moderno na Prática. Hoje vamos trabalhar o tema “Governança como código”. Metadado útil produz uma ação verificável. O objetivo não é apenas conhecer o conceito: vamos conectá-lo ao laboratório e terminar com uma evidência que você consegue reproduzir no seu próprio ambiente. Ao longo da aula, separe sempre o que é recurso aberto e estável daquilo que aparecerá apenas no Radar.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o título, situe o checkpoint 07 e deixe claro que a aula faz parte da trilha open/stable.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“Owner sem alerta e tag sem seleção são apenas decoração no YAML.”.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Quero começar com uma provocação: Owner sem alerta e tag sem seleção são apenas decoração no YAML. Essa pergunta orienta toda a aula. Em vez de aceitar uma afirmação porque ela parece correta, vamos procurar uma definição verificável e uma demonstração executável. Guarde essa tensão, porque voltaremos a ela quando compararmos o conceito com o resultado do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Dê uma pausa depois da provocação e use o diagrama como mapa do problema, sem explicar todas as etapas ainda.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“Ao final, você consegue...”.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Ao final desta aula, você deverá conseguir definir responsabilidade, Controlar acesso lógico e Expor dashboards e agentes. Esses resultados formam uma sequência: primeiro entendemos a regra, depois observamos sua representação no projeto e, por fim, comprovamos o comportamento no checkpoint. Se alguma dessas três partes não estiver clara, volte ao slide correspondente antes de executar 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objetivos da esquerda para a direita e apresente-os como resultados observáveis, não como uma agenda abstrata.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“Todo metadado precisa produzir uma ação”.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Owner roteia alerta; access bloqueia ref; exposure revela impacto. Para tornar isso concreto, observe owner → resposta, access → compilação, tag → seleção e exposure → impacto.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“Group e access criam uma fronteira”.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Modelos privados evoluem dentro do domínio; públicos viram interface. Para tornar isso concreto, observe private, protected e public.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“Group e access criam uma fronteira”.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Modelos privados evoluem dentro do domínio; públicos viram interface. Siga a composição na ordem mostrada e conecte os elementos principais.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“Tags e meta carregam política”.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Classificação só é útil quando seleção e validação a consomem. Para tornar isso concreto, observe pii, critical, gold e agent_readable.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“Tags e meta carregam política”.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Classificação só é útil quando seleção e validação a consomem. Siga a composição na ordem mostrada e conecte classificar, Selecionar e Validar.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“Exposure coloca o consumidor no grafo”.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Dashboard e agente deixam de ser dependências invisíveis. Para tornar isso concreto, observe owner, Maturidade, URL descritiva e Modelos dependentes.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“Exposure coloca o consumidor no grafo”.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Dashboard e agente deixam de ser dependências invisíveis. Siga a composição na ordem mostrada e conecte os elementos principais. A imagem ou o fluxo não cria uma regra nova; ele torna visível a relação que acabamos de explicar. A figura é identificada como figura oficial da documentação dbt — Apache 2.0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Aponte a legenda e deixe explícito quando a figura é oficial; as anotações do curso ficam fora 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“Project Evaluator transforma convenção em teste”.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Regras de estrutura podem ser avaliadas como parte da CI. Para tornar isso concreto, observe governance tests, Padrões compartilhados e Exceções conscientes.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“Project Evaluator transforma convenção em teste”.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Regras de estrutura podem ser avaliadas como parte da CI. Siga a composição na ordem mostrada e conecte projeto, Evaluator, Finding e Ação.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execute”.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01:20]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sair da explicação e comprovar o comportamento. Execute os comandos exatamente como aparecem: python course.py checkpoint 07. Não é necessário ativar o ambiente virtual manualmente; o launcher do curso seleciona o ambiente correto. Antes de avançar, confirme que o comando iniciou sem erro e dê tempo para o aluno acompanhar a mesma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comando completo, execute uma linha por vez quando houver mais de uma e mantenha o terminal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observe”.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Enquanto a execução acontece, não olhe apenas para a mensagem final. Observe groups e owners, Access público/privado e Exposure de dashboard e agente. Cada sinal responde a uma pergunta diferente sobre o pipeline. Se um deles divergir, interrompa a demonstração e investigue; o objetivo do hands-on é produzir evidência, não apenas chegar rapidamente a uma tela verde.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Marque cada observação quando ela aparecer no terminal ou no artifact correspondente.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“RESULTADO ESPERADO”.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ponto de parada da demonstração: Metadados governados no manifest. Esse resultado confirma que a etapa executada produziu a evidência esperada para o checkpoint 07. Se o valor, o status ou o artifact estiver diferente, não trate a divergência como detalhe de ambiente. Use o diagnóstico do curso e só avance quando a causa estiver compreendida.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Compare o resultado do terminal com a frase central do slide e registre a evidência antes de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mesmo recurso afeta três decisões”.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Antes de seguir, conecte a técnica às decisões que ela afeta: Governança: ação e owner, FinOps: seleção por tag e IA: escopo de leitura. Governança define responsabilidade e consistência; FinOps pergunta quanto trabalho estamos repetindo; e IA depende do contexto que decidimos expor. A mesma implementação pode melhorar os três eixos, mas os ganhos devem ser medidos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três eixos e evite apresentar economia ou acurácia como consequência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“2 exposures”.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Aqui temos 2 exposures: dashboard e agente no grafo. O número ajuda a dimensionar o exemplo, mas precisa ser lido com a ressalva correta. Evidência do laboratório, sem recurso Enterprise. Use o case como evidência contextual e não como promessa de que outro projeto repetirá o mesmo resultado sem as mesmas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primeiro o número, depois a definição e termine obrigatoriamente com a ressalva.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“Limitações que precisam permanecer visíveis”.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Também precisamos declarar os limites da recomendação. Neste cenário, considere meta não aplica segurança física, Tag sem processo não governa e Owner precisa de canal operacional. Esses pontos não anulam a técnica; eles delimitam onde a demonstração é válida e quais condições precisam ser verificadas antes de levar o padrão para produção. Tratar limites como parte do design evita transformar uma boa prática em regra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Leia os limites com o mesmo peso dado aos benefícios e diferencie restrição do laboratório de restrição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“RADAR”.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nosso Radar: Catálogo avançado amplia experiência, mas o contrato open já é executável. A intenção é mostrar a direção da ferramenta sem misturar preview com o caminho suportado da aula. Novidade observada não é recomendação de produção. Para adotar qualquer recurso futuro, confirme maturidade, adaptador, documentação e impacto sobre o projeto antes de alterar o baseline estável.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Reforce visualmente a regra do rodapé e não execute comandos beta ou preview como parte obrigatória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“PRÓXIMO PASSO”.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Escolha um produto Gold e declare owner, group, access e exposure. Faça essa etapa antes de seguir para o próximo episódio, porque o curso é cumulativo e o checkpoint atual se torna a base da aula seguinte. Se houver divergência, use o relatório de suporte e registre o que foi observado. O objetivo é avançar com um estado conhecido e reproduzível, não apenas assistir ao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checkpoint e indique no repositório onde ficam o roteiro, os comandos e as referências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Encerre retomando a pergunta inicial e confirme que o aluno sabe qual ação executar depois do episódio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https://docs.getdbt.com/docs/build/exposures</a:t>
            </a:r>
          </a:p>
          <a:p xmlns:a="http://schemas.openxmlformats.org/drawingml/2006/main">
            <a:r>
              <a:t>- https://docs.getdbt.com/docs/mesh/govern/about-model-governance</a:t>
            </a:r>
          </a:p>
          <a:p xmlns:a="http://schemas.openxmlformats.org/drawingml/2006/main">
            <a:r>
              <a:t>- https://github.com/dbt-labs/dbt-project-evaluator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https://github.com/AnselmoBorges/dbt-moderno-na-pratica/blob/main/roteiros/07-governanca-como-codigo.md</a:t>
            </a:r>
          </a:p>
          <a:p xmlns:a="http://schemas.openxmlformats.org/drawingml/2006/main">
            <a:r>
              <a:t>- repo://laboratorio/checkpoints/ep07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f155c51c543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fb7ac8002e40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a6376ed25944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4c14aeeaf24a7a" /><Relationship Type="http://schemas.openxmlformats.org/officeDocument/2006/relationships/slideLayout" Target="/ppt/slideLayouts/slideLayout1.xml" Id="Rf202f15faad14d9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f032fd47d2241d2" /><Relationship Type="http://schemas.openxmlformats.org/officeDocument/2006/relationships/slideLayout" Target="/ppt/slideLayouts/slideLayout2.xml" Id="R60c954521f7748cc" /><Relationship Type="http://schemas.openxmlformats.org/officeDocument/2006/relationships/slideLayout" Target="/ppt/slideLayouts/slideLayout3.xml" Id="R2aee690a787e4e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2f15faad14d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0c954521f7748cc"/>
    <p:sldLayoutId xmlns:r="http://schemas.openxmlformats.org/officeDocument/2006/relationships" id="2147483652" r:id="R2aee690a787e4e79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b8459ef6c6458d" /><Relationship Type="http://schemas.openxmlformats.org/officeDocument/2006/relationships/image" Target="/ppt/media/image.jpeg" Id="Rd6ffebf118154839" /><Relationship Type="http://schemas.openxmlformats.org/officeDocument/2006/relationships/image" Target="/ppt/media/image.png" Id="R2d2ecc9864924c87" /><Relationship Type="http://schemas.openxmlformats.org/officeDocument/2006/relationships/notesSlide" Target="/ppt/notesSlides/notesSlide1.xml" Id="R7ea9c9eab7e644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9ce79107254bb4" /><Relationship Type="http://schemas.openxmlformats.org/officeDocument/2006/relationships/image" Target="/ppt/media/image2.png" Id="Rf366364f7ae74315" /><Relationship Type="http://schemas.openxmlformats.org/officeDocument/2006/relationships/image" Target="/ppt/media/image3.png" Id="R0728ab0653514fdf" /><Relationship Type="http://schemas.openxmlformats.org/officeDocument/2006/relationships/notesSlide" Target="/ppt/notesSlides/notesSlide2.xml" Id="R8d9b00055efe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53c39fb94f4cc7" /><Relationship Type="http://schemas.openxmlformats.org/officeDocument/2006/relationships/image" Target="/ppt/media/image4.png" Id="R14162fd2902f4818" /><Relationship Type="http://schemas.openxmlformats.org/officeDocument/2006/relationships/notesSlide" Target="/ppt/notesSlides/notesSlide3.xml" Id="R469c2f68181b4a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964f6c39814a6c" /><Relationship Type="http://schemas.openxmlformats.org/officeDocument/2006/relationships/image" Target="/ppt/media/image5.png" Id="R37aa4749c9c34466" /><Relationship Type="http://schemas.openxmlformats.org/officeDocument/2006/relationships/notesSlide" Target="/ppt/notesSlides/notesSlide4.xml" Id="Rc73dba8b374c47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ceaef427ab451e" /><Relationship Type="http://schemas.openxmlformats.org/officeDocument/2006/relationships/image" Target="/ppt/media/image6.png" Id="Rcb5e0a9187dd4385" /><Relationship Type="http://schemas.openxmlformats.org/officeDocument/2006/relationships/notesSlide" Target="/ppt/notesSlides/notesSlide5.xml" Id="R3830a0bb9a1c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afa3f53e1b452e" /><Relationship Type="http://schemas.openxmlformats.org/officeDocument/2006/relationships/image" Target="/ppt/media/image7.png" Id="Rb09b8b3140db463c" /><Relationship Type="http://schemas.openxmlformats.org/officeDocument/2006/relationships/notesSlide" Target="/ppt/notesSlides/notesSlide6.xml" Id="R035027794b184d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80c230e19540c4" /><Relationship Type="http://schemas.openxmlformats.org/officeDocument/2006/relationships/image" Target="/ppt/media/image8.png" Id="R4334d41217bf49d1" /><Relationship Type="http://schemas.openxmlformats.org/officeDocument/2006/relationships/notesSlide" Target="/ppt/notesSlides/notesSlide7.xml" Id="R64a16f6c974f4f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f828143e464186" /><Relationship Type="http://schemas.openxmlformats.org/officeDocument/2006/relationships/image" Target="/ppt/media/image9.png" Id="R67ad8bcf78884dad" /><Relationship Type="http://schemas.openxmlformats.org/officeDocument/2006/relationships/notesSlide" Target="/ppt/notesSlides/notesSlide8.xml" Id="R0c146da6a2ab43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7cdd9d2c924608" /><Relationship Type="http://schemas.openxmlformats.org/officeDocument/2006/relationships/image" Target="/ppt/media/image10.png" Id="R7632b95dadd44ae7" /><Relationship Type="http://schemas.openxmlformats.org/officeDocument/2006/relationships/notesSlide" Target="/ppt/notesSlides/notesSlide9.xml" Id="Rd54a542c5e8648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807d62711f4878" /><Relationship Type="http://schemas.openxmlformats.org/officeDocument/2006/relationships/image" Target="/ppt/media/image11.png" Id="R064009e62b5c4d00" /><Relationship Type="http://schemas.openxmlformats.org/officeDocument/2006/relationships/image" Target="/ppt/media/image12.png" Id="Rc4de7fda81764153" /><Relationship Type="http://schemas.openxmlformats.org/officeDocument/2006/relationships/notesSlide" Target="/ppt/notesSlides/notesSlide10.xml" Id="R0f90efe32fe64b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0e6c3bbcf249da" /><Relationship Type="http://schemas.openxmlformats.org/officeDocument/2006/relationships/image" Target="/ppt/media/image13.png" Id="Re90a7470bea647f9" /><Relationship Type="http://schemas.openxmlformats.org/officeDocument/2006/relationships/notesSlide" Target="/ppt/notesSlides/notesSlide11.xml" Id="R6ef327e34dad4f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f24c3f4e394207" /><Relationship Type="http://schemas.openxmlformats.org/officeDocument/2006/relationships/image" Target="/ppt/media/image14.png" Id="R79c1f1de06344469" /><Relationship Type="http://schemas.openxmlformats.org/officeDocument/2006/relationships/notesSlide" Target="/ppt/notesSlides/notesSlide12.xml" Id="Rf4caa8f86c0e43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57708c4a524bf2" /><Relationship Type="http://schemas.openxmlformats.org/officeDocument/2006/relationships/image" Target="/ppt/media/image15.png" Id="R58d6ef70d685441f" /><Relationship Type="http://schemas.openxmlformats.org/officeDocument/2006/relationships/notesSlide" Target="/ppt/notesSlides/notesSlide13.xml" Id="Rb4e02dbcb61346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fde0b2c304b44af" /><Relationship Type="http://schemas.openxmlformats.org/officeDocument/2006/relationships/image" Target="/ppt/media/image16.png" Id="R125f237a05e446cb" /><Relationship Type="http://schemas.openxmlformats.org/officeDocument/2006/relationships/notesSlide" Target="/ppt/notesSlides/notesSlide14.xml" Id="R6beb24a45efd41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15434df3784e80" /><Relationship Type="http://schemas.openxmlformats.org/officeDocument/2006/relationships/image" Target="/ppt/media/image17.png" Id="R3e9934b0c7cd4474" /><Relationship Type="http://schemas.openxmlformats.org/officeDocument/2006/relationships/notesSlide" Target="/ppt/notesSlides/notesSlide15.xml" Id="Rbda9a6df5c8e4b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063d4908c94463" /><Relationship Type="http://schemas.openxmlformats.org/officeDocument/2006/relationships/image" Target="/ppt/media/image18.png" Id="R640fa147ed6948c3" /><Relationship Type="http://schemas.openxmlformats.org/officeDocument/2006/relationships/notesSlide" Target="/ppt/notesSlides/notesSlide16.xml" Id="R86561ebf8c034a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2191b3a34a4001" /><Relationship Type="http://schemas.openxmlformats.org/officeDocument/2006/relationships/image" Target="/ppt/media/image19.png" Id="R231ee099cd7f4f42" /><Relationship Type="http://schemas.openxmlformats.org/officeDocument/2006/relationships/notesSlide" Target="/ppt/notesSlides/notesSlide17.xml" Id="R25712b6e5fc444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51209c91164954" /><Relationship Type="http://schemas.openxmlformats.org/officeDocument/2006/relationships/image" Target="/ppt/media/image20.png" Id="R6f67fd0ed0f84091" /><Relationship Type="http://schemas.openxmlformats.org/officeDocument/2006/relationships/notesSlide" Target="/ppt/notesSlides/notesSlide18.xml" Id="R1aa409415f9041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951e6b6b06483e" /><Relationship Type="http://schemas.openxmlformats.org/officeDocument/2006/relationships/image" Target="/ppt/media/image21.png" Id="R4c7fdcabb20c43be" /><Relationship Type="http://schemas.openxmlformats.org/officeDocument/2006/relationships/notesSlide" Target="/ppt/notesSlides/notesSlide19.xml" Id="R4e74ff07569446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69d4331ea1a42e0" /><Relationship Type="http://schemas.openxmlformats.org/officeDocument/2006/relationships/image" Target="/ppt/media/image22.png" Id="R4775502e06724c5a" /><Relationship Type="http://schemas.openxmlformats.org/officeDocument/2006/relationships/notesSlide" Target="/ppt/notesSlides/notesSlide20.xml" Id="R7e6f06e85e024bce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 descr="Ilustração conceitual autoral da capa: EPISÓDIO 7 — Governança como códig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febf118154839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EDB7E035-966A-4B54-BF05-40043D60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B2515E21-781C-418E-AEE4-76780657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AB541F87-E986-40A5-899B-0D314233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7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82E9F219-0DB6-415A-A4B1-D516CC51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8" name="" descr="Ilustração conceitual autoral da capa: EPISÓDIO 7 — Governança como códig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ecc9864924c87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3B63979-FFD4-4379-B798-6AEDA0B1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Governança como código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3A3213-041A-4844-93BF-1AB2E181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Metadado útil produz uma ação verificável</a:t>
            </a:r>
          </a:p>
        </p:txBody>
      </p:sp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EB7FDF5-E422-404B-8C50-EE1F306B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DF577D91-C060-4D5C-BC87-9B0E2FA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07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257445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ook">
            <a:extLst xmlns:a="http://schemas.openxmlformats.org/drawingml/2006/main">
              <a:ext uri="{FF2B5EF4-FFF2-40B4-BE49-F238E27FC236}">
                <a16:creationId xmlns:a16="http://schemas.microsoft.com/office/drawing/2014/main" id="{29C2ED67-5930-4141-BC8C-0A2C0E9E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33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Owner sem alerta e tag sem seleção são apenas decoração no YAML.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89E1B166-8158-4531-AC2F-B11A9891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F148CB80-F927-415A-8453-36797280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7C823585-6873-4ABD-BA3E-27006B5B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52500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9" name="" descr="Diagrama didático autoral que apresenta: Owner sem alerta e tag sem seleção são apenas decoração no YAML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6364f7ae74315"/>
          <a:stretch xmlns:a="http://schemas.openxmlformats.org/drawingml/2006/main"/>
        </p:blipFill>
        <p:spPr>
          <a:xfrm xmlns:a="http://schemas.openxmlformats.org/drawingml/2006/main">
            <a:off x="7292235" y="1257300"/>
            <a:ext cx="3322529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7343C52-DADB-4335-A5D3-1A149418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7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E04B2441-4EDB-4048-B204-A60A153B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2" name="" descr="Diagrama didático autoral que apresenta: Owner sem alerta e tag sem seleção são apenas decoração no YAML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8ab0653514fdf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B8D8D14-7A11-4A43-A8CF-5900A01F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57BB461-1D77-4756-8C56-65928566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9F5321-D120-4F14-8A04-45C0A871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825986284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CDBCEA-DED6-4A86-AAD7-8B9E6DF0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521B8613-EAE0-4309-B070-95D34572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92C918C-BDF1-452C-B3C5-B1297759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Definir responsabilidade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6F027C76-B7F3-444D-91A1-3FEB5E0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25BF3CF6-584E-4EC7-BB17-9CDE291B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2C622983-C53F-4B8E-916B-E33BBE00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Controlar acesso lógico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472B3C68-09C2-4365-AA24-23D4E598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47E743F1-68DF-422B-AC04-465D771C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1ADD5EAA-3CC8-433F-AE0E-AD36B7B1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Expor dashboards e agentes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8B9CA39-079F-4C80-A51F-9CEAF9C3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5254E732-6DBF-44A5-A481-6106E13E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Ao final, você consegue...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62fd2902f4818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4373A9-5D96-41E2-9C73-F3355AD4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A63A0E80-C62F-4967-BF42-688690B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5C628E-B6B2-47DF-9019-E25499D0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123196542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B67901-7565-4DB8-B3A4-3E671CD9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Todo metadado precisa produzir uma ação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2F861E-6658-40D3-85AC-78504C69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Owner roteia alerta; access bloqueia ref; exposure revela impacto.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DB60AB55-3F06-4F25-9D6D-F2279009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owner → resposta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access → compilação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tag → seleção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exposure → impacto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4EE54D90-6CD6-4870-9F16-64C80F39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3CD2D31B-E415-4FBB-B053-7FC376C8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AE69F82-A4E5-4923-8373-C34F536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CC8D2B6-CEA3-4E11-A3A8-3FA12E64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02D87B94-B2B0-445C-AF51-14A58CD6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Todo metadado precisa produzir uma ação — Owner roteia alerta; access bloqueia ref; exposure revela impact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a4749c9c34466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306EFCB-F388-4CCD-8CAC-834486F4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66AACBA-2EC5-4E89-9457-258E4F25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AE060D-792E-4815-ACA1-4B3C23F0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4/20</a:t>
            </a:r>
          </a:p>
        </p:txBody>
      </p:sp>
    </p:spTree>
    <p:extLst>
      <p:ext uri="{BB962C8B-B14F-4D97-AF65-F5344CB8AC3E}">
        <p14:creationId xmlns:p14="http://schemas.microsoft.com/office/powerpoint/2010/main" val="733402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4841E6-AF02-4AD4-B95B-C0D3ECBA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Group e access criam uma fronteira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6D0E6D-23C5-4E9D-99CE-DD0B79E9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Modelos privados evoluem dentro do domínio; públicos viram interface.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1E74B08D-0FDE-42A0-B976-4F379883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private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protected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public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916CE0B9-8129-4EEA-BC9D-A7D2EC0F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33DB8A0F-8945-4A17-9B07-C0FA9AF4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2DBFC80-7CE2-45B6-8259-3F2C0F5B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BECBBED-4036-4DFE-A0CB-EB9BD702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7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060EB98-C0A6-4B0F-AC3A-AE2EC90D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Group e access criam uma fronteira — Modelos privados evoluem dentro do domínio; públicos viram interface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e0a9187dd4385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4C3B3F2-5BE7-486C-B66D-C491DFE3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952331A-282C-4F36-A917-ADCDC8D8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D2545A-7A8B-4677-BA3D-4B439BF0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5/20</a:t>
            </a:r>
          </a:p>
        </p:txBody>
      </p:sp>
    </p:spTree>
    <p:extLst>
      <p:ext uri="{BB962C8B-B14F-4D97-AF65-F5344CB8AC3E}">
        <p14:creationId xmlns:p14="http://schemas.microsoft.com/office/powerpoint/2010/main" val="1245552977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218B31-3F4B-4BFA-9D67-8BD9AEB6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Group e access criam uma fronteira</a:t>
            </a:r>
          </a:p>
        </p:txBody>
      </p:sp>
      <p:sp>
        <p:nvSpPr>
          <p:cNvPr id="2" name="layer-1">
            <a:extLst xmlns:a="http://schemas.openxmlformats.org/drawingml/2006/main">
              <a:ext uri="{FF2B5EF4-FFF2-40B4-BE49-F238E27FC236}">
                <a16:creationId xmlns:a16="http://schemas.microsoft.com/office/drawing/2014/main" id="{D4EBAD59-1C02-472F-ADDA-FE05EEDA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65C0">
              <a:alpha val="33333"/>
            </a:srgbClr>
          </a:solidFill>
          <a:ln xmlns:a="http://schemas.openxmlformats.org/drawingml/2006/main" w="9525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private</a:t>
            </a:r>
          </a:p>
        </p:txBody>
      </p:sp>
      <p:sp>
        <p:nvSpPr>
          <p:cNvPr id="3" name="layer-2">
            <a:extLst xmlns:a="http://schemas.openxmlformats.org/drawingml/2006/main">
              <a:ext uri="{FF2B5EF4-FFF2-40B4-BE49-F238E27FC236}">
                <a16:creationId xmlns:a16="http://schemas.microsoft.com/office/drawing/2014/main" id="{5EC761C9-A1E0-4F8C-B642-273C419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4162425"/>
            <a:ext cx="7572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65C0">
              <a:alpha val="43922"/>
            </a:srgbClr>
          </a:solidFill>
          <a:ln xmlns:a="http://schemas.openxmlformats.org/drawingml/2006/main" w="9525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protected</a:t>
            </a:r>
          </a:p>
        </p:txBody>
      </p:sp>
      <p:sp>
        <p:nvSpPr>
          <p:cNvPr id="4" name="layer-3">
            <a:extLst xmlns:a="http://schemas.openxmlformats.org/drawingml/2006/main">
              <a:ext uri="{FF2B5EF4-FFF2-40B4-BE49-F238E27FC236}">
                <a16:creationId xmlns:a16="http://schemas.microsoft.com/office/drawing/2014/main" id="{7772D485-8C22-4F20-A00F-147F54CF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14725"/>
            <a:ext cx="657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65C0">
              <a:alpha val="52157"/>
            </a:srgbClr>
          </a:solidFill>
          <a:ln xmlns:a="http://schemas.openxmlformats.org/drawingml/2006/main" w="9525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public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6BE216A7-9C1D-4770-900A-13CCA933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D80AAE3C-9C1E-40AF-B319-245567EB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Group e access criam uma fronteira — priva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b8b3140db463c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743AD81-07E1-4E76-A6AE-DF8C0514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3041A07-FB46-4818-B501-4568ADA5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73331C-3008-4F29-BA3F-A089D994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6/20</a:t>
            </a:r>
          </a:p>
        </p:txBody>
      </p:sp>
    </p:spTree>
    <p:extLst>
      <p:ext uri="{BB962C8B-B14F-4D97-AF65-F5344CB8AC3E}">
        <p14:creationId xmlns:p14="http://schemas.microsoft.com/office/powerpoint/2010/main" val="831248799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AD43B1-757F-4DF3-B0BF-21139C9C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Tags e meta carregam política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A3690C-A581-487A-B125-4B5A29AD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Classificação só é útil quando seleção e validação a consomem.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844F0536-D38E-4D2A-82A7-551C03D6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pii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critical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gold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agent_readable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637E0187-7D5A-4C09-ADB4-B089C84F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3E330D4E-70AB-4435-8BD5-83663A52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AA66B18-A383-4A8E-905D-C14D4F7A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AE04FE8-A464-48BC-A702-5E6FC3F4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AB48DB4F-C035-4491-B3DA-A04E64FD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Tags e meta carregam política — Classificação só é útil quando seleção e validação a consomem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4d41217bf49d1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A3CB17-D792-4F17-8243-960D49A2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343C108-1953-4B83-AF9A-E6450E04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E2127C-B069-40EB-AE91-39325D92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7/20</a:t>
            </a:r>
          </a:p>
        </p:txBody>
      </p:sp>
    </p:spTree>
    <p:extLst>
      <p:ext uri="{BB962C8B-B14F-4D97-AF65-F5344CB8AC3E}">
        <p14:creationId xmlns:p14="http://schemas.microsoft.com/office/powerpoint/2010/main" val="15495995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5EA6EA-593D-447E-8D68-8EE96C64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Tags e meta carregam política</a:t>
            </a:r>
          </a:p>
        </p:txBody>
      </p:sp>
      <p:sp>
        <p:nvSpPr>
          <p:cNvPr id="2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3ABB2F67-A17B-4FEE-80B5-A33C60B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1ADC1CDD-873A-4F76-AC26-B8A41E55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Classificar</a:t>
            </a:r>
          </a:p>
        </p:txBody>
      </p:sp>
      <p:sp>
        <p:nvSpPr>
          <p:cNvPr id="4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CAAD521C-4E45-4D06-95A4-9D56DC8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45F8F73A-222E-4ED1-A63A-B8C0A5BC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Selecionar</a:t>
            </a:r>
          </a:p>
        </p:txBody>
      </p:sp>
      <p:sp>
        <p:nvSpPr>
          <p:cNvPr id="6" name="status-dot-3">
            <a:extLst xmlns:a="http://schemas.openxmlformats.org/drawingml/2006/main">
              <a:ext uri="{FF2B5EF4-FFF2-40B4-BE49-F238E27FC236}">
                <a16:creationId xmlns:a16="http://schemas.microsoft.com/office/drawing/2014/main" id="{D3C1578B-275B-456E-B3FD-DDEB3A98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B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13E79174-0664-4D8C-986E-ECED6BB1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Validar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8151C41-CA78-4D94-B540-EE3E7AEA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7  •  OPEN / CORE 1.12</a:t>
            </a:r>
          </a:p>
        </p:txBody>
      </p:sp>
      <p:sp>
        <p:nvSpPr>
          <p:cNvPr id="9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91F8AB57-F2CF-4CF4-8480-D05E7A7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5" name="" descr="Figura oficial da documentação dbt usada para explicar: Tags e meta carregam política — Classifica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d8bcf78884dad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179604-C7EB-49A3-9F95-D6360D4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9ED9301A-3116-4F05-BA66-B8947443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8E2E10-C7D8-4C4F-A80F-0A166A2D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8/20</a:t>
            </a:r>
          </a:p>
        </p:txBody>
      </p:sp>
    </p:spTree>
    <p:extLst>
      <p:ext uri="{BB962C8B-B14F-4D97-AF65-F5344CB8AC3E}">
        <p14:creationId xmlns:p14="http://schemas.microsoft.com/office/powerpoint/2010/main" val="13768997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23B2BA-7F15-4272-9347-B4FDCAD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Exposure coloca o consumidor no grafo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963815-0597-4540-8A88-D822DCFD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Dashboard e agente deixam de ser dependências invisíveis.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1B4C80F6-8A5A-435D-82F3-3BA1063C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Owner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Maturidade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URL descritiva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Modelos dependentes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F797D5BE-F644-4367-8744-3AF571C4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5FD2BAAD-2B40-42DC-A306-0B1594D0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39BDBBD-E88B-4041-BB9C-8D295111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52C6D2E-A543-47D7-A527-53244089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7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FD6387A-CBE2-4FA4-8DFF-42536F45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Exposure coloca o consumidor no grafo — Dashboard e agente deixam de ser dependências invisívei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2b95dadd44ae7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4F98D9-99B4-42CE-97F9-3BBD41BE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C5CF41E5-9B95-43EF-98AA-9D0FAD6F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FF0FDF-FC56-4E51-A7FD-21428611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9/20</a:t>
            </a:r>
          </a:p>
        </p:txBody>
      </p:sp>
    </p:spTree>
    <p:extLst>
      <p:ext uri="{BB962C8B-B14F-4D97-AF65-F5344CB8AC3E}">
        <p14:creationId xmlns:p14="http://schemas.microsoft.com/office/powerpoint/2010/main" val="209177520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DF6C42-D0B8-4423-BBF7-F0A39ACA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Exposure coloca o consumidor no grafo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163D1FE7-9A11-4C7F-9A0E-8F79AE70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Dashboard e agente deixam de ser dependências invisíveis.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6F970582-1FC7-4D0C-AC8C-AD0E9B7A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8" name="" descr="Figura oficial da documentação dbt usada para explicar: Exposure coloca o consumidor no grafo — Dashboard e agente deixam de ser dependências invisívei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009e62b5c4d00"/>
          <a:stretch xmlns:a="http://schemas.openxmlformats.org/drawingml/2006/main"/>
        </p:blipFill>
        <p:spPr>
          <a:xfrm xmlns:a="http://schemas.openxmlformats.org/drawingml/2006/main">
            <a:off x="5477638" y="1809750"/>
            <a:ext cx="5694424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5CB202EF-6B84-4E79-B604-7EBA5AA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Figura oficial da documentação dbt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1CDDC05F-FC9B-462A-80CA-04432DFC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A4C15B92-7DCC-425F-87CB-87645B2B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2" name="" descr="Figura oficial da documentação dbt usada para explicar: Exposure coloca o consumidor no grafo — Dashboard e agente deixam de ser dependências invisívei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e7fda81764153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68E713C-4078-4313-8A78-8DF0FAFE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10EC188C-96E1-4873-A9CF-5B8AF9DB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CF3A3B-C4C2-4B5A-B440-85D92FD8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655115539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2001E0-1682-404E-A642-86E21B1B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Project Evaluator transforma convenção em teste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AA30D33-377B-4696-BECC-920D3F5C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Regras de estrutura podem ser avaliadas como parte da CI.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EEEC1597-8DE5-4B0A-AB5C-EEEA89C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Governance tests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Padrões compartilhados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Exceções conscientes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F85909BC-DB05-4266-A051-1FA252E3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F3529184-F331-4E10-A617-55BFC532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43B70E2-85AA-446F-891C-2EA8DD9A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75A02502-130B-42C8-9547-5E528E1D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B4CDDBC4-3283-4806-96E9-B8146B1D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Project Evaluator transforma convenção em teste — Regras de estrutura podem ser avaliadas como parte da CI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a7470bea647f9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3F18003-DA4F-44FA-BE18-5EF7DAAC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B2740C4-8A8D-4DF7-A015-E366AAA8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FBE3F0-643F-4E3D-90EE-54507CD5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21307251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36FC21-9E36-4BFE-8DAB-89255BF8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Project Evaluator transforma convenção em teste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8456ECC7-6238-45C6-A004-2A2122CB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Projeto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A8BBC6AA-955E-4D06-A5D1-8D7A6F3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Evaluator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C3CA1F1A-20D6-497A-B615-4F0D0DDB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Finding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49A70DE4-5974-4EC7-B688-6AB239D9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Ação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77B39523-8C60-4725-9D80-FC9735DD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7  •  OPEN / CORE 1.12</a:t>
            </a:r>
          </a:p>
        </p:txBody>
      </p:sp>
      <p:sp>
        <p:nvSpPr>
          <p:cNvPr id="10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9C3D33FD-729C-4B06-86D0-17F904DC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34" name="" descr="Figura oficial da documentação dbt usada para explicar: Project Evaluator transforma convenção em teste — Projet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1f1de06344469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B2D841B-E0A7-4D65-A99E-E113F04E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85F4FD9-7120-4673-8DC2-A0683946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0B99FF-906D-4176-A317-DD07974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1148590136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077EBC-E3BF-4655-AF08-C2718E82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D69B72AC-5ADD-43F2-9365-3E46AB25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F82A712F-0EF7-4B68-8D7D-3BF0302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07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EF673D62-48B4-413C-8C0C-86669F92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C756CB51-FCCF-43B8-AE07-06C4B799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BB411DF4-EAE4-46A5-8491-513D4186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Demonstração — execute — python course.py checkpoint 07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6ef70d685441f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5EE750-5BAB-4CE2-B6CD-682B29C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E9FE19B-A9A2-4C9C-895E-38C5AB3D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46F2D6-0CB5-4BFE-8AA9-A8F982BF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7096699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821C40-CFD3-4F49-93C1-5DD86987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34360C33-9A62-49AC-884D-F2FFF931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B448537-A69D-4ED2-8EE0-944F4E06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Groups e owners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DDE42D4C-DD5C-4167-90C4-90D123A2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687A1A78-84B0-4668-ADD0-86075B25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878D1A6A-D8D8-45AE-A12E-BA0EC82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Access público/privado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C8B66049-6875-48F3-B1B9-2707EF4D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9A067F27-7FC3-4027-B079-9A53E710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56BE0207-D6A2-421A-9D6D-F934B152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Exposure de dashboard e agente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54D7F6C8-C7DE-444E-977F-2B1BF08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7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563B892E-498A-4F8F-8834-6C5A08AB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Demonstração — observe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f237a05e446cb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47D876B-CDA5-40E8-AC04-08FD37BE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011800EC-D65B-4F8B-95E7-32259F2B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F7FEF4-2B19-47D1-923B-34EF17C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1076391515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C2D1053-C0D6-4F0B-B9FA-BB59922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43BD6E41-EC9F-4E64-90E3-307D2418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Metadados governados no manifest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86EE7F78-C197-46E9-9609-DC0A10B7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07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C8C490CF-2250-4361-80C3-ECE1970E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ED1904EC-0789-4399-B228-51D4701E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55710072-0514-4E8F-9FE0-3E842BFC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F1C7172D-61F1-4B21-81EC-9ED9523F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ESULTADO ESPERADO — Metadados governados no manifest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934b0c7cd447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597E38-B8A0-4B17-BD80-16126F60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FD4CE4B-A2CD-4AED-9FC9-5F14C246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460AAF-3D1B-402A-AB88-7ECF4018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18835190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9EC5FF-9429-4FB8-A1D5-C96D015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C7814ECE-B0E7-42AA-9BEB-88A0BD88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97B1277-83A3-4114-BFBF-6B9CEC73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ação e owner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10FDCF77-CCC8-4F4C-A9D4-A7A91C40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50635F31-909F-4E6F-A538-EA7B1CEB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CE8D9441-9ED2-414A-868A-76D59F3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seleção por tag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80B177D4-3010-4B3F-A973-DFBB2319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EEFD85DD-6F7A-4EA1-9652-2D8D50D8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9B4A7C2A-B9C0-4F46-910A-7E912401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escopo de leitura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53B927E-7382-4D0A-93C4-669C2D57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7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835E659F-0149-4024-9274-30BC2AC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O mesmo recurso afeta três decisões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fa147ed6948c3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938D33D-5982-485C-A934-7260BA84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C321BB54-5B68-42D9-816F-83B180A7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075A63-2DC5-4577-B002-93773B57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1153924072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ase-number">
            <a:extLst xmlns:a="http://schemas.openxmlformats.org/drawingml/2006/main">
              <a:ext uri="{FF2B5EF4-FFF2-40B4-BE49-F238E27FC236}">
                <a16:creationId xmlns:a16="http://schemas.microsoft.com/office/drawing/2014/main" id="{85E3D077-A077-400B-9C44-7D9FC0DD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2 exposures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BB9442B3-4B16-4EE3-AFA9-9621C74D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dashboard e agente no grafo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6152C64D-D434-4C1E-B847-89A372E6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C3F569AD-27B7-4FA5-ACFD-433FAD7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Evidência do laboratório, sem recurso Enterprise.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123F962-0EAF-4805-8069-66DBB45D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4FC4CA8D-1B51-4C94-8E56-0755B3DC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2 exposures — dashboard e agente no graf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ee099cd7f4f4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9CB509-A5A7-4561-8147-D3B2A7C6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FE763F6-C415-45D9-AC12-DDEBF756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F0108C-B2E9-4310-B5D8-DE317DA0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4737575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212DED-A90D-45CA-B05B-DCAC90A8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56B7B47D-153F-4A6C-BF94-753709CF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Meta não aplica segurança física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Tag sem processo não governa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Owner precisa de canal operacional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0240D9E-F5DA-4A6F-8214-2248FEC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7  •  OPEN / CORE 1.12</a:t>
            </a:r>
          </a:p>
        </p:txBody>
      </p:sp>
      <p:sp>
        <p:nvSpPr>
          <p:cNvPr id="4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B648A02F-1FEB-4CAF-A297-4E9D8B6A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5" name="" descr="Figura oficial da documentação dbt usada para explicar: Limitações que precisam permanecer visíveis — • Meta não aplica segurança físic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7fd0ed0f84091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2FA9090-946D-4116-A31B-56D94D0C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9A826DF-E69E-417D-AE97-7A253D63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44DD17-1DE9-48AE-836B-A4720A6D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698545634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adar-label">
            <a:extLst xmlns:a="http://schemas.openxmlformats.org/drawingml/2006/main">
              <a:ext uri="{FF2B5EF4-FFF2-40B4-BE49-F238E27FC236}">
                <a16:creationId xmlns:a16="http://schemas.microsoft.com/office/drawing/2014/main" id="{F45E1220-DA36-488C-AA77-C1CA84DB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16BD8025-1715-4EB6-993A-1DFF565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Catálogo avançado amplia experiência, mas o contrato open já é executável.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332A68EA-7802-4036-BB5A-15280D05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2EE2AD72-AAED-47F2-87E8-8679C89B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A157EA5B-FC63-4E86-AC21-50D2FDDF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E5730F42-84D0-4383-BFEB-9ED7EE48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7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729E1693-C5ED-4425-AA99-F391B2E3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ADAR — Catálogo avançado amplia experiência, mas o contrato open já é executável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fdcabb20c43be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2820D2-D29C-41A8-90B8-0DF14F6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7063A5CB-49AD-44DE-A877-1DD37D5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59AAA2-B0DF-488F-9E47-4E18C03D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20734936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ta-label">
            <a:extLst xmlns:a="http://schemas.openxmlformats.org/drawingml/2006/main">
              <a:ext uri="{FF2B5EF4-FFF2-40B4-BE49-F238E27FC236}">
                <a16:creationId xmlns:a16="http://schemas.microsoft.com/office/drawing/2014/main" id="{2DCFA6CF-47D0-48E3-B7FF-5C58D23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B65DBB4C-C3DC-434F-A437-5B3E2629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Escolha um produto Gold e declare owner, group, access e exposure.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D7E942C0-44D9-41E4-960C-3CDBC615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07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2E3042E-F1D5-4845-9DE4-082B55AB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7  •  OPEN / CORE 1.12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77BAA056-2171-42C0-8568-CDAE403E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7" name="" descr="Figura oficial da documentação dbt usada para explicar: PRÓXIMO PASSO — Escolha um produto Gold e declare owner, group, access e exposure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5502e06724c5a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4140DC7-0EDE-42AB-AF75-A2B45380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DBAA3FA-AA3E-4184-ADB7-9E804011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FD8DF4-F8FB-44A6-8A3D-CD06B271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20/20</a:t>
            </a:r>
          </a:p>
        </p:txBody>
      </p:sp>
    </p:spTree>
    <p:extLst>
      <p:ext uri="{BB962C8B-B14F-4D97-AF65-F5344CB8AC3E}">
        <p14:creationId xmlns:p14="http://schemas.microsoft.com/office/powerpoint/2010/main" val="1454526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2026-09-02T16:14:51.7460000Z</dcterms:created>
  <dcterms:modified xsi:type="dcterms:W3CDTF">2026-09-02T16:14:51.7460000Z</dcterms:modified>
</coreProperties>
</file>