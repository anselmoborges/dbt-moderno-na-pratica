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9be44747384ed1" /><Relationship Type="http://schemas.openxmlformats.org/officeDocument/2006/relationships/extended-properties" Target="/docProps/app.xml" Id="R0adfa42d44124243" /><Relationship Type="http://schemas.openxmlformats.org/officeDocument/2006/relationships/officeDocument" Target="/ppt/presentation.xml" Id="R933b54377da34b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dcc5784bd914de2"/>
    <p:sldMasterId xmlns:r="http://schemas.openxmlformats.org/officeDocument/2006/relationships" id="2147483650" r:id="R146c89d00e4a4d5d"/>
  </p:sldMasterIdLst>
  <p:notesMasterIdLst>
    <p:notesMasterId xmlns:r="http://schemas.openxmlformats.org/officeDocument/2006/relationships" r:id="R423b7b5b37e447b6"/>
  </p:notesMasterIdLst>
  <p:sldIdLst>
    <p:sldId xmlns:r="http://schemas.openxmlformats.org/officeDocument/2006/relationships" id="256" r:id="R5b517d6b4ecf4014"/>
    <p:sldId xmlns:r="http://schemas.openxmlformats.org/officeDocument/2006/relationships" id="257" r:id="R2d16a34c6ea946c4"/>
    <p:sldId xmlns:r="http://schemas.openxmlformats.org/officeDocument/2006/relationships" id="258" r:id="R220c8cd35911480e"/>
    <p:sldId xmlns:r="http://schemas.openxmlformats.org/officeDocument/2006/relationships" id="259" r:id="Ra711c43d30714896"/>
    <p:sldId xmlns:r="http://schemas.openxmlformats.org/officeDocument/2006/relationships" id="260" r:id="R9096ecd09e764305"/>
    <p:sldId xmlns:r="http://schemas.openxmlformats.org/officeDocument/2006/relationships" id="261" r:id="R931908e9c0e04b59"/>
    <p:sldId xmlns:r="http://schemas.openxmlformats.org/officeDocument/2006/relationships" id="262" r:id="R90ff8ffe580c41c7"/>
    <p:sldId xmlns:r="http://schemas.openxmlformats.org/officeDocument/2006/relationships" id="263" r:id="R7514c4d88d674470"/>
    <p:sldId xmlns:r="http://schemas.openxmlformats.org/officeDocument/2006/relationships" id="264" r:id="R0eb055e0fdee4d44"/>
    <p:sldId xmlns:r="http://schemas.openxmlformats.org/officeDocument/2006/relationships" id="265" r:id="R9bbed69e6c47413f"/>
    <p:sldId xmlns:r="http://schemas.openxmlformats.org/officeDocument/2006/relationships" id="266" r:id="R11202249e53f4e41"/>
    <p:sldId xmlns:r="http://schemas.openxmlformats.org/officeDocument/2006/relationships" id="267" r:id="Rfb903e984ad6484a"/>
    <p:sldId xmlns:r="http://schemas.openxmlformats.org/officeDocument/2006/relationships" id="268" r:id="R1c75df71f02c4c6d"/>
    <p:sldId xmlns:r="http://schemas.openxmlformats.org/officeDocument/2006/relationships" id="269" r:id="R8524042747114ed5"/>
    <p:sldId xmlns:r="http://schemas.openxmlformats.org/officeDocument/2006/relationships" id="270" r:id="Rc226036a34944a47"/>
    <p:sldId xmlns:r="http://schemas.openxmlformats.org/officeDocument/2006/relationships" id="271" r:id="R6585b55fadac41c1"/>
    <p:sldId xmlns:r="http://schemas.openxmlformats.org/officeDocument/2006/relationships" id="272" r:id="R8ea1864755c84be5"/>
    <p:sldId xmlns:r="http://schemas.openxmlformats.org/officeDocument/2006/relationships" id="273" r:id="R53d2b8f1884c4a6d"/>
    <p:sldId xmlns:r="http://schemas.openxmlformats.org/officeDocument/2006/relationships" id="274" r:id="R4fe4dabb8f5942af"/>
    <p:sldId xmlns:r="http://schemas.openxmlformats.org/officeDocument/2006/relationships" id="275" r:id="R6ef66fa662ba45a3"/>
    <p:sldId xmlns:r="http://schemas.openxmlformats.org/officeDocument/2006/relationships" id="276" r:id="R50ad4c077ee34bf7"/>
    <p:sldId xmlns:r="http://schemas.openxmlformats.org/officeDocument/2006/relationships" id="277" r:id="R476aa7f7aa884f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3d7ab642cd4026" /><Relationship Type="http://schemas.openxmlformats.org/officeDocument/2006/relationships/slideMaster" Target="/ppt/slideMasters/slideMaster1.xml" Id="R4dcc5784bd914de2" /><Relationship Type="http://schemas.openxmlformats.org/officeDocument/2006/relationships/slideMaster" Target="/ppt/slideMasters/slideMaster2.xml" Id="R146c89d00e4a4d5d" /><Relationship Type="http://schemas.openxmlformats.org/officeDocument/2006/relationships/notesMaster" Target="/ppt/notesMasters/notesMaster1.xml" Id="R423b7b5b37e447b6" /><Relationship Type="http://schemas.openxmlformats.org/officeDocument/2006/relationships/presProps" Target="/ppt/presProps.xml" Id="R7ad809720422404e" /><Relationship Type="http://schemas.openxmlformats.org/officeDocument/2006/relationships/tableStyles" Target="/ppt/tableStyles.xml" Id="Rc0ce120577e34a25" /><Relationship Type="http://schemas.openxmlformats.org/officeDocument/2006/relationships/slide" Target="/ppt/slides/slide1.xml" Id="R5b517d6b4ecf4014" /><Relationship Type="http://schemas.openxmlformats.org/officeDocument/2006/relationships/slide" Target="/ppt/slides/slide2.xml" Id="R2d16a34c6ea946c4" /><Relationship Type="http://schemas.openxmlformats.org/officeDocument/2006/relationships/slide" Target="/ppt/slides/slide3.xml" Id="R220c8cd35911480e" /><Relationship Type="http://schemas.openxmlformats.org/officeDocument/2006/relationships/slide" Target="/ppt/slides/slide4.xml" Id="Ra711c43d30714896" /><Relationship Type="http://schemas.openxmlformats.org/officeDocument/2006/relationships/slide" Target="/ppt/slides/slide5.xml" Id="R9096ecd09e764305" /><Relationship Type="http://schemas.openxmlformats.org/officeDocument/2006/relationships/slide" Target="/ppt/slides/slide6.xml" Id="R931908e9c0e04b59" /><Relationship Type="http://schemas.openxmlformats.org/officeDocument/2006/relationships/slide" Target="/ppt/slides/slide7.xml" Id="R90ff8ffe580c41c7" /><Relationship Type="http://schemas.openxmlformats.org/officeDocument/2006/relationships/slide" Target="/ppt/slides/slide8.xml" Id="R7514c4d88d674470" /><Relationship Type="http://schemas.openxmlformats.org/officeDocument/2006/relationships/slide" Target="/ppt/slides/slide9.xml" Id="R0eb055e0fdee4d44" /><Relationship Type="http://schemas.openxmlformats.org/officeDocument/2006/relationships/slide" Target="/ppt/slides/slide10.xml" Id="R9bbed69e6c47413f" /><Relationship Type="http://schemas.openxmlformats.org/officeDocument/2006/relationships/slide" Target="/ppt/slides/slide11.xml" Id="R11202249e53f4e41" /><Relationship Type="http://schemas.openxmlformats.org/officeDocument/2006/relationships/slide" Target="/ppt/slides/slide12.xml" Id="Rfb903e984ad6484a" /><Relationship Type="http://schemas.openxmlformats.org/officeDocument/2006/relationships/slide" Target="/ppt/slides/slide13.xml" Id="R1c75df71f02c4c6d" /><Relationship Type="http://schemas.openxmlformats.org/officeDocument/2006/relationships/slide" Target="/ppt/slides/slide14.xml" Id="R8524042747114ed5" /><Relationship Type="http://schemas.openxmlformats.org/officeDocument/2006/relationships/slide" Target="/ppt/slides/slide15.xml" Id="Rc226036a34944a47" /><Relationship Type="http://schemas.openxmlformats.org/officeDocument/2006/relationships/slide" Target="/ppt/slides/slide16.xml" Id="R6585b55fadac41c1" /><Relationship Type="http://schemas.openxmlformats.org/officeDocument/2006/relationships/slide" Target="/ppt/slides/slide17.xml" Id="R8ea1864755c84be5" /><Relationship Type="http://schemas.openxmlformats.org/officeDocument/2006/relationships/slide" Target="/ppt/slides/slide18.xml" Id="R53d2b8f1884c4a6d" /><Relationship Type="http://schemas.openxmlformats.org/officeDocument/2006/relationships/slide" Target="/ppt/slides/slide19.xml" Id="R4fe4dabb8f5942af" /><Relationship Type="http://schemas.openxmlformats.org/officeDocument/2006/relationships/slide" Target="/ppt/slides/slide20.xml" Id="R6ef66fa662ba45a3" /><Relationship Type="http://schemas.openxmlformats.org/officeDocument/2006/relationships/slide" Target="/ppt/slides/slide21.xml" Id="R50ad4c077ee34bf7" /><Relationship Type="http://schemas.openxmlformats.org/officeDocument/2006/relationships/slide" Target="/ppt/slides/slide22.xml" Id="R476aa7f7aa884f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317a2360cc2a49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40a58e212f49d3" /><Relationship Type="http://schemas.openxmlformats.org/officeDocument/2006/relationships/notesMaster" Target="/ppt/notesMasters/notesMaster1.xml" Id="Rfe85ff92d4d04c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468220ca2a4d9e" /><Relationship Type="http://schemas.openxmlformats.org/officeDocument/2006/relationships/notesMaster" Target="/ppt/notesMasters/notesMaster1.xml" Id="R74de6bbbb2b643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327c7ca683422a" /><Relationship Type="http://schemas.openxmlformats.org/officeDocument/2006/relationships/notesMaster" Target="/ppt/notesMasters/notesMaster1.xml" Id="R764a911934b241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49e1ecbe9e46c1" /><Relationship Type="http://schemas.openxmlformats.org/officeDocument/2006/relationships/notesMaster" Target="/ppt/notesMasters/notesMaster1.xml" Id="Rb7e3ec4b689d44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4139baefd774d53" /><Relationship Type="http://schemas.openxmlformats.org/officeDocument/2006/relationships/notesMaster" Target="/ppt/notesMasters/notesMaster1.xml" Id="R8890d2f482c34bd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436b54d62484680" /><Relationship Type="http://schemas.openxmlformats.org/officeDocument/2006/relationships/notesMaster" Target="/ppt/notesMasters/notesMaster1.xml" Id="R8d598b0caa4e41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4c128dec86c4436" /><Relationship Type="http://schemas.openxmlformats.org/officeDocument/2006/relationships/notesMaster" Target="/ppt/notesMasters/notesMaster1.xml" Id="Rbdd4703bbee94cf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43efea73614d73" /><Relationship Type="http://schemas.openxmlformats.org/officeDocument/2006/relationships/notesMaster" Target="/ppt/notesMasters/notesMaster1.xml" Id="R59c66dfde7af4c0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ab5f33fa4be4401" /><Relationship Type="http://schemas.openxmlformats.org/officeDocument/2006/relationships/notesMaster" Target="/ppt/notesMasters/notesMaster1.xml" Id="R5d22a626eee9432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2f3b35f04f34d1b" /><Relationship Type="http://schemas.openxmlformats.org/officeDocument/2006/relationships/notesMaster" Target="/ppt/notesMasters/notesMaster1.xml" Id="R43ae4b6bdcb84af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76595c4a1b54c95" /><Relationship Type="http://schemas.openxmlformats.org/officeDocument/2006/relationships/notesMaster" Target="/ppt/notesMasters/notesMaster1.xml" Id="R5ed067911e054b0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00079430e37410c" /><Relationship Type="http://schemas.openxmlformats.org/officeDocument/2006/relationships/notesMaster" Target="/ppt/notesMasters/notesMaster1.xml" Id="Rc490cd0ec34e464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ce4db101c04438a" /><Relationship Type="http://schemas.openxmlformats.org/officeDocument/2006/relationships/notesMaster" Target="/ppt/notesMasters/notesMaster1.xml" Id="Ree1986e66486418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7b6c447a5a848d2" /><Relationship Type="http://schemas.openxmlformats.org/officeDocument/2006/relationships/notesMaster" Target="/ppt/notesMasters/notesMaster1.xml" Id="Rbccb705904a44e9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c69ce71d71b4d73" /><Relationship Type="http://schemas.openxmlformats.org/officeDocument/2006/relationships/notesMaster" Target="/ppt/notesMasters/notesMaster1.xml" Id="Rfd244efd740d4a5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f4e4049c54c47e9" /><Relationship Type="http://schemas.openxmlformats.org/officeDocument/2006/relationships/notesMaster" Target="/ppt/notesMasters/notesMaster1.xml" Id="Recf3670e7fc84e7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1cdbcaa7c0d451c" /><Relationship Type="http://schemas.openxmlformats.org/officeDocument/2006/relationships/notesMaster" Target="/ppt/notesMasters/notesMaster1.xml" Id="R383b58161d6041e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78864e31c4f4400" /><Relationship Type="http://schemas.openxmlformats.org/officeDocument/2006/relationships/notesMaster" Target="/ppt/notesMasters/notesMaster1.xml" Id="Re8dfb667702941c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1af3b3f67e24808" /><Relationship Type="http://schemas.openxmlformats.org/officeDocument/2006/relationships/notesMaster" Target="/ppt/notesMasters/notesMaster1.xml" Id="Rad86a6ca160a4d2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4eb17d7101f44eb" /><Relationship Type="http://schemas.openxmlformats.org/officeDocument/2006/relationships/notesMaster" Target="/ppt/notesMasters/notesMaster1.xml" Id="Rc9c67390293e433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acb0a45c6a643a1" /><Relationship Type="http://schemas.openxmlformats.org/officeDocument/2006/relationships/notesMaster" Target="/ppt/notesMasters/notesMaster1.xml" Id="R2326882192414ee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07fe570de4e43f5" /><Relationship Type="http://schemas.openxmlformats.org/officeDocument/2006/relationships/notesMaster" Target="/ppt/notesMasters/notesMaster1.xml" Id="R44693b97147a47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10 do dbt Moderno na Prática. Hoje vamos trabalhar o tema “FinOps do pipeline”. Menos recomputação sem mudar o resultado funcional.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10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“Otimização só é válida quando o resultado continua igual ao full build.”.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Otimização só é válida quando o resultado continua igual ao full build.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corrigir incremental, Medir linhas e duração e Usar microbatch somente quando fizer sentido.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“Custo precisa de uma equação”.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Compute × tempo não é o único componente. Para tornar isso concreto, observe compute e duração, Storage e orquestração e Retries e retrabalho.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“Incremental exige filtro e chave”.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merge sem is_incremental() ainda lê todo o histórico. Para tornar isso concreto, observe unique_key, Filtro de candidatos e Equivalência com full refresh.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“Incremental exige filtro e chave”.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merge sem is_incremental() ainda lê todo o histórico. Siga a composição na ordem mostrada e conecte fonte, Filtro, Merge e Tabela.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diagrama oficial mostra a redução de leitura”.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Registros existentes permanecem; somente novos candidatos entram. Para tornar isso concreto, observe estado existente, Novos registros e Resultado acumulado.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diagrama oficial mostra a redução de leitura”.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Registros existentes permanecem; somente novos candidatos entram. Siga a composição na ordem mostrada e conecte os elementos principais. A imagem ou o fluxo não cria uma regra nova; ele torna visível a relação que acabamos de explicar. A figura é identificada como figura oficial da documentação dbt — Apache 2.0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“Microbatch precisa de event_time”.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Lotes temporais só ajudam quando evento, janela e backfill são mensuráveis. Para tornar isso concreto, observe event_time, batch_size e lookback.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“Microbatch precisa de event_time”.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Lotes temporais só ajudam quando evento, janela e backfill são mensuráveis. Siga a composição na ordem mostrada e conecte os elementos principais. A imagem ou o fluxo não cria uma regra nova; ele torna visível a relação que acabamos de explicar. A figura é identificada como figura oficial da documentação dbt — Apache 2.0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“Materialização muda o perfil de custo”.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View, table e incremental trocam compute, storage e latência. Para tornar isso concreto, observe view: compute na leitura, Table: compute na construção e Incremental: estado e complexidade.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“Materialização muda o perfil de custo”.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View, table e incremental trocam compute, storage e latência. Siga a composição na ordem mostrada e conecte view, Table, View: compute na leitura, Table: compute na construção e Incremental: estado e complexidade.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“Benchmark precisa de correção funcional”.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Linhas e segundos só importam depois de reconciliar o ground truth. Para tornar isso concreto, observe mesmo resultado, Menos linhas processadas e Duração normalizada.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“Benchmark precisa de correção funcional”.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Linhas e segundos só importam depois de reconciliar o ground truth. Siga a composição na ordem mostrada e conecte correção, Volume e Tempo.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10.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full build registrado, Incremental com lote novo e Resultados reconciliados.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Equivalência funcional + redução mensurável. Esse resultado confirma que a etapa executada produziu a evidência esperada para o checkpoint 10.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regra testada, FinOps: custo observado e IA: tabela previsível.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“70%”.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70%: redução de consumo reportada pela Symend. O número ajuda a dimensionar o exemplo, mas precisa ser lido com a ressalva correta. Resultado da empresa/dbt Labs; não é expectativa universal.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duckDB não estima custo cloud, Microbatch adiciona complexidade e Benchmark varia por máquina.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Materialization v2 e engines novas só entram depois de evidência estável.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Compare full e incremental e prove igualdade antes de falar em economia.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10.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b5dbc2f9bb48e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29c72956a1d416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fbbce327aad4b3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66e72d4c274476" /><Relationship Type="http://schemas.openxmlformats.org/officeDocument/2006/relationships/slideLayout" Target="/ppt/slideLayouts/slideLayout1.xml" Id="Rec693b0831994458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c0ae0a16fd1442cd" /><Relationship Type="http://schemas.openxmlformats.org/officeDocument/2006/relationships/slideLayout" Target="/ppt/slideLayouts/slideLayout2.xml" Id="R69a28ffb351e4788" /><Relationship Type="http://schemas.openxmlformats.org/officeDocument/2006/relationships/slideLayout" Target="/ppt/slideLayouts/slideLayout3.xml" Id="R6ce0972fb4fd48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693b08319944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69a28ffb351e4788"/>
    <p:sldLayoutId xmlns:r="http://schemas.openxmlformats.org/officeDocument/2006/relationships" id="2147483652" r:id="R6ce0972fb4fd48c0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321e2f0d1e4c69" /><Relationship Type="http://schemas.openxmlformats.org/officeDocument/2006/relationships/image" Target="/ppt/media/image.jpeg" Id="R6fdedd458ce540bc" /><Relationship Type="http://schemas.openxmlformats.org/officeDocument/2006/relationships/image" Target="/ppt/media/image.png" Id="Rc095eb5088c24f29" /><Relationship Type="http://schemas.openxmlformats.org/officeDocument/2006/relationships/notesSlide" Target="/ppt/notesSlides/notesSlide1.xml" Id="R094042cbd3714b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978096bd9a04295" /><Relationship Type="http://schemas.openxmlformats.org/officeDocument/2006/relationships/image" Target="/ppt/media/image2.png" Id="R0f0c07f2d5b24acf" /><Relationship Type="http://schemas.openxmlformats.org/officeDocument/2006/relationships/image" Target="/ppt/media/image3.png" Id="R06bb8612f71a42df" /><Relationship Type="http://schemas.openxmlformats.org/officeDocument/2006/relationships/notesSlide" Target="/ppt/notesSlides/notesSlide2.xml" Id="R31e79ab23df541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4ca36014c04cdc" /><Relationship Type="http://schemas.openxmlformats.org/officeDocument/2006/relationships/image" Target="/ppt/media/image4.png" Id="R8b439e46207145c3" /><Relationship Type="http://schemas.openxmlformats.org/officeDocument/2006/relationships/notesSlide" Target="/ppt/notesSlides/notesSlide3.xml" Id="Rd619799a530f4c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e839cffd1e42ba" /><Relationship Type="http://schemas.openxmlformats.org/officeDocument/2006/relationships/image" Target="/ppt/media/image5.png" Id="R6fc7e10597e64737" /><Relationship Type="http://schemas.openxmlformats.org/officeDocument/2006/relationships/notesSlide" Target="/ppt/notesSlides/notesSlide4.xml" Id="R042fe0ed77314ef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4bcf2cc7bd243e4" /><Relationship Type="http://schemas.openxmlformats.org/officeDocument/2006/relationships/image" Target="/ppt/media/image6.png" Id="R6494da6ac1914480" /><Relationship Type="http://schemas.openxmlformats.org/officeDocument/2006/relationships/notesSlide" Target="/ppt/notesSlides/notesSlide5.xml" Id="R74a650a79447445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4df31320064567" /><Relationship Type="http://schemas.openxmlformats.org/officeDocument/2006/relationships/image" Target="/ppt/media/image7.png" Id="R0ccebd9535934fc8" /><Relationship Type="http://schemas.openxmlformats.org/officeDocument/2006/relationships/notesSlide" Target="/ppt/notesSlides/notesSlide6.xml" Id="R2db32c4b42ff4f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141b5036d2457b" /><Relationship Type="http://schemas.openxmlformats.org/officeDocument/2006/relationships/image" Target="/ppt/media/image8.png" Id="Rbe32256e55264b7a" /><Relationship Type="http://schemas.openxmlformats.org/officeDocument/2006/relationships/notesSlide" Target="/ppt/notesSlides/notesSlide7.xml" Id="R985c77f8845f43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18221ed1b124e02" /><Relationship Type="http://schemas.openxmlformats.org/officeDocument/2006/relationships/image" Target="/ppt/media/image9.png" Id="Rf72edd8681d541ba" /><Relationship Type="http://schemas.openxmlformats.org/officeDocument/2006/relationships/image" Target="/ppt/media/image10.png" Id="Rab384b330ba24053" /><Relationship Type="http://schemas.openxmlformats.org/officeDocument/2006/relationships/notesSlide" Target="/ppt/notesSlides/notesSlide8.xml" Id="R1cc1edaadb4047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faa34a927474e3a" /><Relationship Type="http://schemas.openxmlformats.org/officeDocument/2006/relationships/image" Target="/ppt/media/image11.png" Id="R1c2aa25696364fee" /><Relationship Type="http://schemas.openxmlformats.org/officeDocument/2006/relationships/notesSlide" Target="/ppt/notesSlides/notesSlide9.xml" Id="R433685447cd54fb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b8891f56864d78" /><Relationship Type="http://schemas.openxmlformats.org/officeDocument/2006/relationships/image" Target="/ppt/media/image12.png" Id="R9494e7c4ec2a4d2d" /><Relationship Type="http://schemas.openxmlformats.org/officeDocument/2006/relationships/image" Target="/ppt/media/image13.png" Id="R25bd3fe998244f58" /><Relationship Type="http://schemas.openxmlformats.org/officeDocument/2006/relationships/notesSlide" Target="/ppt/notesSlides/notesSlide10.xml" Id="R0bd76b9f45b5471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4a0cb8d992470c" /><Relationship Type="http://schemas.openxmlformats.org/officeDocument/2006/relationships/image" Target="/ppt/media/image14.png" Id="R7c7889ef90f04684" /><Relationship Type="http://schemas.openxmlformats.org/officeDocument/2006/relationships/notesSlide" Target="/ppt/notesSlides/notesSlide11.xml" Id="Red8b14d0baf8418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a27a16c9bb34f90" /><Relationship Type="http://schemas.openxmlformats.org/officeDocument/2006/relationships/image" Target="/ppt/media/image15.png" Id="R916a6f0ed96f4969" /><Relationship Type="http://schemas.openxmlformats.org/officeDocument/2006/relationships/notesSlide" Target="/ppt/notesSlides/notesSlide12.xml" Id="R78a94b23cc8c46c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27f7f873acc4d1c" /><Relationship Type="http://schemas.openxmlformats.org/officeDocument/2006/relationships/image" Target="/ppt/media/image16.png" Id="R4817b4c3d24d4651" /><Relationship Type="http://schemas.openxmlformats.org/officeDocument/2006/relationships/notesSlide" Target="/ppt/notesSlides/notesSlide13.xml" Id="R7efe3951a98540d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386187c3244c71" /><Relationship Type="http://schemas.openxmlformats.org/officeDocument/2006/relationships/image" Target="/ppt/media/image17.png" Id="R6306d09c013c447e" /><Relationship Type="http://schemas.openxmlformats.org/officeDocument/2006/relationships/notesSlide" Target="/ppt/notesSlides/notesSlide14.xml" Id="R9b40e3d458274c5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3eb4a3bb1b4b54" /><Relationship Type="http://schemas.openxmlformats.org/officeDocument/2006/relationships/image" Target="/ppt/media/image18.png" Id="R039b58d1bc894554" /><Relationship Type="http://schemas.openxmlformats.org/officeDocument/2006/relationships/notesSlide" Target="/ppt/notesSlides/notesSlide15.xml" Id="R7089de2107404a9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46707fce1214c80" /><Relationship Type="http://schemas.openxmlformats.org/officeDocument/2006/relationships/image" Target="/ppt/media/image19.png" Id="R0719cb0aa258429e" /><Relationship Type="http://schemas.openxmlformats.org/officeDocument/2006/relationships/notesSlide" Target="/ppt/notesSlides/notesSlide16.xml" Id="Rd74e14dd44c64e9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76ce997be74ad4" /><Relationship Type="http://schemas.openxmlformats.org/officeDocument/2006/relationships/image" Target="/ppt/media/image20.png" Id="R2dd9129137db4aa8" /><Relationship Type="http://schemas.openxmlformats.org/officeDocument/2006/relationships/notesSlide" Target="/ppt/notesSlides/notesSlide17.xml" Id="R21df9c601e444e2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6db0f02e73d4aec" /><Relationship Type="http://schemas.openxmlformats.org/officeDocument/2006/relationships/image" Target="/ppt/media/image21.png" Id="Ra3b2ae68b865453e" /><Relationship Type="http://schemas.openxmlformats.org/officeDocument/2006/relationships/notesSlide" Target="/ppt/notesSlides/notesSlide18.xml" Id="R671fe30d10154f2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5ac5f8fdff4457" /><Relationship Type="http://schemas.openxmlformats.org/officeDocument/2006/relationships/image" Target="/ppt/media/image22.png" Id="Re083481719094372" /><Relationship Type="http://schemas.openxmlformats.org/officeDocument/2006/relationships/notesSlide" Target="/ppt/notesSlides/notesSlide19.xml" Id="R5bf3b936051a435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59db11a6a8d4db3" /><Relationship Type="http://schemas.openxmlformats.org/officeDocument/2006/relationships/image" Target="/ppt/media/image23.png" Id="Rededb16b6842472a" /><Relationship Type="http://schemas.openxmlformats.org/officeDocument/2006/relationships/notesSlide" Target="/ppt/notesSlides/notesSlide20.xml" Id="R4846a2233c2f436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bcca86cb7946e5" /><Relationship Type="http://schemas.openxmlformats.org/officeDocument/2006/relationships/image" Target="/ppt/media/image24.png" Id="R42702b827bad4218" /><Relationship Type="http://schemas.openxmlformats.org/officeDocument/2006/relationships/notesSlide" Target="/ppt/notesSlides/notesSlide21.xml" Id="Rf3be4b4396be4b6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24ff20381ce457e" /><Relationship Type="http://schemas.openxmlformats.org/officeDocument/2006/relationships/image" Target="/ppt/media/image25.png" Id="Rab71f4af0f134c21" /><Relationship Type="http://schemas.openxmlformats.org/officeDocument/2006/relationships/notesSlide" Target="/ppt/notesSlides/notesSlide22.xml" Id="R64d6e16d07644219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 descr="Ilustração conceitual autoral da capa: EPISÓDIO 10 — FinOps do pipelin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dedd458ce540bc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95075E77-85E1-43B2-927A-FB11177E7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9E0C4CD0-3D2A-45A6-AAAC-68C2D763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7FC87B0D-02D6-4D5A-9886-F53037C7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10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3CC556D-74DB-4FBE-B582-F7C1EE0A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8" name="" descr="Ilustração conceitual autoral da capa: EPISÓDIO 10 — FinOps do pipelin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5eb5088c24f29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4439576-92EF-48CD-B2D1-38F63F1F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FinOps do pipeline</a:t>
            </a:r>
          </a:p>
        </p:txBody>
      </p:sp>
      <p:sp>
        <p:nvSpPr>
          <p:cNvPr id="8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1D6B50E-E2BE-4289-BDA0-E38158AE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Menos recomputação sem mudar o resultado funcional</a:t>
            </a:r>
          </a:p>
        </p:txBody>
      </p:sp>
      <p:sp>
        <p:nvSpPr>
          <p:cNvPr id="9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8A2C9B85-0E94-4C17-BC23-103C52EA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10" name="cover-meta">
            <a:extLst xmlns:a="http://schemas.openxmlformats.org/drawingml/2006/main">
              <a:ext uri="{FF2B5EF4-FFF2-40B4-BE49-F238E27FC236}">
                <a16:creationId xmlns:a16="http://schemas.microsoft.com/office/drawing/2014/main" id="{5286F77C-9446-46CE-AFBD-3E5B327C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10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13150452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ok">
            <a:extLst xmlns:a="http://schemas.openxmlformats.org/drawingml/2006/main">
              <a:ext uri="{FF2B5EF4-FFF2-40B4-BE49-F238E27FC236}">
                <a16:creationId xmlns:a16="http://schemas.microsoft.com/office/drawing/2014/main" id="{F1D3824D-0ABD-4460-8431-F0DD8EE9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Otimização só é válida quando o resultado continua igual ao full build.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E8F17DC4-03D8-4794-86BA-275E6B38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5B57F211-363B-4DFB-B09A-B5841B0C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FDC90EBA-5552-471B-A66A-6A146720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9" name="" descr="Diagrama didático autoral que apresenta: Otimização só é válida quando o resultado continua igual ao full build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0c07f2d5b24acf"/>
          <a:stretch xmlns:a="http://schemas.openxmlformats.org/drawingml/2006/main"/>
        </p:blipFill>
        <p:spPr>
          <a:xfrm xmlns:a="http://schemas.openxmlformats.org/drawingml/2006/main">
            <a:off x="3996480" y="3790950"/>
            <a:ext cx="4199039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025CCBCB-3FFC-4D7A-AB5C-D8586DF1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CE451DE3-55C5-44AD-88E3-C6C832AF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Diagrama didático autoral que apresenta: Otimização só é válida quando o resultado continua igual ao full build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b8612f71a42df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F3A340C-C746-420B-B5F0-644C9D8D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83685053-B162-43CE-9422-97E4528F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1DEAEB7-4A9F-426A-9450-678C4BBB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2/22</a:t>
            </a:r>
          </a:p>
        </p:txBody>
      </p:sp>
    </p:spTree>
    <p:extLst>
      <p:ext uri="{BB962C8B-B14F-4D97-AF65-F5344CB8AC3E}">
        <p14:creationId xmlns:p14="http://schemas.microsoft.com/office/powerpoint/2010/main" val="468466969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D01879-83D4-4BD3-BF3D-5C04E5EE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2E494A49-17D0-4007-95DF-6E8BFF8A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506EFC47-12E1-47FE-9A3B-8F207A667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Corrigir incremental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8722C23F-7608-4F00-B3DB-5941CAFA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2797BE57-EE22-439A-A873-73428BD4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B9BEAC34-EBB2-4430-98A5-BEE0921C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Medir linhas e duração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C6401E3B-90FE-4E9B-A130-B46DFBED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AA27E098-3E30-4455-97A9-C427A765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3327B077-38D3-4DDC-A3E4-87CE5502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Usar microbatch somente quando fizer sentido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81B0112B-6E26-4799-8E66-A591CE0C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4B1714C3-440F-4B36-A316-8AFB43B1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Ao final, você consegue...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439e46207145c3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D14FD14-C7E6-4D8A-9F08-91FF1AF8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954043C1-D750-4D86-A96F-E89F9569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9996F1D-4C3C-4C6D-9674-90BF9485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3/22</a:t>
            </a:r>
          </a:p>
        </p:txBody>
      </p:sp>
    </p:spTree>
    <p:extLst>
      <p:ext uri="{BB962C8B-B14F-4D97-AF65-F5344CB8AC3E}">
        <p14:creationId xmlns:p14="http://schemas.microsoft.com/office/powerpoint/2010/main" val="1018216146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B0D549-0C9C-42AE-9BA8-5DA87D32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Custo precisa de uma equação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759AB3B-8194-4929-BA76-2D0B7D17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Compute × tempo não é o único componente.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CFB1DB5A-9163-446F-8AF8-2ABB4E27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Compute e duração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Storage e orquestração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Retries e retrabalho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51191881-2784-486F-A5CC-DCB08786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CEE046E0-E8B6-47FE-8815-F8EA67A2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3E17141-4979-46B8-BA85-A739F2B1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6960B3C4-9589-46A6-B725-56262037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82E40D54-DFAC-46A9-9E5F-F9494395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Custo precisa de uma equação — Compute × tempo não é o único componente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c7e10597e64737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8E36941-00E7-40CA-971C-C265993E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3C3363AA-FD71-4578-B3E2-941D9CBB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B6EFC87-60BD-4D6A-AAB0-806B06D7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4/22</a:t>
            </a:r>
          </a:p>
        </p:txBody>
      </p:sp>
    </p:spTree>
    <p:extLst>
      <p:ext uri="{BB962C8B-B14F-4D97-AF65-F5344CB8AC3E}">
        <p14:creationId xmlns:p14="http://schemas.microsoft.com/office/powerpoint/2010/main" val="6620638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60F48B6-1D22-432F-BCE7-140950D1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Incremental exige filtro e chave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9AA1004-1388-4AF7-8779-363856A1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merge sem is_incremental() ainda lê todo o histórico.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EFB36FDE-9E8A-4D13-BA4C-BB270717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unique_key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Filtro de candidatos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Equivalência com full refresh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DF999E8-825D-48F6-BA69-BF04DED7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9803B4CD-B1FA-494F-B806-6A7197E0C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ADBD4BA0-7C40-4019-BACF-48076C3E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8EF26201-62EE-4F8D-A5FE-221FAF4A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7F51B664-3503-4703-AC24-50A0FC64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Incremental exige filtro e chave — merge sem is_incremental() ainda lê todo o históric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94da6ac1914480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2653D90-2594-462F-B9F2-4D533AE2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BD9DABAF-91A9-47D8-8153-E4F33B9C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1D84CC5-71BE-45CB-B7F5-CCF58ECE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5/22</a:t>
            </a:r>
          </a:p>
        </p:txBody>
      </p:sp>
    </p:spTree>
    <p:extLst>
      <p:ext uri="{BB962C8B-B14F-4D97-AF65-F5344CB8AC3E}">
        <p14:creationId xmlns:p14="http://schemas.microsoft.com/office/powerpoint/2010/main" val="1319416490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4A521F3-57DB-4375-8CA9-DB297136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Incremental exige filtro e chave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88F81CD8-1F33-474A-89EE-93837C5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Fonte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B177BE72-4E09-4158-88BF-97CB42CE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Filtro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CA3D50F8-3B25-4F5A-833D-18C5C157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Merge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54B9E5AB-A3EC-4FA3-B5F7-98FCD64B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Tabela</a:t>
            </a:r>
          </a:p>
        </p:txBody>
      </p:sp>
      <p:cxnSp>
        <p:nvCxnSpPr>
          <p:cNvPr id="29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0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1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8D1A4360-6E40-40EF-AE3B-8D83F7DE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10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3BC6DD8-AB3A-4F86-A85A-9BEB0451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34" name="" descr="Figura oficial da documentação dbt usada para explicar: Incremental exige filtro e chave — Font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cebd9535934fc8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4079628-D01B-4674-885F-03422D98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3E152B63-5508-4F3A-948D-76AF500D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63D062C-AAC2-4D00-8621-9373DEBD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6/22</a:t>
            </a:r>
          </a:p>
        </p:txBody>
      </p:sp>
    </p:spTree>
    <p:extLst>
      <p:ext uri="{BB962C8B-B14F-4D97-AF65-F5344CB8AC3E}">
        <p14:creationId xmlns:p14="http://schemas.microsoft.com/office/powerpoint/2010/main" val="481312490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D543D94-9135-431E-A698-87C890A2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O diagrama oficial mostra a redução de leitura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987D448-33F6-48C1-B9B1-C6079FC4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Registros existentes permanecem; somente novos candidatos entram.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45FB840F-BDF1-4752-A9D2-0E347B50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Estado existente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Novos registros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Resultado acumulado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FB58F83E-5D7A-4C37-B813-52373F35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9FC330F-00CA-46F0-83F6-EDCDF2B4F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3749EED5-310D-4E62-A3DC-397F6324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77A5786D-B14C-4056-820E-B517FF0A8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EE622E3C-5A98-401E-8CC3-DF4B9790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O diagrama oficial mostra a redução de leitura — Registros existentes permanecem; somente novos candidatos entram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32256e55264b7a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940C194-C9DF-4C10-B09A-9671EBE7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FFC275B1-7C27-4FFA-97D8-661DB1C8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EDBF01D-7195-46E7-B351-DB693F7C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7/22</a:t>
            </a:r>
          </a:p>
        </p:txBody>
      </p:sp>
    </p:spTree>
    <p:extLst>
      <p:ext uri="{BB962C8B-B14F-4D97-AF65-F5344CB8AC3E}">
        <p14:creationId xmlns:p14="http://schemas.microsoft.com/office/powerpoint/2010/main" val="2868527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4E57B9F-CA41-4899-88FA-2E535250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diagrama oficial mostra a redução de leitura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B1D28455-393D-4E89-9F17-4425C336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Registros existentes permanecem; somente novos candidatos entram.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4682C094-A81F-400B-8AEB-F603EBFF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8" name="" descr="Figura oficial da documentação dbt usada para explicar: O diagrama oficial mostra a redução de leitura — Registros existentes permanecem; somente novos candidatos entram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2edd8681d541ba"/>
          <a:stretch xmlns:a="http://schemas.openxmlformats.org/drawingml/2006/main"/>
        </p:blipFill>
        <p:spPr>
          <a:xfrm xmlns:a="http://schemas.openxmlformats.org/drawingml/2006/main">
            <a:off x="5429250" y="2162031"/>
            <a:ext cx="5791200" cy="2629187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3418A2BE-5472-43D5-90E7-20828949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da documentação dbt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BAF1D840-1737-4163-B425-2CD7C880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04CFFABB-80CC-47CB-A9C0-7EB8FD97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Figura oficial da documentação dbt usada para explicar: O diagrama oficial mostra a redução de leitura — Registros existentes permanecem; somente novos candidatos entram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384b330ba24053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D5F2E3C-FD7C-4A42-8F3C-E695E0D0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91004C18-8502-468F-B77A-004CCB19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7202F0-ED3E-4B45-B80D-DE2D692D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8/22</a:t>
            </a:r>
          </a:p>
        </p:txBody>
      </p:sp>
    </p:spTree>
    <p:extLst>
      <p:ext uri="{BB962C8B-B14F-4D97-AF65-F5344CB8AC3E}">
        <p14:creationId xmlns:p14="http://schemas.microsoft.com/office/powerpoint/2010/main" val="273177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F6B66B0-7805-40D9-AD93-6CDBF9CB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Microbatch precisa de event_time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EE5989F-A681-4103-A1BB-7FBCEF1C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Lotes temporais só ajudam quando evento, janela e backfill são mensuráveis.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F4A210AF-D865-4C05-9B71-4951370E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event_time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batch_size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lookback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48DF4B9-6B00-4CBD-9C3F-05595431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BBF7400-956E-4B7F-8D42-CB3DDF56C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A13DF3B6-FECB-425B-B718-0CCD22D5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B7B0C5A9-98C9-416B-8C5F-FEE81C49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59A1E9A9-C397-4454-A576-C1699F71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Microbatch precisa de event_time — Lotes temporais só ajudam quando evento, janela e backfill são mensurávei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2aa25696364fee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A5D6229-CA8F-4614-92F2-B79D1D61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2551FA7E-18ED-4E44-8AC1-EB76BC8E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FB8E8CB-CBB6-4B0F-B1DD-29079408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9/22</a:t>
            </a:r>
          </a:p>
        </p:txBody>
      </p:sp>
    </p:spTree>
    <p:extLst>
      <p:ext uri="{BB962C8B-B14F-4D97-AF65-F5344CB8AC3E}">
        <p14:creationId xmlns:p14="http://schemas.microsoft.com/office/powerpoint/2010/main" val="1932553414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ADE750D-C480-4D05-97BA-874A1517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Microbatch precisa de event_time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9CE594AC-5516-4AED-AD93-B3961560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Lotes temporais só ajudam quando evento, janela e backfill são mensuráveis.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A9FC3762-0FB5-4D17-8704-C48790D7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8" name="" descr="Figura oficial da documentação dbt usada para explicar: Microbatch precisa de event_time — Lotes temporais só ajudam quando evento, janela e backfill são mensurávei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94e7c4ec2a4d2d"/>
          <a:stretch xmlns:a="http://schemas.openxmlformats.org/drawingml/2006/main"/>
        </p:blipFill>
        <p:spPr>
          <a:xfrm xmlns:a="http://schemas.openxmlformats.org/drawingml/2006/main">
            <a:off x="5429250" y="2581784"/>
            <a:ext cx="5791200" cy="1789683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E8D81677-404A-41BB-AA59-B9592A2B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da documentação dbt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DDDEA0CE-2BF4-46E4-B3FD-9DFEE6882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0B106F74-4462-488E-9CBA-CCB3915F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Figura oficial da documentação dbt usada para explicar: Microbatch precisa de event_time — Lotes temporais só ajudam quando evento, janela e backfill são mensurávei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bd3fe998244f58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B2F55F0-7BE1-41C5-9125-78BDC4AC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98DEE10E-6A5B-4B30-A7FD-03A78F64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ADB8EB7-0BB2-4B56-AE45-013A99E0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10/22</a:t>
            </a:r>
          </a:p>
        </p:txBody>
      </p:sp>
    </p:spTree>
    <p:extLst>
      <p:ext uri="{BB962C8B-B14F-4D97-AF65-F5344CB8AC3E}">
        <p14:creationId xmlns:p14="http://schemas.microsoft.com/office/powerpoint/2010/main" val="958676886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7F8071F-DEBB-4632-B0F8-DB503697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Materialização muda o perfil de custo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ED59B47-A128-4ADB-8B01-460AB765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View, table e incremental trocam compute, storage e latência.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B0465788-356E-43A4-9003-0948B8A7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View: compute na leitura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Table: compute na construção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Incremental: estado e complexidade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F3768D73-195A-4836-8FA1-DE19BD5E6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B42236BA-7C9E-4731-9801-0539A2972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703ADF92-796B-44F8-AA5B-467417D3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148C5F88-EE05-4EDF-B1DC-46B5F361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1D032198-1B35-4459-B8F3-D2F9F31C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Materialização muda o perfil de custo — View, table e incremental trocam compute, storage e latênci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7889ef90f04684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B18F6F5-BC07-4D3D-9AC3-8EAC0507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0401F8FC-806E-42CC-8A26-17599A8C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1CD96CE-A28B-46FD-86F0-5DBA4C0F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11/22</a:t>
            </a:r>
          </a:p>
        </p:txBody>
      </p:sp>
    </p:spTree>
    <p:extLst>
      <p:ext uri="{BB962C8B-B14F-4D97-AF65-F5344CB8AC3E}">
        <p14:creationId xmlns:p14="http://schemas.microsoft.com/office/powerpoint/2010/main" val="2392587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2A3B25F-99CE-4E77-9E61-011771B9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Materialização muda o perfil de custo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735FC51C-C6A1-4B61-B6E4-1A7A821B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View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E1F46959-49D8-4D7F-8DDD-3469A536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Table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8D65DB49-446A-4993-914E-14DD98D7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6F4BEF23-907F-4231-9C5A-91FD4F7C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View: compute na leitura</a:t>
            </a:r>
          </a:p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Table: compute na construção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A4B3A9C6-5DA4-4095-B276-234BF499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Incremental: estado e complexidade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0C07E8C1-B74A-45D7-977E-715A56C0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325AC925-5209-4E05-82E9-09A0C4722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Materialização muda o perfil de custo — View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6a6f0ed96f4969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97A0183-4857-4D7D-A114-42EC31FD5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F476B8CD-0B20-476D-836B-2C77BC73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9025DE-0041-49D7-84B9-720D3586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12/22</a:t>
            </a:r>
          </a:p>
        </p:txBody>
      </p:sp>
    </p:spTree>
    <p:extLst>
      <p:ext uri="{BB962C8B-B14F-4D97-AF65-F5344CB8AC3E}">
        <p14:creationId xmlns:p14="http://schemas.microsoft.com/office/powerpoint/2010/main" val="12373196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7F7017-B5D7-44A0-B60B-43980D3E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Benchmark precisa de correção funcional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B47CCCE-1B79-4407-A761-F138F27F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Linhas e segundos só importam depois de reconciliar o ground truth.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9E18AE79-81E6-49E1-A507-F140BAB6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Mesmo resultado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Menos linhas processadas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Duração normalizada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90A63E23-CDC9-4E3D-BCAA-673879B9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E51F33E3-DE7E-4EB3-9F12-6F1F96A3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CED90D8-6A02-4639-92A7-FEBD298A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06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729D228-86CE-41E7-8C02-4F96D8C5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2C8D7E5F-3901-4BDF-A5C2-992672B6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Benchmark precisa de correção funcional — Linhas e segundos só importam depois de reconciliar o ground truth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7b4c3d24d4651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988B5DB-F93C-4C05-AD8C-1F6FC730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40200F9B-9E41-46BF-B19C-1CBC52BA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8FB047-A567-4A22-9E92-39611BFF1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13/22</a:t>
            </a:r>
          </a:p>
        </p:txBody>
      </p:sp>
    </p:spTree>
    <p:extLst>
      <p:ext uri="{BB962C8B-B14F-4D97-AF65-F5344CB8AC3E}">
        <p14:creationId xmlns:p14="http://schemas.microsoft.com/office/powerpoint/2010/main" val="215778454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775C226-B713-4C7B-9F70-7E7338E17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Benchmark precisa de correção funcional</a:t>
            </a:r>
          </a:p>
        </p:txBody>
      </p:sp>
      <p:sp>
        <p:nvSpPr>
          <p:cNvPr id="2" name="status-dot-1">
            <a:extLst xmlns:a="http://schemas.openxmlformats.org/drawingml/2006/main">
              <a:ext uri="{FF2B5EF4-FFF2-40B4-BE49-F238E27FC236}">
                <a16:creationId xmlns:a16="http://schemas.microsoft.com/office/drawing/2014/main" id="{64807E41-E0AB-4F1A-AD61-EC9694D3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BE8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" name="status-label-1">
            <a:extLst xmlns:a="http://schemas.openxmlformats.org/drawingml/2006/main">
              <a:ext uri="{FF2B5EF4-FFF2-40B4-BE49-F238E27FC236}">
                <a16:creationId xmlns:a16="http://schemas.microsoft.com/office/drawing/2014/main" id="{9C5055AE-A30C-455F-8F69-6172B414A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Correção</a:t>
            </a:r>
          </a:p>
        </p:txBody>
      </p:sp>
      <p:sp>
        <p:nvSpPr>
          <p:cNvPr id="4" name="status-dot-2">
            <a:extLst xmlns:a="http://schemas.openxmlformats.org/drawingml/2006/main">
              <a:ext uri="{FF2B5EF4-FFF2-40B4-BE49-F238E27FC236}">
                <a16:creationId xmlns:a16="http://schemas.microsoft.com/office/drawing/2014/main" id="{828F9C1F-3805-4BF7-958E-B60055E0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status-label-2">
            <a:extLst xmlns:a="http://schemas.openxmlformats.org/drawingml/2006/main">
              <a:ext uri="{FF2B5EF4-FFF2-40B4-BE49-F238E27FC236}">
                <a16:creationId xmlns:a16="http://schemas.microsoft.com/office/drawing/2014/main" id="{959928D8-591D-49C5-9952-A85415C6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Volume</a:t>
            </a:r>
          </a:p>
        </p:txBody>
      </p:sp>
      <p:sp>
        <p:nvSpPr>
          <p:cNvPr id="6" name="status-dot-3">
            <a:extLst xmlns:a="http://schemas.openxmlformats.org/drawingml/2006/main">
              <a:ext uri="{FF2B5EF4-FFF2-40B4-BE49-F238E27FC236}">
                <a16:creationId xmlns:a16="http://schemas.microsoft.com/office/drawing/2014/main" id="{FD66B997-D463-495B-81E7-3DA09220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B5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status-label-3">
            <a:extLst xmlns:a="http://schemas.openxmlformats.org/drawingml/2006/main">
              <a:ext uri="{FF2B5EF4-FFF2-40B4-BE49-F238E27FC236}">
                <a16:creationId xmlns:a16="http://schemas.microsoft.com/office/drawing/2014/main" id="{20BBCEB9-28D8-4039-B566-2A4FA29E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Tempo</a:t>
            </a:r>
          </a:p>
        </p:txBody>
      </p:sp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2FE280EE-6772-4440-8D6C-C8A08E966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9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37A5A38-A549-44B6-A0F0-F429901F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5" name="" descr="Figura oficial da documentação dbt usada para explicar: Benchmark precisa de correção funcional — Correçã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6d09c013c447e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4ED028A-CAB4-4D31-8935-EF699FC6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195E7E61-5AAA-42F0-91BD-69F435F0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D6D5E82-14EA-4AAA-900F-050FD0CDA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14/22</a:t>
            </a:r>
          </a:p>
        </p:txBody>
      </p:sp>
    </p:spTree>
    <p:extLst>
      <p:ext uri="{BB962C8B-B14F-4D97-AF65-F5344CB8AC3E}">
        <p14:creationId xmlns:p14="http://schemas.microsoft.com/office/powerpoint/2010/main" val="1669332043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EE8C4A0-FD21-4AA8-932B-F25BD66D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ACA4A9B8-CD48-438C-BC4E-F209203D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52703AA5-521B-4062-8BBB-0C0EC16C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10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1568DEAC-6EFA-4A05-8901-6E4845C0A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56A3791C-744B-4CFA-9DC3-5E664594E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25373254-080F-442A-A4B6-C0634EE9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Demonstração — execute — python course.py checkpoint 10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9b58d1bc894554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47D7B19-1281-437F-9291-370985CEC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45B8F670-20B9-4BAB-A77C-7171F98A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DF6B953-8A35-43E6-B286-3D4EC2EA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15/22</a:t>
            </a:r>
          </a:p>
        </p:txBody>
      </p:sp>
    </p:spTree>
    <p:extLst>
      <p:ext uri="{BB962C8B-B14F-4D97-AF65-F5344CB8AC3E}">
        <p14:creationId xmlns:p14="http://schemas.microsoft.com/office/powerpoint/2010/main" val="26576633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3555AB-C37E-401A-AA8A-5B6CDAB6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B44810FD-A503-4C4F-BF34-769B2A85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564D13F7-3CEB-4DB7-BC2A-1BC17400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Full build registrado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162E2153-113A-4B68-8E62-5B90FA2C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62030101-07F5-490D-9B8F-148444A7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00A2037F-A6D4-46C0-A794-06FB7D18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Incremental com lote novo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B3812073-4DB4-44C8-9397-428C1458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B181DE7C-E84E-4F4C-A919-45CFE1B49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A06FE43C-3065-4FDF-88D7-8EC83CCA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Resultados reconciliados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EE275B14-6231-47F8-9A38-B0573277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C002D08D-B952-4D19-AB11-693AE58C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Demonstração — observe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19cb0aa258429e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E2245C6-26B1-429A-9513-CE03BA11B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0F1274FD-AB56-4549-AFBB-DC8A3A48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5A2F6A-A473-4D2D-ACEE-1F6BC2D4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16/22</a:t>
            </a:r>
          </a:p>
        </p:txBody>
      </p:sp>
    </p:spTree>
    <p:extLst>
      <p:ext uri="{BB962C8B-B14F-4D97-AF65-F5344CB8AC3E}">
        <p14:creationId xmlns:p14="http://schemas.microsoft.com/office/powerpoint/2010/main" val="304561916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AAF3C16F-650A-4D9E-BB1F-138BB34C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E3703C86-40EC-419C-A494-F19658EF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Equivalência funcional + redução mensurável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97BBFD34-8A90-44CC-906C-5A329874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10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315BDC88-A36D-410F-9B72-796A47BB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5878062-B1FA-4A38-87A1-915BCE1D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5B2B87BF-53FE-4D8E-9192-7DFE10B1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818E29F0-7CDF-4779-B0A5-2441C885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ESULTADO ESPERADO — Equivalência funcional + redução mensurável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d9129137db4aa8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02DD8C5-9227-45B8-B068-DCF16154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54D01FCF-2D9E-4454-9B7A-085714FE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4F990DB-FBFE-4CE3-BE0D-F25DA629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17/22</a:t>
            </a:r>
          </a:p>
        </p:txBody>
      </p:sp>
    </p:spTree>
    <p:extLst>
      <p:ext uri="{BB962C8B-B14F-4D97-AF65-F5344CB8AC3E}">
        <p14:creationId xmlns:p14="http://schemas.microsoft.com/office/powerpoint/2010/main" val="108656888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3223B2-41FE-417D-B0EF-2A1038DF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A5C3D0DC-492C-403A-AFA7-948C7389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1F9A650A-CED6-4B34-8B0D-B89EFEC9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regra testada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9799F90B-5013-4001-8BD0-42787F8D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9DB41B53-3173-4476-A94C-89910505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33B44122-6B6B-4CC1-99B2-D6713E62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custo observado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116F5197-86F5-4E51-98C9-27B83E01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E5BB6DA0-D5A7-4781-8390-A19864BD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FB6527D9-EA96-491C-9D10-5AF1973E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tabela previsível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DA797E74-56CF-461F-859D-401F4947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73E11D8B-40CA-429F-848E-6E90D346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O mesmo recurso afeta três decisões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2ae68b865453e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73D66DC-0935-4402-A5DE-5A4BA9211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6C7F2F70-EDF7-4F69-A101-AF78F893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BCE91BF-D389-4507-A201-FF688E9D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18/22</a:t>
            </a:r>
          </a:p>
        </p:txBody>
      </p:sp>
    </p:spTree>
    <p:extLst>
      <p:ext uri="{BB962C8B-B14F-4D97-AF65-F5344CB8AC3E}">
        <p14:creationId xmlns:p14="http://schemas.microsoft.com/office/powerpoint/2010/main" val="1451388168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ase-number">
            <a:extLst xmlns:a="http://schemas.openxmlformats.org/drawingml/2006/main">
              <a:ext uri="{FF2B5EF4-FFF2-40B4-BE49-F238E27FC236}">
                <a16:creationId xmlns:a16="http://schemas.microsoft.com/office/drawing/2014/main" id="{36A87EC6-C7F0-49C7-BD54-9D14E4DA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70%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AC895115-01E3-471A-BB23-97AAB9DD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redução de consumo reportada pela Symend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96702B3A-E892-4B61-8553-DD13BB0A3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CF56BDE1-FBB7-41F2-9C7E-0E319A66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Resultado da empresa/dbt Labs; não é expectativa universal.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2EF1294B-D99D-4B5F-A9EA-A2DD60C4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46B3B93-0474-434C-B38A-5D9A9380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70% — redução de consumo reportada pela Symend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83481719094372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121531A-294D-4E12-A577-046A3A2C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A79AC38A-43F9-4BFC-B63F-712C76B8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1E9FB65-B161-48CB-92E9-A31B69C2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19/22</a:t>
            </a:r>
          </a:p>
        </p:txBody>
      </p:sp>
    </p:spTree>
    <p:extLst>
      <p:ext uri="{BB962C8B-B14F-4D97-AF65-F5344CB8AC3E}">
        <p14:creationId xmlns:p14="http://schemas.microsoft.com/office/powerpoint/2010/main" val="139145127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1FC3BC-8F0F-4B8A-8A1C-E21F51AC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D0CD5D47-BD0C-4432-8114-290E6DDE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DuckDB não estima custo cloud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Microbatch adiciona complexidade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Benchmark varia por máquina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4376FD98-8A07-46B2-ADDD-FBCA094B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4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AE1C85F8-AA02-4BB3-BCDA-A15A6B56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Limitações que precisam permanecer visíveis — • DuckDB não estima custo cloud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db16b6842472a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0D35D3F-C882-4846-82E2-7A755CF0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B9CB43F-2EDB-43B7-9D46-4B59BA1B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53C48EC-A5A6-4C93-B3B8-52AF9AA2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20/22</a:t>
            </a:r>
          </a:p>
        </p:txBody>
      </p:sp>
    </p:spTree>
    <p:extLst>
      <p:ext uri="{BB962C8B-B14F-4D97-AF65-F5344CB8AC3E}">
        <p14:creationId xmlns:p14="http://schemas.microsoft.com/office/powerpoint/2010/main" val="1925218540"/>
      </p:ext>
    </p:extLst>
  </p:cSld>
</p:sld>
</file>

<file path=ppt/slides/slide2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adar-label">
            <a:extLst xmlns:a="http://schemas.openxmlformats.org/drawingml/2006/main">
              <a:ext uri="{FF2B5EF4-FFF2-40B4-BE49-F238E27FC236}">
                <a16:creationId xmlns:a16="http://schemas.microsoft.com/office/drawing/2014/main" id="{E7D076C6-314C-4534-82B8-9C31E250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4C6C4B3C-84BD-45A0-8691-21C9ACA2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Materialization v2 e engines novas só entram depois de evidência estável.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94E2079E-3E9A-4C2B-8385-AB947F3F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B5CF633A-FFCA-430B-9AE5-D5EFC97B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B866D85-CB35-4307-B24F-6C234EB4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53C7C0FF-56CF-414F-B0CC-7EB6685C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803C01F6-BFFA-4AD4-B5E8-6919737F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ADAR — Materialization v2 e engines novas só entram depois de evidência estável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702b827bad4218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38EB80E-23CC-49AC-B80B-CB727337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047F63E1-44A0-4D22-BBEB-A5A61D88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1915017-3E07-466E-8EC0-F55030F1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21/22</a:t>
            </a:r>
          </a:p>
        </p:txBody>
      </p:sp>
    </p:spTree>
    <p:extLst>
      <p:ext uri="{BB962C8B-B14F-4D97-AF65-F5344CB8AC3E}">
        <p14:creationId xmlns:p14="http://schemas.microsoft.com/office/powerpoint/2010/main" val="153435954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ta-label">
            <a:extLst xmlns:a="http://schemas.openxmlformats.org/drawingml/2006/main">
              <a:ext uri="{FF2B5EF4-FFF2-40B4-BE49-F238E27FC236}">
                <a16:creationId xmlns:a16="http://schemas.microsoft.com/office/drawing/2014/main" id="{419CF8C7-B289-48E0-A6C2-2A7B7F2A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5DF47198-20D6-44A9-BB54-C7F6A749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Compare full e incremental e prove igualdade antes de falar em economia.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599ADBA7-F34F-4970-8BE6-43EC94BB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10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FD5C7AA-983E-4850-A05D-BB2D8521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7F6EA5A5-DF7C-4D60-A71E-828F48E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7" name="" descr="Figura oficial da documentação dbt usada para explicar: PRÓXIMO PASSO — Compare full e incremental e prove igualdade antes de falar em economi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71f4af0f134c21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7F9F463-D591-42D9-984E-E05BC63C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029D0700-AC28-430A-A347-B737D90A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B357DF4-B888-419E-A6D0-C5B0A0464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22/22</a:t>
            </a:r>
          </a:p>
        </p:txBody>
      </p:sp>
    </p:spTree>
    <p:extLst>
      <p:ext uri="{BB962C8B-B14F-4D97-AF65-F5344CB8AC3E}">
        <p14:creationId xmlns:p14="http://schemas.microsoft.com/office/powerpoint/2010/main" val="10551910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2026-09-02T16:14:52.7180000Z</dcterms:created>
  <dcterms:modified xsi:type="dcterms:W3CDTF">2026-09-02T16:14:52.7180000Z</dcterms:modified>
</coreProperties>
</file>