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395eac1318400f" /><Relationship Type="http://schemas.openxmlformats.org/officeDocument/2006/relationships/extended-properties" Target="/docProps/app.xml" Id="R442ddc7c4b084758" /><Relationship Type="http://schemas.openxmlformats.org/officeDocument/2006/relationships/officeDocument" Target="/ppt/presentation.xml" Id="R0f14cd7a8be2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31a59f61ae4a12"/>
    <p:sldMasterId xmlns:r="http://schemas.openxmlformats.org/officeDocument/2006/relationships" id="2147483650" r:id="R044f8102c0004c7b"/>
  </p:sldMasterIdLst>
  <p:notesMasterIdLst>
    <p:notesMasterId xmlns:r="http://schemas.openxmlformats.org/officeDocument/2006/relationships" r:id="Rbe7b4f059deb4496"/>
  </p:notesMasterIdLst>
  <p:sldIdLst>
    <p:sldId xmlns:r="http://schemas.openxmlformats.org/officeDocument/2006/relationships" id="256" r:id="R0aaeb443be714ce5"/>
    <p:sldId xmlns:r="http://schemas.openxmlformats.org/officeDocument/2006/relationships" id="257" r:id="R3a2779b56e04428f"/>
    <p:sldId xmlns:r="http://schemas.openxmlformats.org/officeDocument/2006/relationships" id="258" r:id="Rd53520d68fa74196"/>
    <p:sldId xmlns:r="http://schemas.openxmlformats.org/officeDocument/2006/relationships" id="259" r:id="Raf0d98e90bae4d59"/>
    <p:sldId xmlns:r="http://schemas.openxmlformats.org/officeDocument/2006/relationships" id="260" r:id="Rbe8bdcd2eee342e7"/>
    <p:sldId xmlns:r="http://schemas.openxmlformats.org/officeDocument/2006/relationships" id="261" r:id="R07adcedd62cf48ab"/>
    <p:sldId xmlns:r="http://schemas.openxmlformats.org/officeDocument/2006/relationships" id="262" r:id="Rbfdacd3be9ce499f"/>
    <p:sldId xmlns:r="http://schemas.openxmlformats.org/officeDocument/2006/relationships" id="263" r:id="Rcd16a1f5234747be"/>
    <p:sldId xmlns:r="http://schemas.openxmlformats.org/officeDocument/2006/relationships" id="264" r:id="R87b6ad048e054b61"/>
    <p:sldId xmlns:r="http://schemas.openxmlformats.org/officeDocument/2006/relationships" id="265" r:id="Rb97133f320bd4d7f"/>
    <p:sldId xmlns:r="http://schemas.openxmlformats.org/officeDocument/2006/relationships" id="266" r:id="R2919c99244b74fc2"/>
    <p:sldId xmlns:r="http://schemas.openxmlformats.org/officeDocument/2006/relationships" id="267" r:id="R489b43d524564083"/>
    <p:sldId xmlns:r="http://schemas.openxmlformats.org/officeDocument/2006/relationships" id="268" r:id="R776dc3c5da8d4b41"/>
    <p:sldId xmlns:r="http://schemas.openxmlformats.org/officeDocument/2006/relationships" id="269" r:id="Rf422510d37884925"/>
    <p:sldId xmlns:r="http://schemas.openxmlformats.org/officeDocument/2006/relationships" id="270" r:id="Rabbde62bad474e86"/>
    <p:sldId xmlns:r="http://schemas.openxmlformats.org/officeDocument/2006/relationships" id="271" r:id="R26ec58d25af8437e"/>
    <p:sldId xmlns:r="http://schemas.openxmlformats.org/officeDocument/2006/relationships" id="272" r:id="R2a8ab14520a74aeb"/>
    <p:sldId xmlns:r="http://schemas.openxmlformats.org/officeDocument/2006/relationships" id="273" r:id="R4f9e090203174315"/>
    <p:sldId xmlns:r="http://schemas.openxmlformats.org/officeDocument/2006/relationships" id="274" r:id="Re76da37e39904eaf"/>
    <p:sldId xmlns:r="http://schemas.openxmlformats.org/officeDocument/2006/relationships" id="275" r:id="Rb6cf4188e64141e1"/>
    <p:sldId xmlns:r="http://schemas.openxmlformats.org/officeDocument/2006/relationships" id="276" r:id="R5c4c7fc7c672465c"/>
    <p:sldId xmlns:r="http://schemas.openxmlformats.org/officeDocument/2006/relationships" id="277" r:id="R89e62bf755f4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4c5dbcadf45c5" /><Relationship Type="http://schemas.openxmlformats.org/officeDocument/2006/relationships/slideMaster" Target="/ppt/slideMasters/slideMaster1.xml" Id="R5d31a59f61ae4a12" /><Relationship Type="http://schemas.openxmlformats.org/officeDocument/2006/relationships/slideMaster" Target="/ppt/slideMasters/slideMaster2.xml" Id="R044f8102c0004c7b" /><Relationship Type="http://schemas.openxmlformats.org/officeDocument/2006/relationships/notesMaster" Target="/ppt/notesMasters/notesMaster1.xml" Id="Rbe7b4f059deb4496" /><Relationship Type="http://schemas.openxmlformats.org/officeDocument/2006/relationships/presProps" Target="/ppt/presProps.xml" Id="Rb9cbdbb9e7ef4f77" /><Relationship Type="http://schemas.openxmlformats.org/officeDocument/2006/relationships/tableStyles" Target="/ppt/tableStyles.xml" Id="R45499a90565a4a3c" /><Relationship Type="http://schemas.openxmlformats.org/officeDocument/2006/relationships/slide" Target="/ppt/slides/slide1.xml" Id="R0aaeb443be714ce5" /><Relationship Type="http://schemas.openxmlformats.org/officeDocument/2006/relationships/slide" Target="/ppt/slides/slide2.xml" Id="R3a2779b56e04428f" /><Relationship Type="http://schemas.openxmlformats.org/officeDocument/2006/relationships/slide" Target="/ppt/slides/slide3.xml" Id="Rd53520d68fa74196" /><Relationship Type="http://schemas.openxmlformats.org/officeDocument/2006/relationships/slide" Target="/ppt/slides/slide4.xml" Id="Raf0d98e90bae4d59" /><Relationship Type="http://schemas.openxmlformats.org/officeDocument/2006/relationships/slide" Target="/ppt/slides/slide5.xml" Id="Rbe8bdcd2eee342e7" /><Relationship Type="http://schemas.openxmlformats.org/officeDocument/2006/relationships/slide" Target="/ppt/slides/slide6.xml" Id="R07adcedd62cf48ab" /><Relationship Type="http://schemas.openxmlformats.org/officeDocument/2006/relationships/slide" Target="/ppt/slides/slide7.xml" Id="Rbfdacd3be9ce499f" /><Relationship Type="http://schemas.openxmlformats.org/officeDocument/2006/relationships/slide" Target="/ppt/slides/slide8.xml" Id="Rcd16a1f5234747be" /><Relationship Type="http://schemas.openxmlformats.org/officeDocument/2006/relationships/slide" Target="/ppt/slides/slide9.xml" Id="R87b6ad048e054b61" /><Relationship Type="http://schemas.openxmlformats.org/officeDocument/2006/relationships/slide" Target="/ppt/slides/slide10.xml" Id="Rb97133f320bd4d7f" /><Relationship Type="http://schemas.openxmlformats.org/officeDocument/2006/relationships/slide" Target="/ppt/slides/slide11.xml" Id="R2919c99244b74fc2" /><Relationship Type="http://schemas.openxmlformats.org/officeDocument/2006/relationships/slide" Target="/ppt/slides/slide12.xml" Id="R489b43d524564083" /><Relationship Type="http://schemas.openxmlformats.org/officeDocument/2006/relationships/slide" Target="/ppt/slides/slide13.xml" Id="R776dc3c5da8d4b41" /><Relationship Type="http://schemas.openxmlformats.org/officeDocument/2006/relationships/slide" Target="/ppt/slides/slide14.xml" Id="Rf422510d37884925" /><Relationship Type="http://schemas.openxmlformats.org/officeDocument/2006/relationships/slide" Target="/ppt/slides/slide15.xml" Id="Rabbde62bad474e86" /><Relationship Type="http://schemas.openxmlformats.org/officeDocument/2006/relationships/slide" Target="/ppt/slides/slide16.xml" Id="R26ec58d25af8437e" /><Relationship Type="http://schemas.openxmlformats.org/officeDocument/2006/relationships/slide" Target="/ppt/slides/slide17.xml" Id="R2a8ab14520a74aeb" /><Relationship Type="http://schemas.openxmlformats.org/officeDocument/2006/relationships/slide" Target="/ppt/slides/slide18.xml" Id="R4f9e090203174315" /><Relationship Type="http://schemas.openxmlformats.org/officeDocument/2006/relationships/slide" Target="/ppt/slides/slide19.xml" Id="Re76da37e39904eaf" /><Relationship Type="http://schemas.openxmlformats.org/officeDocument/2006/relationships/slide" Target="/ppt/slides/slide20.xml" Id="Rb6cf4188e64141e1" /><Relationship Type="http://schemas.openxmlformats.org/officeDocument/2006/relationships/slide" Target="/ppt/slides/slide21.xml" Id="R5c4c7fc7c672465c" /><Relationship Type="http://schemas.openxmlformats.org/officeDocument/2006/relationships/slide" Target="/ppt/slides/slide22.xml" Id="R89e62bf755f4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32f4fa74ea6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9f147122f44501" /><Relationship Type="http://schemas.openxmlformats.org/officeDocument/2006/relationships/notesMaster" Target="/ppt/notesMasters/notesMaster1.xml" Id="Ra6c34c54adea42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c1ca9893fa45c7" /><Relationship Type="http://schemas.openxmlformats.org/officeDocument/2006/relationships/notesMaster" Target="/ppt/notesMasters/notesMaster1.xml" Id="R65399d4612bb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8ca8b6ff504ac2" /><Relationship Type="http://schemas.openxmlformats.org/officeDocument/2006/relationships/notesMaster" Target="/ppt/notesMasters/notesMaster1.xml" Id="R62184e4f4f5647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73503e7db422d" /><Relationship Type="http://schemas.openxmlformats.org/officeDocument/2006/relationships/notesMaster" Target="/ppt/notesMasters/notesMaster1.xml" Id="R9aa4c766e87642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5ce2b030144a5" /><Relationship Type="http://schemas.openxmlformats.org/officeDocument/2006/relationships/notesMaster" Target="/ppt/notesMasters/notesMaster1.xml" Id="R364c621c5358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c67a2cc28d404c" /><Relationship Type="http://schemas.openxmlformats.org/officeDocument/2006/relationships/notesMaster" Target="/ppt/notesMasters/notesMaster1.xml" Id="Rc259e9454855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6c957387f481f" /><Relationship Type="http://schemas.openxmlformats.org/officeDocument/2006/relationships/notesMaster" Target="/ppt/notesMasters/notesMaster1.xml" Id="R48798c78c46c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a41eba288e4668" /><Relationship Type="http://schemas.openxmlformats.org/officeDocument/2006/relationships/notesMaster" Target="/ppt/notesMasters/notesMaster1.xml" Id="Rd7b8bab50e574e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e80a7a4264665" /><Relationship Type="http://schemas.openxmlformats.org/officeDocument/2006/relationships/notesMaster" Target="/ppt/notesMasters/notesMaster1.xml" Id="R0c23e9ceee4949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d39cc4f0ac4336" /><Relationship Type="http://schemas.openxmlformats.org/officeDocument/2006/relationships/notesMaster" Target="/ppt/notesMasters/notesMaster1.xml" Id="R3e98a841ef734b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74b36a179e4a7c" /><Relationship Type="http://schemas.openxmlformats.org/officeDocument/2006/relationships/notesMaster" Target="/ppt/notesMasters/notesMaster1.xml" Id="Rec1abd58e51e40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5b0682ae3d4a24" /><Relationship Type="http://schemas.openxmlformats.org/officeDocument/2006/relationships/notesMaster" Target="/ppt/notesMasters/notesMaster1.xml" Id="R70f2f06b01de47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29afbb97ba4fca" /><Relationship Type="http://schemas.openxmlformats.org/officeDocument/2006/relationships/notesMaster" Target="/ppt/notesMasters/notesMaster1.xml" Id="Rb117ad05920442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23f90e0d39471d" /><Relationship Type="http://schemas.openxmlformats.org/officeDocument/2006/relationships/notesMaster" Target="/ppt/notesMasters/notesMaster1.xml" Id="R63bf0096e71343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a0bc5ef05f451b" /><Relationship Type="http://schemas.openxmlformats.org/officeDocument/2006/relationships/notesMaster" Target="/ppt/notesMasters/notesMaster1.xml" Id="R436ed412b48b4b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8e7a4732df4bb9" /><Relationship Type="http://schemas.openxmlformats.org/officeDocument/2006/relationships/notesMaster" Target="/ppt/notesMasters/notesMaster1.xml" Id="R5c360085881c42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13d25b3be840ef" /><Relationship Type="http://schemas.openxmlformats.org/officeDocument/2006/relationships/notesMaster" Target="/ppt/notesMasters/notesMaster1.xml" Id="R2c0d4f0d2da34c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274a764289440f" /><Relationship Type="http://schemas.openxmlformats.org/officeDocument/2006/relationships/notesMaster" Target="/ppt/notesMasters/notesMaster1.xml" Id="R576c1465297940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5d22bc8346431e" /><Relationship Type="http://schemas.openxmlformats.org/officeDocument/2006/relationships/notesMaster" Target="/ppt/notesMasters/notesMaster1.xml" Id="Rc6884955b8094e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ebb1e006884103" /><Relationship Type="http://schemas.openxmlformats.org/officeDocument/2006/relationships/notesMaster" Target="/ppt/notesMasters/notesMaster1.xml" Id="Rc9f4736a2b444d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aeedd2f34546bb" /><Relationship Type="http://schemas.openxmlformats.org/officeDocument/2006/relationships/notesMaster" Target="/ppt/notesMasters/notesMaster1.xml" Id="R5e6f1add766643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559bcf6a5143e3" /><Relationship Type="http://schemas.openxmlformats.org/officeDocument/2006/relationships/notesMaster" Target="/ppt/notesMasters/notesMaster1.xml" Id="R5e69ed27dcbd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 do EPISÓDIO 10 e conecte-o ao checkpoint executável. Otimização só é válida quando o resultado continua igual ao full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Otimização só é válida quando o resultado continua igual ao full build. Use o diagrama para antecipar o problema que será comprovado no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três resultados observáveis da aula: Corrigir incremental; Medir linhas e duração; Usar microbatch somente quando fizer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 × tempo não é o único componente. Desenvolva os pontos: Compute e duração; Storage e orquestração; Retries e retrabalho.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merge sem is_incremental() ainda lê todo o histórico. Desenvolva os pontos: unique_key; Filtro de candidatos; Equivalência com full refresh.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merge sem is_incremental() ainda lê todo o histórico. unique_key Filtro de candidatos Equivalência com full refresh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Registros existentes permanecem; somente novos candidatos entram. Desenvolva os pontos: Estado existente; Novos registros; Resultado acumulado.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Registros existentes permanecem; somente novos candidatos entram. Estado existente Novos registros Resultado acumulado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Lotes temporais só ajudam quando evento, janela e backfill são mensuráveis. Desenvolva os pontos: event_time; batch_size; lookback.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Lotes temporais só ajudam quando evento, janela e backfill são mensuráveis. event_time batch_size lookback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View, table e incremental trocam compute, storage e latência. Desenvolva os pontos: View: compute na leitura; Table: compute na construção; Incremental: estado e complexidade.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View, table e incremental trocam compute, storage e latência. View: compute na leitura Table: compute na construção Incremental: estado e complexidade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Linhas e segundos só importam depois de reconciliar o ground truth. Desenvolva os pontos: Mesmo resultado; Menos linhas processadas; Duração normalizada.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Linhas e segundos só importam depois de reconciliar o ground truth. Mesmo resultado Menos linhas processadas Duração normalizada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python course.py checkpoint 10. Pause para o aluno acompanhar o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a execução, destaque: Full build registrado; Incremental com lote novo; Resultados reconciliados.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o resultado esperado: Equivalência funcional + redução mensurável. Se o valor divergir, não avance sem investigar.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técnica aos efeitos: Governança: regra testada; FinOps: custo observado; IA: tabela previsível. Não prometa economia sem medição.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70%: redução de consumo reportada pela Symend. Resultado da empresa/dbt Labs; não é expectativa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limites sem minimizá-los: DuckDB não estima custo cloud; Microbatch adiciona complexidade; Benchmark varia por máquina.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Materialization v2 e engines novas só entram depois de evidência estável. Reforce que beta e preview não fazem parte da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full e incremental e prove igualdade antes de falar em economia. Encerre conectando a aula ao próximo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https://docs.getdbt.com/docs/build/incremental-models-overview</a:t>
            </a:r>
          </a:p>
          <a:p xmlns:a="http://schemas.openxmlformats.org/drawingml/2006/main">
            <a:r>
              <a:t>- https://docs.getdbt.com/docs/build/incremental-microbatch</a:t>
            </a:r>
          </a:p>
          <a:p xmlns:a="http://schemas.openxmlformats.org/drawingml/2006/main">
            <a:r>
              <a:t>- https://www.getdbt.com/case-studies/symend</a:t>
            </a:r>
          </a:p>
          <a:p xmlns:a="http://schemas.openxmlformats.org/drawingml/2006/main">
            <a:r>
              <a:t>- https://github.com/AnselmoBorges/dbt-moderno-na-pratica/blob/main/roteiros/10-finops-pipeline.md</a:t>
            </a:r>
          </a:p>
          <a:p xmlns:a="http://schemas.openxmlformats.org/drawingml/2006/main">
            <a:r>
              <a:t>- repo://laboratorio/checkpoints/ep10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22a97f43841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0b734732b34e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a8970c13d5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13f4c0635f4483" /><Relationship Type="http://schemas.openxmlformats.org/officeDocument/2006/relationships/slideLayout" Target="/ppt/slideLayouts/slideLayout1.xml" Id="R20b6fcd11d0d43c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1b44eb939a74f8b" /><Relationship Type="http://schemas.openxmlformats.org/officeDocument/2006/relationships/slideLayout" Target="/ppt/slideLayouts/slideLayout2.xml" Id="R85d56b6d48574d7a" /><Relationship Type="http://schemas.openxmlformats.org/officeDocument/2006/relationships/slideLayout" Target="/ppt/slideLayouts/slideLayout3.xml" Id="R15e067f0c96d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b6fcd11d0d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5d56b6d48574d7a"/>
    <p:sldLayoutId xmlns:r="http://schemas.openxmlformats.org/officeDocument/2006/relationships" id="2147483652" r:id="R15e067f0c96d41c4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f54dd9d204adb" /><Relationship Type="http://schemas.openxmlformats.org/officeDocument/2006/relationships/image" Target="/ppt/media/image.jpeg" Id="R42a77ea8cd244095" /><Relationship Type="http://schemas.openxmlformats.org/officeDocument/2006/relationships/notesSlide" Target="/ppt/notesSlides/notesSlide1.xml" Id="Rb26dc88ac7cc41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8c0b21971544e7" /><Relationship Type="http://schemas.openxmlformats.org/officeDocument/2006/relationships/image" Target="/ppt/media/image.png" Id="R0e70a50becd24cd3" /><Relationship Type="http://schemas.openxmlformats.org/officeDocument/2006/relationships/notesSlide" Target="/ppt/notesSlides/notesSlide2.xml" Id="Rf8a56e5eb96f41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f93408eb74a3f" /><Relationship Type="http://schemas.openxmlformats.org/officeDocument/2006/relationships/notesSlide" Target="/ppt/notesSlides/notesSlide3.xml" Id="R73e0e2c5fd0c47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2dc59251cd45ec" /><Relationship Type="http://schemas.openxmlformats.org/officeDocument/2006/relationships/notesSlide" Target="/ppt/notesSlides/notesSlide4.xml" Id="Ra7e540297847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cbeafeb1ff4aca" /><Relationship Type="http://schemas.openxmlformats.org/officeDocument/2006/relationships/notesSlide" Target="/ppt/notesSlides/notesSlide5.xml" Id="Rc97377e0746147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adff55f9554dc8" /><Relationship Type="http://schemas.openxmlformats.org/officeDocument/2006/relationships/notesSlide" Target="/ppt/notesSlides/notesSlide6.xml" Id="Rbdb371533d364c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05e5cb4e748cc" /><Relationship Type="http://schemas.openxmlformats.org/officeDocument/2006/relationships/notesSlide" Target="/ppt/notesSlides/notesSlide7.xml" Id="R9c21dcd489e045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83eb4597234d6f" /><Relationship Type="http://schemas.openxmlformats.org/officeDocument/2006/relationships/image" Target="/ppt/media/image2.png" Id="R8098c2cfd7644c4c" /><Relationship Type="http://schemas.openxmlformats.org/officeDocument/2006/relationships/notesSlide" Target="/ppt/notesSlides/notesSlide8.xml" Id="Ra4ea2a8b7b374e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21df000d9d42cd" /><Relationship Type="http://schemas.openxmlformats.org/officeDocument/2006/relationships/notesSlide" Target="/ppt/notesSlides/notesSlide9.xml" Id="R2b5c545259514c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53f8ac46745ea" /><Relationship Type="http://schemas.openxmlformats.org/officeDocument/2006/relationships/image" Target="/ppt/media/image3.png" Id="Rb25c254fb5824f9e" /><Relationship Type="http://schemas.openxmlformats.org/officeDocument/2006/relationships/notesSlide" Target="/ppt/notesSlides/notesSlide10.xml" Id="R96aba055776445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d6378d5efa4315" /><Relationship Type="http://schemas.openxmlformats.org/officeDocument/2006/relationships/notesSlide" Target="/ppt/notesSlides/notesSlide11.xml" Id="Rc3d03c6d6b1e46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356d2368fa43d8" /><Relationship Type="http://schemas.openxmlformats.org/officeDocument/2006/relationships/notesSlide" Target="/ppt/notesSlides/notesSlide12.xml" Id="Rf60bac77b67a43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240df2394f4be6" /><Relationship Type="http://schemas.openxmlformats.org/officeDocument/2006/relationships/notesSlide" Target="/ppt/notesSlides/notesSlide13.xml" Id="R757c09e48d014c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c7cfde8314973" /><Relationship Type="http://schemas.openxmlformats.org/officeDocument/2006/relationships/notesSlide" Target="/ppt/notesSlides/notesSlide14.xml" Id="Re819821fa3fc4c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9f3d3b5ffb48ae" /><Relationship Type="http://schemas.openxmlformats.org/officeDocument/2006/relationships/notesSlide" Target="/ppt/notesSlides/notesSlide15.xml" Id="R10fb2e940b3246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1bd4d16bd341b0" /><Relationship Type="http://schemas.openxmlformats.org/officeDocument/2006/relationships/notesSlide" Target="/ppt/notesSlides/notesSlide16.xml" Id="R486cc0653c5543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9869209f084f0f" /><Relationship Type="http://schemas.openxmlformats.org/officeDocument/2006/relationships/notesSlide" Target="/ppt/notesSlides/notesSlide17.xml" Id="R4476b5d788a642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2e56a8114048bb" /><Relationship Type="http://schemas.openxmlformats.org/officeDocument/2006/relationships/notesSlide" Target="/ppt/notesSlides/notesSlide18.xml" Id="R0115e157188149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ece317cb14323" /><Relationship Type="http://schemas.openxmlformats.org/officeDocument/2006/relationships/notesSlide" Target="/ppt/notesSlides/notesSlide19.xml" Id="Rb0c64326e0f34a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314ddd701b4819" /><Relationship Type="http://schemas.openxmlformats.org/officeDocument/2006/relationships/notesSlide" Target="/ppt/notesSlides/notesSlide20.xml" Id="Re8b0fd8e8cca48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9b97bb09d4bf4" /><Relationship Type="http://schemas.openxmlformats.org/officeDocument/2006/relationships/notesSlide" Target="/ppt/notesSlides/notesSlide21.xml" Id="Rfb66129f9ce142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83c2d25f842ed" /><Relationship Type="http://schemas.openxmlformats.org/officeDocument/2006/relationships/notesSlide" Target="/ppt/notesSlides/notesSlide22.xml" Id="R70090074cf7c413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Ilustração conceitual autoral da capa: EPISÓDIO 10 — FinOps do pipelin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77ea8cd244095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D4C28502-6DA9-4A07-9E34-EDBF73D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FBF92D2C-6EE2-490D-9378-2D07A29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A8E18D91-9C5A-4CEC-95C0-B05F3DEC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10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E78DF95-92A0-49FB-B05C-4540B3A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FinOps do pipeline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19FC323-D5FF-4BC9-9D47-A36A96BB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Menos recomputação sem mudar o resultado funcional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9A885C6-955F-41A2-A559-4D538C42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D67CB472-1D61-498C-A13E-EAE5F1C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10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12368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AAF904CD-AC4A-4A89-AD97-25BC8387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Otimização só é válida quando o resultado continua igual ao full build.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A945E2EE-8CC9-4549-AE6A-EAEC0BC1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DF925489-E54C-4888-BFFC-5A4A3BBF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D5D56D53-E218-4DD8-BBC9-FF4C75F3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4" name="" descr="Diagrama didático autoral que apresenta: Otimização só é válida quando o resultado continua igual ao full build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a50becd24cd3"/>
          <a:stretch xmlns:a="http://schemas.openxmlformats.org/drawingml/2006/main"/>
        </p:blipFill>
        <p:spPr>
          <a:xfrm xmlns:a="http://schemas.openxmlformats.org/drawingml/2006/main">
            <a:off x="3996480" y="3790950"/>
            <a:ext cx="4199039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7FC2C49-B1F7-40B0-8A24-FD2341AE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11CB813-60C2-47BF-A54A-56901DE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242055E-5B34-4BD9-900A-D702A795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37730B-0014-4CF2-9FF8-21222821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2/22</a:t>
            </a:r>
          </a:p>
        </p:txBody>
      </p:sp>
    </p:spTree>
    <p:extLst>
      <p:ext uri="{BB962C8B-B14F-4D97-AF65-F5344CB8AC3E}">
        <p14:creationId xmlns:p14="http://schemas.microsoft.com/office/powerpoint/2010/main" val="9213097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20B0CA-A47C-4526-B8B7-F73D8F03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887B24F4-A6FF-4DFA-9888-C564CB6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2949C5E-7983-40E8-8061-15F2B94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Corrigir incremental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5FCEE315-5809-4C13-9198-2E42C625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7C393D53-C7A1-454C-B9CE-F58770D5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0AC1751-3706-473D-B2AC-0544BA1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Medir linhas e duração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196AE5D3-05E5-4F77-8606-B4116B7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D8550867-9771-4BB9-8609-8DF0E55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CC3BA0C7-7768-4D55-8F20-8777D142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Usar microbatch somente quando fizer sentido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E298E92-D250-4712-BD02-48FB207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6F74DF-4B23-4BFE-9E99-E6A690B6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6191C9D-217E-4C13-BAFB-875374D4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189936-EF91-4E03-B679-317DBE29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3/22</a:t>
            </a:r>
          </a:p>
        </p:txBody>
      </p:sp>
    </p:spTree>
    <p:extLst>
      <p:ext uri="{BB962C8B-B14F-4D97-AF65-F5344CB8AC3E}">
        <p14:creationId xmlns:p14="http://schemas.microsoft.com/office/powerpoint/2010/main" val="1858662613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0D3CDA-5E2E-4912-9792-C3423343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Custo precisa de uma equação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EFF357-3633-4FBA-A636-9D2E0F5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Compute × tempo não é o único componente.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CCC18B6E-6D57-41A3-92A7-0E21BF54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Compute e duração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Storage e orquestração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Retries e retrabalho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9C049D0-BAFB-4E4A-920D-5EC22AA6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C8D476D-B588-4D90-8D04-AA2A6A87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B6FCDF4-D3EB-493D-8F46-AD152FB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D3C8347A-2788-4F95-8AEA-2AB5AEE7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B32D46-33A6-49E2-AA40-11DBABCD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8B7B08C-FA32-4986-A1E6-3E6A42B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8D9E55-7F02-4B0D-88E0-EBEBD87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4/22</a:t>
            </a:r>
          </a:p>
        </p:txBody>
      </p:sp>
    </p:spTree>
    <p:extLst>
      <p:ext uri="{BB962C8B-B14F-4D97-AF65-F5344CB8AC3E}">
        <p14:creationId xmlns:p14="http://schemas.microsoft.com/office/powerpoint/2010/main" val="1039883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B7813-2B56-44FF-A2BC-2CD94988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Incremental exige filtro e chave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F8C16D-BAD7-4A0A-B845-B188F46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merge sem is_incremental() ainda lê todo o histórico.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528D700F-CA00-425B-8BDD-E852875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unique_key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Filtro de candidatos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Equivalência com full refresh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29ADC550-EC7E-4938-816C-96A14E6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F91BE21-D1A5-46C6-9A8B-4B9DA6D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62E5C7B-B205-4169-B7FC-0D91957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2AF4E2E-3DA0-4948-8B4F-ECD12E5F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8A12003-EA33-42E7-AB43-F7A2319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C516E70-5EA8-4EBD-8075-72A92185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B84BF5-DB13-4D30-89BC-2ACFE6A9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5/22</a:t>
            </a:r>
          </a:p>
        </p:txBody>
      </p:sp>
    </p:spTree>
    <p:extLst>
      <p:ext uri="{BB962C8B-B14F-4D97-AF65-F5344CB8AC3E}">
        <p14:creationId xmlns:p14="http://schemas.microsoft.com/office/powerpoint/2010/main" val="45475572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AA1A93-7B09-4B38-B25E-1B58ED52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Incremental exige filtro e chave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0D90A5BD-67F1-4E63-AA2D-FE97CFA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Fonte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279EB0BF-424E-4D35-8110-B92BB9B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Filtro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B8C0D945-5B79-4015-94BF-3F7F75A0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Merge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DF21D80B-FF08-4E81-A76A-25F9FEC1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Tabela</a:t>
            </a:r>
          </a:p>
        </p:txBody>
      </p:sp>
      <p:cxnSp>
        <p:nvCxnSpPr>
          <p:cNvPr id="18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D4F9785-8672-4B23-8AB3-6FD37E8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8DE6C7E-7FE8-443E-AE70-65617FCF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3FE5EEB-2F5E-4C90-8B40-5B367576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598DE1-D42E-43F2-A8D6-4286F8E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6/22</a:t>
            </a:r>
          </a:p>
        </p:txBody>
      </p:sp>
    </p:spTree>
    <p:extLst>
      <p:ext uri="{BB962C8B-B14F-4D97-AF65-F5344CB8AC3E}">
        <p14:creationId xmlns:p14="http://schemas.microsoft.com/office/powerpoint/2010/main" val="86230173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4CCCA8-4C82-4495-9680-8A47FF5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diagrama oficial mostra a redução de leitura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E1D36A-6554-4109-916B-630C0BA1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Registros existentes permanecem; somente novos candidatos entram.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F03070AF-D1E6-43CD-870E-92DA5EA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Estado existente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Novos registros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Resultado acumulado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0455C24-BF6C-45FE-B512-6FB1F0A0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7BFA70E0-A1D2-4EBC-943A-98E534C9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15F764E-F030-4C87-A4CB-F4EBD5C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4795CDD-2355-4A7C-BAB6-96E152BF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64BB93-64DA-45B7-9ED7-21F33AB4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ED63C2B-982C-4974-B874-46B45A2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CD38DA-FF6C-46A4-B277-789DF014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7/22</a:t>
            </a:r>
          </a:p>
        </p:txBody>
      </p:sp>
    </p:spTree>
    <p:extLst>
      <p:ext uri="{BB962C8B-B14F-4D97-AF65-F5344CB8AC3E}">
        <p14:creationId xmlns:p14="http://schemas.microsoft.com/office/powerpoint/2010/main" val="462376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273B7D-D207-478B-A2FB-39F61D53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diagrama oficial mostra a redução de leitura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9E452144-F65D-45D2-9C5C-93769FB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Registros existentes permanecem; somente novos candidatos entram.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D57E8CA5-A049-4CCE-9C23-CD8059E8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pic>
        <p:nvPicPr>
          <p:cNvPr id="13" name="" descr="Figura oficial da documentação dbt usada para explicar: O diagrama oficial mostra a redução de leitura — Registros existentes permanecem; somente novos candidatos entram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8c2cfd7644c4c"/>
          <a:stretch xmlns:a="http://schemas.openxmlformats.org/drawingml/2006/main"/>
        </p:blipFill>
        <p:spPr>
          <a:xfrm xmlns:a="http://schemas.openxmlformats.org/drawingml/2006/main">
            <a:off x="5429250" y="2162031"/>
            <a:ext cx="5791200" cy="2629187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86FFF3CB-F280-4D5A-9EAD-542320F4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da documentação dbt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5C3B07C2-7347-4326-80C4-34C15E1B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C79D00-67DC-423F-BBBD-6C3BDC99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FDB92D9-AA13-41D9-A581-B32C1D4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8F14F2-0AB0-4D72-842D-639C580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8/22</a:t>
            </a:r>
          </a:p>
        </p:txBody>
      </p:sp>
    </p:spTree>
    <p:extLst>
      <p:ext uri="{BB962C8B-B14F-4D97-AF65-F5344CB8AC3E}">
        <p14:creationId xmlns:p14="http://schemas.microsoft.com/office/powerpoint/2010/main" val="1480443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59CC22-EBC8-4E78-8638-570C579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Microbatch precisa de event_time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C5E7F4-73D5-4C59-B4B7-732833F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Lotes temporais só ajudam quando evento, janela e backfill são mensuráveis.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3172ED9-631F-4207-ADE4-EAB047F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event_time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batch_size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lookback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9CD8E61-B6FC-4F46-88CB-4DACCCCA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2E88E224-2E91-4861-856C-A0C17F3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5725994-0BC5-4666-A4CE-B9ED1A0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6A049AD-C4AB-4347-8694-232A380A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E1C733-9F20-4120-BCEF-39DCD7FE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2452558-4DB9-495B-A9B3-F3485A14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C66993-F583-4E24-8BA3-50D80F8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9/22</a:t>
            </a:r>
          </a:p>
        </p:txBody>
      </p:sp>
    </p:spTree>
    <p:extLst>
      <p:ext uri="{BB962C8B-B14F-4D97-AF65-F5344CB8AC3E}">
        <p14:creationId xmlns:p14="http://schemas.microsoft.com/office/powerpoint/2010/main" val="85937430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52FE4A-AD79-4E7D-8A67-F56DE1C4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Microbatch precisa de event_time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D2028751-86C7-4A18-AB31-7F88A851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Lotes temporais só ajudam quando evento, janela e backfill são mensuráveis.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D114820B-DA54-4A37-9F7A-2CD8106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3" name="" descr="Figura oficial da documentação dbt usada para explicar: Microbatch precisa de event_time — Lotes temporais só ajudam quando evento, janela e backfill são mensurávei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c254fb5824f9e"/>
          <a:stretch xmlns:a="http://schemas.openxmlformats.org/drawingml/2006/main"/>
        </p:blipFill>
        <p:spPr>
          <a:xfrm xmlns:a="http://schemas.openxmlformats.org/drawingml/2006/main">
            <a:off x="5429250" y="2581784"/>
            <a:ext cx="5791200" cy="1789683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6AD6A755-0CF4-4668-9FB8-8169ECD1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da documentação dbt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FF102AC4-BC5B-4AE4-BEF6-F1776CEB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380EC3C-6605-4E98-9F4C-91A43C9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08828F9-0C96-45D9-8A8D-79C10254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1EDFA5-7091-4005-A5BC-3915F14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10/22</a:t>
            </a:r>
          </a:p>
        </p:txBody>
      </p:sp>
    </p:spTree>
    <p:extLst>
      <p:ext uri="{BB962C8B-B14F-4D97-AF65-F5344CB8AC3E}">
        <p14:creationId xmlns:p14="http://schemas.microsoft.com/office/powerpoint/2010/main" val="2022419238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85E939-88DB-47D6-974F-5652FE1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Materialização muda o perfil de custo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9B1018-9DDD-4A0E-B81F-7C428380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View, table e incremental trocam compute, storage e latência.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DB3B402-4D76-4F51-B5AE-39C1786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View: compute na leitura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Table: compute na construção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Incremental: estado e complexidade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1D53A66-4B7E-4FB8-B345-1B79D4B4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598C4B9-B666-4356-A1BC-384C2D0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5B50050-8EB9-465D-A850-6265DF3C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D5C76CF-7358-4AEF-AD4E-BA7C7374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ACBEA5E-A1CD-4ABF-87EF-C099A60B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0F8875E-8A8A-4A83-B24E-CCFEF3DC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059C16-1B07-4AFD-8DFB-A460EF3E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11/22</a:t>
            </a:r>
          </a:p>
        </p:txBody>
      </p:sp>
    </p:spTree>
    <p:extLst>
      <p:ext uri="{BB962C8B-B14F-4D97-AF65-F5344CB8AC3E}">
        <p14:creationId xmlns:p14="http://schemas.microsoft.com/office/powerpoint/2010/main" val="1950454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92F34-FD28-4437-96DD-3EA9BE41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Materialização muda o perfil de custo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32A56356-C4C3-4378-909B-5791B3B1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View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1F549B81-28F8-4897-A3CE-CACEBEC4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Table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F97FA1A3-E762-4280-9D5E-C7A3DC8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D99D0F94-A883-40AF-B8F9-63F7E817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View: compute na leitura</a:t>
            </a:r>
          </a:p>
          <a:p xmlns:a="http://schemas.openxmlformats.org/drawingml/2006/main">
            <a:pPr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Table: compute na construção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60DBDE4B-6E32-4514-90C0-5590C87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Incremental: estado e complexidade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806B2890-D264-457F-94B0-92CB7B6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2897CB-AFF6-408F-A8D5-CB66238E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5402EE2-76A4-4AF9-AAAA-25D6ACB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97470B-179D-45C6-8F96-27B619C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12/22</a:t>
            </a:r>
          </a:p>
        </p:txBody>
      </p:sp>
    </p:spTree>
    <p:extLst>
      <p:ext uri="{BB962C8B-B14F-4D97-AF65-F5344CB8AC3E}">
        <p14:creationId xmlns:p14="http://schemas.microsoft.com/office/powerpoint/2010/main" val="189728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216483-0C69-4B4D-B00A-A9BA6B7D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Benchmark precisa de correção funcional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BA3880-5358-4575-B2AD-0161F8F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Linhas e segundos só importam depois de reconciliar o ground truth.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EC30FD88-BC8C-4EED-B08B-C0A9F7A3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Mesmo resultado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Menos linhas processadas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Duração normalizada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C393655-E7A6-49F6-9CAF-C54B54EC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508996D-7794-480A-8821-2196B7D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229F9E6-61DD-4AE3-B298-99AA599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06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4AB1399-35F0-4B49-A570-02596268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BF0C19-7F2C-4BF1-BCC6-3210E78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6340167-8FBE-4052-847A-D9B999E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EFBF44-1575-407D-8397-E4ED9B6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13/22</a:t>
            </a:r>
          </a:p>
        </p:txBody>
      </p:sp>
    </p:spTree>
    <p:extLst>
      <p:ext uri="{BB962C8B-B14F-4D97-AF65-F5344CB8AC3E}">
        <p14:creationId xmlns:p14="http://schemas.microsoft.com/office/powerpoint/2010/main" val="317628379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09DF22-E118-44AC-8581-1575758D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Benchmark precisa de correção funcional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3C7EBD5C-E05A-49A3-AB93-D2DAD19F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C5E8AC33-EB19-4ABB-AEFE-470EB3B9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Correção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D1A21D9E-486B-4E81-B808-FC169F84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B9C51219-A685-470C-9CF8-0EA36031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41350C7B-9503-4AB7-B08D-8A74FA9E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D3E4EB94-7A4D-4A2A-8385-712E471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Tempo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550AF76-E41A-4670-9874-7170FA6C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EA7A0D-4E37-4195-A623-41CBD663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A0132AE-BAF1-4E37-8832-7C265DC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EFDD7C-EF35-4BCE-B9E4-4486846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14/22</a:t>
            </a:r>
          </a:p>
        </p:txBody>
      </p:sp>
    </p:spTree>
    <p:extLst>
      <p:ext uri="{BB962C8B-B14F-4D97-AF65-F5344CB8AC3E}">
        <p14:creationId xmlns:p14="http://schemas.microsoft.com/office/powerpoint/2010/main" val="90454280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F166BF-84B8-44D1-B911-38FBCADC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69DB6B6A-7478-4157-B068-2DE562D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A6C100D9-0F08-4CE1-A60C-86AE7D50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10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36E8C122-87CC-43D3-9FF5-A6D797A0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FADCF13-D020-445B-BCB7-F069B7DA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D2DA61-8B29-49DF-90E4-AD7AB26D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D61B986-ECAA-4472-9341-1C81DD4E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6C522F-248B-4A48-BFC9-1C7F566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15/22</a:t>
            </a:r>
          </a:p>
        </p:txBody>
      </p:sp>
    </p:spTree>
    <p:extLst>
      <p:ext uri="{BB962C8B-B14F-4D97-AF65-F5344CB8AC3E}">
        <p14:creationId xmlns:p14="http://schemas.microsoft.com/office/powerpoint/2010/main" val="2851510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0E7993-6BD0-428F-BAB3-1D74C15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3A97AEF0-474D-44C6-82EA-A0CDBBCC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F6AD425-2984-4E91-8C1C-122E752A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Full build registrado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03A9CE1-1B7B-4D3E-A872-F4173F4B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8EF53E6F-7C07-47A5-BD44-6D27504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64C93B9-6E56-420F-9A50-6625E083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Incremental com lote novo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DD3B8267-54C6-4089-A01C-FB5EF17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C3780800-29B8-4920-AFDD-A8C66A06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25643D9-E957-4746-8DD1-B56E975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Resultados reconciliados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5562275-650A-47BA-87F0-13EBC4E9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2F756B-15BB-46D6-B20B-035A04B0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62682A48-19C8-4E36-8BB4-67BA5ACB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7E1367-58F1-4971-B414-DF078AD6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16/22</a:t>
            </a:r>
          </a:p>
        </p:txBody>
      </p:sp>
    </p:spTree>
    <p:extLst>
      <p:ext uri="{BB962C8B-B14F-4D97-AF65-F5344CB8AC3E}">
        <p14:creationId xmlns:p14="http://schemas.microsoft.com/office/powerpoint/2010/main" val="502931057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3AC5CC9-6B54-4596-B087-1B403BE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0D6CA88A-B3A0-46F5-8E94-991A428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Equivalência funcional + redução mensurável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7281ED2C-D13F-4BC9-8053-643DFA63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10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590A31A6-B2C2-43D4-9774-B7AB7FB1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10F7CABA-A43C-4ABE-B244-469D1C3B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E8C6591-373E-4F26-9292-0367E3AA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B9A3134-8AC4-4986-9196-E211113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905631E-4985-4BC3-AC86-C151512D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AE5C96-413E-45AD-A292-C05BE82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17/22</a:t>
            </a:r>
          </a:p>
        </p:txBody>
      </p:sp>
    </p:spTree>
    <p:extLst>
      <p:ext uri="{BB962C8B-B14F-4D97-AF65-F5344CB8AC3E}">
        <p14:creationId xmlns:p14="http://schemas.microsoft.com/office/powerpoint/2010/main" val="1629516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B5A0CF-FF44-4AD7-8011-0268F50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79F0D88B-0FEB-451D-A350-42F2B80C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E482F7F-7DCB-4D04-BBCA-FCE203B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regra testada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E70DE8C-A513-4876-8874-F48EE8A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4CE0124F-5739-4310-8377-5A21E6FD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D60AF19C-7788-4B0F-A384-DBE814E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custo observado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BDEB23C5-22C4-4A30-A330-C7571A6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0E06905-DCE3-40B7-8B92-288C376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B285426-2B74-4EF2-A5A8-ED1971E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tabela previsível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B2ADC7F-51FE-48FE-BE41-6614676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00C434-3D04-431A-BCC9-CD91E138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EC68425-0EEF-418A-9960-928BAC7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552D3B-50C3-43CF-B4DD-12B9EE2B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18/22</a:t>
            </a:r>
          </a:p>
        </p:txBody>
      </p:sp>
    </p:spTree>
    <p:extLst>
      <p:ext uri="{BB962C8B-B14F-4D97-AF65-F5344CB8AC3E}">
        <p14:creationId xmlns:p14="http://schemas.microsoft.com/office/powerpoint/2010/main" val="72536153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1D4C2FBB-66C4-4EC8-9E4D-67C8C4DE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70%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B974E194-D11A-4584-8441-1ABA556A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redução de consumo reportada pela Symend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0633A0D0-58BE-48BD-A474-06DA2A24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51FEB013-6CAB-4842-A583-844BF403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Resultado da empresa/dbt Labs; não é expectativa universal.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47D86AF1-297A-4863-9BBA-787BDBB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FC959D-FC09-433A-AFB4-40A724A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CC27FFE-C87A-45CD-B52B-240B4428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DAF308-1C68-4FA0-9FD2-8048003C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19/22</a:t>
            </a:r>
          </a:p>
        </p:txBody>
      </p:sp>
    </p:spTree>
    <p:extLst>
      <p:ext uri="{BB962C8B-B14F-4D97-AF65-F5344CB8AC3E}">
        <p14:creationId xmlns:p14="http://schemas.microsoft.com/office/powerpoint/2010/main" val="15458823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459095-8D71-4A6A-9D47-3F9CF707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9D7B24C1-11B4-429A-91BD-A4B99E98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DuckDB não estima custo cloud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Microbatch adiciona complexidade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Benchmark varia por máquina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6EFDBE8-3DAE-4517-AE22-748812B8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EE179A0-D8F8-4107-856C-F4036129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524021-7238-4AB2-B0D5-E6B3F77B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863B5D-02FB-4CEE-89D3-6B2D59EE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20/22</a:t>
            </a:r>
          </a:p>
        </p:txBody>
      </p:sp>
    </p:spTree>
    <p:extLst>
      <p:ext uri="{BB962C8B-B14F-4D97-AF65-F5344CB8AC3E}">
        <p14:creationId xmlns:p14="http://schemas.microsoft.com/office/powerpoint/2010/main" val="881463942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A8A4FD78-4562-4524-BAA7-53A2F95A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715DD9F3-E0E1-45A0-8A08-64508F8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Materialization v2 e engines novas só entram depois de evidência estável.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2BAA0F2B-D6DF-4F6E-A029-0DBB5DBA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01AE2F7C-CB06-4415-96A0-608F3C4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6C0A72B4-431D-4CAA-9E57-43F6CA4E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E86453E-7017-47BE-8F46-0160EE2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D33D0E-1F6E-4D87-8F1D-E36F1DD6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34460DC-AD99-43F9-AC5F-68B5618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60CA24-A199-441F-BC1C-E02BE6D5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21/22</a:t>
            </a:r>
          </a:p>
        </p:txBody>
      </p:sp>
    </p:spTree>
    <p:extLst>
      <p:ext uri="{BB962C8B-B14F-4D97-AF65-F5344CB8AC3E}">
        <p14:creationId xmlns:p14="http://schemas.microsoft.com/office/powerpoint/2010/main" val="18819676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7FADF8CE-0EDD-4EA4-91CD-53C0D4CB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EE6C00F0-A446-4CF6-B9A9-B0911427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Compare full e incremental e prove igualdade antes de falar em economia.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57765856-B71A-4FAD-8D19-3E08A96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10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C95AB62-9AC6-4AD0-8225-E7F2B82B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10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106AA0-8028-45CF-BD60-8304CA7A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8741BCB-EE46-42C3-8AA5-12E9F2F2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228019-C2D8-4EA1-9135-FFDA647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22/22</a:t>
            </a:r>
          </a:p>
        </p:txBody>
      </p:sp>
    </p:spTree>
    <p:extLst>
      <p:ext uri="{BB962C8B-B14F-4D97-AF65-F5344CB8AC3E}">
        <p14:creationId xmlns:p14="http://schemas.microsoft.com/office/powerpoint/2010/main" val="317182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2026-09-02T00:42:47.2640000Z</dcterms:created>
  <dcterms:modified xsi:type="dcterms:W3CDTF">2026-09-02T00:42:47.2640000Z</dcterms:modified>
</coreProperties>
</file>