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93899452d843d1" /><Relationship Type="http://schemas.openxmlformats.org/officeDocument/2006/relationships/extended-properties" Target="/docProps/app.xml" Id="Rfa667bbb5e714f7f" /><Relationship Type="http://schemas.openxmlformats.org/officeDocument/2006/relationships/officeDocument" Target="/ppt/presentation.xml" Id="R93af51e0911f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8d4cb3f0444ff8"/>
    <p:sldMasterId xmlns:r="http://schemas.openxmlformats.org/officeDocument/2006/relationships" id="2147483650" r:id="R0d151bf07cf44a8c"/>
  </p:sldMasterIdLst>
  <p:notesMasterIdLst>
    <p:notesMasterId xmlns:r="http://schemas.openxmlformats.org/officeDocument/2006/relationships" r:id="Rf9b55658d8824e46"/>
  </p:notesMasterIdLst>
  <p:sldIdLst>
    <p:sldId xmlns:r="http://schemas.openxmlformats.org/officeDocument/2006/relationships" id="256" r:id="R4900d6a96ab64e09"/>
    <p:sldId xmlns:r="http://schemas.openxmlformats.org/officeDocument/2006/relationships" id="257" r:id="R604b1523c6064d6a"/>
    <p:sldId xmlns:r="http://schemas.openxmlformats.org/officeDocument/2006/relationships" id="258" r:id="Rdd1141518e924be6"/>
    <p:sldId xmlns:r="http://schemas.openxmlformats.org/officeDocument/2006/relationships" id="259" r:id="Racc395991064489f"/>
    <p:sldId xmlns:r="http://schemas.openxmlformats.org/officeDocument/2006/relationships" id="260" r:id="R697c9415aeb047d0"/>
    <p:sldId xmlns:r="http://schemas.openxmlformats.org/officeDocument/2006/relationships" id="261" r:id="R5594e7829f07419b"/>
    <p:sldId xmlns:r="http://schemas.openxmlformats.org/officeDocument/2006/relationships" id="262" r:id="R3ea6a70e0940444b"/>
    <p:sldId xmlns:r="http://schemas.openxmlformats.org/officeDocument/2006/relationships" id="263" r:id="Rdd1fb73e8870440c"/>
    <p:sldId xmlns:r="http://schemas.openxmlformats.org/officeDocument/2006/relationships" id="264" r:id="R8d94d0ecf1fb40cc"/>
    <p:sldId xmlns:r="http://schemas.openxmlformats.org/officeDocument/2006/relationships" id="265" r:id="R8b957c7ae9c348e1"/>
    <p:sldId xmlns:r="http://schemas.openxmlformats.org/officeDocument/2006/relationships" id="266" r:id="R7ed727fbf0564af6"/>
    <p:sldId xmlns:r="http://schemas.openxmlformats.org/officeDocument/2006/relationships" id="267" r:id="R47fabb84fa0e4ea2"/>
    <p:sldId xmlns:r="http://schemas.openxmlformats.org/officeDocument/2006/relationships" id="268" r:id="Rdba1bb5cfeb14ef2"/>
    <p:sldId xmlns:r="http://schemas.openxmlformats.org/officeDocument/2006/relationships" id="269" r:id="R61e3cc0dc7454298"/>
    <p:sldId xmlns:r="http://schemas.openxmlformats.org/officeDocument/2006/relationships" id="270" r:id="R70b3ad05a3f746b8"/>
    <p:sldId xmlns:r="http://schemas.openxmlformats.org/officeDocument/2006/relationships" id="271" r:id="Rf87f44d6736540a9"/>
    <p:sldId xmlns:r="http://schemas.openxmlformats.org/officeDocument/2006/relationships" id="272" r:id="R1125d023d3664b22"/>
    <p:sldId xmlns:r="http://schemas.openxmlformats.org/officeDocument/2006/relationships" id="273" r:id="Rc2df091942ab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c5dd7420474a32" /><Relationship Type="http://schemas.openxmlformats.org/officeDocument/2006/relationships/slideMaster" Target="/ppt/slideMasters/slideMaster1.xml" Id="R158d4cb3f0444ff8" /><Relationship Type="http://schemas.openxmlformats.org/officeDocument/2006/relationships/slideMaster" Target="/ppt/slideMasters/slideMaster2.xml" Id="R0d151bf07cf44a8c" /><Relationship Type="http://schemas.openxmlformats.org/officeDocument/2006/relationships/notesMaster" Target="/ppt/notesMasters/notesMaster1.xml" Id="Rf9b55658d8824e46" /><Relationship Type="http://schemas.openxmlformats.org/officeDocument/2006/relationships/presProps" Target="/ppt/presProps.xml" Id="R537a552cd0d14831" /><Relationship Type="http://schemas.openxmlformats.org/officeDocument/2006/relationships/tableStyles" Target="/ppt/tableStyles.xml" Id="R2b3682bebba74bf3" /><Relationship Type="http://schemas.openxmlformats.org/officeDocument/2006/relationships/slide" Target="/ppt/slides/slide1.xml" Id="R4900d6a96ab64e09" /><Relationship Type="http://schemas.openxmlformats.org/officeDocument/2006/relationships/slide" Target="/ppt/slides/slide2.xml" Id="R604b1523c6064d6a" /><Relationship Type="http://schemas.openxmlformats.org/officeDocument/2006/relationships/slide" Target="/ppt/slides/slide3.xml" Id="Rdd1141518e924be6" /><Relationship Type="http://schemas.openxmlformats.org/officeDocument/2006/relationships/slide" Target="/ppt/slides/slide4.xml" Id="Racc395991064489f" /><Relationship Type="http://schemas.openxmlformats.org/officeDocument/2006/relationships/slide" Target="/ppt/slides/slide5.xml" Id="R697c9415aeb047d0" /><Relationship Type="http://schemas.openxmlformats.org/officeDocument/2006/relationships/slide" Target="/ppt/slides/slide6.xml" Id="R5594e7829f07419b" /><Relationship Type="http://schemas.openxmlformats.org/officeDocument/2006/relationships/slide" Target="/ppt/slides/slide7.xml" Id="R3ea6a70e0940444b" /><Relationship Type="http://schemas.openxmlformats.org/officeDocument/2006/relationships/slide" Target="/ppt/slides/slide8.xml" Id="Rdd1fb73e8870440c" /><Relationship Type="http://schemas.openxmlformats.org/officeDocument/2006/relationships/slide" Target="/ppt/slides/slide9.xml" Id="R8d94d0ecf1fb40cc" /><Relationship Type="http://schemas.openxmlformats.org/officeDocument/2006/relationships/slide" Target="/ppt/slides/slide10.xml" Id="R8b957c7ae9c348e1" /><Relationship Type="http://schemas.openxmlformats.org/officeDocument/2006/relationships/slide" Target="/ppt/slides/slide11.xml" Id="R7ed727fbf0564af6" /><Relationship Type="http://schemas.openxmlformats.org/officeDocument/2006/relationships/slide" Target="/ppt/slides/slide12.xml" Id="R47fabb84fa0e4ea2" /><Relationship Type="http://schemas.openxmlformats.org/officeDocument/2006/relationships/slide" Target="/ppt/slides/slide13.xml" Id="Rdba1bb5cfeb14ef2" /><Relationship Type="http://schemas.openxmlformats.org/officeDocument/2006/relationships/slide" Target="/ppt/slides/slide14.xml" Id="R61e3cc0dc7454298" /><Relationship Type="http://schemas.openxmlformats.org/officeDocument/2006/relationships/slide" Target="/ppt/slides/slide15.xml" Id="R70b3ad05a3f746b8" /><Relationship Type="http://schemas.openxmlformats.org/officeDocument/2006/relationships/slide" Target="/ppt/slides/slide16.xml" Id="Rf87f44d6736540a9" /><Relationship Type="http://schemas.openxmlformats.org/officeDocument/2006/relationships/slide" Target="/ppt/slides/slide17.xml" Id="R1125d023d3664b22" /><Relationship Type="http://schemas.openxmlformats.org/officeDocument/2006/relationships/slide" Target="/ppt/slides/slide18.xml" Id="Rc2df091942ab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8976b5047ba4f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79c415e17417c" /><Relationship Type="http://schemas.openxmlformats.org/officeDocument/2006/relationships/notesMaster" Target="/ppt/notesMasters/notesMaster1.xml" Id="R01dd2538e9f8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1be2ebefb4bd5" /><Relationship Type="http://schemas.openxmlformats.org/officeDocument/2006/relationships/notesMaster" Target="/ppt/notesMasters/notesMaster1.xml" Id="R6a83ffde32f844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029e16404440b3" /><Relationship Type="http://schemas.openxmlformats.org/officeDocument/2006/relationships/notesMaster" Target="/ppt/notesMasters/notesMaster1.xml" Id="R7e3d6a0c449f48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b836118ab24195" /><Relationship Type="http://schemas.openxmlformats.org/officeDocument/2006/relationships/notesMaster" Target="/ppt/notesMasters/notesMaster1.xml" Id="Rd3964ded707343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3a3be606674879" /><Relationship Type="http://schemas.openxmlformats.org/officeDocument/2006/relationships/notesMaster" Target="/ppt/notesMasters/notesMaster1.xml" Id="R90567f0a449d4c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2e53869c3e4eae" /><Relationship Type="http://schemas.openxmlformats.org/officeDocument/2006/relationships/notesMaster" Target="/ppt/notesMasters/notesMaster1.xml" Id="R714e100df8d3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df340b4b09402d" /><Relationship Type="http://schemas.openxmlformats.org/officeDocument/2006/relationships/notesMaster" Target="/ppt/notesMasters/notesMaster1.xml" Id="R7564584d85574d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a1249338fa4a95" /><Relationship Type="http://schemas.openxmlformats.org/officeDocument/2006/relationships/notesMaster" Target="/ppt/notesMasters/notesMaster1.xml" Id="R262f62a2bcb541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07e847b390484a" /><Relationship Type="http://schemas.openxmlformats.org/officeDocument/2006/relationships/notesMaster" Target="/ppt/notesMasters/notesMaster1.xml" Id="R925967ed9d0248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a2d5d530754f77" /><Relationship Type="http://schemas.openxmlformats.org/officeDocument/2006/relationships/notesMaster" Target="/ppt/notesMasters/notesMaster1.xml" Id="R6686015c411c47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80af656cc0404e" /><Relationship Type="http://schemas.openxmlformats.org/officeDocument/2006/relationships/notesMaster" Target="/ppt/notesMasters/notesMaster1.xml" Id="R81cd592b861749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72b3a0a5fa4e02" /><Relationship Type="http://schemas.openxmlformats.org/officeDocument/2006/relationships/notesMaster" Target="/ppt/notesMasters/notesMaster1.xml" Id="R7d0f0e8e285b4c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f439c00bc346fa" /><Relationship Type="http://schemas.openxmlformats.org/officeDocument/2006/relationships/notesMaster" Target="/ppt/notesMasters/notesMaster1.xml" Id="R77f91f1c56d24c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3613dbacc3480a" /><Relationship Type="http://schemas.openxmlformats.org/officeDocument/2006/relationships/notesMaster" Target="/ppt/notesMasters/notesMaster1.xml" Id="Ra6f2c396e9eb48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1b119e9e814f10" /><Relationship Type="http://schemas.openxmlformats.org/officeDocument/2006/relationships/notesMaster" Target="/ppt/notesMasters/notesMaster1.xml" Id="R6b78b27046664b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eac5f4d531486b" /><Relationship Type="http://schemas.openxmlformats.org/officeDocument/2006/relationships/notesMaster" Target="/ppt/notesMasters/notesMaster1.xml" Id="Rc2f0479611eb45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942a9a7dea40c7" /><Relationship Type="http://schemas.openxmlformats.org/officeDocument/2006/relationships/notesMaster" Target="/ppt/notesMasters/notesMaster1.xml" Id="R7a50c094756043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90d4c38e9c4d38" /><Relationship Type="http://schemas.openxmlformats.org/officeDocument/2006/relationships/notesMaster" Target="/ppt/notesMasters/notesMaster1.xml" Id="Rc2cd81afb8bf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ao episódio 8 do dbt Moderno na Prática. Hoje vamos trabalhar o tema “Data products sem depender de Mesh”. Domínios e interfaces públicas com recursos abertos.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08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“Produto de dados não é uma pasta Gold com nome novo.”.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Produto de dados não é uma pasta Gold com nome novo.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definir domínio e interface, Evitar dependência privada e Escolher quando separar projetos.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“Produto combina contrato e responsabilidade”.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Interface, owner, SLA e consumidores importam mais que a pasta. Para tornar isso concreto, observe quem produz, O que promete e Quem consome.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“Separações horizontal e vertical resolvem problemas diferentes”.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A topologia deve seguir ownership e ciclo de mudança. Para tornar isso concreto, observe por domínio, Por camada e Por plataforma.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“Separações horizontal e vertical resolvem problemas diferentes”.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A topologia deve seguir ownership e ciclo de mudança. Siga a composição na ordem mostrada e conecte os elementos principais. A imagem ou o fluxo não cria uma regra nova; ele torna visível a relação que acabamos de explicar. A figura é identificada como figura oficial dbt Labs — Apache 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“Core aberto já oferece limites úteis”.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Groups, access, packages e refs organizam dependências dentro do projeto. Para tornar isso concreto, observe interfaces públicas, Modelos privados e Packages versionados.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“Core aberto já oferece limites úteis”.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Groups, access, packages e refs organizam dependências dentro do projeto. Siga a composição na ordem mostrada e conecte os elementos principais.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“Separe fisicamente quando o custo se paga”.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Autonomia, segurança e ciclos independentes precisam superar a complexidade. Para tornar isso concreto, observe ownership real, Release independente e Governança de dependência.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“Separe fisicamente quando o custo se paga”.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Autonomia, segurança e ciclos independentes precisam superar a complexidade. Siga a composição na ordem mostrada e conecte monorepo, Multi-project, Ownership real, Release independente e Governança de dependência.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checkpoint 08.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domínios declarados, Dependências públicas e Refs privadas bloqueadas.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Data products sem cross-project pago. Esse resultado confirma que a etapa executada produziu a evidência esperada para o checkpoint 08.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limites claros, FinOps: evite duplicação e IA: contexto por domínio.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“10 domínios”.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10 domínios: padrão anonimizado do projeto privado. O número ajuda a dimensionar o exemplo, mas precisa ser lido com a ressalva correta. Estrutura reproduzida com Olist; nenhum código proprietário.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multi-project aumenta coordenação, Package não substitui ownership e Cross-project gerenciado fica fora.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Mesh Enterprise entra somente quando dependência organizacional justificar o custo.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Defina um domínio, sua interface pública e duas dependências proibidas.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do episódio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https://docs.getdbt.com/docs/build/groups</a:t>
            </a:r>
          </a:p>
          <a:p xmlns:a="http://schemas.openxmlformats.org/drawingml/2006/main">
            <a:r>
              <a:t>- https://docs.getdbt.com/docs/build/packages</a:t>
            </a:r>
          </a:p>
          <a:p xmlns:a="http://schemas.openxmlformats.org/drawingml/2006/main">
            <a:r>
              <a:t>- https://docs.getdbt.com/docs/mesh/govern/model-access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https://github.com/AnselmoBorges/dbt-moderno-na-pratica/blob/main/roteiros/08-data-products-open.md</a:t>
            </a:r>
          </a:p>
          <a:p xmlns:a="http://schemas.openxmlformats.org/drawingml/2006/main">
            <a:r>
              <a:t>- repo://laboratorio/checkpoints/ep08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46bcaacc941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50904d7a9f46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87a340e56f41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7829e1ba7b45d9" /><Relationship Type="http://schemas.openxmlformats.org/officeDocument/2006/relationships/slideLayout" Target="/ppt/slideLayouts/slideLayout1.xml" Id="R28a5b1fe509d499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e878bf787d54be1" /><Relationship Type="http://schemas.openxmlformats.org/officeDocument/2006/relationships/slideLayout" Target="/ppt/slideLayouts/slideLayout2.xml" Id="R1d7cdfc54ad84f66" /><Relationship Type="http://schemas.openxmlformats.org/officeDocument/2006/relationships/slideLayout" Target="/ppt/slideLayouts/slideLayout3.xml" Id="R4f3a2b2503d045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a5b1fe509d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d7cdfc54ad84f66"/>
    <p:sldLayoutId xmlns:r="http://schemas.openxmlformats.org/officeDocument/2006/relationships" id="2147483652" r:id="R4f3a2b2503d045bd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ca3ec88344770" /><Relationship Type="http://schemas.openxmlformats.org/officeDocument/2006/relationships/image" Target="/ppt/media/image.jpeg" Id="R38c5ad1e34904a80" /><Relationship Type="http://schemas.openxmlformats.org/officeDocument/2006/relationships/image" Target="/ppt/media/image.png" Id="Rdc6a2c0a835141e9" /><Relationship Type="http://schemas.openxmlformats.org/officeDocument/2006/relationships/notesSlide" Target="/ppt/notesSlides/notesSlide1.xml" Id="Rcd6ac4d0bf66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a7bd6da6ab438c" /><Relationship Type="http://schemas.openxmlformats.org/officeDocument/2006/relationships/image" Target="/ppt/media/image2.png" Id="Rbd5a17f3c1ab44b8" /><Relationship Type="http://schemas.openxmlformats.org/officeDocument/2006/relationships/image" Target="/ppt/media/image3.png" Id="Rfb30b990fd88490e" /><Relationship Type="http://schemas.openxmlformats.org/officeDocument/2006/relationships/notesSlide" Target="/ppt/notesSlides/notesSlide2.xml" Id="Ree1c3cf0f63d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550b920024f7d" /><Relationship Type="http://schemas.openxmlformats.org/officeDocument/2006/relationships/image" Target="/ppt/media/image4.png" Id="R68f3fabd45874f14" /><Relationship Type="http://schemas.openxmlformats.org/officeDocument/2006/relationships/notesSlide" Target="/ppt/notesSlides/notesSlide3.xml" Id="Re5164ccc04d3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01af8ee6184388" /><Relationship Type="http://schemas.openxmlformats.org/officeDocument/2006/relationships/image" Target="/ppt/media/image5.png" Id="R66d6f6444da545e2" /><Relationship Type="http://schemas.openxmlformats.org/officeDocument/2006/relationships/notesSlide" Target="/ppt/notesSlides/notesSlide4.xml" Id="R5419eb4dadcf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63478be45c4956" /><Relationship Type="http://schemas.openxmlformats.org/officeDocument/2006/relationships/image" Target="/ppt/media/image6.png" Id="R6ace99c7d143423a" /><Relationship Type="http://schemas.openxmlformats.org/officeDocument/2006/relationships/notesSlide" Target="/ppt/notesSlides/notesSlide5.xml" Id="R677ce3b4c16d49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ea445078334f49" /><Relationship Type="http://schemas.openxmlformats.org/officeDocument/2006/relationships/image" Target="/ppt/media/image7.png" Id="R1866d65d83034ac0" /><Relationship Type="http://schemas.openxmlformats.org/officeDocument/2006/relationships/image" Target="/ppt/media/image8.png" Id="R25dc45aa76754f56" /><Relationship Type="http://schemas.openxmlformats.org/officeDocument/2006/relationships/notesSlide" Target="/ppt/notesSlides/notesSlide6.xml" Id="Rad112aed14ef48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dcbce80c2f4539" /><Relationship Type="http://schemas.openxmlformats.org/officeDocument/2006/relationships/image" Target="/ppt/media/image9.png" Id="Re2c47745318d433e" /><Relationship Type="http://schemas.openxmlformats.org/officeDocument/2006/relationships/notesSlide" Target="/ppt/notesSlides/notesSlide7.xml" Id="R2456de211509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a5ed810d6048e2" /><Relationship Type="http://schemas.openxmlformats.org/officeDocument/2006/relationships/image" Target="/ppt/media/image10.png" Id="Ra566e9c7133145a4" /><Relationship Type="http://schemas.openxmlformats.org/officeDocument/2006/relationships/notesSlide" Target="/ppt/notesSlides/notesSlide8.xml" Id="Ra8b1c8ba0e224d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df52fe170b4be2" /><Relationship Type="http://schemas.openxmlformats.org/officeDocument/2006/relationships/image" Target="/ppt/media/image11.png" Id="R08eab81509734b3e" /><Relationship Type="http://schemas.openxmlformats.org/officeDocument/2006/relationships/notesSlide" Target="/ppt/notesSlides/notesSlide9.xml" Id="R608910e76cf347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8179b6c7754c15" /><Relationship Type="http://schemas.openxmlformats.org/officeDocument/2006/relationships/image" Target="/ppt/media/image12.png" Id="Rc7da6e869fde4fdc" /><Relationship Type="http://schemas.openxmlformats.org/officeDocument/2006/relationships/notesSlide" Target="/ppt/notesSlides/notesSlide10.xml" Id="Ra10568550d6847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7cba9df12840fb" /><Relationship Type="http://schemas.openxmlformats.org/officeDocument/2006/relationships/image" Target="/ppt/media/image13.png" Id="R85007b8d3927464c" /><Relationship Type="http://schemas.openxmlformats.org/officeDocument/2006/relationships/notesSlide" Target="/ppt/notesSlides/notesSlide11.xml" Id="Rd1cbfcef38a94a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22fbb56b2d4a69" /><Relationship Type="http://schemas.openxmlformats.org/officeDocument/2006/relationships/image" Target="/ppt/media/image14.png" Id="Raf5f40d2f3d942d9" /><Relationship Type="http://schemas.openxmlformats.org/officeDocument/2006/relationships/notesSlide" Target="/ppt/notesSlides/notesSlide12.xml" Id="Ra6789cc382214c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5b5e9037545e7" /><Relationship Type="http://schemas.openxmlformats.org/officeDocument/2006/relationships/image" Target="/ppt/media/image15.png" Id="R7e72273054494697" /><Relationship Type="http://schemas.openxmlformats.org/officeDocument/2006/relationships/notesSlide" Target="/ppt/notesSlides/notesSlide13.xml" Id="Re4212491f8224f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d805f16ecf461e" /><Relationship Type="http://schemas.openxmlformats.org/officeDocument/2006/relationships/image" Target="/ppt/media/image16.png" Id="R408f55d9def94c40" /><Relationship Type="http://schemas.openxmlformats.org/officeDocument/2006/relationships/notesSlide" Target="/ppt/notesSlides/notesSlide14.xml" Id="R1ff7c790f5814c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1a496bbeec4ccc" /><Relationship Type="http://schemas.openxmlformats.org/officeDocument/2006/relationships/image" Target="/ppt/media/image17.png" Id="Rd9d293fefd5e4b71" /><Relationship Type="http://schemas.openxmlformats.org/officeDocument/2006/relationships/notesSlide" Target="/ppt/notesSlides/notesSlide15.xml" Id="Rdebdc06bbc9444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e6d39303cc4bbc" /><Relationship Type="http://schemas.openxmlformats.org/officeDocument/2006/relationships/image" Target="/ppt/media/image18.png" Id="R73bea53c6bc040f3" /><Relationship Type="http://schemas.openxmlformats.org/officeDocument/2006/relationships/notesSlide" Target="/ppt/notesSlides/notesSlide16.xml" Id="Rbeb0c153f1c54d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c1b8fb701c41d3" /><Relationship Type="http://schemas.openxmlformats.org/officeDocument/2006/relationships/image" Target="/ppt/media/image19.png" Id="R26ba6610f2b44d1e" /><Relationship Type="http://schemas.openxmlformats.org/officeDocument/2006/relationships/notesSlide" Target="/ppt/notesSlides/notesSlide17.xml" Id="Rb639839d6a7148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e11e4d78794279" /><Relationship Type="http://schemas.openxmlformats.org/officeDocument/2006/relationships/image" Target="/ppt/media/image20.png" Id="R0c4cd7916025431b" /><Relationship Type="http://schemas.openxmlformats.org/officeDocument/2006/relationships/notesSlide" Target="/ppt/notesSlides/notesSlide18.xml" Id="R71a52672e62c40e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 descr="Ilustração conceitual autoral da capa: EPISÓDIO 8 — Data products sem depender de Mesh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5ad1e34904a80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FE34B47F-BAAF-418E-84F5-F49E38F9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D713EDD6-FD20-4BE8-B3A2-4AA7443D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E73FCB9A-70A3-44B0-B607-04CDCCD8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8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2E6A8F6-8DE9-4AD0-8661-4A04D840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Ilustração conceitual autoral da capa: EPISÓDIO 8 — Data products sem depender de Mesh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a2c0a835141e9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D231919-C201-4893-BD91-96AEE74B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Data products sem depender de Mesh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E6A364-8856-46F5-BD65-FBCE10AC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Domínios e interfaces públicas com recursos abertos</a:t>
            </a:r>
          </a:p>
        </p:txBody>
      </p:sp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8230FC1-2270-4DED-B315-154B92B9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1762A59E-894A-44E4-B11C-0E7E9D26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08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1536499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ook">
            <a:extLst xmlns:a="http://schemas.openxmlformats.org/drawingml/2006/main">
              <a:ext uri="{FF2B5EF4-FFF2-40B4-BE49-F238E27FC236}">
                <a16:creationId xmlns:a16="http://schemas.microsoft.com/office/drawing/2014/main" id="{79A4C17C-6D44-44E1-8A55-5C562AB1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Produto de dados não é uma pasta Gold com nome novo.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02791739-98F5-4104-8350-624301E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C7317D37-E70A-4BE3-A88D-CAAA4D44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7BABC121-5288-49DC-AE32-BD1F2B6B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9" name="" descr="Diagrama didático autoral que apresenta: Produto de dados não é uma pasta Gold com nome novo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a17f3c1ab44b8"/>
          <a:stretch xmlns:a="http://schemas.openxmlformats.org/drawingml/2006/main"/>
        </p:blipFill>
        <p:spPr>
          <a:xfrm xmlns:a="http://schemas.openxmlformats.org/drawingml/2006/main">
            <a:off x="3785095" y="3790950"/>
            <a:ext cx="4621810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0A2662C-7B40-4A5A-83F0-43AB2559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AEF4EF7A-6091-4A0A-801D-74A6C490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Diagrama didático autoral que apresenta: Produto de dados não é uma pasta Gold com nome novo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0b990fd88490e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8BA848-80BA-4B36-98AB-5AC1C113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F40AC77-8A01-4A9C-A238-B5AB0AE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7097E6-E013-432C-B126-E90B1A49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2/18</a:t>
            </a:r>
          </a:p>
        </p:txBody>
      </p:sp>
    </p:spTree>
    <p:extLst>
      <p:ext uri="{BB962C8B-B14F-4D97-AF65-F5344CB8AC3E}">
        <p14:creationId xmlns:p14="http://schemas.microsoft.com/office/powerpoint/2010/main" val="55724245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E0CE5F-EEC5-45C8-88B4-7E4FA3F7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12F69E63-436E-4730-B33F-1829AB52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EAFF6277-4CAA-4F41-B167-C5A398D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Definir domínio e interface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54046DB8-E54A-446C-9FD9-DEF1415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FCA0CFAC-890D-48C0-9693-9F458A6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DBF9405-E145-41EF-BD2C-D591829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Evitar dependência privada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92B069FF-88FE-4D6E-9117-E4930DF6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5D76A2D5-8B0D-475D-9900-16DD64B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F6597953-DB0C-4CF3-945F-1F484A9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Escolher quando separar projetos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4FA062E-40CC-4153-9907-B41C9384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757AA333-B9E9-466B-8F77-8B5C1FA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Ao final, você consegue...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3fabd45874f1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DAB802A-31BA-4253-A128-96D4C2D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13053FF7-243F-4722-86E3-6C0E756C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C321C2-2099-46FE-81D0-950A9B6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3/18</a:t>
            </a:r>
          </a:p>
        </p:txBody>
      </p:sp>
    </p:spTree>
    <p:extLst>
      <p:ext uri="{BB962C8B-B14F-4D97-AF65-F5344CB8AC3E}">
        <p14:creationId xmlns:p14="http://schemas.microsoft.com/office/powerpoint/2010/main" val="194707100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33CE50-BE10-4D55-A1B1-866C3566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Produto combina contrato e responsabilidade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418274-78F5-4292-8B85-97090F3C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Interface, owner, SLA e consumidores importam mais que a pasta.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9216715F-248B-4891-9463-0B31730F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Quem produz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O que promete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Quem consome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FD603F14-E7C9-486B-AEE9-2FF2EE0C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DAC7F2FB-7FA1-45D5-91F7-D04DF9C9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8FE033D-F4C4-4531-BF09-A234E4F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31A797C-CD34-4734-8937-E796FCB5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A6EC2C91-B1EC-44A0-AEBD-0074B241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Produto combina contrato e responsabilidade — Interface, owner, SLA e consumidores importam mais que a past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6f6444da545e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52DE094-07B0-4C9F-82D3-40CBF65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D44B4DC-0ECF-4AC4-888B-18556DFC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4BB67D-AE7B-4703-9700-7A1E9202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4/18</a:t>
            </a:r>
          </a:p>
        </p:txBody>
      </p:sp>
    </p:spTree>
    <p:extLst>
      <p:ext uri="{BB962C8B-B14F-4D97-AF65-F5344CB8AC3E}">
        <p14:creationId xmlns:p14="http://schemas.microsoft.com/office/powerpoint/2010/main" val="1304717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DE818E-ED48-4D20-8A51-02E15A0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Separações horizontal e vertical resolvem problemas diferentes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0513C78-81EE-4493-8490-E15563BA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A topologia deve seguir ownership e ciclo de mudança.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3BC7008E-03FA-4274-9AA0-11497E4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Por domínio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Por camada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Por plataforma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55984911-CD78-4E0D-BF78-857D5D39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160103E7-C553-4847-994D-10C779C0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1169ABD-F59F-45AD-AB07-16A5DEE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D7DBC4F-9C2A-417E-BD7D-D3AACFA9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7F2F8C9-0915-40A8-9F7B-B994FF68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Separações horizontal e vertical resolvem problemas diferentes — A topologia deve seguir ownership e ciclo de mudanç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e99c7d143423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B848698-E688-45EF-96D8-CBC9892B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CB228F0-4A85-4B78-8A79-83F4851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09A1A4-AC5E-4936-8378-255CE9F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5/18</a:t>
            </a:r>
          </a:p>
        </p:txBody>
      </p:sp>
    </p:spTree>
    <p:extLst>
      <p:ext uri="{BB962C8B-B14F-4D97-AF65-F5344CB8AC3E}">
        <p14:creationId xmlns:p14="http://schemas.microsoft.com/office/powerpoint/2010/main" val="66362502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7760B8-C2C9-4A96-B337-962A24D7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Separações horizontal e vertical resolvem problemas diferentes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7E4A8DEE-B581-48A1-B105-611BB48D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topologia deve seguir ownership e ciclo de mudança.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5C60239F-393A-44A7-8A6E-BC330F7F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Figura oficial da documentação dbt usada para explicar: Separações horizontal e vertical resolvem problemas diferentes — A topologia deve seguir ownership e ciclo de mudanç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6d65d83034ac0"/>
          <a:stretch xmlns:a="http://schemas.openxmlformats.org/drawingml/2006/main"/>
        </p:blipFill>
        <p:spPr>
          <a:xfrm xmlns:a="http://schemas.openxmlformats.org/drawingml/2006/main">
            <a:off x="5429250" y="2065895"/>
            <a:ext cx="5791200" cy="2821459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58D02D47-EF64-4E5A-9BEA-E84DE92A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dbt Labs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D4B2957-3565-4C68-99C5-2F1B4927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4428094-6536-474A-A1FF-DE7DCAD1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Figura oficial da documentação dbt usada para explicar: Separações horizontal e vertical resolvem problemas diferentes — A topologia deve seguir ownership e ciclo de mudanç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c45aa76754f56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7B4B4A-2607-4398-AE79-ECC030B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1B584E6-5197-4A19-83E7-0A8069DF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02C524-E303-486D-BBD7-440879F1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6/18</a:t>
            </a:r>
          </a:p>
        </p:txBody>
      </p:sp>
    </p:spTree>
    <p:extLst>
      <p:ext uri="{BB962C8B-B14F-4D97-AF65-F5344CB8AC3E}">
        <p14:creationId xmlns:p14="http://schemas.microsoft.com/office/powerpoint/2010/main" val="38240920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18E14E-59FC-4F3C-9F64-B05733F8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Core aberto já oferece limites úteis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472A7C-2DF8-44CC-95FD-25195EFB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Groups, access, packages e refs organizam dependências dentro do projeto.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50675E77-643C-4FEF-9689-B9EFD43A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Interfaces públicas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Modelos privados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Packages versionados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694E766-0A6F-46EF-A5BA-884D4DFB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28FFCF3F-C882-4BBC-AD3D-64D3FFC9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682C531-1B13-4D1A-9B4F-5EE97B70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14718B56-E575-482F-9576-94C1963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D3E1D8ED-BEEB-4CA6-9FD0-9C51BF00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Core aberto já oferece limites úteis — Groups, access, packages e refs organizam dependências dentro do projet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47745318d433e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52133D-F700-41DB-8F26-927726BC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542C8CF-9F7C-46F7-91F2-3728A475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D60069-5EFB-4BA6-AB07-CF132524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7/18</a:t>
            </a:r>
          </a:p>
        </p:txBody>
      </p:sp>
    </p:spTree>
    <p:extLst>
      <p:ext uri="{BB962C8B-B14F-4D97-AF65-F5344CB8AC3E}">
        <p14:creationId xmlns:p14="http://schemas.microsoft.com/office/powerpoint/2010/main" val="1446266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70FCDF-93DA-4D0B-B9CB-C4C52A2A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Core aberto já oferece limites úteis</a:t>
            </a:r>
          </a:p>
        </p:txBody>
      </p:sp>
      <p:sp>
        <p:nvSpPr>
          <p:cNvPr id="2" name="layer-1">
            <a:extLst xmlns:a="http://schemas.openxmlformats.org/drawingml/2006/main">
              <a:ext uri="{FF2B5EF4-FFF2-40B4-BE49-F238E27FC236}">
                <a16:creationId xmlns:a16="http://schemas.microsoft.com/office/drawing/2014/main" id="{D1AC95BC-A94E-4E4D-893A-9BE42BBC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Domínio A</a:t>
            </a:r>
          </a:p>
        </p:txBody>
      </p:sp>
      <p:sp>
        <p:nvSpPr>
          <p:cNvPr id="3" name="layer-2">
            <a:extLst xmlns:a="http://schemas.openxmlformats.org/drawingml/2006/main">
              <a:ext uri="{FF2B5EF4-FFF2-40B4-BE49-F238E27FC236}">
                <a16:creationId xmlns:a16="http://schemas.microsoft.com/office/drawing/2014/main" id="{C01B4D2F-0C5C-4124-8F33-3D147FAA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162425"/>
            <a:ext cx="7572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9E8FA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Contrato</a:t>
            </a:r>
          </a:p>
        </p:txBody>
      </p:sp>
      <p:sp>
        <p:nvSpPr>
          <p:cNvPr id="4" name="layer-3">
            <a:extLst xmlns:a="http://schemas.openxmlformats.org/drawingml/2006/main">
              <a:ext uri="{FF2B5EF4-FFF2-40B4-BE49-F238E27FC236}">
                <a16:creationId xmlns:a16="http://schemas.microsoft.com/office/drawing/2014/main" id="{9D7DBAC6-2034-422E-8233-5B55E923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14725"/>
            <a:ext cx="657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Domínio B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AF5A9B8-7425-4CDD-A5AB-0689E857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9263AD0-2ABC-41C0-AA79-161B6EC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Core aberto já oferece limites úteis — Domínio 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6e9c7133145a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E949C5-ECE8-4542-BEA6-38CAA73D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8391D67-22F7-4480-8ABC-46A924D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56F253-7101-4007-B18A-2242BD6A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8/18</a:t>
            </a:r>
          </a:p>
        </p:txBody>
      </p:sp>
    </p:spTree>
    <p:extLst>
      <p:ext uri="{BB962C8B-B14F-4D97-AF65-F5344CB8AC3E}">
        <p14:creationId xmlns:p14="http://schemas.microsoft.com/office/powerpoint/2010/main" val="854500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78583D-6F68-4464-9FB5-AF789CCD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Separe fisicamente quando o custo se paga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57B6D2-C834-4555-A178-4B0E47DD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Autonomia, segurança e ciclos independentes precisam superar a complexidade.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BFCCCAE5-EF32-47A3-8275-3151E0D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Ownership real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Release independente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Governança de dependência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A834F6F6-09B7-4851-9B06-3B4202B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5DF9AADD-49F1-45C0-8919-9E38001E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28AB51D-9A5F-4CFF-B34A-5515E1D9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197F3F7-05B9-4BDD-BD22-D12296D8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A6B29AB-83E1-4D8B-92CD-D734056C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Separe fisicamente quando o custo se paga — Autonomia, segurança e ciclos independentes precisam superar a complexidade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ab81509734b3e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3FE708-2B43-47F1-8AD4-64F619AB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60712BF-3B51-484B-AAEC-A9B618EE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7CB3E1-89C2-40F1-B6D6-2B9AE50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9/18</a:t>
            </a:r>
          </a:p>
        </p:txBody>
      </p:sp>
    </p:spTree>
    <p:extLst>
      <p:ext uri="{BB962C8B-B14F-4D97-AF65-F5344CB8AC3E}">
        <p14:creationId xmlns:p14="http://schemas.microsoft.com/office/powerpoint/2010/main" val="13010247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0215AC-E362-45E3-8245-91B81997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Separe fisicamente quando o custo se paga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A1B551E3-89C3-4FAB-BFD3-EA551E4E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EC5FF"/>
                </a:solidFill>
              </a:defRPr>
            </a:pPr>
            <a:r>
              <a:rPr sz="2100" b="1">
                <a:solidFill>
                  <a:srgbClr val="1EC5FF"/>
                </a:solidFill>
              </a:rPr>
              <a:t>Monorepo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ABE979F4-EA68-48A5-8987-C47C9E84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BE8C"/>
                </a:solidFill>
              </a:defRPr>
            </a:pPr>
            <a:r>
              <a:rPr sz="2100" b="1">
                <a:solidFill>
                  <a:srgbClr val="2DBE8C"/>
                </a:solidFill>
              </a:rPr>
              <a:t>Multi-project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4966B161-0C00-40B8-BA3D-536FB9A4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F2C48D53-E6D1-4844-80C0-45F94339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Ownership real</a:t>
            </a:r>
          </a:p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Release independente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1C4A9973-8B89-4D5F-877A-2D69DE7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Governança de dependência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02BD51F4-8632-494E-81BC-CFDA0DA7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DA2A7B9-591B-4607-85E1-FB9402FB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Separe fisicamente quando o custo se paga — Monorep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a6e869fde4fdc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B5DA24-13F6-4313-BC36-4AB79DC6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5EE0EA3-3DB8-445C-968B-0DD38438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726376-DCD4-4ADD-A491-7DF5FA19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10/18</a:t>
            </a:r>
          </a:p>
        </p:txBody>
      </p:sp>
    </p:spTree>
    <p:extLst>
      <p:ext uri="{BB962C8B-B14F-4D97-AF65-F5344CB8AC3E}">
        <p14:creationId xmlns:p14="http://schemas.microsoft.com/office/powerpoint/2010/main" val="1031493648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0647F9-E2FA-449C-8BED-93E4178F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6FE10302-D81B-4329-8361-8198B926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EDBBE28C-58EB-441B-8E6E-3090A0CC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08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78F04E91-4EC9-4C3D-8D1B-587DF61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C61A7B2B-6C17-4A4A-AE34-D47BB212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E38B762C-6B1D-4889-AD79-E8C48D7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Demonstração — execute — python course.py checkpoint 08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07b8d3927464c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1DC386-0A9D-430B-94EB-D7F03D8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4A3AFA0-0569-4CD9-A471-53E37ECA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8517FC-57FA-4FC5-9AEE-B623452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11/18</a:t>
            </a:r>
          </a:p>
        </p:txBody>
      </p:sp>
    </p:spTree>
    <p:extLst>
      <p:ext uri="{BB962C8B-B14F-4D97-AF65-F5344CB8AC3E}">
        <p14:creationId xmlns:p14="http://schemas.microsoft.com/office/powerpoint/2010/main" val="19139826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264BB3-F0B4-43A7-97A1-9AC526C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ADDA8557-3569-492F-BC28-CED8CC50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CEBD1D3-B1A9-4E38-ADFA-D295964C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Domínios declarados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A3AEF847-91EA-4E4C-B7B4-874BA9CB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3F86398D-52F4-42DF-AB74-A91F42BF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50E2666-37B4-4F19-A7D2-630051C3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Dependências públicas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19F98306-E3B1-4519-AEA8-12FE3B1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88026498-481A-42D9-A1A3-AB20C27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22D4C4BE-7123-44FC-A8B1-65B0143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Refs privadas bloqueadas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64F2ECF-D55F-4936-8BE4-B17F0D7F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EEA9E22-7BD8-4906-B350-7D047D0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Demonstração — observe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f40d2f3d942d9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ACCB7B9-8E9F-4031-A11C-F6802BBD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CAF7980B-2EF1-44A0-811D-F7384823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940205-2339-4F9E-8324-346B9AC7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12/18</a:t>
            </a:r>
          </a:p>
        </p:txBody>
      </p:sp>
    </p:spTree>
    <p:extLst>
      <p:ext uri="{BB962C8B-B14F-4D97-AF65-F5344CB8AC3E}">
        <p14:creationId xmlns:p14="http://schemas.microsoft.com/office/powerpoint/2010/main" val="580407771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1B81BB8E-0E5B-4A90-BCE2-2AF491F4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FA991D6C-E691-4F63-9D17-55EDF079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Data products sem cross-project pago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6172C426-6C63-41A1-8F68-B6042DF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08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813B3527-1BF7-441C-869D-0192FD72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FD6901E-29EE-41E6-B204-EDE1EB73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11505FF4-2168-4C1E-8BA6-ADDC11A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6F07D87-FB4F-4F0C-8F9A-9D4DE391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ESULTADO ESPERADO — Data products sem cross-project pag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2273054494697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6C04915-AB95-4ED7-AE21-B915F40D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624A641-F183-4E1B-AD9B-58ED43F8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AD75B4-9239-446D-9C07-48E0CBCB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13/18</a:t>
            </a:r>
          </a:p>
        </p:txBody>
      </p:sp>
    </p:spTree>
    <p:extLst>
      <p:ext uri="{BB962C8B-B14F-4D97-AF65-F5344CB8AC3E}">
        <p14:creationId xmlns:p14="http://schemas.microsoft.com/office/powerpoint/2010/main" val="679551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A42B23-FA65-4C80-ACF2-D96E8B8A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60EA51D1-9723-4D27-96BB-8E8F9747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C8C9732-19B6-4C86-A716-E5E000A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limites claros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E6620DFC-F850-446E-847E-0775D408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0C6C22DF-A310-47BD-878A-BCF399BE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B19BE59-9FC4-4A69-8943-C6D27934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evite duplicação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F2E32D6E-7D84-4091-9532-A4844F8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2D0C46CF-4F07-4422-A3B4-6BCC4941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7B86234-100D-4193-8DD9-1DC7213E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contexto por domínio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377518E-D75C-44D9-8A2B-BCFC82F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D63E5C0-6208-4A48-8840-39554E9B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O mesmo recurso afeta três decisões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f55d9def94c40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DB7650-7C9B-4FD7-8FE9-5D48B07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5A3D3844-EEBE-4F0E-9CD9-C8F47AA5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696D5C-90B1-4F21-A118-2F3B6C58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14/18</a:t>
            </a:r>
          </a:p>
        </p:txBody>
      </p:sp>
    </p:spTree>
    <p:extLst>
      <p:ext uri="{BB962C8B-B14F-4D97-AF65-F5344CB8AC3E}">
        <p14:creationId xmlns:p14="http://schemas.microsoft.com/office/powerpoint/2010/main" val="213978125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ase-number">
            <a:extLst xmlns:a="http://schemas.openxmlformats.org/drawingml/2006/main">
              <a:ext uri="{FF2B5EF4-FFF2-40B4-BE49-F238E27FC236}">
                <a16:creationId xmlns:a16="http://schemas.microsoft.com/office/drawing/2014/main" id="{DBA69183-DBC2-4D25-B099-DC1FC5E9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10 domínios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11A30089-ACBA-4452-A645-59E3F18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padrão anonimizado do projeto privado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F2E4B37E-E199-49A2-80AA-3D6749E3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9672654E-5EC4-42E9-BA02-4D9DD3AE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Estrutura reproduzida com Olist; nenhum código proprietário.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C47F44EC-7BD4-4927-8CB6-AD918C3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A6F8A087-E9F1-40E2-92BB-BE923CB2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10 domínios — padrão anonimizado do projeto privad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293fefd5e4b71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8034C8C-62BA-40D2-AA95-720E31E0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DDF580F-DF32-40FA-B3A7-57B1C1B9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96B8A9-FF55-47C8-B829-854079CB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15/18</a:t>
            </a:r>
          </a:p>
        </p:txBody>
      </p:sp>
    </p:spTree>
    <p:extLst>
      <p:ext uri="{BB962C8B-B14F-4D97-AF65-F5344CB8AC3E}">
        <p14:creationId xmlns:p14="http://schemas.microsoft.com/office/powerpoint/2010/main" val="8253614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AEA53E-3EA4-4FE7-A3A4-6AAB645C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DD717D73-959E-43B8-A7C4-78DBA420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Multi-project aumenta coordenação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Package não substitui ownership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Cross-project gerenciado fica fora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5F15331-C05F-4CF9-9F95-5515C752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4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12F3769E-4D98-4F32-BE66-25AF8AE4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5" name="" descr="Figura oficial da documentação dbt usada para explicar: Limitações que precisam permanecer visíveis — • Multi-project aumenta coordenaçã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ea53c6bc040f3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F9EC86-5439-431C-B77D-0BC00F8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126F268-54C8-47F0-B402-D74DFB0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9132EA-C889-49DB-8B15-529CBB4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16/18</a:t>
            </a:r>
          </a:p>
        </p:txBody>
      </p:sp>
    </p:spTree>
    <p:extLst>
      <p:ext uri="{BB962C8B-B14F-4D97-AF65-F5344CB8AC3E}">
        <p14:creationId xmlns:p14="http://schemas.microsoft.com/office/powerpoint/2010/main" val="774365223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dar-label">
            <a:extLst xmlns:a="http://schemas.openxmlformats.org/drawingml/2006/main">
              <a:ext uri="{FF2B5EF4-FFF2-40B4-BE49-F238E27FC236}">
                <a16:creationId xmlns:a16="http://schemas.microsoft.com/office/drawing/2014/main" id="{0B711335-94C2-4C41-BE0E-0218302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4CCDC34B-22D5-4B5E-9DE1-AB8D628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Mesh Enterprise entra somente quando dependência organizacional justificar o custo.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8BB52B4B-A880-4B55-91FE-2A8DCFDE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9C6C2A35-7319-4D04-B576-52BDBF5B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1DEBAAD3-4446-49FB-9FBC-A6BFD1D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3F8F2228-9268-46A8-AFF8-7C3027E8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8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EE85AF7-CDAD-4450-BAF3-B81E65E6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ADAR — Mesh Enterprise entra somente quando dependência organizacional justificar o cust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a6610f2b44d1e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C93DA1-9876-4E79-9F69-17AF355F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430F662-9DF7-45B4-97DF-EB710A39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B7BD65-1EA6-499D-B3B0-D91C63C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17/18</a:t>
            </a:r>
          </a:p>
        </p:txBody>
      </p:sp>
    </p:spTree>
    <p:extLst>
      <p:ext uri="{BB962C8B-B14F-4D97-AF65-F5344CB8AC3E}">
        <p14:creationId xmlns:p14="http://schemas.microsoft.com/office/powerpoint/2010/main" val="15759921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ta-label">
            <a:extLst xmlns:a="http://schemas.openxmlformats.org/drawingml/2006/main">
              <a:ext uri="{FF2B5EF4-FFF2-40B4-BE49-F238E27FC236}">
                <a16:creationId xmlns:a16="http://schemas.microsoft.com/office/drawing/2014/main" id="{359717EA-B82F-4A5E-888C-D06B58F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CFE5E014-F0EE-485A-BBF1-168C22C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Defina um domínio, sua interface pública e duas dependências proibidas.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71F8DA2B-89FB-422E-AB63-F56E0C4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08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0755A7E-D567-45AC-952D-530D901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8  •  OPEN / CORE 1.12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278789F-EC92-4A97-A470-BCD5F84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7" name="" descr="Figura oficial da documentação dbt usada para explicar: PRÓXIMO PASSO — Defina um domínio, sua interface pública e duas dependências proibida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cd7916025431b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846BF7A-C60F-40E4-8C95-085AA523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C566657-C658-4699-A872-37DD844D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93CE8A-ED97-4B58-BF0D-A511EC11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18/18</a:t>
            </a:r>
          </a:p>
        </p:txBody>
      </p:sp>
    </p:spTree>
    <p:extLst>
      <p:ext uri="{BB962C8B-B14F-4D97-AF65-F5344CB8AC3E}">
        <p14:creationId xmlns:p14="http://schemas.microsoft.com/office/powerpoint/2010/main" val="1066551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2026-09-02T16:14:52.0620000Z</dcterms:created>
  <dcterms:modified xsi:type="dcterms:W3CDTF">2026-09-02T16:14:52.0620000Z</dcterms:modified>
</coreProperties>
</file>