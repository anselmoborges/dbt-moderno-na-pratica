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81c41c7e1144ca" /><Relationship Type="http://schemas.openxmlformats.org/officeDocument/2006/relationships/extended-properties" Target="/docProps/app.xml" Id="R681a70a535cc4bc3" /><Relationship Type="http://schemas.openxmlformats.org/officeDocument/2006/relationships/officeDocument" Target="/ppt/presentation.xml" Id="Rc83a8b085c3c426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1a28c4eeba47f7"/>
    <p:sldMasterId xmlns:r="http://schemas.openxmlformats.org/officeDocument/2006/relationships" id="2147483650" r:id="Rce538c2ba5714997"/>
  </p:sldMasterIdLst>
  <p:notesMasterIdLst>
    <p:notesMasterId xmlns:r="http://schemas.openxmlformats.org/officeDocument/2006/relationships" r:id="Rece42d9b60b442dd"/>
  </p:notesMasterIdLst>
  <p:sldIdLst>
    <p:sldId xmlns:r="http://schemas.openxmlformats.org/officeDocument/2006/relationships" id="256" r:id="R406f60c0663e4504"/>
    <p:sldId xmlns:r="http://schemas.openxmlformats.org/officeDocument/2006/relationships" id="257" r:id="R77d28671b6824ad2"/>
    <p:sldId xmlns:r="http://schemas.openxmlformats.org/officeDocument/2006/relationships" id="258" r:id="Reaa177c03c144339"/>
    <p:sldId xmlns:r="http://schemas.openxmlformats.org/officeDocument/2006/relationships" id="259" r:id="R4fd7d4579e734378"/>
    <p:sldId xmlns:r="http://schemas.openxmlformats.org/officeDocument/2006/relationships" id="260" r:id="R46ddf310e1054978"/>
    <p:sldId xmlns:r="http://schemas.openxmlformats.org/officeDocument/2006/relationships" id="261" r:id="R87bd72e76b4d4bcf"/>
    <p:sldId xmlns:r="http://schemas.openxmlformats.org/officeDocument/2006/relationships" id="262" r:id="Rd4999eec09eb4d14"/>
    <p:sldId xmlns:r="http://schemas.openxmlformats.org/officeDocument/2006/relationships" id="263" r:id="R0bc2d10004884b7f"/>
    <p:sldId xmlns:r="http://schemas.openxmlformats.org/officeDocument/2006/relationships" id="264" r:id="Rb212e6073cce4ce0"/>
    <p:sldId xmlns:r="http://schemas.openxmlformats.org/officeDocument/2006/relationships" id="265" r:id="R392b6073e0314a6b"/>
    <p:sldId xmlns:r="http://schemas.openxmlformats.org/officeDocument/2006/relationships" id="266" r:id="Rf13635d10c9d4649"/>
    <p:sldId xmlns:r="http://schemas.openxmlformats.org/officeDocument/2006/relationships" id="267" r:id="R789099c0e929465f"/>
    <p:sldId xmlns:r="http://schemas.openxmlformats.org/officeDocument/2006/relationships" id="268" r:id="R8c00341e414f44eb"/>
    <p:sldId xmlns:r="http://schemas.openxmlformats.org/officeDocument/2006/relationships" id="269" r:id="R7adf468101b140bb"/>
    <p:sldId xmlns:r="http://schemas.openxmlformats.org/officeDocument/2006/relationships" id="270" r:id="R405117ffc34148e7"/>
    <p:sldId xmlns:r="http://schemas.openxmlformats.org/officeDocument/2006/relationships" id="271" r:id="R1f1c9851d6cf4be1"/>
    <p:sldId xmlns:r="http://schemas.openxmlformats.org/officeDocument/2006/relationships" id="272" r:id="R32ddaa29c8b74120"/>
    <p:sldId xmlns:r="http://schemas.openxmlformats.org/officeDocument/2006/relationships" id="273" r:id="Rdc0874ce0cfd46d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bfb97839ef47bf" /><Relationship Type="http://schemas.openxmlformats.org/officeDocument/2006/relationships/slideMaster" Target="/ppt/slideMasters/slideMaster1.xml" Id="R061a28c4eeba47f7" /><Relationship Type="http://schemas.openxmlformats.org/officeDocument/2006/relationships/slideMaster" Target="/ppt/slideMasters/slideMaster2.xml" Id="Rce538c2ba5714997" /><Relationship Type="http://schemas.openxmlformats.org/officeDocument/2006/relationships/notesMaster" Target="/ppt/notesMasters/notesMaster1.xml" Id="Rece42d9b60b442dd" /><Relationship Type="http://schemas.openxmlformats.org/officeDocument/2006/relationships/presProps" Target="/ppt/presProps.xml" Id="R547e40efa6a94a03" /><Relationship Type="http://schemas.openxmlformats.org/officeDocument/2006/relationships/tableStyles" Target="/ppt/tableStyles.xml" Id="Rc6392aef15194b08" /><Relationship Type="http://schemas.openxmlformats.org/officeDocument/2006/relationships/slide" Target="/ppt/slides/slide1.xml" Id="R406f60c0663e4504" /><Relationship Type="http://schemas.openxmlformats.org/officeDocument/2006/relationships/slide" Target="/ppt/slides/slide2.xml" Id="R77d28671b6824ad2" /><Relationship Type="http://schemas.openxmlformats.org/officeDocument/2006/relationships/slide" Target="/ppt/slides/slide3.xml" Id="Reaa177c03c144339" /><Relationship Type="http://schemas.openxmlformats.org/officeDocument/2006/relationships/slide" Target="/ppt/slides/slide4.xml" Id="R4fd7d4579e734378" /><Relationship Type="http://schemas.openxmlformats.org/officeDocument/2006/relationships/slide" Target="/ppt/slides/slide5.xml" Id="R46ddf310e1054978" /><Relationship Type="http://schemas.openxmlformats.org/officeDocument/2006/relationships/slide" Target="/ppt/slides/slide6.xml" Id="R87bd72e76b4d4bcf" /><Relationship Type="http://schemas.openxmlformats.org/officeDocument/2006/relationships/slide" Target="/ppt/slides/slide7.xml" Id="Rd4999eec09eb4d14" /><Relationship Type="http://schemas.openxmlformats.org/officeDocument/2006/relationships/slide" Target="/ppt/slides/slide8.xml" Id="R0bc2d10004884b7f" /><Relationship Type="http://schemas.openxmlformats.org/officeDocument/2006/relationships/slide" Target="/ppt/slides/slide9.xml" Id="Rb212e6073cce4ce0" /><Relationship Type="http://schemas.openxmlformats.org/officeDocument/2006/relationships/slide" Target="/ppt/slides/slide10.xml" Id="R392b6073e0314a6b" /><Relationship Type="http://schemas.openxmlformats.org/officeDocument/2006/relationships/slide" Target="/ppt/slides/slide11.xml" Id="Rf13635d10c9d4649" /><Relationship Type="http://schemas.openxmlformats.org/officeDocument/2006/relationships/slide" Target="/ppt/slides/slide12.xml" Id="R789099c0e929465f" /><Relationship Type="http://schemas.openxmlformats.org/officeDocument/2006/relationships/slide" Target="/ppt/slides/slide13.xml" Id="R8c00341e414f44eb" /><Relationship Type="http://schemas.openxmlformats.org/officeDocument/2006/relationships/slide" Target="/ppt/slides/slide14.xml" Id="R7adf468101b140bb" /><Relationship Type="http://schemas.openxmlformats.org/officeDocument/2006/relationships/slide" Target="/ppt/slides/slide15.xml" Id="R405117ffc34148e7" /><Relationship Type="http://schemas.openxmlformats.org/officeDocument/2006/relationships/slide" Target="/ppt/slides/slide16.xml" Id="R1f1c9851d6cf4be1" /><Relationship Type="http://schemas.openxmlformats.org/officeDocument/2006/relationships/slide" Target="/ppt/slides/slide17.xml" Id="R32ddaa29c8b74120" /><Relationship Type="http://schemas.openxmlformats.org/officeDocument/2006/relationships/slide" Target="/ppt/slides/slide18.xml" Id="Rdc0874ce0cfd46d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61864469fd3749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9e994643607425a" /><Relationship Type="http://schemas.openxmlformats.org/officeDocument/2006/relationships/notesMaster" Target="/ppt/notesMasters/notesMaster1.xml" Id="R82b1b5b5a18d4d2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64666d4352e4344" /><Relationship Type="http://schemas.openxmlformats.org/officeDocument/2006/relationships/notesMaster" Target="/ppt/notesMasters/notesMaster1.xml" Id="Ree517d5a6e7d43e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b4c483404f452e" /><Relationship Type="http://schemas.openxmlformats.org/officeDocument/2006/relationships/notesMaster" Target="/ppt/notesMasters/notesMaster1.xml" Id="R2f26ff1c8dba474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7a375666f70441f" /><Relationship Type="http://schemas.openxmlformats.org/officeDocument/2006/relationships/notesMaster" Target="/ppt/notesMasters/notesMaster1.xml" Id="Rd25b0773119d49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03870c1d61e40ca" /><Relationship Type="http://schemas.openxmlformats.org/officeDocument/2006/relationships/notesMaster" Target="/ppt/notesMasters/notesMaster1.xml" Id="R9f624e62e4a746a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14777a59bea4324" /><Relationship Type="http://schemas.openxmlformats.org/officeDocument/2006/relationships/notesMaster" Target="/ppt/notesMasters/notesMaster1.xml" Id="R786d465c6bd3429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a372599253a4dc3" /><Relationship Type="http://schemas.openxmlformats.org/officeDocument/2006/relationships/notesMaster" Target="/ppt/notesMasters/notesMaster1.xml" Id="R23ba4cc4ad5a420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3144cdf53424c3b" /><Relationship Type="http://schemas.openxmlformats.org/officeDocument/2006/relationships/notesMaster" Target="/ppt/notesMasters/notesMaster1.xml" Id="R4f8dc66835b9455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01405db8b5b4b34" /><Relationship Type="http://schemas.openxmlformats.org/officeDocument/2006/relationships/notesMaster" Target="/ppt/notesMasters/notesMaster1.xml" Id="Rfc7223e69089489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a036abc1d16486d" /><Relationship Type="http://schemas.openxmlformats.org/officeDocument/2006/relationships/notesMaster" Target="/ppt/notesMasters/notesMaster1.xml" Id="R10696f19d97b471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50a84fde68949bb" /><Relationship Type="http://schemas.openxmlformats.org/officeDocument/2006/relationships/notesMaster" Target="/ppt/notesMasters/notesMaster1.xml" Id="Rad1e495d0aff4aa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1b673ebebaf43f1" /><Relationship Type="http://schemas.openxmlformats.org/officeDocument/2006/relationships/notesMaster" Target="/ppt/notesMasters/notesMaster1.xml" Id="R89143968a1f54bc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ace2ffe19e64ae4" /><Relationship Type="http://schemas.openxmlformats.org/officeDocument/2006/relationships/notesMaster" Target="/ppt/notesMasters/notesMaster1.xml" Id="Ra45f7a48a6874bd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7dd995cac4147b3" /><Relationship Type="http://schemas.openxmlformats.org/officeDocument/2006/relationships/notesMaster" Target="/ppt/notesMasters/notesMaster1.xml" Id="R9ce78e9764924aa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80e3ce227e44bfb" /><Relationship Type="http://schemas.openxmlformats.org/officeDocument/2006/relationships/notesMaster" Target="/ppt/notesMasters/notesMaster1.xml" Id="R1eceefef2d414d3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71c014dde79468a" /><Relationship Type="http://schemas.openxmlformats.org/officeDocument/2006/relationships/notesMaster" Target="/ppt/notesMasters/notesMaster1.xml" Id="R055027fe70234f6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43ecb08467f4b5e" /><Relationship Type="http://schemas.openxmlformats.org/officeDocument/2006/relationships/notesMaster" Target="/ppt/notesMasters/notesMaster1.xml" Id="Rc0a6c645c01b4bf5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e1d4a4e000b4018" /><Relationship Type="http://schemas.openxmlformats.org/officeDocument/2006/relationships/notesMaster" Target="/ppt/notesMasters/notesMaster1.xml" Id="R30747f5eb06c486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Bem-vindo ao episódio 1 do dbt Moderno na Prática. Hoje vamos trabalhar o tema “O que a série ensinou — e o que falta provar”. Baseline aberto e suportado com dbt Core 1.12. O objetivo não é apenas conhecer o conceito: vamos conectá-lo ao laboratório e terminar com uma evidência que você consegue reproduzir no seu próprio ambiente. Ao longo da aula, separe sempre o que é recurso aberto e estável daquilo que aparecerá apenas no Radar.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o título, situe o checkpoint 01 e deixe claro que a aula faz parte da trilha open/stable.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“Título de vídeo não é evidência. Manifest, testes e resultados executáveis são.”.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Quero começar com uma provocação: Título de vídeo não é evidência. Manifest, testes e resultados executáveis são. Essa pergunta orienta toda a aula. Em vez de aceitar uma afirmação porque ela parece correta, vamos procurar uma definição verificável e uma demonstração executável. Guarde essa tensão, porque voltaremos a ela quando compararmos o conceito com o resultado do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Dê uma pausa depois da provocação e use o diagrama como mapa do problema, sem explicar todas as etapas ainda.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“Ao final, você consegue...”.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Ao final desta aula, você deverá conseguir auditar a série original, Separar implementado de conceitual e Reconstruir o baseline suportado. Esses resultados formam uma sequência: primeiro entendemos a regra, depois observamos sua representação no projeto e, por fim, comprovamos o comportamento no checkpoint. Se alguma dessas três partes não estiver clara, volte ao slide correspondente antes de executar a demonstração.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objetivos da esquerda para a direita e apresente-os como resultados observáveis, não como uma agenda abstrata.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 base original continua valiosa”.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Ambiente, seeds, ref, table, view e primeira Gold foram demonstrados. Para tornar isso concreto, observe fundamentos bem posicionados, Materializações básicas e Primeiro fluxo Silver → Gold.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“Produção começa no suportado”.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Core 1.12 e DuckDB estável formam a trilha executável. Para tornar isso concreto, observe dependências fixadas, CI determinística e Preview sem comando obrigatório.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“Produção começa no suportado”.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Core 1.12 e DuckDB estável formam a trilha executável. Siga a composição na ordem mostrada e conecte OPEN, STABLE e LOCAL.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“ref transforma SQL em um grafo”.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Dependências explícitas habilitam ordem, seleção e linhagem. Para tornar isso concreto, observe source → staging, staging → Gold e Gold → consumidor.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“ref transforma SQL em um grafo”.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Dependências explícitas habilitam ordem, seleção e linhagem. Siga a composição na ordem mostrada e conecte source, staging, Gold e consumer.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“Artifacts respondem perguntas diferentes”.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 mensagem principal deste slide é: Manifest descreve o projeto; run_results registra a execução. Para tornar isso concreto, observe o que existe, O que depende do quê e O que passou ou falhou. Esses pontos devem ser entendidos em conjunto; não são funcionalidades isoladas. No projeto, essa combinação transforma uma convenção informal em algo que pode ser revisado, testado ou consumido de maneira consistente.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Comece pelo título, leia a afirmação abaixo dele e depois desenvolva os itens sem repetir o texto palavra por palavra.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“Artifacts respondem perguntas diferentes”.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ler a ideia visualmente. Manifest descreve o projeto; run_results registra a execução. Siga a composição na ordem mostrada e conecte build, Artifacts, O que existe, O que depende do quê e O que passou ou falhou. A imagem ou o fluxo não cria uma regra nova; ele torna visível a relação que acabamos de explicar. Use a disposição dos elementos para reforçar causa, dependência ou comparação.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Acompanhe o fluxo ou a comparação com o cursor e preserve a ordem de leitura do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execute”.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01:20]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Agora vamos sair da explicação e comprovar o comportamento. Execute os comandos exatamente como aparecem: python course.py checkpoint 01. Não é necessário ativar o ambiente virtual manualmente; o launcher do curso seleciona o ambiente correto. Antes de avançar, confirme que o comando iniciou sem erro e dê tempo para o aluno acompanhar a mesma etapa.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comando completo, execute uma linha por vez quando houver mais de uma e mantenha o terminal visível.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“Demonstração — observe”.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01:10]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Enquanto a execução acontece, não olhe apenas para a mensagem final. Observe 8 pedidos na amostra, Manifest e catálogo gerados e Semantic manifest e OSI válidos. Cada sinal responde a uma pergunta diferente sobre o pipeline. Se um deles divergir, interrompa a demonstração e investigue; o objetivo do hands-on é produzir evidência, não apenas chegar rapidamente a uma tela verde.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Marque cada observação quando ela aparecer no terminal ou no artifact correspondente.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“RESULTADO ESPERADO”.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ponto de parada da demonstração: Baseline reproduzido. Esse resultado confirma que a etapa executada produziu a evidência esperada para o checkpoint 01. Se o valor, o status ou o artifact estiver diferente, não trate a divergência como detalhe de ambiente. Use o diagnóstico do curso e só avance quando a causa estiver compreendida.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Compare o resultado do terminal com a frase central do slide e registre a evidência antes de continuar.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“O mesmo recurso afeta três decisões”.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Antes de seguir, conecte a técnica às decisões que ela afeta: Governança: artifact auditável, FinOps: versões reproduzíveis e IA: contexto antes de SQL. Governança define responsabilidade e consistência; FinOps pergunta quanto trabalho estamos repetindo; e IA depende do contexto que decidimos expor. A mesma implementação pode melhorar os três eixos, mas os ganhos devem ser medidos separadamente.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Percorra os três eixos e evite apresentar economia ou acurácia como consequência automática.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“8 / 740 / 630”.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Aqui temos 8 / 740 / 630: pedidos / receita bruta / entregue. O número ajuda a dimensionar o exemplo, mas precisa ser lido com a ressalva correta. Ground truth da amostra Olist do curso. Use o case como evidência contextual e não como promessa de que outro projeto repetirá o mesmo resultado sem as mesmas condições.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Apresente primeiro o número, depois a definição e termine obrigatoriamente com a ressalva.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“Limitações que precisam permanecer visíveis”.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01:00]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Também precisamos declarar os limites da recomendação. Neste cenário, considere incremental, testes e deploy não estavam implementados na série original, Artifacts não substituem monitoramento e Core 2.0 não entra na aceitação. Esses pontos não anulam a técnica; eles delimitam onde a demonstração é válida e quais condições precisam ser verificadas antes de levar o padrão para produção. Tratar limites como parte do design evita transformar uma boa prática em regra universal.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Leia os limites com o mesmo peso dado aos benefícios e diferencie restrição do laboratório de restrição do produto.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“RADAR”.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00:55]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Este é o nosso Radar: Novidade não substitui maturidade: Core 2.0 e Fusion aparecem sem recomendação de produção. A intenção é mostrar a direção da ferramenta sem misturar preview com o caminho suportado da aula. Novidade observada não é recomendação de produção. Para adotar qualquer recurso futuro, confirme maturidade, adaptador, documentação e impacto sobre o projeto antes de alterar o baseline estável.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Reforce visualmente a regra do rodapé e não execute comandos beta ou preview como parte obrigatória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Com esse ponto estabelecido, avance para “PRÓXIMO PASSO”.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[Roteiro recomendado]</a:t>
            </a:r>
          </a:p>
          <a:p xmlns:a="http://schemas.openxmlformats.org/drawingml/2006/main">
            <a:r>
              <a:t>[Tempo sugerido: 00:40]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Fala sugerida:</a:t>
            </a:r>
          </a:p>
          <a:p xmlns:a="http://schemas.openxmlformats.org/drawingml/2006/main">
            <a:r>
              <a:t>Reproduza o checkpoint e abra manifest.json antes do episódio 2. Faça essa etapa antes de seguir para o próximo episódio, porque o curso é cumulativo e o checkpoint atual se torna a base da aula seguinte. Se houver divergência, use o relatório de suporte e registre o que foi observado. O objetivo é avançar com um estado conhecido e reproduzível, não apenas assistir ao conteúdo.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 que destacar:</a:t>
            </a:r>
          </a:p>
          <a:p xmlns:a="http://schemas.openxmlformats.org/drawingml/2006/main">
            <a:r>
              <a:t>- Mostre o checkpoint e indique no repositório onde ficam o roteiro, os comandos e as referências da aula.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Transição:</a:t>
            </a:r>
          </a:p>
          <a:p xmlns:a="http://schemas.openxmlformats.org/drawingml/2006/main">
            <a:r>
              <a:t>Encerre retomando a pergunta inicial e confirme que o aluno sabe qual ação executar depois do episódio 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https://docs.getdbt.com/docs/dbt/supported-features</a:t>
            </a:r>
          </a:p>
          <a:p xmlns:a="http://schemas.openxmlformats.org/drawingml/2006/main">
            <a:r>
              <a:t>- https://github.com/dbt-labs/dbt-core/releases/tag/v1.12.0</a:t>
            </a:r>
          </a:p>
          <a:p xmlns:a="http://schemas.openxmlformats.org/drawingml/2006/main">
            <a:r>
              <a:t>- https://github.com/dbt-labs/jaffle-shop</a:t>
            </a:r>
          </a:p>
          <a:p xmlns:a="http://schemas.openxmlformats.org/drawingml/2006/main">
            <a:r>
              <a:t>- https://rescuepoint.com.br/assets/img/logo.png</a:t>
            </a:r>
          </a:p>
          <a:p xmlns:a="http://schemas.openxmlformats.org/drawingml/2006/main">
            <a:r>
              <a:t>- https://github.com/AnselmoBorges/dbt-moderno-na-pratica/blob/main/roteiros/01-playlist-core-1-12.md</a:t>
            </a:r>
          </a:p>
          <a:p xmlns:a="http://schemas.openxmlformats.org/drawingml/2006/main">
            <a:r>
              <a:t>- repo://laboratorio/checkpoints/ep01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40862ea6f0481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e520680a023472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65dc22f5ec74c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3984c4d6b7244a0" /><Relationship Type="http://schemas.openxmlformats.org/officeDocument/2006/relationships/slideLayout" Target="/ppt/slideLayouts/slideLayout1.xml" Id="Rdf5f3b1727a14172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415ede23a6a348a0" /><Relationship Type="http://schemas.openxmlformats.org/officeDocument/2006/relationships/slideLayout" Target="/ppt/slideLayouts/slideLayout2.xml" Id="R9decf20baec541cb" /><Relationship Type="http://schemas.openxmlformats.org/officeDocument/2006/relationships/slideLayout" Target="/ppt/slideLayouts/slideLayout3.xml" Id="R742376db21904e2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f5f3b1727a1417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9decf20baec541cb"/>
    <p:sldLayoutId xmlns:r="http://schemas.openxmlformats.org/officeDocument/2006/relationships" id="2147483652" r:id="R742376db21904e2b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0049e7556fc4c6e" /><Relationship Type="http://schemas.openxmlformats.org/officeDocument/2006/relationships/image" Target="/ppt/media/image.jpeg" Id="R82e4eba921ff4481" /><Relationship Type="http://schemas.openxmlformats.org/officeDocument/2006/relationships/image" Target="/ppt/media/image.png" Id="R9a5f371d510b4676" /><Relationship Type="http://schemas.openxmlformats.org/officeDocument/2006/relationships/notesSlide" Target="/ppt/notesSlides/notesSlide1.xml" Id="Rd6097fa5ff7e47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1ee0c6770c74af8" /><Relationship Type="http://schemas.openxmlformats.org/officeDocument/2006/relationships/image" Target="/ppt/media/image2.png" Id="Ra1f4fab17b324c1a" /><Relationship Type="http://schemas.openxmlformats.org/officeDocument/2006/relationships/image" Target="/ppt/media/image3.png" Id="Rb97adff34ec04e1a" /><Relationship Type="http://schemas.openxmlformats.org/officeDocument/2006/relationships/notesSlide" Target="/ppt/notesSlides/notesSlide2.xml" Id="R3e514dc17bb946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85791fe30054c15" /><Relationship Type="http://schemas.openxmlformats.org/officeDocument/2006/relationships/image" Target="/ppt/media/image4.png" Id="R5fdd9375bacc4cd4" /><Relationship Type="http://schemas.openxmlformats.org/officeDocument/2006/relationships/notesSlide" Target="/ppt/notesSlides/notesSlide3.xml" Id="R8c72d33966f244a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3ebea36b92c4ee3" /><Relationship Type="http://schemas.openxmlformats.org/officeDocument/2006/relationships/image" Target="/ppt/media/image5.png" Id="R2573bb51cf74419d" /><Relationship Type="http://schemas.openxmlformats.org/officeDocument/2006/relationships/notesSlide" Target="/ppt/notesSlides/notesSlide4.xml" Id="Reee2775d68ea434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a7178d844604c1d" /><Relationship Type="http://schemas.openxmlformats.org/officeDocument/2006/relationships/image" Target="/ppt/media/image6.png" Id="R12518b72a9004998" /><Relationship Type="http://schemas.openxmlformats.org/officeDocument/2006/relationships/notesSlide" Target="/ppt/notesSlides/notesSlide5.xml" Id="Rd3e370dea1f24e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505aaa47fc43f2" /><Relationship Type="http://schemas.openxmlformats.org/officeDocument/2006/relationships/image" Target="/ppt/media/image7.png" Id="R8a3c88c7a27e4cdb" /><Relationship Type="http://schemas.openxmlformats.org/officeDocument/2006/relationships/notesSlide" Target="/ppt/notesSlides/notesSlide6.xml" Id="Ra96532e13700422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722156a9b7a492b" /><Relationship Type="http://schemas.openxmlformats.org/officeDocument/2006/relationships/image" Target="/ppt/media/image8.png" Id="Rf583dd6e51e2445f" /><Relationship Type="http://schemas.openxmlformats.org/officeDocument/2006/relationships/notesSlide" Target="/ppt/notesSlides/notesSlide7.xml" Id="R78112b92aca344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0f742800497406c" /><Relationship Type="http://schemas.openxmlformats.org/officeDocument/2006/relationships/image" Target="/ppt/media/image9.png" Id="R6a2bf3d8de674f59" /><Relationship Type="http://schemas.openxmlformats.org/officeDocument/2006/relationships/notesSlide" Target="/ppt/notesSlides/notesSlide8.xml" Id="R6f5ae0c637154cf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3cb6a8e12ad4cf2" /><Relationship Type="http://schemas.openxmlformats.org/officeDocument/2006/relationships/image" Target="/ppt/media/image10.png" Id="R343b71698f43435d" /><Relationship Type="http://schemas.openxmlformats.org/officeDocument/2006/relationships/notesSlide" Target="/ppt/notesSlides/notesSlide9.xml" Id="Re69f9fdbd8f6468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c4648fb20c49ef" /><Relationship Type="http://schemas.openxmlformats.org/officeDocument/2006/relationships/image" Target="/ppt/media/image11.png" Id="Re1187c9f182e45e9" /><Relationship Type="http://schemas.openxmlformats.org/officeDocument/2006/relationships/notesSlide" Target="/ppt/notesSlides/notesSlide10.xml" Id="R2b6862be15fa46f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0d9643d56af489b" /><Relationship Type="http://schemas.openxmlformats.org/officeDocument/2006/relationships/image" Target="/ppt/media/image12.png" Id="R38f768bf295c4807" /><Relationship Type="http://schemas.openxmlformats.org/officeDocument/2006/relationships/notesSlide" Target="/ppt/notesSlides/notesSlide11.xml" Id="R8bcd02ff66d548f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9afb4bd82694670" /><Relationship Type="http://schemas.openxmlformats.org/officeDocument/2006/relationships/image" Target="/ppt/media/image13.png" Id="R6685bdbefc46435c" /><Relationship Type="http://schemas.openxmlformats.org/officeDocument/2006/relationships/notesSlide" Target="/ppt/notesSlides/notesSlide12.xml" Id="R34c6b73da4774ec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82eb8908be44ae3" /><Relationship Type="http://schemas.openxmlformats.org/officeDocument/2006/relationships/image" Target="/ppt/media/image14.png" Id="R4e0fcd5ee7274a31" /><Relationship Type="http://schemas.openxmlformats.org/officeDocument/2006/relationships/notesSlide" Target="/ppt/notesSlides/notesSlide13.xml" Id="Rcbccd923b6a44e8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d7f9b04195e49ed" /><Relationship Type="http://schemas.openxmlformats.org/officeDocument/2006/relationships/image" Target="/ppt/media/image15.png" Id="Ref745f4c72254556" /><Relationship Type="http://schemas.openxmlformats.org/officeDocument/2006/relationships/notesSlide" Target="/ppt/notesSlides/notesSlide14.xml" Id="R3420e2eede0f489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7d2bd4a49cf4e84" /><Relationship Type="http://schemas.openxmlformats.org/officeDocument/2006/relationships/image" Target="/ppt/media/image16.png" Id="R5d969e0abe024726" /><Relationship Type="http://schemas.openxmlformats.org/officeDocument/2006/relationships/notesSlide" Target="/ppt/notesSlides/notesSlide15.xml" Id="Rdfbbeb5f348d49f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bb96c7eef9b4d05" /><Relationship Type="http://schemas.openxmlformats.org/officeDocument/2006/relationships/image" Target="/ppt/media/image17.png" Id="R2e398bbe141e47cf" /><Relationship Type="http://schemas.openxmlformats.org/officeDocument/2006/relationships/notesSlide" Target="/ppt/notesSlides/notesSlide16.xml" Id="R79a90aa7872d4b9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18e72299574070" /><Relationship Type="http://schemas.openxmlformats.org/officeDocument/2006/relationships/image" Target="/ppt/media/image18.png" Id="R0d0d2a26630f4410" /><Relationship Type="http://schemas.openxmlformats.org/officeDocument/2006/relationships/notesSlide" Target="/ppt/notesSlides/notesSlide17.xml" Id="R392d5bd50873421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8c2ebe3e5f34502" /><Relationship Type="http://schemas.openxmlformats.org/officeDocument/2006/relationships/image" Target="/ppt/media/image19.png" Id="Rd97f9452431c414c" /><Relationship Type="http://schemas.openxmlformats.org/officeDocument/2006/relationships/notesSlide" Target="/ppt/notesSlides/notesSlide18.xml" Id="R177d22bb7be64a67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 descr="Ilustração conceitual autoral da capa: EPISÓDIO 1 — O que a série ensinou — e o que falta provar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e4eba921ff4481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B8057810-D13A-4A05-A053-AFB43BFF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C3882C53-A823-4373-895A-D139353A1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FECCD1FE-8E7D-48E1-8D89-310BC9A2A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1</a:t>
            </a:r>
          </a:p>
        </p:txBody>
      </p:sp>
      <p:sp>
        <p:nvSpPr>
          <p:cNvPr id="5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5619C17E-0E02-4806-9C65-D7002B09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8" name="" descr="Ilustração conceitual autoral da capa: EPISÓDIO 1 — O que a série ensinou — e o que falta provar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5f371d510b4676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F284D0E2-2610-4BE4-98D8-0FE54BA13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O que a série ensinou — e o que falta provar</a:t>
            </a:r>
          </a:p>
        </p:txBody>
      </p:sp>
      <p:sp>
        <p:nvSpPr>
          <p:cNvPr id="8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BE572F2C-D506-4416-945F-7F864F10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Baseline aberto e suportado com dbt Core 1.12</a:t>
            </a:r>
          </a:p>
        </p:txBody>
      </p:sp>
      <p:sp>
        <p:nvSpPr>
          <p:cNvPr id="9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39EDADF8-2AEB-428A-85E0-27557B01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10" name="cover-meta">
            <a:extLst xmlns:a="http://schemas.openxmlformats.org/drawingml/2006/main">
              <a:ext uri="{FF2B5EF4-FFF2-40B4-BE49-F238E27FC236}">
                <a16:creationId xmlns:a16="http://schemas.microsoft.com/office/drawing/2014/main" id="{408C5BF9-FF87-4B2D-A1F9-ACA829D7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01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9851943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ook">
            <a:extLst xmlns:a="http://schemas.openxmlformats.org/drawingml/2006/main">
              <a:ext uri="{FF2B5EF4-FFF2-40B4-BE49-F238E27FC236}">
                <a16:creationId xmlns:a16="http://schemas.microsoft.com/office/drawing/2014/main" id="{53C51127-EE22-4FD9-A095-D864D5B0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Título de vídeo não é evidência. Manifest, testes e resultados executáveis são.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F39B574D-7DDC-4863-8EE5-538421F35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D9CA356E-203E-4F8D-BFF6-C94330515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A70B09BF-F606-4583-95DA-4DEC6A86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9" name="" descr="Diagrama didático autoral que apresenta: Título de vídeo não é evidência. Manifest, testes e resultados executáveis são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f4fab17b324c1a"/>
          <a:stretch xmlns:a="http://schemas.openxmlformats.org/drawingml/2006/main"/>
        </p:blipFill>
        <p:spPr>
          <a:xfrm xmlns:a="http://schemas.openxmlformats.org/drawingml/2006/main">
            <a:off x="990600" y="4135697"/>
            <a:ext cx="10210800" cy="872607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B7271DCF-F0C9-470C-AB9A-E97465523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8949F518-691D-41EC-BCA6-40F1DC665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2" name="" descr="Diagrama didático autoral que apresenta: Título de vídeo não é evidência. Manifest, testes e resultados executáveis são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7adff34ec04e1a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270807B-2C2B-4B69-B463-E0D60246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E58C2D3F-2767-48BC-B60E-592D2E51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B3F48EC-58D4-437E-B844-E92ACA24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2/18</a:t>
            </a:r>
          </a:p>
        </p:txBody>
      </p:sp>
    </p:spTree>
    <p:extLst>
      <p:ext uri="{BB962C8B-B14F-4D97-AF65-F5344CB8AC3E}">
        <p14:creationId xmlns:p14="http://schemas.microsoft.com/office/powerpoint/2010/main" val="801537020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F2C7011-5D80-41EC-8B11-CAF294A3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57431078-4089-45B4-AAE2-F8638F6B9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2CE15D1B-35C9-41C7-8387-10833087C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Auditar a série original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282A8870-FDD1-49AD-8E85-7E6E2517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915492CD-3F1F-442D-A416-6BBBACF6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4FF60738-E312-4650-994D-6404C3DA7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Separar implementado de conceitual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FFC55675-3F36-4D74-9D10-39696CF0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19FBBB97-507C-4234-8BC9-8F3F596C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7522E14C-7F4E-4FD2-B8B8-D03A7DFC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Reconstruir o baseline suportado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C013A533-1F9B-4E1D-A642-1831EADB0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55334EAC-C42A-47E8-B5B3-147B12F5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Ao final, você consegue...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dd9375bacc4cd4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F782B02E-5E98-4D5B-BD41-5374862C1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A7128CC0-5C92-4005-ADFA-9AC340CD9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FA4B8BE-304A-4476-B94B-4B741A4F8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3/18</a:t>
            </a:r>
          </a:p>
        </p:txBody>
      </p:sp>
    </p:spTree>
    <p:extLst>
      <p:ext uri="{BB962C8B-B14F-4D97-AF65-F5344CB8AC3E}">
        <p14:creationId xmlns:p14="http://schemas.microsoft.com/office/powerpoint/2010/main" val="101098534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FF3D28D-E78D-444B-8B14-842461F3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 base original continua valiosa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A98EA4D-6350-4B1A-A4A9-91C786D6D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Ambiente, seeds, ref, table, view e primeira Gold foram demonstrados.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61954F00-9439-41FB-9F4D-D9B127BB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Fundamentos bem posicionados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Materializações básicas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Primeiro fluxo Silver → Gold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1CA4FBF9-7C4A-49AC-BE73-3FFB13188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EA5A7006-6B92-4188-9D41-F51157EA0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6B15C9BD-9930-4063-B210-883074C9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AA6C2F6E-93E4-49E7-90FC-5CA88DCB9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17D507A6-362D-4790-B15D-A6BFFA57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A base original continua valiosa — Ambiente, seeds, ref, table, view e primeira Gold foram demonstrados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73bb51cf74419d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13949D0-B52B-4E39-AC8E-082531E64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4F9AF42C-5C48-4F7A-853C-982E0485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DF6B5B2-7C37-440B-BB3E-DBF36DFE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4/18</a:t>
            </a:r>
          </a:p>
        </p:txBody>
      </p:sp>
    </p:spTree>
    <p:extLst>
      <p:ext uri="{BB962C8B-B14F-4D97-AF65-F5344CB8AC3E}">
        <p14:creationId xmlns:p14="http://schemas.microsoft.com/office/powerpoint/2010/main" val="7893345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E51BCA4-EE73-487E-82E6-6BC902CC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Produção começa no suportado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BBF41A9-DE90-4386-9C5F-7AC78DE7C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Core 1.12 e DuckDB estável formam a trilha executável.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A5C3D8B4-7118-4E97-8E5F-C279133D0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Dependências fixadas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CI determinística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Preview sem comando obrigatório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34BAC86E-E82E-476A-9A06-C581AA4A8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8BB28CD0-0398-4D34-AC39-CD1C1C296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03C887A5-5D3E-4466-92D1-6A35AACD2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12BE2080-3C67-4A4E-9061-971F7305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83FABD7F-884B-44E2-81B7-0B23858FB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Produção começa no suportado — Core 1.12 e DuckDB estável formam a trilha executável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518b72a9004998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93FF3A0-FF04-405B-879A-01EDA846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A36DFD96-3D8F-40C4-BC74-D35E74A8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255A28F-4B20-4921-8274-807473F90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5/18</a:t>
            </a:r>
          </a:p>
        </p:txBody>
      </p:sp>
    </p:spTree>
    <p:extLst>
      <p:ext uri="{BB962C8B-B14F-4D97-AF65-F5344CB8AC3E}">
        <p14:creationId xmlns:p14="http://schemas.microsoft.com/office/powerpoint/2010/main" val="30953809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D4704E7-9093-4E38-B6F8-2C7D31039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Produção começa no suportado</a:t>
            </a:r>
          </a:p>
        </p:txBody>
      </p:sp>
      <p:sp>
        <p:nvSpPr>
          <p:cNvPr id="2" name="status-dot-1">
            <a:extLst xmlns:a="http://schemas.openxmlformats.org/drawingml/2006/main">
              <a:ext uri="{FF2B5EF4-FFF2-40B4-BE49-F238E27FC236}">
                <a16:creationId xmlns:a16="http://schemas.microsoft.com/office/drawing/2014/main" id="{B4162E21-0F92-4553-8340-64A3EB30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DBE8C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3" name="status-label-1">
            <a:extLst xmlns:a="http://schemas.openxmlformats.org/drawingml/2006/main">
              <a:ext uri="{FF2B5EF4-FFF2-40B4-BE49-F238E27FC236}">
                <a16:creationId xmlns:a16="http://schemas.microsoft.com/office/drawing/2014/main" id="{600C5692-8C8A-4C68-844E-B510C37D7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OPEN</a:t>
            </a:r>
          </a:p>
        </p:txBody>
      </p:sp>
      <p:sp>
        <p:nvSpPr>
          <p:cNvPr id="4" name="status-dot-2">
            <a:extLst xmlns:a="http://schemas.openxmlformats.org/drawingml/2006/main">
              <a:ext uri="{FF2B5EF4-FFF2-40B4-BE49-F238E27FC236}">
                <a16:creationId xmlns:a16="http://schemas.microsoft.com/office/drawing/2014/main" id="{82C7F982-6903-4199-A3E8-BAEA550F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4B942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" name="status-label-2">
            <a:extLst xmlns:a="http://schemas.openxmlformats.org/drawingml/2006/main">
              <a:ext uri="{FF2B5EF4-FFF2-40B4-BE49-F238E27FC236}">
                <a16:creationId xmlns:a16="http://schemas.microsoft.com/office/drawing/2014/main" id="{BC313281-0108-4136-BCBE-FF89B7EF5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STABLE</a:t>
            </a:r>
          </a:p>
        </p:txBody>
      </p:sp>
      <p:sp>
        <p:nvSpPr>
          <p:cNvPr id="6" name="status-dot-3">
            <a:extLst xmlns:a="http://schemas.openxmlformats.org/drawingml/2006/main">
              <a:ext uri="{FF2B5EF4-FFF2-40B4-BE49-F238E27FC236}">
                <a16:creationId xmlns:a16="http://schemas.microsoft.com/office/drawing/2014/main" id="{2E32D110-1585-42FD-9A96-4508AE8CF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105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5B5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7" name="status-label-3">
            <a:extLst xmlns:a="http://schemas.openxmlformats.org/drawingml/2006/main">
              <a:ext uri="{FF2B5EF4-FFF2-40B4-BE49-F238E27FC236}">
                <a16:creationId xmlns:a16="http://schemas.microsoft.com/office/drawing/2014/main" id="{74F429DE-6AB7-46DA-BF9A-DAD3451E7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810000"/>
            <a:ext cx="304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LOCAL</a:t>
            </a:r>
          </a:p>
        </p:txBody>
      </p:sp>
      <p:sp>
        <p:nvSpPr>
          <p:cNvPr id="8" name="eyebrow">
            <a:extLst xmlns:a="http://schemas.openxmlformats.org/drawingml/2006/main">
              <a:ext uri="{FF2B5EF4-FFF2-40B4-BE49-F238E27FC236}">
                <a16:creationId xmlns:a16="http://schemas.microsoft.com/office/drawing/2014/main" id="{97F1BE32-C2D0-45A8-A845-63A8B6C8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  •  OPEN / CORE 1.12</a:t>
            </a:r>
          </a:p>
        </p:txBody>
      </p:sp>
      <p:sp>
        <p:nvSpPr>
          <p:cNvPr id="9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C2455FBF-C72F-4145-99E7-184BACC0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5" name="" descr="Figura oficial da documentação dbt usada para explicar: Produção começa no suportado — OPEN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3c88c7a27e4cdb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9BCD0C6-68F4-449A-A3DA-A8BFA8C86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B51217B0-275A-41D1-9796-6F4D5FFEA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CC023FA-CE06-4C0B-97AD-2F24F9668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6/18</a:t>
            </a:r>
          </a:p>
        </p:txBody>
      </p:sp>
    </p:spTree>
    <p:extLst>
      <p:ext uri="{BB962C8B-B14F-4D97-AF65-F5344CB8AC3E}">
        <p14:creationId xmlns:p14="http://schemas.microsoft.com/office/powerpoint/2010/main" val="145752396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1DAE64F-F113-40C7-B368-D14AA71F2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ref transforma SQL em um grafo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5F6E741-5A28-42BF-B9C5-5474E69A7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Dependências explícitas habilitam ordem, seleção e linhagem.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44D42003-52CC-4B9B-8ABF-3331ED282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source → staging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staging → Gold</a:t>
            </a:r>
          </a:p>
          <a:p xmlns:a="http://schemas.openxmlformats.org/drawingml/2006/main">
            <a:pPr>
              <a:buNone/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Gold → consumidor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A64683FE-6175-4A83-8731-DB26F8CD4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A5E379C7-BEDB-4AA1-A6F7-49033D20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857E7ECB-D92D-44C7-8135-8A85481EF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96570C87-745E-4F9A-88AE-C38ADDA63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AE377A52-F915-4E15-800E-C624D8F36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ref transforma SQL em um grafo — Dependências explícitas habilitam ordem, seleção e linhagem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83dd6e51e2445f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6026C28-B578-49DF-A87A-F7E26ABDE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0AB5956B-8288-4E5A-8C46-CE9A5814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85F5BF-8F07-4B1D-BB6B-A1DDFB669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7/18</a:t>
            </a:r>
          </a:p>
        </p:txBody>
      </p:sp>
    </p:spTree>
    <p:extLst>
      <p:ext uri="{BB962C8B-B14F-4D97-AF65-F5344CB8AC3E}">
        <p14:creationId xmlns:p14="http://schemas.microsoft.com/office/powerpoint/2010/main" val="164478792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20509C2-549E-44A0-903E-C84CA3F9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ref transforma SQL em um grafo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041B6CA6-F9C1-4B2C-8DB9-620411534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source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F223765F-0336-4DC1-B299-8473A1462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staging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6AA40338-CA14-4172-9862-CC2E9881D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Gold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319AEA8C-16A7-471D-9A0C-065C015A0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consumer</a:t>
            </a:r>
          </a:p>
        </p:txBody>
      </p:sp>
      <p:cxnSp>
        <p:nvCxnSpPr>
          <p:cNvPr id="29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30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cxnSp>
        <p:nvCxnSpPr>
          <p:cNvPr id="31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565C0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31BB4099-91B9-494F-8D15-95A160AC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  •  OPEN / CORE 1.12</a:t>
            </a:r>
          </a:p>
        </p:txBody>
      </p:sp>
      <p:sp>
        <p:nvSpPr>
          <p:cNvPr id="10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C3196741-9C44-430F-BC4B-0A05F46E8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34" name="" descr="Figura oficial da documentação dbt usada para explicar: ref transforma SQL em um grafo — sourc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2bf3d8de674f59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2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BEF98FC-8798-430C-AAB8-344B9557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3" name="footer">
            <a:extLst xmlns:a="http://schemas.openxmlformats.org/drawingml/2006/main">
              <a:ext uri="{FF2B5EF4-FFF2-40B4-BE49-F238E27FC236}">
                <a16:creationId xmlns:a16="http://schemas.microsoft.com/office/drawing/2014/main" id="{E6968047-01E3-419B-9274-9500874D8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4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02DC831-8818-4423-8F98-501BDAA6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8/18</a:t>
            </a:r>
          </a:p>
        </p:txBody>
      </p:sp>
    </p:spTree>
    <p:extLst>
      <p:ext uri="{BB962C8B-B14F-4D97-AF65-F5344CB8AC3E}">
        <p14:creationId xmlns:p14="http://schemas.microsoft.com/office/powerpoint/2010/main" val="131876179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9C70920-D5F7-418C-83D4-470C5977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Artifacts respondem perguntas diferentes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4C2A6B9-E077-44FD-AEA1-D0838666B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Manifest descreve o projeto; run_results registra a execução.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9F864E7E-9DB1-498A-AC82-E66ADE52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O que existe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O que depende do quê</a:t>
            </a:r>
          </a:p>
          <a:p xmlns:a="http://schemas.openxmlformats.org/drawingml/2006/main">
            <a:pPr>
              <a:buNone/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O que passou ou falhou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B5E5A722-315D-4B69-BCE7-2E5F0BAC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55263C4E-7FF2-408E-BAB1-B09B5618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EA8AA2F9-5F95-4ACC-8CB7-13CDE7F3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A66F9F4D-BC26-476D-9B33-A762823B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F6F32600-C7D6-424F-B0D0-AC25EE32E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Artifacts respondem perguntas diferentes — Manifest descreve o projeto; run_results registra a execução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3b71698f43435d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89ED4EC-A2AA-40BC-9A65-682FE4902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318513B1-344E-4E3F-B77E-7E6C918E6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1B541EE-01D4-481D-A66A-743CAC64C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9/18</a:t>
            </a:r>
          </a:p>
        </p:txBody>
      </p:sp>
    </p:spTree>
    <p:extLst>
      <p:ext uri="{BB962C8B-B14F-4D97-AF65-F5344CB8AC3E}">
        <p14:creationId xmlns:p14="http://schemas.microsoft.com/office/powerpoint/2010/main" val="1984702900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637B135-DB07-478C-A569-DB1224C7B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Artifacts respondem perguntas diferentes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5DEA19F0-5324-4591-8D11-DA61E7F5B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1EC5FF"/>
                </a:solidFill>
              </a:defRPr>
            </a:pPr>
            <a:r>
              <a:rPr sz="2100" b="1">
                <a:solidFill>
                  <a:srgbClr val="1EC5FF"/>
                </a:solidFill>
              </a:rPr>
              <a:t>Build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54921ED8-7806-4C85-970E-E4D9A2C72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100" b="1">
                <a:solidFill>
                  <a:srgbClr val="2DBE8C"/>
                </a:solidFill>
              </a:defRPr>
            </a:pPr>
            <a:r>
              <a:rPr sz="2100" b="1">
                <a:solidFill>
                  <a:srgbClr val="2DBE8C"/>
                </a:solidFill>
              </a:rPr>
              <a:t>Artifacts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3525253B-C36E-4C8B-9084-60CB7696F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5098"/>
              </a:srgbClr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DB1D3C19-DBEF-4350-B03C-DD7A03374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O que existe</a:t>
            </a:r>
          </a:p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O que depende do quê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5F84ED39-AAB3-4110-9249-81CE1D42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• O que passou ou falhou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81642568-E238-4D8D-8360-8D760993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  •  OPEN / CORE 1.12</a:t>
            </a:r>
          </a:p>
        </p:txBody>
      </p:sp>
      <p:sp>
        <p:nvSpPr>
          <p:cNvPr id="8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E27C254B-44B5-420D-BE08-54848304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3" name="" descr="Figura oficial da documentação dbt usada para explicar: Artifacts respondem perguntas diferentes — Build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187c9f182e45e9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6B3582A3-2F8A-4FBF-9BD1-29B6ADD4F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CDEBFE09-2C1B-400D-900A-50B6F310B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B506F9-0205-40C8-A31D-77C8D357D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10/18</a:t>
            </a:r>
          </a:p>
        </p:txBody>
      </p:sp>
    </p:spTree>
    <p:extLst>
      <p:ext uri="{BB962C8B-B14F-4D97-AF65-F5344CB8AC3E}">
        <p14:creationId xmlns:p14="http://schemas.microsoft.com/office/powerpoint/2010/main" val="1895795855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458D6FA-A148-4EC5-91BA-3277B66CD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06BAADCB-98CA-495E-8753-CE5FAFF7A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E5382439-A46B-4C66-B5E1-FC3B20ED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01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E7D6BD59-9F55-4906-96CB-655F38EB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AD550D71-6DFA-480A-8F68-C537574AF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  •  OPEN / CORE 1.12</a:t>
            </a:r>
          </a:p>
        </p:txBody>
      </p:sp>
      <p:sp>
        <p:nvSpPr>
          <p:cNvPr id="6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F8B64D3A-DCC4-45AA-BEB3-6C2DB5CC4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9" name="" descr="Figura oficial da documentação dbt usada para explicar: Demonstração — execute — python course.py checkpoint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f768bf295c4807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5064239-715A-460E-A716-64FEFBA1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19305EC5-257B-4F4C-8E63-064D4EBF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3F64778-6C7B-4131-86ED-B791B629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11/18</a:t>
            </a:r>
          </a:p>
        </p:txBody>
      </p:sp>
    </p:spTree>
    <p:extLst>
      <p:ext uri="{BB962C8B-B14F-4D97-AF65-F5344CB8AC3E}">
        <p14:creationId xmlns:p14="http://schemas.microsoft.com/office/powerpoint/2010/main" val="12514635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C61B02-A1DC-4A06-82E9-0785044EC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E9792289-E1EA-47F5-BAA8-9CFB4D6A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2C0E5915-12E2-4C39-96B3-47A0D3652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8 pedidos na amostra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0ADDF578-7AC6-4CBF-B221-30643627B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B3FB86FD-7AD5-4193-A7E9-7C94F4F2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04E94F52-C124-457C-ADB7-949A4C069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Manifest e catálogo gerados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3BB1A19A-0E9B-41DB-9A70-8B4E8082B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11632C64-536B-4502-AA69-EB059BEF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740C0B53-01B5-4EA3-B2CC-B4BD85B96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Semantic manifest e OSI válidos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318F07E4-05A0-42B5-8B68-AB662FDC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154451FB-2793-4ECE-9241-A91DD4EE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Demonstração — observe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85bdbefc46435c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3AC3851-5A00-4EB6-99C6-BCC75A8C9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E659733D-45B6-43EC-98FD-2767EBC6B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16CB2CF-A855-4C6F-80BD-D3E93980F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12/18</a:t>
            </a:r>
          </a:p>
        </p:txBody>
      </p:sp>
    </p:spTree>
    <p:extLst>
      <p:ext uri="{BB962C8B-B14F-4D97-AF65-F5344CB8AC3E}">
        <p14:creationId xmlns:p14="http://schemas.microsoft.com/office/powerpoint/2010/main" val="383355481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FF1BA4F8-1BBC-4CAE-BBAB-2211D0EFA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A28BB849-90B0-4EBA-A560-450FCCCE5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Baseline reproduzido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8E869C23-A5D7-455B-829D-DDB6B7F90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01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C2FAE920-457E-41D5-AA4B-77558B64D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6F2FD3A0-97FD-467A-BCE1-0C0206184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420CC175-3B51-4569-AA89-754169D0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E8E653B2-A720-4E0C-83D4-68EC9C4D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1" name="" descr="Figura oficial da documentação dbt usada para explicar: RESULTADO ESPERADO — Baseline reproduzido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0fcd5ee7274a31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6F2D2F7-108E-4C31-9BEA-4BD2D85C0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306DFB04-54F9-4644-90D0-CCD62897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54B291F-3EC2-4D6A-A8A4-D0B762D6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13/18</a:t>
            </a:r>
          </a:p>
        </p:txBody>
      </p:sp>
    </p:spTree>
    <p:extLst>
      <p:ext uri="{BB962C8B-B14F-4D97-AF65-F5344CB8AC3E}">
        <p14:creationId xmlns:p14="http://schemas.microsoft.com/office/powerpoint/2010/main" val="99273979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085A0DF-D0D0-4219-A052-9D4A814C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75C58B72-305F-4778-B328-840A93525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4AE339C0-16FC-46DE-940B-78804F72F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artifact auditável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B0D93868-93AD-4204-B0E1-2D2FCF33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6D4DC737-F301-4F8D-A34A-E0539E51C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86722911-F256-4A10-A132-4FAC2A40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versões reproduzíveis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152EFD0D-9FD8-4B1B-AAEB-49EC0C4AB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14191F58-5257-4526-ABFC-50607039B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39EC2E7D-7AC6-41FD-BC16-51A4E23CA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contexto antes de SQL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C687AA15-CE10-4D3E-8515-4C50CEFFC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  •  OPEN / CORE 1.12</a:t>
            </a:r>
          </a:p>
        </p:txBody>
      </p:sp>
      <p:sp>
        <p:nvSpPr>
          <p:cNvPr id="11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1F6ADA99-6FC8-4CED-81D3-DD435A6A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9" name="" descr="Figura oficial da documentação dbt usada para explicar: O mesmo recurso afeta três decisões — 01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745f4c72254556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13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7743363-3729-4631-AE85-B84D0A44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4" name="footer">
            <a:extLst xmlns:a="http://schemas.openxmlformats.org/drawingml/2006/main">
              <a:ext uri="{FF2B5EF4-FFF2-40B4-BE49-F238E27FC236}">
                <a16:creationId xmlns:a16="http://schemas.microsoft.com/office/drawing/2014/main" id="{575334E0-57B1-41DD-A967-5FC66C9C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19CA421-4FFD-49A8-9E92-3BAF62EC1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14/18</a:t>
            </a:r>
          </a:p>
        </p:txBody>
      </p:sp>
    </p:spTree>
    <p:extLst>
      <p:ext uri="{BB962C8B-B14F-4D97-AF65-F5344CB8AC3E}">
        <p14:creationId xmlns:p14="http://schemas.microsoft.com/office/powerpoint/2010/main" val="1507777511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ase-number">
            <a:extLst xmlns:a="http://schemas.openxmlformats.org/drawingml/2006/main">
              <a:ext uri="{FF2B5EF4-FFF2-40B4-BE49-F238E27FC236}">
                <a16:creationId xmlns:a16="http://schemas.microsoft.com/office/drawing/2014/main" id="{8A0EA83E-FF1B-4A1D-9426-9AAC09CD8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8 / 740 / 630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6FFDFEEF-B06B-4836-BBCE-AA93C958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pedidos / receita bruta / entregue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35126F2D-815B-4AD2-AC34-80C1FE04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CF2E92C3-BB9A-4AFC-A0D3-41792CF4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Ground truth da amostra Olist do curso.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15E2AB9A-4DE7-407B-8D5D-253457812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  •  OPEN / CORE 1.12</a:t>
            </a:r>
          </a:p>
        </p:txBody>
      </p:sp>
      <p:sp>
        <p:nvSpPr>
          <p:cNvPr id="6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C947B986-F0E0-405A-BF6B-97D8A3A36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9" name="" descr="Figura oficial da documentação dbt usada para explicar: 8 / 740 / 630 — pedidos / receita bruta / entregue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969e0abe024726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6E2862D-5ABE-45C3-87F1-3A4C3EED9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F17F1CC0-BCE3-49ED-A7C3-98B5826B3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091D1B1-7723-4F94-9683-8270D481B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15/18</a:t>
            </a:r>
          </a:p>
        </p:txBody>
      </p:sp>
    </p:spTree>
    <p:extLst>
      <p:ext uri="{BB962C8B-B14F-4D97-AF65-F5344CB8AC3E}">
        <p14:creationId xmlns:p14="http://schemas.microsoft.com/office/powerpoint/2010/main" val="43587608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841220-075C-47C5-BD14-045C7CE3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31282738-FFCC-4A53-91D2-7ACFAA15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Incremental, testes e deploy não estavam implementados na série original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Artifacts não substituem monitoramento</a:t>
            </a:r>
          </a:p>
          <a:p xmlns:a="http://schemas.openxmlformats.org/drawingml/2006/main">
            <a:pPr>
              <a:buNone/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Core 2.0 não entra na aceitação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C5D60D30-C2E5-411A-8F7C-CB594CBCF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  •  OPEN / CORE 1.12</a:t>
            </a:r>
          </a:p>
        </p:txBody>
      </p:sp>
      <p:sp>
        <p:nvSpPr>
          <p:cNvPr id="4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8EB81A61-D4BA-4BDF-9898-2ACF1616D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5" name="" descr="Figura oficial da documentação dbt usada para explicar: Limitações que precisam permanecer visíveis — • Incremental, testes e deploy não estavam implementados na série original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398bbe141e47cf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AE490AE-35F0-4C29-85E1-E0107AD71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9AF80C8-DCFB-4C10-B2BD-D9145054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3BC4940-11AE-43F1-95A4-CC106806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16/18</a:t>
            </a:r>
          </a:p>
        </p:txBody>
      </p:sp>
    </p:spTree>
    <p:extLst>
      <p:ext uri="{BB962C8B-B14F-4D97-AF65-F5344CB8AC3E}">
        <p14:creationId xmlns:p14="http://schemas.microsoft.com/office/powerpoint/2010/main" val="399616687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adar-label">
            <a:extLst xmlns:a="http://schemas.openxmlformats.org/drawingml/2006/main">
              <a:ext uri="{FF2B5EF4-FFF2-40B4-BE49-F238E27FC236}">
                <a16:creationId xmlns:a16="http://schemas.microsoft.com/office/drawing/2014/main" id="{2DBDDE6F-A08D-4171-B935-09C722ED1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407C693B-D09D-4F3B-B9AB-283163C1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Novidade não substitui maturidade: Core 2.0 e Fusion aparecem sem recomendação de produção.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143FA643-05DE-4B27-8248-56DFB5E0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65C2AC57-5245-41F3-BD9F-7FB861727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64334C51-E363-46C3-8128-D00FB00F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F767FB71-A973-4792-9484-D3A36E410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1  •  OPEN / CORE 1.12</a:t>
            </a:r>
          </a:p>
        </p:txBody>
      </p:sp>
      <p:sp>
        <p:nvSpPr>
          <p:cNvPr id="7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FCC3F5BA-D1A2-4194-B5B5-59BF8167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21" name="" descr="Figura oficial da documentação dbt usada para explicar: RADAR — Novidade não substitui maturidade: Core 2.0 e Fusion aparecem sem recomendação de produção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0d2a26630f4410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9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1A7343A-06B6-4179-A737-F9B42E62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0" name="footer">
            <a:extLst xmlns:a="http://schemas.openxmlformats.org/drawingml/2006/main">
              <a:ext uri="{FF2B5EF4-FFF2-40B4-BE49-F238E27FC236}">
                <a16:creationId xmlns:a16="http://schemas.microsoft.com/office/drawing/2014/main" id="{F924688C-A918-4194-AE60-2215829B4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1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7829B0A-FEC7-48E1-B29E-6E344A51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17/18</a:t>
            </a:r>
          </a:p>
        </p:txBody>
      </p:sp>
    </p:spTree>
    <p:extLst>
      <p:ext uri="{BB962C8B-B14F-4D97-AF65-F5344CB8AC3E}">
        <p14:creationId xmlns:p14="http://schemas.microsoft.com/office/powerpoint/2010/main" val="95794801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ta-label">
            <a:extLst xmlns:a="http://schemas.openxmlformats.org/drawingml/2006/main">
              <a:ext uri="{FF2B5EF4-FFF2-40B4-BE49-F238E27FC236}">
                <a16:creationId xmlns:a16="http://schemas.microsoft.com/office/drawing/2014/main" id="{CD69B747-BE6A-4951-8B93-F55DDA654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078733E2-CAC2-4807-A47E-C3C55F472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Reproduza o checkpoint e abra manifest.json antes do episódio 2.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8DE23413-C13C-4C13-BC84-1E05EE77B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01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21ED3FE6-17C1-4CDC-9E1B-9ECAAE9AC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1  •  OPEN / CORE 1.12</a:t>
            </a:r>
          </a:p>
        </p:txBody>
      </p:sp>
      <p:sp>
        <p:nvSpPr>
          <p:cNvPr id="5" name="rescue-point-logo-background">
            <a:extLst xmlns:a="http://schemas.openxmlformats.org/drawingml/2006/main">
              <a:ext uri="{FF2B5EF4-FFF2-40B4-BE49-F238E27FC236}">
                <a16:creationId xmlns:a16="http://schemas.microsoft.com/office/drawing/2014/main" id="{0D4F83D5-C305-496D-9446-40BEF91E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33350"/>
            <a:ext cx="173355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6142E"/>
          </a:solidFill>
          <a:ln xmlns:a="http://schemas.openxmlformats.org/drawingml/2006/main" w="9525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7" name="" descr="Figura oficial da documentação dbt usada para explicar: PRÓXIMO PASSO — Reproduza o checkpoint e abra manifest.json antes do episódio 2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7f9452431c414c"/>
          <a:stretch xmlns:a="http://schemas.openxmlformats.org/drawingml/2006/main"/>
        </p:blipFill>
        <p:spPr>
          <a:xfrm xmlns:a="http://schemas.openxmlformats.org/drawingml/2006/main">
            <a:off x="9893718" y="209550"/>
            <a:ext cx="1491414" cy="323850"/>
          </a:xfrm>
          <a:prstGeom xmlns:a="http://schemas.openxmlformats.org/drawingml/2006/main" prst="rect">
            <a:avLst/>
          </a:prstGeom>
        </p:spPr>
      </p:pic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034053B-9019-4EA4-9D8B-74B943007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F759919D-8719-4FD4-BC98-5C05B2C5E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F340568-986C-4EA4-A34B-81D78F8AA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18/18</a:t>
            </a:r>
          </a:p>
        </p:txBody>
      </p:sp>
    </p:spTree>
    <p:extLst>
      <p:ext uri="{BB962C8B-B14F-4D97-AF65-F5344CB8AC3E}">
        <p14:creationId xmlns:p14="http://schemas.microsoft.com/office/powerpoint/2010/main" val="12750724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2026-09-02T16:14:49.6110000Z</dcterms:created>
  <dcterms:modified xsi:type="dcterms:W3CDTF">2026-09-02T16:14:49.6110000Z</dcterms:modified>
</coreProperties>
</file>