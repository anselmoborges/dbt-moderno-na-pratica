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efb4d53ca594e3e" /><Relationship Type="http://schemas.openxmlformats.org/officeDocument/2006/relationships/extended-properties" Target="/docProps/app.xml" Id="R16dc31954d0c4bb5" /><Relationship Type="http://schemas.openxmlformats.org/officeDocument/2006/relationships/officeDocument" Target="/ppt/presentation.xml" Id="Redfdce62b930495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26685cc895a4f59"/>
  </p:sldMasterIdLst>
  <p:notesMasterIdLst>
    <p:notesMasterId xmlns:r="http://schemas.openxmlformats.org/officeDocument/2006/relationships" r:id="R2b622c5969054acc"/>
  </p:notesMasterIdLst>
  <p:sldIdLst>
    <p:sldId xmlns:r="http://schemas.openxmlformats.org/officeDocument/2006/relationships" id="256" r:id="Rbee7c46eefce4be7"/>
    <p:sldId xmlns:r="http://schemas.openxmlformats.org/officeDocument/2006/relationships" id="257" r:id="R9503a72d3f5744af"/>
    <p:sldId xmlns:r="http://schemas.openxmlformats.org/officeDocument/2006/relationships" id="258" r:id="Rd385d55e995d4ecd"/>
    <p:sldId xmlns:r="http://schemas.openxmlformats.org/officeDocument/2006/relationships" id="259" r:id="Rba92faf9121e442c"/>
    <p:sldId xmlns:r="http://schemas.openxmlformats.org/officeDocument/2006/relationships" id="260" r:id="R2b6ce1232f2144e1"/>
    <p:sldId xmlns:r="http://schemas.openxmlformats.org/officeDocument/2006/relationships" id="261" r:id="R68a58a63389b491d"/>
    <p:sldId xmlns:r="http://schemas.openxmlformats.org/officeDocument/2006/relationships" id="262" r:id="R8fcf162b1f214f98"/>
    <p:sldId xmlns:r="http://schemas.openxmlformats.org/officeDocument/2006/relationships" id="263" r:id="R5bb43a05244f4b24"/>
    <p:sldId xmlns:r="http://schemas.openxmlformats.org/officeDocument/2006/relationships" id="264" r:id="Re2c2b9559e1a4eaf"/>
    <p:sldId xmlns:r="http://schemas.openxmlformats.org/officeDocument/2006/relationships" id="265" r:id="Ra8617c341189487a"/>
    <p:sldId xmlns:r="http://schemas.openxmlformats.org/officeDocument/2006/relationships" id="266" r:id="R1f4918917041487a"/>
    <p:sldId xmlns:r="http://schemas.openxmlformats.org/officeDocument/2006/relationships" id="267" r:id="Re141c8dd4a044fc9"/>
    <p:sldId xmlns:r="http://schemas.openxmlformats.org/officeDocument/2006/relationships" id="268" r:id="R366efdd60fe24d42"/>
    <p:sldId xmlns:r="http://schemas.openxmlformats.org/officeDocument/2006/relationships" id="269" r:id="R4c82c78b118141c2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938ee07e6cb4603" /><Relationship Type="http://schemas.openxmlformats.org/officeDocument/2006/relationships/slideMaster" Target="/ppt/slideMasters/slideMaster1.xml" Id="Rf26685cc895a4f59" /><Relationship Type="http://schemas.openxmlformats.org/officeDocument/2006/relationships/notesMaster" Target="/ppt/notesMasters/notesMaster1.xml" Id="R2b622c5969054acc" /><Relationship Type="http://schemas.openxmlformats.org/officeDocument/2006/relationships/presProps" Target="/ppt/presProps.xml" Id="Rc267b5216f5b4174" /><Relationship Type="http://schemas.openxmlformats.org/officeDocument/2006/relationships/tableStyles" Target="/ppt/tableStyles.xml" Id="Rb472c6db8f3a44f6" /><Relationship Type="http://schemas.openxmlformats.org/officeDocument/2006/relationships/slide" Target="/ppt/slides/slide1.xml" Id="Rbee7c46eefce4be7" /><Relationship Type="http://schemas.openxmlformats.org/officeDocument/2006/relationships/slide" Target="/ppt/slides/slide2.xml" Id="R9503a72d3f5744af" /><Relationship Type="http://schemas.openxmlformats.org/officeDocument/2006/relationships/slide" Target="/ppt/slides/slide3.xml" Id="Rd385d55e995d4ecd" /><Relationship Type="http://schemas.openxmlformats.org/officeDocument/2006/relationships/slide" Target="/ppt/slides/slide4.xml" Id="Rba92faf9121e442c" /><Relationship Type="http://schemas.openxmlformats.org/officeDocument/2006/relationships/slide" Target="/ppt/slides/slide5.xml" Id="R2b6ce1232f2144e1" /><Relationship Type="http://schemas.openxmlformats.org/officeDocument/2006/relationships/slide" Target="/ppt/slides/slide6.xml" Id="R68a58a63389b491d" /><Relationship Type="http://schemas.openxmlformats.org/officeDocument/2006/relationships/slide" Target="/ppt/slides/slide7.xml" Id="R8fcf162b1f214f98" /><Relationship Type="http://schemas.openxmlformats.org/officeDocument/2006/relationships/slide" Target="/ppt/slides/slide8.xml" Id="R5bb43a05244f4b24" /><Relationship Type="http://schemas.openxmlformats.org/officeDocument/2006/relationships/slide" Target="/ppt/slides/slide9.xml" Id="Re2c2b9559e1a4eaf" /><Relationship Type="http://schemas.openxmlformats.org/officeDocument/2006/relationships/slide" Target="/ppt/slides/slide10.xml" Id="Ra8617c341189487a" /><Relationship Type="http://schemas.openxmlformats.org/officeDocument/2006/relationships/slide" Target="/ppt/slides/slide11.xml" Id="R1f4918917041487a" /><Relationship Type="http://schemas.openxmlformats.org/officeDocument/2006/relationships/slide" Target="/ppt/slides/slide12.xml" Id="Re141c8dd4a044fc9" /><Relationship Type="http://schemas.openxmlformats.org/officeDocument/2006/relationships/slide" Target="/ppt/slides/slide13.xml" Id="R366efdd60fe24d42" /><Relationship Type="http://schemas.openxmlformats.org/officeDocument/2006/relationships/slide" Target="/ppt/slides/slide14.xml" Id="R4c82c78b118141c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efa20b5f7134cd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1495b40bfae4a67" /><Relationship Type="http://schemas.openxmlformats.org/officeDocument/2006/relationships/notesMaster" Target="/ppt/notesMasters/notesMaster1.xml" Id="R72f246b633fa47e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05fb1f17c09492f" /><Relationship Type="http://schemas.openxmlformats.org/officeDocument/2006/relationships/notesMaster" Target="/ppt/notesMasters/notesMaster1.xml" Id="Rbedbde6d712a4a3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83c8e369189458c" /><Relationship Type="http://schemas.openxmlformats.org/officeDocument/2006/relationships/notesMaster" Target="/ppt/notesMasters/notesMaster1.xml" Id="Rd056fed81cb7427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9d9eba3de834603" /><Relationship Type="http://schemas.openxmlformats.org/officeDocument/2006/relationships/notesMaster" Target="/ppt/notesMasters/notesMaster1.xml" Id="Rdb04e19c601b43a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1d6b0896f974a73" /><Relationship Type="http://schemas.openxmlformats.org/officeDocument/2006/relationships/notesMaster" Target="/ppt/notesMasters/notesMaster1.xml" Id="R5161126f44de45a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80d55f32ea24f40" /><Relationship Type="http://schemas.openxmlformats.org/officeDocument/2006/relationships/notesMaster" Target="/ppt/notesMasters/notesMaster1.xml" Id="R823f559b13d04ff6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2e0e7a8a741e4732" /><Relationship Type="http://schemas.openxmlformats.org/officeDocument/2006/relationships/notesMaster" Target="/ppt/notesMasters/notesMaster1.xml" Id="Rad887266c3ef4f8f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1339e2890332445e" /><Relationship Type="http://schemas.openxmlformats.org/officeDocument/2006/relationships/notesMaster" Target="/ppt/notesMasters/notesMaster1.xml" Id="R48d5e62444e64593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823d33d7bcf148ef" /><Relationship Type="http://schemas.openxmlformats.org/officeDocument/2006/relationships/notesMaster" Target="/ppt/notesMasters/notesMaster1.xml" Id="Re8c8b71dd23c4e23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ad7a8ecbd72144e4" /><Relationship Type="http://schemas.openxmlformats.org/officeDocument/2006/relationships/notesMaster" Target="/ppt/notesMasters/notesMaster1.xml" Id="R0221f4ce195946c3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ebb6c7e537814349" /><Relationship Type="http://schemas.openxmlformats.org/officeDocument/2006/relationships/notesMaster" Target="/ppt/notesMasters/notesMaster1.xml" Id="Reeb7fbb2485743f8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e285f27b113f40fb" /><Relationship Type="http://schemas.openxmlformats.org/officeDocument/2006/relationships/notesMaster" Target="/ppt/notesMasters/notesMaster1.xml" Id="R937aa673f25a458a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51ec81eb3bfd43aa" /><Relationship Type="http://schemas.openxmlformats.org/officeDocument/2006/relationships/notesMaster" Target="/ppt/notesMasters/notesMaster1.xml" Id="R724a0edc7950439d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97b30da96ee0418c" /><Relationship Type="http://schemas.openxmlformats.org/officeDocument/2006/relationships/notesMaster" Target="/ppt/notesMasters/notesMaster1.xml" Id="Rf74457f5605c454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Comece auditando o próprio conteúdo. A promessa desta temporada é substituir conceitos citados por evidências executáveis.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https://www.youtube.com/watch?v=ZAgoqhlR95g&amp;list=PLeblJhqzZe1rvFehI3MsGXmrNch4zQqg8</a:t>
            </a:r>
          </a:p>
          <a:p xmlns:a="http://schemas.openxmlformats.org/drawingml/2006/main">
            <a:r>
              <a:t>- https://github.com/dbt-labs/dbt-core/releases/tag/v1.12.0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Mostre rapidamente a auditoria com timestamps. Diferencie assunto anunciado de conteúdo demonstrado.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https://www.youtube.com/watch?v=ZAgoqhlR95g&amp;list=PLeblJhqzZe1rvFehI3MsGXmrNch4zQqg8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Reconheça os acertos da série original. A correção editorial é dizer onde a demonstração terminou.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https://www.youtube.com/watch?v=ZAgoqhlR95g&amp;list=PLeblJhqzZe1rvFehI3MsGXmrNch4zQqg8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Apresente a regra editorial: só dizer 'vimos anteriormente' quando uma capacidade foi executada.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https://github.com/AnselmoBorges/dbt-moderno-na-pratica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Explique que gratuito não significa open source. Preços e limites serão verificados antes da gravação da temporada 2.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https://docs.getdbt.com/docs/dbt/supported-features</a:t>
            </a:r>
          </a:p>
          <a:p xmlns:a="http://schemas.openxmlformats.org/drawingml/2006/main">
            <a:r>
              <a:t>- https://www.getdbt.com/pricing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Mostre requirements-local.txt. Explique por que reproduzibilidade exige versão do adapter e não apenas 'pip install dbt'.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https://github.com/dbt-labs/dbt-core/releases/tag/v1.12.0</a:t>
            </a:r>
          </a:p>
          <a:p xmlns:a="http://schemas.openxmlformats.org/drawingml/2006/main">
            <a:r>
              <a:t>- https://pypi.org/project/dbt-duckdb/1.11.0/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Compare com as best practices oficiais sem copiar Jaffle Shop. O laboratório mantém Silver/Gold para conversar com a série original.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https://docs.getdbt.com/best-practices/how-we-structure/1-guide-overview</a:t>
            </a:r>
          </a:p>
          <a:p xmlns:a="http://schemas.openxmlformats.org/drawingml/2006/main">
            <a:r>
              <a:t>- https://github.com/dbt-labs/jaffle-shop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Explique o papel de cada comando sem mergulhar em flags. O checkpoint executará todos.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https://docs.getdbt.com/reference/dbt-commands</a:t>
            </a:r>
          </a:p>
          <a:p xmlns:a="http://schemas.openxmlformats.org/drawingml/2006/main">
            <a:r>
              <a:t>- https://docs.getdbt.com/reference/artifacts/dbt-artifacts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Deixe claro que ref cria dependência; descrições de tabelas e colunas continuam sendo trabalho explícito.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https://docs.getdbt.com/reference/dbt-jinja-functions/ref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Mostre manifest, run_results e catalog como contratos de máquina usados nos episódios seguintes.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https://docs.getdbt.com/reference/artifacts/dbt-artifacts</a:t>
            </a:r>
          </a:p>
          <a:p xmlns:a="http://schemas.openxmlformats.org/drawingml/2006/main">
            <a:r>
              <a:t>- https://docs.getdbt.com/reference/commands/build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Execute na raiz. O setup já deve estar concluído pela Aula 0.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https://github.com/dbt-labs/jaffle_shop_duckdb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Os valores vêm da fixture do laboratório. Não trate oito linhas como benchmark de desempenho.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https://github.com/AnselmoBorges/dbt-moderno-na-pratica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Não recomende beta para produção. Consulte a matriz oficial porque cada adapter e superfície pode ter maturidade diferente.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https://docs.getdbt.com/docs/dbt/supported-features</a:t>
            </a:r>
          </a:p>
          <a:p xmlns:a="http://schemas.openxmlformats.org/drawingml/2006/main">
            <a:r>
              <a:t>- https://docs.getdbt.com/docs/local/install-dbt-v2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Feche pedindo ao aluno que execute o checkpoint e abra o manifest. Conecte diretamente ao problema de grão e métricas do episódio 2.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https://docs.getdbt.com/docs/build/latest-metrics-spec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792168e943d4add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75ab5986e8349db" /><Relationship Type="http://schemas.openxmlformats.org/officeDocument/2006/relationships/slideLayout" Target="/ppt/slideLayouts/slideLayout1.xml" Id="Rfb06002fc6b441b3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b06002fc6b441b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fcbfea59132487d" /><Relationship Type="http://schemas.openxmlformats.org/officeDocument/2006/relationships/notesSlide" Target="/ppt/notesSlides/notesSlide1.xml" Id="R774f8a7eb4fc458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e36da27c5fd483a" /><Relationship Type="http://schemas.openxmlformats.org/officeDocument/2006/relationships/notesSlide" Target="/ppt/notesSlides/notesSlide2.xml" Id="Ra03e21f449b24dd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6cc52afce654084" /><Relationship Type="http://schemas.openxmlformats.org/officeDocument/2006/relationships/notesSlide" Target="/ppt/notesSlides/notesSlide3.xml" Id="R8ecd2af16fdb421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7d819ebb8cf4b8f" /><Relationship Type="http://schemas.openxmlformats.org/officeDocument/2006/relationships/notesSlide" Target="/ppt/notesSlides/notesSlide4.xml" Id="R4af7a994b6be4fe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bfa168833864e80" /><Relationship Type="http://schemas.openxmlformats.org/officeDocument/2006/relationships/notesSlide" Target="/ppt/notesSlides/notesSlide5.xml" Id="R06575cc91c2849ff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0418151fcb54b4c" /><Relationship Type="http://schemas.openxmlformats.org/officeDocument/2006/relationships/notesSlide" Target="/ppt/notesSlides/notesSlide6.xml" Id="Rb85eaa4633654766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678c56a290549f3" /><Relationship Type="http://schemas.openxmlformats.org/officeDocument/2006/relationships/notesSlide" Target="/ppt/notesSlides/notesSlide7.xml" Id="Re70f757adb81400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cac664be6174324" /><Relationship Type="http://schemas.openxmlformats.org/officeDocument/2006/relationships/notesSlide" Target="/ppt/notesSlides/notesSlide8.xml" Id="R9ce1720e23034420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798e2bed00745ae" /><Relationship Type="http://schemas.openxmlformats.org/officeDocument/2006/relationships/notesSlide" Target="/ppt/notesSlides/notesSlide9.xml" Id="R5252bbeb984c4ef1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e1a59097eb545de" /><Relationship Type="http://schemas.openxmlformats.org/officeDocument/2006/relationships/notesSlide" Target="/ppt/notesSlides/notesSlide10.xml" Id="Rc49d059168b94e3b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b073ac8b9e940ff" /><Relationship Type="http://schemas.openxmlformats.org/officeDocument/2006/relationships/notesSlide" Target="/ppt/notesSlides/notesSlide11.xml" Id="R1f8472d739e743d3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6f7811800e947c4" /><Relationship Type="http://schemas.openxmlformats.org/officeDocument/2006/relationships/notesSlide" Target="/ppt/notesSlides/notesSlide12.xml" Id="Rdef8336777b44a6b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08d2e77f76e491b" /><Relationship Type="http://schemas.openxmlformats.org/officeDocument/2006/relationships/notesSlide" Target="/ppt/notesSlides/notesSlide13.xml" Id="Rd05c2baec9564db6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169c071900f4e38" /><Relationship Type="http://schemas.openxmlformats.org/officeDocument/2006/relationships/notesSlide" Target="/ppt/notesSlides/notesSlide14.xml" Id="R681d63f0f28b485a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6142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27AB846-4C79-4220-B573-05BA359E5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28600"/>
            <a:ext cx="2857500" cy="2857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D8E102B-6B59-49C7-A9E9-48253164F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3429000"/>
            <a:ext cx="2000250" cy="2000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C5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kicker">
            <a:extLst xmlns:a="http://schemas.openxmlformats.org/drawingml/2006/main">
              <a:ext uri="{FF2B5EF4-FFF2-40B4-BE49-F238E27FC236}">
                <a16:creationId xmlns:a16="http://schemas.microsoft.com/office/drawing/2014/main" id="{A05DD6AD-E65B-48A3-8DC3-59A85D14C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819150"/>
            <a:ext cx="571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EC5FF"/>
                </a:solidFill>
              </a:defRPr>
            </a:pPr>
            <a:r>
              <a:rPr sz="1350" b="1">
                <a:solidFill>
                  <a:srgbClr val="1EC5FF"/>
                </a:solidFill>
              </a:rPr>
              <a:t>EPISÓDIO 1</a:t>
            </a:r>
          </a:p>
        </p:txBody>
      </p:sp>
      <p:sp>
        <p:nvSpPr>
          <p:cNvPr id="4" name="deck-title">
            <a:extLst xmlns:a="http://schemas.openxmlformats.org/drawingml/2006/main">
              <a:ext uri="{FF2B5EF4-FFF2-40B4-BE49-F238E27FC236}">
                <a16:creationId xmlns:a16="http://schemas.microsoft.com/office/drawing/2014/main" id="{ECC01524-1512-433C-86A6-A4783CF5A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19250"/>
            <a:ext cx="75247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4950" b="1">
                <a:solidFill>
                  <a:srgbClr val="FFFFFF"/>
                </a:solidFill>
              </a:defRPr>
            </a:pPr>
            <a:r>
              <a:rPr sz="4950" b="1">
                <a:solidFill>
                  <a:srgbClr val="FFFFFF"/>
                </a:solidFill>
              </a:rPr>
              <a:t>O que a série ensinou — e o que falta provar</a:t>
            </a:r>
          </a:p>
        </p:txBody>
      </p:sp>
      <p:sp>
        <p:nvSpPr>
          <p:cNvPr id="5" name="subtitle">
            <a:extLst xmlns:a="http://schemas.openxmlformats.org/drawingml/2006/main">
              <a:ext uri="{FF2B5EF4-FFF2-40B4-BE49-F238E27FC236}">
                <a16:creationId xmlns:a16="http://schemas.microsoft.com/office/drawing/2014/main" id="{F7CA4A16-F090-457F-86C5-36C7933BF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10000"/>
            <a:ext cx="6667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E2F2FF"/>
                </a:solidFill>
              </a:defRPr>
            </a:pPr>
            <a:r>
              <a:rPr sz="2025">
                <a:solidFill>
                  <a:srgbClr val="E2F2FF"/>
                </a:solidFill>
              </a:rPr>
              <a:t>Baseline aberto e estável com dbt Core 1.12</a:t>
            </a:r>
          </a:p>
        </p:txBody>
      </p:sp>
      <p:sp>
        <p:nvSpPr>
          <p:cNvPr id="6" name="episode">
            <a:extLst xmlns:a="http://schemas.openxmlformats.org/drawingml/2006/main">
              <a:ext uri="{FF2B5EF4-FFF2-40B4-BE49-F238E27FC236}">
                <a16:creationId xmlns:a16="http://schemas.microsoft.com/office/drawing/2014/main" id="{68BDD42E-0D45-420F-95CF-1BC8B7D76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905500"/>
            <a:ext cx="685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Temporada open  •  dbt Moderno na Prática</a:t>
            </a:r>
          </a:p>
        </p:txBody>
      </p:sp>
    </p:spTree>
    <p:extLst>
      <p:ext uri="{BB962C8B-B14F-4D97-AF65-F5344CB8AC3E}">
        <p14:creationId xmlns:p14="http://schemas.microsoft.com/office/powerpoint/2010/main" val="192165161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4F9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2E198B5-CEAB-4A0E-87AB-4C924F15A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C5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13C67BC8-70F8-4C17-A6F0-79202108F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"/>
            <a:ext cx="3905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1565C0"/>
                </a:solidFill>
              </a:defRPr>
            </a:pPr>
            <a:r>
              <a:rPr sz="1125" b="1">
                <a:solidFill>
                  <a:srgbClr val="1565C0"/>
                </a:solidFill>
              </a:rPr>
              <a:t>PERGUNTA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1B13EA5F-00C1-49EC-AA70-5AACDEBB5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04850"/>
            <a:ext cx="10668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06142E"/>
                </a:solidFill>
              </a:defRPr>
            </a:pPr>
            <a:r>
              <a:rPr sz="3150" b="1">
                <a:solidFill>
                  <a:srgbClr val="06142E"/>
                </a:solidFill>
              </a:rPr>
              <a:t>O que o seu projeto realmente comprova?</a:t>
            </a:r>
          </a:p>
        </p:txBody>
      </p:sp>
      <p:sp>
        <p:nvSpPr>
          <p:cNvPr id="4" name="footer">
            <a:extLst xmlns:a="http://schemas.openxmlformats.org/drawingml/2006/main">
              <a:ext uri="{FF2B5EF4-FFF2-40B4-BE49-F238E27FC236}">
                <a16:creationId xmlns:a16="http://schemas.microsoft.com/office/drawing/2014/main" id="{0C407F6F-F81D-499B-A72C-C81FE26E1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2657F"/>
                </a:solidFill>
              </a:defRPr>
            </a:pPr>
            <a:r>
              <a:rPr sz="900">
                <a:solidFill>
                  <a:srgbClr val="52657F"/>
                </a:solidFill>
              </a:rPr>
              <a:t>RESCUE POINT  •  CURSO INDEPENDENTE  •  02</a:t>
            </a:r>
          </a:p>
        </p:txBody>
      </p:sp>
      <p:sp>
        <p:nvSpPr>
          <p:cNvPr id="5" name="statement">
            <a:extLst xmlns:a="http://schemas.openxmlformats.org/drawingml/2006/main">
              <a:ext uri="{FF2B5EF4-FFF2-40B4-BE49-F238E27FC236}">
                <a16:creationId xmlns:a16="http://schemas.microsoft.com/office/drawing/2014/main" id="{C414D695-D7C9-4A1C-A655-25979E199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809750"/>
            <a:ext cx="72390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06142E"/>
                </a:solidFill>
              </a:defRPr>
            </a:pPr>
            <a:r>
              <a:rPr sz="3600" b="1">
                <a:solidFill>
                  <a:srgbClr val="06142E"/>
                </a:solidFill>
              </a:rPr>
              <a:t>Título não é evidência.</a:t>
            </a:r>
          </a:p>
          <a:p xmlns:a="http://schemas.openxmlformats.org/drawingml/2006/main">
            <a:pPr>
              <a:defRPr sz="3600" b="1">
                <a:solidFill>
                  <a:srgbClr val="06142E"/>
                </a:solidFill>
              </a:defRPr>
            </a:pPr>
            <a:r>
              <a:rPr sz="3600" b="1">
                <a:solidFill>
                  <a:srgbClr val="06142E"/>
                </a:solidFill>
              </a:rPr>
              <a:t>Manifest é.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CE54872-D9E5-4FBA-8EE3-5B0268F3A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1809750"/>
            <a:ext cx="114300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C5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support">
            <a:extLst xmlns:a="http://schemas.openxmlformats.org/drawingml/2006/main">
              <a:ext uri="{FF2B5EF4-FFF2-40B4-BE49-F238E27FC236}">
                <a16:creationId xmlns:a16="http://schemas.microsoft.com/office/drawing/2014/main" id="{C9256492-D496-42E4-B768-12F6D8B7C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2095500"/>
            <a:ext cx="238125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52657F"/>
                </a:solidFill>
              </a:defRPr>
            </a:pPr>
            <a:r>
              <a:rPr sz="1800">
                <a:solidFill>
                  <a:srgbClr val="52657F"/>
                </a:solidFill>
              </a:rPr>
              <a:t>A série antiga antecipou temas que os hands-ons não chegaram a implementar.</a:t>
            </a:r>
          </a:p>
        </p:txBody>
      </p:sp>
    </p:spTree>
    <p:extLst>
      <p:ext uri="{BB962C8B-B14F-4D97-AF65-F5344CB8AC3E}">
        <p14:creationId xmlns:p14="http://schemas.microsoft.com/office/powerpoint/2010/main" val="157256692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4F9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D5F53DB-09BD-4762-BA83-3FDC59B71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C5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BA1F401A-777A-4493-8796-1CA997548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"/>
            <a:ext cx="3905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1565C0"/>
                </a:solidFill>
              </a:defRPr>
            </a:pPr>
            <a:r>
              <a:rPr sz="1125" b="1">
                <a:solidFill>
                  <a:srgbClr val="1565C0"/>
                </a:solidFill>
              </a:rPr>
              <a:t>SÉRIE ORIGINAL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99EF52AC-4578-4970-A91D-57F43FECE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04850"/>
            <a:ext cx="10668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06142E"/>
                </a:solidFill>
              </a:defRPr>
            </a:pPr>
            <a:r>
              <a:rPr sz="3150" b="1">
                <a:solidFill>
                  <a:srgbClr val="06142E"/>
                </a:solidFill>
              </a:rPr>
              <a:t>A base prática continua valiosa</a:t>
            </a:r>
          </a:p>
        </p:txBody>
      </p:sp>
      <p:sp>
        <p:nvSpPr>
          <p:cNvPr id="4" name="footer">
            <a:extLst xmlns:a="http://schemas.openxmlformats.org/drawingml/2006/main">
              <a:ext uri="{FF2B5EF4-FFF2-40B4-BE49-F238E27FC236}">
                <a16:creationId xmlns:a16="http://schemas.microsoft.com/office/drawing/2014/main" id="{730D9FA5-01F5-4BAC-8B97-CE8D98833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2657F"/>
                </a:solidFill>
              </a:defRPr>
            </a:pPr>
            <a:r>
              <a:rPr sz="900">
                <a:solidFill>
                  <a:srgbClr val="52657F"/>
                </a:solidFill>
              </a:rPr>
              <a:t>RESCUE POINT  •  CURSO INDEPENDENTE  •  03</a:t>
            </a:r>
          </a:p>
        </p:txBody>
      </p:sp>
      <p:sp>
        <p:nvSpPr>
          <p:cNvPr id="5" name="left-heading">
            <a:extLst xmlns:a="http://schemas.openxmlformats.org/drawingml/2006/main">
              <a:ext uri="{FF2B5EF4-FFF2-40B4-BE49-F238E27FC236}">
                <a16:creationId xmlns:a16="http://schemas.microsoft.com/office/drawing/2014/main" id="{307CFCD3-279F-41C2-8DD8-3E249D0E7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809750"/>
            <a:ext cx="4953000" cy="72390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06142E"/>
          </a:solidFill>
          <a:ln xmlns:a="http://schemas.openxmlformats.org/drawingml/2006/main" w="19050">
            <a:solidFill>
              <a:srgbClr val="06142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FFFFFF"/>
                </a:solidFill>
              </a:defRPr>
            </a:pPr>
            <a:r>
              <a:rPr sz="2100" b="1">
                <a:solidFill>
                  <a:srgbClr val="FFFFFF"/>
                </a:solidFill>
              </a:rPr>
              <a:t>Implementado</a:t>
            </a:r>
          </a:p>
        </p:txBody>
      </p:sp>
      <p:sp>
        <p:nvSpPr>
          <p:cNvPr id="6" name="right-heading">
            <a:extLst xmlns:a="http://schemas.openxmlformats.org/drawingml/2006/main">
              <a:ext uri="{FF2B5EF4-FFF2-40B4-BE49-F238E27FC236}">
                <a16:creationId xmlns:a16="http://schemas.microsoft.com/office/drawing/2014/main" id="{CEB6CEDB-72AF-44AA-A393-9798D3EBF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809750"/>
            <a:ext cx="4953000" cy="72390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1565C0"/>
          </a:solidFill>
          <a:ln xmlns:a="http://schemas.openxmlformats.org/drawingml/2006/main" w="19050">
            <a:solidFill>
              <a:srgbClr val="1565C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FFFFFF"/>
                </a:solidFill>
              </a:defRPr>
            </a:pPr>
            <a:r>
              <a:rPr sz="2100" b="1">
                <a:solidFill>
                  <a:srgbClr val="FFFFFF"/>
                </a:solidFill>
              </a:rPr>
              <a:t>Conceitual</a:t>
            </a:r>
          </a:p>
        </p:txBody>
      </p:sp>
      <p:sp>
        <p:nvSpPr>
          <p:cNvPr id="7" name="left-body">
            <a:extLst xmlns:a="http://schemas.openxmlformats.org/drawingml/2006/main">
              <a:ext uri="{FF2B5EF4-FFF2-40B4-BE49-F238E27FC236}">
                <a16:creationId xmlns:a16="http://schemas.microsoft.com/office/drawing/2014/main" id="{392EB018-CC2C-4427-A0A5-620A83BD7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857500"/>
            <a:ext cx="4524375" cy="2667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10213D"/>
                </a:solidFill>
              </a:defRPr>
            </a:pPr>
            <a:r>
              <a:rPr sz="1800">
                <a:solidFill>
                  <a:srgbClr val="10213D"/>
                </a:solidFill>
              </a:rPr>
              <a:t>Ambiente local</a:t>
            </a:r>
          </a:p>
          <a:p xmlns:a="http://schemas.openxmlformats.org/drawingml/2006/main">
            <a:pPr>
              <a:defRPr sz="1800">
                <a:solidFill>
                  <a:srgbClr val="10213D"/>
                </a:solidFill>
              </a:defRPr>
            </a:pPr>
            <a:r>
              <a:rPr sz="1800">
                <a:solidFill>
                  <a:srgbClr val="10213D"/>
                </a:solidFill>
              </a:rPr>
              <a:t>Seeds</a:t>
            </a:r>
          </a:p>
          <a:p xmlns:a="http://schemas.openxmlformats.org/drawingml/2006/main">
            <a:pPr>
              <a:defRPr sz="1800">
                <a:solidFill>
                  <a:srgbClr val="10213D"/>
                </a:solidFill>
              </a:defRPr>
            </a:pPr>
            <a:r>
              <a:rPr sz="1800">
                <a:solidFill>
                  <a:srgbClr val="10213D"/>
                </a:solidFill>
              </a:rPr>
              <a:t>ref</a:t>
            </a:r>
          </a:p>
          <a:p xmlns:a="http://schemas.openxmlformats.org/drawingml/2006/main">
            <a:pPr>
              <a:defRPr sz="1800">
                <a:solidFill>
                  <a:srgbClr val="10213D"/>
                </a:solidFill>
              </a:defRPr>
            </a:pPr>
            <a:r>
              <a:rPr sz="1800">
                <a:solidFill>
                  <a:srgbClr val="10213D"/>
                </a:solidFill>
              </a:rPr>
              <a:t>Table e view</a:t>
            </a:r>
          </a:p>
          <a:p xmlns:a="http://schemas.openxmlformats.org/drawingml/2006/main">
            <a:pPr>
              <a:defRPr sz="1800">
                <a:solidFill>
                  <a:srgbClr val="10213D"/>
                </a:solidFill>
              </a:defRPr>
            </a:pPr>
            <a:r>
              <a:rPr sz="1800">
                <a:solidFill>
                  <a:srgbClr val="10213D"/>
                </a:solidFill>
              </a:rPr>
              <a:t>Primeira Gold</a:t>
            </a:r>
          </a:p>
        </p:txBody>
      </p:sp>
      <p:sp>
        <p:nvSpPr>
          <p:cNvPr id="8" name="right-body">
            <a:extLst xmlns:a="http://schemas.openxmlformats.org/drawingml/2006/main">
              <a:ext uri="{FF2B5EF4-FFF2-40B4-BE49-F238E27FC236}">
                <a16:creationId xmlns:a16="http://schemas.microsoft.com/office/drawing/2014/main" id="{86643659-361B-4D86-A3E0-61CF5C27D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2857500"/>
            <a:ext cx="4524375" cy="2667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10213D"/>
                </a:solidFill>
              </a:defRPr>
            </a:pPr>
            <a:r>
              <a:rPr sz="1800">
                <a:solidFill>
                  <a:srgbClr val="10213D"/>
                </a:solidFill>
              </a:rPr>
              <a:t>Incremental</a:t>
            </a:r>
          </a:p>
          <a:p xmlns:a="http://schemas.openxmlformats.org/drawingml/2006/main">
            <a:pPr>
              <a:defRPr sz="1800">
                <a:solidFill>
                  <a:srgbClr val="10213D"/>
                </a:solidFill>
              </a:defRPr>
            </a:pPr>
            <a:r>
              <a:rPr sz="1800">
                <a:solidFill>
                  <a:srgbClr val="10213D"/>
                </a:solidFill>
              </a:rPr>
              <a:t>Tests e docs</a:t>
            </a:r>
          </a:p>
          <a:p xmlns:a="http://schemas.openxmlformats.org/drawingml/2006/main">
            <a:pPr>
              <a:defRPr sz="1800">
                <a:solidFill>
                  <a:srgbClr val="10213D"/>
                </a:solidFill>
              </a:defRPr>
            </a:pPr>
            <a:r>
              <a:rPr sz="1800">
                <a:solidFill>
                  <a:srgbClr val="10213D"/>
                </a:solidFill>
              </a:rPr>
              <a:t>Lineage</a:t>
            </a:r>
          </a:p>
          <a:p xmlns:a="http://schemas.openxmlformats.org/drawingml/2006/main">
            <a:pPr>
              <a:defRPr sz="1800">
                <a:solidFill>
                  <a:srgbClr val="10213D"/>
                </a:solidFill>
              </a:defRPr>
            </a:pPr>
            <a:r>
              <a:rPr sz="1800">
                <a:solidFill>
                  <a:srgbClr val="10213D"/>
                </a:solidFill>
              </a:rPr>
              <a:t>Deploy e CI</a:t>
            </a:r>
          </a:p>
        </p:txBody>
      </p:sp>
    </p:spTree>
    <p:extLst>
      <p:ext uri="{BB962C8B-B14F-4D97-AF65-F5344CB8AC3E}">
        <p14:creationId xmlns:p14="http://schemas.microsoft.com/office/powerpoint/2010/main" val="85215673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4F9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58CC1FD-74E2-4DA3-A850-F0058907B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C5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6B5B5147-5F40-4F43-9C00-A5F55F09D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"/>
            <a:ext cx="3905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1565C0"/>
                </a:solidFill>
              </a:defRPr>
            </a:pPr>
            <a:r>
              <a:rPr sz="1125" b="1">
                <a:solidFill>
                  <a:srgbClr val="1565C0"/>
                </a:solidFill>
              </a:rPr>
              <a:t>LACUNA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B97B58AE-5D2E-4B11-B1F3-EABBCE750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04850"/>
            <a:ext cx="10668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06142E"/>
                </a:solidFill>
              </a:defRPr>
            </a:pPr>
            <a:r>
              <a:rPr sz="3150" b="1">
                <a:solidFill>
                  <a:srgbClr val="06142E"/>
                </a:solidFill>
              </a:rPr>
              <a:t>A nova temporada transforma conceitos em checkpoints</a:t>
            </a:r>
          </a:p>
        </p:txBody>
      </p:sp>
      <p:sp>
        <p:nvSpPr>
          <p:cNvPr id="4" name="footer">
            <a:extLst xmlns:a="http://schemas.openxmlformats.org/drawingml/2006/main">
              <a:ext uri="{FF2B5EF4-FFF2-40B4-BE49-F238E27FC236}">
                <a16:creationId xmlns:a16="http://schemas.microsoft.com/office/drawing/2014/main" id="{0EA514A1-7E28-41B9-AB85-B191A32AE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2657F"/>
                </a:solidFill>
              </a:defRPr>
            </a:pPr>
            <a:r>
              <a:rPr sz="900">
                <a:solidFill>
                  <a:srgbClr val="52657F"/>
                </a:solidFill>
              </a:rPr>
              <a:t>RESCUE POINT  •  CURSO INDEPENDENTE  •  04</a:t>
            </a:r>
          </a:p>
        </p:txBody>
      </p:sp>
      <p:sp>
        <p:nvSpPr>
          <p:cNvPr id="5" name="node-1">
            <a:extLst xmlns:a="http://schemas.openxmlformats.org/drawingml/2006/main">
              <a:ext uri="{FF2B5EF4-FFF2-40B4-BE49-F238E27FC236}">
                <a16:creationId xmlns:a16="http://schemas.microsoft.com/office/drawing/2014/main" id="{E8C50857-1EAD-4D20-88F1-94C1DBEFA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8" y="2619375"/>
            <a:ext cx="2190750" cy="1190625"/>
          </a:xfrm>
          <a:prstGeom xmlns:a="http://schemas.openxmlformats.org/drawingml/2006/main" prst="roundRect">
            <a:avLst>
              <a:gd name="adj" fmla="val 96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565C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0213D"/>
                </a:solidFill>
              </a:defRPr>
            </a:pPr>
            <a:r>
              <a:rPr sz="1650" b="1">
                <a:solidFill>
                  <a:srgbClr val="10213D"/>
                </a:solidFill>
              </a:rPr>
              <a:t>Citado</a:t>
            </a:r>
          </a:p>
        </p:txBody>
      </p:sp>
      <p:sp>
        <p:nvSpPr>
          <p:cNvPr id="6" name="node-2">
            <a:extLst xmlns:a="http://schemas.openxmlformats.org/drawingml/2006/main">
              <a:ext uri="{FF2B5EF4-FFF2-40B4-BE49-F238E27FC236}">
                <a16:creationId xmlns:a16="http://schemas.microsoft.com/office/drawing/2014/main" id="{E458798A-3613-4321-B1D5-9BC2A06FB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43313" y="2619375"/>
            <a:ext cx="2190750" cy="1190625"/>
          </a:xfrm>
          <a:prstGeom xmlns:a="http://schemas.openxmlformats.org/drawingml/2006/main" prst="roundRect">
            <a:avLst>
              <a:gd name="adj" fmla="val 96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565C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0213D"/>
                </a:solidFill>
              </a:defRPr>
            </a:pPr>
            <a:r>
              <a:rPr sz="1650" b="1">
                <a:solidFill>
                  <a:srgbClr val="10213D"/>
                </a:solidFill>
              </a:rPr>
              <a:t>Implementado</a:t>
            </a:r>
          </a:p>
        </p:txBody>
      </p:sp>
      <p:sp>
        <p:nvSpPr>
          <p:cNvPr id="7" name="node-3">
            <a:extLst xmlns:a="http://schemas.openxmlformats.org/drawingml/2006/main">
              <a:ext uri="{FF2B5EF4-FFF2-40B4-BE49-F238E27FC236}">
                <a16:creationId xmlns:a16="http://schemas.microsoft.com/office/drawing/2014/main" id="{FF530257-C2FB-4064-B9C7-D7FBF75B6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7938" y="2619375"/>
            <a:ext cx="2190750" cy="1190625"/>
          </a:xfrm>
          <a:prstGeom xmlns:a="http://schemas.openxmlformats.org/drawingml/2006/main" prst="roundRect">
            <a:avLst>
              <a:gd name="adj" fmla="val 96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565C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0213D"/>
                </a:solidFill>
              </a:defRPr>
            </a:pPr>
            <a:r>
              <a:rPr sz="1650" b="1">
                <a:solidFill>
                  <a:srgbClr val="10213D"/>
                </a:solidFill>
              </a:rPr>
              <a:t>Testado</a:t>
            </a:r>
          </a:p>
        </p:txBody>
      </p:sp>
      <p:sp>
        <p:nvSpPr>
          <p:cNvPr id="8" name="node-4">
            <a:extLst xmlns:a="http://schemas.openxmlformats.org/drawingml/2006/main">
              <a:ext uri="{FF2B5EF4-FFF2-40B4-BE49-F238E27FC236}">
                <a16:creationId xmlns:a16="http://schemas.microsoft.com/office/drawing/2014/main" id="{89704509-FBDB-4192-AC18-0C7C94549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72563" y="2619375"/>
            <a:ext cx="2190750" cy="1190625"/>
          </a:xfrm>
          <a:prstGeom xmlns:a="http://schemas.openxmlformats.org/drawingml/2006/main" prst="roundRect">
            <a:avLst>
              <a:gd name="adj" fmla="val 9600"/>
            </a:avLst>
          </a:prstGeom>
          <a:solidFill xmlns:a="http://schemas.openxmlformats.org/drawingml/2006/main">
            <a:srgbClr val="06142E"/>
          </a:solidFill>
          <a:ln xmlns:a="http://schemas.openxmlformats.org/drawingml/2006/main" w="19050">
            <a:solidFill>
              <a:srgbClr val="06142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Documentado</a:t>
            </a:r>
          </a:p>
        </p:txBody>
      </p:sp>
      <p:cxnSp>
        <p:nvCxnSpPr>
          <p:cNvPr id="21" name=""/>
          <p:cNvCxnSpPr>
            <a:stCxn xmlns:a="http://schemas.openxmlformats.org/drawingml/2006/main" id="5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3119438" y="3214688"/>
            <a:ext cx="523875" cy="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1EC5FF"/>
            </a:solidFill>
            <a:prstDash val="solid"/>
            <a:tailEnd type="arrow" w="med" len="med"/>
          </a:ln>
        </p:spPr>
      </p:cxnSp>
      <p:cxnSp>
        <p:nvCxnSpPr>
          <p:cNvPr id="22" name=""/>
          <p:cNvCxnSpPr>
            <a:stCxn xmlns:a="http://schemas.openxmlformats.org/drawingml/2006/main" id="6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5834063" y="3214688"/>
            <a:ext cx="523875" cy="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1EC5FF"/>
            </a:solidFill>
            <a:prstDash val="solid"/>
            <a:tailEnd type="arrow" w="med" len="med"/>
          </a:ln>
        </p:spPr>
      </p:cxnSp>
      <p:cxnSp>
        <p:nvCxnSpPr>
          <p:cNvPr id="23" name=""/>
          <p:cNvCxnSpPr>
            <a:stCxn xmlns:a="http://schemas.openxmlformats.org/drawingml/2006/main" id="7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8548688" y="3214688"/>
            <a:ext cx="523875" cy="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1EC5FF"/>
            </a:solidFill>
            <a:prstDash val="solid"/>
            <a:tailEnd type="arrow" w="med" len="med"/>
          </a:ln>
        </p:spPr>
      </p:cxnSp>
      <p:sp>
        <p:nvSpPr>
          <p:cNvPr id="12" name="caption">
            <a:extLst xmlns:a="http://schemas.openxmlformats.org/drawingml/2006/main">
              <a:ext uri="{FF2B5EF4-FFF2-40B4-BE49-F238E27FC236}">
                <a16:creationId xmlns:a16="http://schemas.microsoft.com/office/drawing/2014/main" id="{4321AD63-8B93-4297-A940-AB1F8AEC9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524375"/>
            <a:ext cx="9144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>
                <a:solidFill>
                  <a:srgbClr val="52657F"/>
                </a:solidFill>
              </a:defRPr>
            </a:pPr>
            <a:r>
              <a:rPr sz="1875">
                <a:solidFill>
                  <a:srgbClr val="52657F"/>
                </a:solidFill>
              </a:rPr>
              <a:t>Cada episódio termina com uma evidência reproduzível.</a:t>
            </a:r>
          </a:p>
        </p:txBody>
      </p:sp>
    </p:spTree>
    <p:extLst>
      <p:ext uri="{BB962C8B-B14F-4D97-AF65-F5344CB8AC3E}">
        <p14:creationId xmlns:p14="http://schemas.microsoft.com/office/powerpoint/2010/main" val="203820572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4F9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FF98B9D-94F6-4A50-8D4E-349B94B0C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C5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404E8C89-1758-4D1A-8B7A-F75CD1BD4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"/>
            <a:ext cx="3905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1565C0"/>
                </a:solidFill>
              </a:defRPr>
            </a:pPr>
            <a:r>
              <a:rPr sz="1125" b="1">
                <a:solidFill>
                  <a:srgbClr val="1565C0"/>
                </a:solidFill>
              </a:rPr>
              <a:t>ECOSSISTEMA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4BCF1720-1B82-4DCD-8CB7-B1A70F595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04850"/>
            <a:ext cx="10668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06142E"/>
                </a:solidFill>
              </a:defRPr>
            </a:pPr>
            <a:r>
              <a:rPr sz="3150" b="1">
                <a:solidFill>
                  <a:srgbClr val="06142E"/>
                </a:solidFill>
              </a:rPr>
              <a:t>dbt não é um único produto</a:t>
            </a:r>
          </a:p>
        </p:txBody>
      </p:sp>
      <p:sp>
        <p:nvSpPr>
          <p:cNvPr id="4" name="footer">
            <a:extLst xmlns:a="http://schemas.openxmlformats.org/drawingml/2006/main">
              <a:ext uri="{FF2B5EF4-FFF2-40B4-BE49-F238E27FC236}">
                <a16:creationId xmlns:a16="http://schemas.microsoft.com/office/drawing/2014/main" id="{AE0665A7-D605-4ABE-8ECA-A33E044B9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2657F"/>
                </a:solidFill>
              </a:defRPr>
            </a:pPr>
            <a:r>
              <a:rPr sz="900">
                <a:solidFill>
                  <a:srgbClr val="52657F"/>
                </a:solidFill>
              </a:rPr>
              <a:t>RESCUE POINT  •  CURSO INDEPENDENTE  •  05</a:t>
            </a:r>
          </a:p>
        </p:txBody>
      </p:sp>
      <p:sp>
        <p:nvSpPr>
          <p:cNvPr id="5" name="left-heading">
            <a:extLst xmlns:a="http://schemas.openxmlformats.org/drawingml/2006/main">
              <a:ext uri="{FF2B5EF4-FFF2-40B4-BE49-F238E27FC236}">
                <a16:creationId xmlns:a16="http://schemas.microsoft.com/office/drawing/2014/main" id="{4261157D-235B-4BE0-904E-B89B066FC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809750"/>
            <a:ext cx="4953000" cy="72390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06142E"/>
          </a:solidFill>
          <a:ln xmlns:a="http://schemas.openxmlformats.org/drawingml/2006/main" w="19050">
            <a:solidFill>
              <a:srgbClr val="06142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FFFFFF"/>
                </a:solidFill>
              </a:defRPr>
            </a:pPr>
            <a:r>
              <a:rPr sz="2100" b="1">
                <a:solidFill>
                  <a:srgbClr val="FFFFFF"/>
                </a:solidFill>
              </a:rPr>
              <a:t>Open source</a:t>
            </a:r>
          </a:p>
        </p:txBody>
      </p:sp>
      <p:sp>
        <p:nvSpPr>
          <p:cNvPr id="6" name="right-heading">
            <a:extLst xmlns:a="http://schemas.openxmlformats.org/drawingml/2006/main">
              <a:ext uri="{FF2B5EF4-FFF2-40B4-BE49-F238E27FC236}">
                <a16:creationId xmlns:a16="http://schemas.microsoft.com/office/drawing/2014/main" id="{0F86BFE5-4B3B-4407-8110-E7E3F47EA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809750"/>
            <a:ext cx="4953000" cy="72390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1565C0"/>
          </a:solidFill>
          <a:ln xmlns:a="http://schemas.openxmlformats.org/drawingml/2006/main" w="19050">
            <a:solidFill>
              <a:srgbClr val="1565C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FFFFFF"/>
                </a:solidFill>
              </a:defRPr>
            </a:pPr>
            <a:r>
              <a:rPr sz="2100" b="1">
                <a:solidFill>
                  <a:srgbClr val="FFFFFF"/>
                </a:solidFill>
              </a:rPr>
              <a:t>Serviços</a:t>
            </a:r>
          </a:p>
        </p:txBody>
      </p:sp>
      <p:sp>
        <p:nvSpPr>
          <p:cNvPr id="7" name="left-body">
            <a:extLst xmlns:a="http://schemas.openxmlformats.org/drawingml/2006/main">
              <a:ext uri="{FF2B5EF4-FFF2-40B4-BE49-F238E27FC236}">
                <a16:creationId xmlns:a16="http://schemas.microsoft.com/office/drawing/2014/main" id="{AE9878FD-7C02-4C23-992E-CE33A9FB0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857500"/>
            <a:ext cx="4524375" cy="2667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10213D"/>
                </a:solidFill>
              </a:defRPr>
            </a:pPr>
            <a:r>
              <a:rPr sz="1800">
                <a:solidFill>
                  <a:srgbClr val="10213D"/>
                </a:solidFill>
              </a:rPr>
              <a:t>dbt Core</a:t>
            </a:r>
          </a:p>
          <a:p xmlns:a="http://schemas.openxmlformats.org/drawingml/2006/main">
            <a:pPr>
              <a:defRPr sz="1800">
                <a:solidFill>
                  <a:srgbClr val="10213D"/>
                </a:solidFill>
              </a:defRPr>
            </a:pPr>
            <a:r>
              <a:rPr sz="1800">
                <a:solidFill>
                  <a:srgbClr val="10213D"/>
                </a:solidFill>
              </a:rPr>
              <a:t>Adapters</a:t>
            </a:r>
          </a:p>
          <a:p xmlns:a="http://schemas.openxmlformats.org/drawingml/2006/main">
            <a:pPr>
              <a:defRPr sz="1800">
                <a:solidFill>
                  <a:srgbClr val="10213D"/>
                </a:solidFill>
              </a:defRPr>
            </a:pPr>
            <a:r>
              <a:rPr sz="1800">
                <a:solidFill>
                  <a:srgbClr val="10213D"/>
                </a:solidFill>
              </a:rPr>
              <a:t>MetricFlow</a:t>
            </a:r>
          </a:p>
          <a:p xmlns:a="http://schemas.openxmlformats.org/drawingml/2006/main">
            <a:pPr>
              <a:defRPr sz="1800">
                <a:solidFill>
                  <a:srgbClr val="10213D"/>
                </a:solidFill>
              </a:defRPr>
            </a:pPr>
            <a:r>
              <a:rPr sz="1800">
                <a:solidFill>
                  <a:srgbClr val="10213D"/>
                </a:solidFill>
              </a:rPr>
              <a:t>dbt MCP local</a:t>
            </a:r>
          </a:p>
        </p:txBody>
      </p:sp>
      <p:sp>
        <p:nvSpPr>
          <p:cNvPr id="8" name="right-body">
            <a:extLst xmlns:a="http://schemas.openxmlformats.org/drawingml/2006/main">
              <a:ext uri="{FF2B5EF4-FFF2-40B4-BE49-F238E27FC236}">
                <a16:creationId xmlns:a16="http://schemas.microsoft.com/office/drawing/2014/main" id="{F2C01226-5AFF-4BC8-92A1-ABDE9015D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2857500"/>
            <a:ext cx="4524375" cy="2667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10213D"/>
                </a:solidFill>
              </a:defRPr>
            </a:pPr>
            <a:r>
              <a:rPr sz="1800">
                <a:solidFill>
                  <a:srgbClr val="10213D"/>
                </a:solidFill>
              </a:rPr>
              <a:t>Developer gratuito</a:t>
            </a:r>
          </a:p>
          <a:p xmlns:a="http://schemas.openxmlformats.org/drawingml/2006/main">
            <a:pPr>
              <a:defRPr sz="1800">
                <a:solidFill>
                  <a:srgbClr val="10213D"/>
                </a:solidFill>
              </a:defRPr>
            </a:pPr>
            <a:r>
              <a:rPr sz="1800">
                <a:solidFill>
                  <a:srgbClr val="10213D"/>
                </a:solidFill>
              </a:rPr>
              <a:t>Starter/Enterprise</a:t>
            </a:r>
          </a:p>
          <a:p xmlns:a="http://schemas.openxmlformats.org/drawingml/2006/main">
            <a:pPr>
              <a:defRPr sz="1800">
                <a:solidFill>
                  <a:srgbClr val="10213D"/>
                </a:solidFill>
              </a:defRPr>
            </a:pPr>
            <a:r>
              <a:rPr sz="1800">
                <a:solidFill>
                  <a:srgbClr val="10213D"/>
                </a:solidFill>
              </a:rPr>
              <a:t>Semantic Layer hospedada</a:t>
            </a:r>
          </a:p>
          <a:p xmlns:a="http://schemas.openxmlformats.org/drawingml/2006/main">
            <a:pPr>
              <a:defRPr sz="1800">
                <a:solidFill>
                  <a:srgbClr val="10213D"/>
                </a:solidFill>
              </a:defRPr>
            </a:pPr>
            <a:r>
              <a:rPr sz="1800">
                <a:solidFill>
                  <a:srgbClr val="10213D"/>
                </a:solidFill>
              </a:rPr>
              <a:t>Mesh gerenciado</a:t>
            </a:r>
          </a:p>
        </p:txBody>
      </p:sp>
    </p:spTree>
    <p:extLst>
      <p:ext uri="{BB962C8B-B14F-4D97-AF65-F5344CB8AC3E}">
        <p14:creationId xmlns:p14="http://schemas.microsoft.com/office/powerpoint/2010/main" val="5915309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4F9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841DB93-D1EB-411D-B8B2-A2CEFB3F7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C5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93648425-9D77-4A6A-AEBA-D85CA3318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"/>
            <a:ext cx="3905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1565C0"/>
                </a:solidFill>
              </a:defRPr>
            </a:pPr>
            <a:r>
              <a:rPr sz="1125" b="1">
                <a:solidFill>
                  <a:srgbClr val="1565C0"/>
                </a:solidFill>
              </a:rPr>
              <a:t>BASELINE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17DCDCA1-E9AF-4F5A-8F4B-7080C2156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04850"/>
            <a:ext cx="10668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06142E"/>
                </a:solidFill>
              </a:defRPr>
            </a:pPr>
            <a:r>
              <a:rPr sz="3150" b="1">
                <a:solidFill>
                  <a:srgbClr val="06142E"/>
                </a:solidFill>
              </a:rPr>
              <a:t>Produção começa no suportado</a:t>
            </a:r>
          </a:p>
        </p:txBody>
      </p:sp>
      <p:sp>
        <p:nvSpPr>
          <p:cNvPr id="4" name="footer">
            <a:extLst xmlns:a="http://schemas.openxmlformats.org/drawingml/2006/main">
              <a:ext uri="{FF2B5EF4-FFF2-40B4-BE49-F238E27FC236}">
                <a16:creationId xmlns:a16="http://schemas.microsoft.com/office/drawing/2014/main" id="{5DD9F93C-D8A6-4817-B5C5-B9A3AFD06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2657F"/>
                </a:solidFill>
              </a:defRPr>
            </a:pPr>
            <a:r>
              <a:rPr sz="900">
                <a:solidFill>
                  <a:srgbClr val="52657F"/>
                </a:solidFill>
              </a:rPr>
              <a:t>RESCUE POINT  •  CURSO INDEPENDENTE  •  06</a:t>
            </a:r>
          </a:p>
        </p:txBody>
      </p:sp>
      <p:sp>
        <p:nvSpPr>
          <p:cNvPr id="5" name="statement">
            <a:extLst xmlns:a="http://schemas.openxmlformats.org/drawingml/2006/main">
              <a:ext uri="{FF2B5EF4-FFF2-40B4-BE49-F238E27FC236}">
                <a16:creationId xmlns:a16="http://schemas.microsoft.com/office/drawing/2014/main" id="{69D9AA77-1B9F-4213-89DE-C48CBFFB2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809750"/>
            <a:ext cx="72390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06142E"/>
                </a:solidFill>
              </a:defRPr>
            </a:pPr>
            <a:r>
              <a:rPr sz="3600" b="1">
                <a:solidFill>
                  <a:srgbClr val="06142E"/>
                </a:solidFill>
              </a:rPr>
              <a:t>Core 1.12</a:t>
            </a:r>
          </a:p>
          <a:p xmlns:a="http://schemas.openxmlformats.org/drawingml/2006/main">
            <a:pPr>
              <a:defRPr sz="3600" b="1">
                <a:solidFill>
                  <a:srgbClr val="06142E"/>
                </a:solidFill>
              </a:defRPr>
            </a:pPr>
            <a:r>
              <a:rPr sz="3600" b="1">
                <a:solidFill>
                  <a:srgbClr val="06142E"/>
                </a:solidFill>
              </a:rPr>
              <a:t>+ DuckDB</a:t>
            </a:r>
          </a:p>
          <a:p xmlns:a="http://schemas.openxmlformats.org/drawingml/2006/main">
            <a:pPr>
              <a:defRPr sz="3600" b="1">
                <a:solidFill>
                  <a:srgbClr val="06142E"/>
                </a:solidFill>
              </a:defRPr>
            </a:pPr>
            <a:r>
              <a:rPr sz="3600" b="1">
                <a:solidFill>
                  <a:srgbClr val="06142E"/>
                </a:solidFill>
              </a:rPr>
              <a:t>+ versões fixadas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BA493F2-459F-4B79-AE3B-6C92812AA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1809750"/>
            <a:ext cx="114300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C5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support">
            <a:extLst xmlns:a="http://schemas.openxmlformats.org/drawingml/2006/main">
              <a:ext uri="{FF2B5EF4-FFF2-40B4-BE49-F238E27FC236}">
                <a16:creationId xmlns:a16="http://schemas.microsoft.com/office/drawing/2014/main" id="{1985CAD8-393E-461A-9F14-94F07ECF2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2095500"/>
            <a:ext cx="238125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52657F"/>
                </a:solidFill>
              </a:defRPr>
            </a:pPr>
            <a:r>
              <a:rPr sz="1800">
                <a:solidFill>
                  <a:srgbClr val="52657F"/>
                </a:solidFill>
              </a:rPr>
              <a:t>Beta e preview entram apenas no Radar, sem comando obrigatório.</a:t>
            </a:r>
          </a:p>
        </p:txBody>
      </p:sp>
    </p:spTree>
    <p:extLst>
      <p:ext uri="{BB962C8B-B14F-4D97-AF65-F5344CB8AC3E}">
        <p14:creationId xmlns:p14="http://schemas.microsoft.com/office/powerpoint/2010/main" val="145658376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4F9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ED4668A-D368-4FC7-97AD-F2C201810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C5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6CA72D17-01EC-4F44-81F5-6D1A21A92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"/>
            <a:ext cx="3905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1565C0"/>
                </a:solidFill>
              </a:defRPr>
            </a:pPr>
            <a:r>
              <a:rPr sz="1125" b="1">
                <a:solidFill>
                  <a:srgbClr val="1565C0"/>
                </a:solidFill>
              </a:rPr>
              <a:t>ESTRUTURA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C999CA5B-7D47-4505-A7B4-5A6BC2B26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04850"/>
            <a:ext cx="10668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06142E"/>
                </a:solidFill>
              </a:defRPr>
            </a:pPr>
            <a:r>
              <a:rPr sz="3150" b="1">
                <a:solidFill>
                  <a:srgbClr val="06142E"/>
                </a:solidFill>
              </a:rPr>
              <a:t>Organização reduz decisões futuras</a:t>
            </a:r>
          </a:p>
        </p:txBody>
      </p:sp>
      <p:sp>
        <p:nvSpPr>
          <p:cNvPr id="4" name="footer">
            <a:extLst xmlns:a="http://schemas.openxmlformats.org/drawingml/2006/main">
              <a:ext uri="{FF2B5EF4-FFF2-40B4-BE49-F238E27FC236}">
                <a16:creationId xmlns:a16="http://schemas.microsoft.com/office/drawing/2014/main" id="{C17FA3D5-2680-4972-AEFB-A2F9C3E13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2657F"/>
                </a:solidFill>
              </a:defRPr>
            </a:pPr>
            <a:r>
              <a:rPr sz="900">
                <a:solidFill>
                  <a:srgbClr val="52657F"/>
                </a:solidFill>
              </a:rPr>
              <a:t>RESCUE POINT  •  CURSO INDEPENDENTE  •  07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FE31538-107D-4C52-9C7A-0A2049143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905000"/>
            <a:ext cx="666750" cy="666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</a:defRPr>
            </a:pPr>
            <a:r>
              <a:rPr sz="255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step-title-1">
            <a:extLst xmlns:a="http://schemas.openxmlformats.org/drawingml/2006/main">
              <a:ext uri="{FF2B5EF4-FFF2-40B4-BE49-F238E27FC236}">
                <a16:creationId xmlns:a16="http://schemas.microsoft.com/office/drawing/2014/main" id="{C1F52E8F-455E-47AA-85C9-EA2D2A838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857500"/>
            <a:ext cx="2857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6142E"/>
                </a:solidFill>
              </a:defRPr>
            </a:pPr>
            <a:r>
              <a:rPr sz="2025" b="1">
                <a:solidFill>
                  <a:srgbClr val="06142E"/>
                </a:solidFill>
              </a:rPr>
              <a:t>Staging</a:t>
            </a:r>
          </a:p>
        </p:txBody>
      </p:sp>
      <p:sp>
        <p:nvSpPr>
          <p:cNvPr id="7" name="step-body-1">
            <a:extLst xmlns:a="http://schemas.openxmlformats.org/drawingml/2006/main">
              <a:ext uri="{FF2B5EF4-FFF2-40B4-BE49-F238E27FC236}">
                <a16:creationId xmlns:a16="http://schemas.microsoft.com/office/drawing/2014/main" id="{02DAF78C-D153-48BC-ABB0-B83543B41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524250"/>
            <a:ext cx="28575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52657F"/>
                </a:solidFill>
              </a:defRPr>
            </a:pPr>
            <a:r>
              <a:rPr sz="1650">
                <a:solidFill>
                  <a:srgbClr val="52657F"/>
                </a:solidFill>
              </a:rPr>
              <a:t>Uma fonte por modelo</a:t>
            </a:r>
          </a:p>
          <a:p xmlns:a="http://schemas.openxmlformats.org/drawingml/2006/main">
            <a:pPr>
              <a:defRPr sz="1650">
                <a:solidFill>
                  <a:srgbClr val="52657F"/>
                </a:solidFill>
              </a:defRPr>
            </a:pPr>
            <a:r>
              <a:rPr sz="1650">
                <a:solidFill>
                  <a:srgbClr val="52657F"/>
                </a:solidFill>
              </a:rPr>
              <a:t>Renomear e tipar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A845E6E-CB6D-4E1F-A706-A65D9E46E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905000"/>
            <a:ext cx="666750" cy="666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</a:defRPr>
            </a:pPr>
            <a:r>
              <a:rPr sz="255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9" name="step-title-2">
            <a:extLst xmlns:a="http://schemas.openxmlformats.org/drawingml/2006/main">
              <a:ext uri="{FF2B5EF4-FFF2-40B4-BE49-F238E27FC236}">
                <a16:creationId xmlns:a16="http://schemas.microsoft.com/office/drawing/2014/main" id="{4A7DA0EC-C5DE-4862-A1CB-D576EE0D2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857500"/>
            <a:ext cx="2857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6142E"/>
                </a:solidFill>
              </a:defRPr>
            </a:pPr>
            <a:r>
              <a:rPr sz="2025" b="1">
                <a:solidFill>
                  <a:srgbClr val="06142E"/>
                </a:solidFill>
              </a:rPr>
              <a:t>Intermediate</a:t>
            </a:r>
          </a:p>
        </p:txBody>
      </p:sp>
      <p:sp>
        <p:nvSpPr>
          <p:cNvPr id="10" name="step-body-2">
            <a:extLst xmlns:a="http://schemas.openxmlformats.org/drawingml/2006/main">
              <a:ext uri="{FF2B5EF4-FFF2-40B4-BE49-F238E27FC236}">
                <a16:creationId xmlns:a16="http://schemas.microsoft.com/office/drawing/2014/main" id="{F45977B5-0915-431F-923C-8C8E42C8E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524250"/>
            <a:ext cx="28575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52657F"/>
                </a:solidFill>
              </a:defRPr>
            </a:pPr>
            <a:r>
              <a:rPr sz="1650">
                <a:solidFill>
                  <a:srgbClr val="52657F"/>
                </a:solidFill>
              </a:rPr>
              <a:t>Regras reutilizáveis</a:t>
            </a:r>
          </a:p>
          <a:p xmlns:a="http://schemas.openxmlformats.org/drawingml/2006/main">
            <a:pPr>
              <a:defRPr sz="1650">
                <a:solidFill>
                  <a:srgbClr val="52657F"/>
                </a:solidFill>
              </a:defRPr>
            </a:pPr>
            <a:r>
              <a:rPr sz="1650">
                <a:solidFill>
                  <a:srgbClr val="52657F"/>
                </a:solidFill>
              </a:rPr>
              <a:t>Sem consumo direto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0576E03-14F4-4CBF-BE6D-EB281FD4B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905000"/>
            <a:ext cx="666750" cy="666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C5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</a:defRPr>
            </a:pPr>
            <a:r>
              <a:rPr sz="255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2" name="step-title-3">
            <a:extLst xmlns:a="http://schemas.openxmlformats.org/drawingml/2006/main">
              <a:ext uri="{FF2B5EF4-FFF2-40B4-BE49-F238E27FC236}">
                <a16:creationId xmlns:a16="http://schemas.microsoft.com/office/drawing/2014/main" id="{40578D26-9512-483E-B3DA-B74D4B9EE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857500"/>
            <a:ext cx="2857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6142E"/>
                </a:solidFill>
              </a:defRPr>
            </a:pPr>
            <a:r>
              <a:rPr sz="2025" b="1">
                <a:solidFill>
                  <a:srgbClr val="06142E"/>
                </a:solidFill>
              </a:rPr>
              <a:t>Marts/Gold</a:t>
            </a:r>
          </a:p>
        </p:txBody>
      </p:sp>
      <p:sp>
        <p:nvSpPr>
          <p:cNvPr id="13" name="step-body-3">
            <a:extLst xmlns:a="http://schemas.openxmlformats.org/drawingml/2006/main">
              <a:ext uri="{FF2B5EF4-FFF2-40B4-BE49-F238E27FC236}">
                <a16:creationId xmlns:a16="http://schemas.microsoft.com/office/drawing/2014/main" id="{06061CDA-5F0C-4A5F-8746-24928AF81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524250"/>
            <a:ext cx="28575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52657F"/>
                </a:solidFill>
              </a:defRPr>
            </a:pPr>
            <a:r>
              <a:rPr sz="1650">
                <a:solidFill>
                  <a:srgbClr val="52657F"/>
                </a:solidFill>
              </a:rPr>
              <a:t>Grão e regra de negócio</a:t>
            </a:r>
          </a:p>
          <a:p xmlns:a="http://schemas.openxmlformats.org/drawingml/2006/main">
            <a:pPr>
              <a:defRPr sz="1650">
                <a:solidFill>
                  <a:srgbClr val="52657F"/>
                </a:solidFill>
              </a:defRPr>
            </a:pPr>
            <a:r>
              <a:rPr sz="1650">
                <a:solidFill>
                  <a:srgbClr val="52657F"/>
                </a:solidFill>
              </a:rPr>
              <a:t>Interface de consumo</a:t>
            </a:r>
          </a:p>
        </p:txBody>
      </p:sp>
    </p:spTree>
    <p:extLst>
      <p:ext uri="{BB962C8B-B14F-4D97-AF65-F5344CB8AC3E}">
        <p14:creationId xmlns:p14="http://schemas.microsoft.com/office/powerpoint/2010/main" val="35002688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4F9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475E961-2EA2-46A8-9870-EB43C488C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C5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8D29EFF7-CC98-41D2-B459-27F0B786B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"/>
            <a:ext cx="3905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1565C0"/>
                </a:solidFill>
              </a:defRPr>
            </a:pPr>
            <a:r>
              <a:rPr sz="1125" b="1">
                <a:solidFill>
                  <a:srgbClr val="1565C0"/>
                </a:solidFill>
              </a:rPr>
              <a:t>CICLO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BA3617B5-BC20-4380-BCEF-8339258DE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04850"/>
            <a:ext cx="10668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06142E"/>
                </a:solidFill>
              </a:defRPr>
            </a:pPr>
            <a:r>
              <a:rPr sz="3150" b="1">
                <a:solidFill>
                  <a:srgbClr val="06142E"/>
                </a:solidFill>
              </a:rPr>
              <a:t>Cinco passos deixam rastros verificáveis</a:t>
            </a:r>
          </a:p>
        </p:txBody>
      </p:sp>
      <p:sp>
        <p:nvSpPr>
          <p:cNvPr id="4" name="footer">
            <a:extLst xmlns:a="http://schemas.openxmlformats.org/drawingml/2006/main">
              <a:ext uri="{FF2B5EF4-FFF2-40B4-BE49-F238E27FC236}">
                <a16:creationId xmlns:a16="http://schemas.microsoft.com/office/drawing/2014/main" id="{B8A1EB93-19BC-4F48-9D79-20AB54759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2657F"/>
                </a:solidFill>
              </a:defRPr>
            </a:pPr>
            <a:r>
              <a:rPr sz="900">
                <a:solidFill>
                  <a:srgbClr val="52657F"/>
                </a:solidFill>
              </a:rPr>
              <a:t>RESCUE POINT  •  CURSO INDEPENDENTE  •  08</a:t>
            </a:r>
          </a:p>
        </p:txBody>
      </p:sp>
      <p:sp>
        <p:nvSpPr>
          <p:cNvPr id="5" name="node-1">
            <a:extLst xmlns:a="http://schemas.openxmlformats.org/drawingml/2006/main">
              <a:ext uri="{FF2B5EF4-FFF2-40B4-BE49-F238E27FC236}">
                <a16:creationId xmlns:a16="http://schemas.microsoft.com/office/drawing/2014/main" id="{7FEA055E-63A6-424F-9102-B9E0DCEFE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2619375"/>
            <a:ext cx="1809750" cy="1190625"/>
          </a:xfrm>
          <a:prstGeom xmlns:a="http://schemas.openxmlformats.org/drawingml/2006/main" prst="roundRect">
            <a:avLst>
              <a:gd name="adj" fmla="val 96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565C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0213D"/>
                </a:solidFill>
              </a:defRPr>
            </a:pPr>
            <a:r>
              <a:rPr sz="1650" b="1">
                <a:solidFill>
                  <a:srgbClr val="10213D"/>
                </a:solidFill>
              </a:rPr>
              <a:t>seed</a:t>
            </a:r>
          </a:p>
        </p:txBody>
      </p:sp>
      <p:sp>
        <p:nvSpPr>
          <p:cNvPr id="6" name="node-2">
            <a:extLst xmlns:a="http://schemas.openxmlformats.org/drawingml/2006/main">
              <a:ext uri="{FF2B5EF4-FFF2-40B4-BE49-F238E27FC236}">
                <a16:creationId xmlns:a16="http://schemas.microsoft.com/office/drawing/2014/main" id="{4F47F432-F996-422C-A856-F9B3ED6EF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8475" y="2619375"/>
            <a:ext cx="1809750" cy="1190625"/>
          </a:xfrm>
          <a:prstGeom xmlns:a="http://schemas.openxmlformats.org/drawingml/2006/main" prst="roundRect">
            <a:avLst>
              <a:gd name="adj" fmla="val 96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565C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0213D"/>
                </a:solidFill>
              </a:defRPr>
            </a:pPr>
            <a:r>
              <a:rPr sz="1650" b="1">
                <a:solidFill>
                  <a:srgbClr val="10213D"/>
                </a:solidFill>
              </a:rPr>
              <a:t>parse</a:t>
            </a:r>
          </a:p>
        </p:txBody>
      </p:sp>
      <p:sp>
        <p:nvSpPr>
          <p:cNvPr id="7" name="node-3">
            <a:extLst xmlns:a="http://schemas.openxmlformats.org/drawingml/2006/main">
              <a:ext uri="{FF2B5EF4-FFF2-40B4-BE49-F238E27FC236}">
                <a16:creationId xmlns:a16="http://schemas.microsoft.com/office/drawing/2014/main" id="{2406F1EF-7B18-4218-842C-9ABE4D898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619375"/>
            <a:ext cx="1809750" cy="1190625"/>
          </a:xfrm>
          <a:prstGeom xmlns:a="http://schemas.openxmlformats.org/drawingml/2006/main" prst="roundRect">
            <a:avLst>
              <a:gd name="adj" fmla="val 96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565C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0213D"/>
                </a:solidFill>
              </a:defRPr>
            </a:pPr>
            <a:r>
              <a:rPr sz="1650" b="1">
                <a:solidFill>
                  <a:srgbClr val="10213D"/>
                </a:solidFill>
              </a:rPr>
              <a:t>build</a:t>
            </a:r>
          </a:p>
        </p:txBody>
      </p:sp>
      <p:sp>
        <p:nvSpPr>
          <p:cNvPr id="8" name="node-4">
            <a:extLst xmlns:a="http://schemas.openxmlformats.org/drawingml/2006/main">
              <a:ext uri="{FF2B5EF4-FFF2-40B4-BE49-F238E27FC236}">
                <a16:creationId xmlns:a16="http://schemas.microsoft.com/office/drawing/2014/main" id="{12568582-123E-4072-945C-827D38B81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43775" y="2619375"/>
            <a:ext cx="1809750" cy="1190625"/>
          </a:xfrm>
          <a:prstGeom xmlns:a="http://schemas.openxmlformats.org/drawingml/2006/main" prst="roundRect">
            <a:avLst>
              <a:gd name="adj" fmla="val 96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565C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0213D"/>
                </a:solidFill>
              </a:defRPr>
            </a:pPr>
            <a:r>
              <a:rPr sz="1650" b="1">
                <a:solidFill>
                  <a:srgbClr val="10213D"/>
                </a:solidFill>
              </a:rPr>
              <a:t>docs</a:t>
            </a:r>
          </a:p>
        </p:txBody>
      </p:sp>
      <p:sp>
        <p:nvSpPr>
          <p:cNvPr id="9" name="node-5">
            <a:extLst xmlns:a="http://schemas.openxmlformats.org/drawingml/2006/main">
              <a:ext uri="{FF2B5EF4-FFF2-40B4-BE49-F238E27FC236}">
                <a16:creationId xmlns:a16="http://schemas.microsoft.com/office/drawing/2014/main" id="{3DFF96C7-AEF1-46CB-B4B3-DB3028107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96425" y="2619375"/>
            <a:ext cx="1809750" cy="1190625"/>
          </a:xfrm>
          <a:prstGeom xmlns:a="http://schemas.openxmlformats.org/drawingml/2006/main" prst="roundRect">
            <a:avLst>
              <a:gd name="adj" fmla="val 9600"/>
            </a:avLst>
          </a:prstGeom>
          <a:solidFill xmlns:a="http://schemas.openxmlformats.org/drawingml/2006/main">
            <a:srgbClr val="06142E"/>
          </a:solidFill>
          <a:ln xmlns:a="http://schemas.openxmlformats.org/drawingml/2006/main" w="19050">
            <a:solidFill>
              <a:srgbClr val="06142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artifacts</a:t>
            </a:r>
          </a:p>
        </p:txBody>
      </p:sp>
      <p:cxnSp>
        <p:nvCxnSpPr>
          <p:cNvPr id="24" name=""/>
          <p:cNvCxnSpPr>
            <a:stCxn xmlns:a="http://schemas.openxmlformats.org/drawingml/2006/main" id="5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2695575" y="3214688"/>
            <a:ext cx="342900" cy="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1EC5FF"/>
            </a:solidFill>
            <a:prstDash val="solid"/>
            <a:tailEnd type="arrow" w="med" len="med"/>
          </a:ln>
        </p:spPr>
      </p:cxnSp>
      <p:cxnSp>
        <p:nvCxnSpPr>
          <p:cNvPr id="25" name=""/>
          <p:cNvCxnSpPr>
            <a:stCxn xmlns:a="http://schemas.openxmlformats.org/drawingml/2006/main" id="6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4848225" y="3214688"/>
            <a:ext cx="342900" cy="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1EC5FF"/>
            </a:solidFill>
            <a:prstDash val="solid"/>
            <a:tailEnd type="arrow" w="med" len="med"/>
          </a:ln>
        </p:spPr>
      </p:cxnSp>
      <p:cxnSp>
        <p:nvCxnSpPr>
          <p:cNvPr id="26" name=""/>
          <p:cNvCxnSpPr>
            <a:stCxn xmlns:a="http://schemas.openxmlformats.org/drawingml/2006/main" id="7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7000875" y="3214688"/>
            <a:ext cx="342900" cy="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1EC5FF"/>
            </a:solidFill>
            <a:prstDash val="solid"/>
            <a:tailEnd type="arrow" w="med" len="med"/>
          </a:ln>
        </p:spPr>
      </p:cxnSp>
      <p:cxnSp>
        <p:nvCxnSpPr>
          <p:cNvPr id="27" name=""/>
          <p:cNvCxnSpPr>
            <a:stCxn xmlns:a="http://schemas.openxmlformats.org/drawingml/2006/main" id="8" idx="3"/>
            <a:endCxn xmlns:a="http://schemas.openxmlformats.org/drawingml/2006/main" id="9" idx="1"/>
          </p:cNvCxnSpPr>
          <p:nvPr/>
        </p:nvCxnSpPr>
        <p:spPr>
          <a:xfrm xmlns:a="http://schemas.openxmlformats.org/drawingml/2006/main">
            <a:off x="9153525" y="3214688"/>
            <a:ext cx="342900" cy="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1EC5FF"/>
            </a:solidFill>
            <a:prstDash val="solid"/>
            <a:tailEnd type="arrow" w="med" len="med"/>
          </a:ln>
        </p:spPr>
      </p:cxnSp>
      <p:sp>
        <p:nvSpPr>
          <p:cNvPr id="14" name="caption">
            <a:extLst xmlns:a="http://schemas.openxmlformats.org/drawingml/2006/main">
              <a:ext uri="{FF2B5EF4-FFF2-40B4-BE49-F238E27FC236}">
                <a16:creationId xmlns:a16="http://schemas.microsoft.com/office/drawing/2014/main" id="{5E500107-6DDD-4CCC-9456-73B4B32AF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524375"/>
            <a:ext cx="9144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>
                <a:solidFill>
                  <a:srgbClr val="52657F"/>
                </a:solidFill>
              </a:defRPr>
            </a:pPr>
            <a:r>
              <a:rPr sz="1875">
                <a:solidFill>
                  <a:srgbClr val="52657F"/>
                </a:solidFill>
              </a:rPr>
              <a:t>O terminal termina; a evidência permanece em JSON.</a:t>
            </a:r>
          </a:p>
        </p:txBody>
      </p:sp>
    </p:spTree>
    <p:extLst>
      <p:ext uri="{BB962C8B-B14F-4D97-AF65-F5344CB8AC3E}">
        <p14:creationId xmlns:p14="http://schemas.microsoft.com/office/powerpoint/2010/main" val="1403168290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4F9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195274D-7445-4A19-8D72-1D5AC3153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C5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A4498C06-8039-4B58-A1C8-21BBEE55B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"/>
            <a:ext cx="3905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1565C0"/>
                </a:solidFill>
              </a:defRPr>
            </a:pPr>
            <a:r>
              <a:rPr sz="1125" b="1">
                <a:solidFill>
                  <a:srgbClr val="1565C0"/>
                </a:solidFill>
              </a:rPr>
              <a:t>DAG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9C5CD8FB-A4ED-4B24-B8EB-1FEA62905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04850"/>
            <a:ext cx="10668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06142E"/>
                </a:solidFill>
              </a:defRPr>
            </a:pPr>
            <a:r>
              <a:rPr sz="3150" b="1">
                <a:solidFill>
                  <a:srgbClr val="06142E"/>
                </a:solidFill>
              </a:rPr>
              <a:t>ref transforma arquivos SQL em um grafo</a:t>
            </a:r>
          </a:p>
        </p:txBody>
      </p:sp>
      <p:sp>
        <p:nvSpPr>
          <p:cNvPr id="4" name="footer">
            <a:extLst xmlns:a="http://schemas.openxmlformats.org/drawingml/2006/main">
              <a:ext uri="{FF2B5EF4-FFF2-40B4-BE49-F238E27FC236}">
                <a16:creationId xmlns:a16="http://schemas.microsoft.com/office/drawing/2014/main" id="{0DD5C149-0312-4A50-8EA5-7853606BF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2657F"/>
                </a:solidFill>
              </a:defRPr>
            </a:pPr>
            <a:r>
              <a:rPr sz="900">
                <a:solidFill>
                  <a:srgbClr val="52657F"/>
                </a:solidFill>
              </a:rPr>
              <a:t>RESCUE POINT  •  CURSO INDEPENDENTE  •  09</a:t>
            </a:r>
          </a:p>
        </p:txBody>
      </p:sp>
      <p:sp>
        <p:nvSpPr>
          <p:cNvPr id="5" name="node-1">
            <a:extLst xmlns:a="http://schemas.openxmlformats.org/drawingml/2006/main">
              <a:ext uri="{FF2B5EF4-FFF2-40B4-BE49-F238E27FC236}">
                <a16:creationId xmlns:a16="http://schemas.microsoft.com/office/drawing/2014/main" id="{C49AAA96-D5BE-4617-A193-7B447FC95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8" y="2619375"/>
            <a:ext cx="2190750" cy="1190625"/>
          </a:xfrm>
          <a:prstGeom xmlns:a="http://schemas.openxmlformats.org/drawingml/2006/main" prst="roundRect">
            <a:avLst>
              <a:gd name="adj" fmla="val 96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565C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0213D"/>
                </a:solidFill>
              </a:defRPr>
            </a:pPr>
            <a:r>
              <a:rPr sz="1650" b="1">
                <a:solidFill>
                  <a:srgbClr val="10213D"/>
                </a:solidFill>
              </a:rPr>
              <a:t>source</a:t>
            </a:r>
          </a:p>
        </p:txBody>
      </p:sp>
      <p:sp>
        <p:nvSpPr>
          <p:cNvPr id="6" name="node-2">
            <a:extLst xmlns:a="http://schemas.openxmlformats.org/drawingml/2006/main">
              <a:ext uri="{FF2B5EF4-FFF2-40B4-BE49-F238E27FC236}">
                <a16:creationId xmlns:a16="http://schemas.microsoft.com/office/drawing/2014/main" id="{82A07A9D-CF47-4438-B10F-7E779B391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43313" y="2619375"/>
            <a:ext cx="2190750" cy="1190625"/>
          </a:xfrm>
          <a:prstGeom xmlns:a="http://schemas.openxmlformats.org/drawingml/2006/main" prst="roundRect">
            <a:avLst>
              <a:gd name="adj" fmla="val 96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565C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0213D"/>
                </a:solidFill>
              </a:defRPr>
            </a:pPr>
            <a:r>
              <a:rPr sz="1650" b="1">
                <a:solidFill>
                  <a:srgbClr val="10213D"/>
                </a:solidFill>
              </a:rPr>
              <a:t>orders_s</a:t>
            </a:r>
          </a:p>
        </p:txBody>
      </p:sp>
      <p:sp>
        <p:nvSpPr>
          <p:cNvPr id="7" name="node-3">
            <a:extLst xmlns:a="http://schemas.openxmlformats.org/drawingml/2006/main">
              <a:ext uri="{FF2B5EF4-FFF2-40B4-BE49-F238E27FC236}">
                <a16:creationId xmlns:a16="http://schemas.microsoft.com/office/drawing/2014/main" id="{015360C5-7BC1-4E55-B6C2-714943A83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7938" y="2619375"/>
            <a:ext cx="2190750" cy="1190625"/>
          </a:xfrm>
          <a:prstGeom xmlns:a="http://schemas.openxmlformats.org/drawingml/2006/main" prst="roundRect">
            <a:avLst>
              <a:gd name="adj" fmla="val 96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565C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0213D"/>
                </a:solidFill>
              </a:defRPr>
            </a:pPr>
            <a:r>
              <a:rPr sz="1650" b="1">
                <a:solidFill>
                  <a:srgbClr val="10213D"/>
                </a:solidFill>
              </a:rPr>
              <a:t>Gold</a:t>
            </a:r>
          </a:p>
        </p:txBody>
      </p:sp>
      <p:sp>
        <p:nvSpPr>
          <p:cNvPr id="8" name="node-4">
            <a:extLst xmlns:a="http://schemas.openxmlformats.org/drawingml/2006/main">
              <a:ext uri="{FF2B5EF4-FFF2-40B4-BE49-F238E27FC236}">
                <a16:creationId xmlns:a16="http://schemas.microsoft.com/office/drawing/2014/main" id="{8FCD377E-CE91-4939-A6EB-74521E51A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72563" y="2619375"/>
            <a:ext cx="2190750" cy="1190625"/>
          </a:xfrm>
          <a:prstGeom xmlns:a="http://schemas.openxmlformats.org/drawingml/2006/main" prst="roundRect">
            <a:avLst>
              <a:gd name="adj" fmla="val 9600"/>
            </a:avLst>
          </a:prstGeom>
          <a:solidFill xmlns:a="http://schemas.openxmlformats.org/drawingml/2006/main">
            <a:srgbClr val="06142E"/>
          </a:solidFill>
          <a:ln xmlns:a="http://schemas.openxmlformats.org/drawingml/2006/main" w="19050">
            <a:solidFill>
              <a:srgbClr val="06142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consumer</a:t>
            </a:r>
          </a:p>
        </p:txBody>
      </p:sp>
      <p:cxnSp>
        <p:nvCxnSpPr>
          <p:cNvPr id="21" name=""/>
          <p:cNvCxnSpPr>
            <a:stCxn xmlns:a="http://schemas.openxmlformats.org/drawingml/2006/main" id="5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3119438" y="3214688"/>
            <a:ext cx="523875" cy="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1EC5FF"/>
            </a:solidFill>
            <a:prstDash val="solid"/>
            <a:tailEnd type="arrow" w="med" len="med"/>
          </a:ln>
        </p:spPr>
      </p:cxnSp>
      <p:cxnSp>
        <p:nvCxnSpPr>
          <p:cNvPr id="22" name=""/>
          <p:cNvCxnSpPr>
            <a:stCxn xmlns:a="http://schemas.openxmlformats.org/drawingml/2006/main" id="6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5834063" y="3214688"/>
            <a:ext cx="523875" cy="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1EC5FF"/>
            </a:solidFill>
            <a:prstDash val="solid"/>
            <a:tailEnd type="arrow" w="med" len="med"/>
          </a:ln>
        </p:spPr>
      </p:cxnSp>
      <p:cxnSp>
        <p:nvCxnSpPr>
          <p:cNvPr id="23" name=""/>
          <p:cNvCxnSpPr>
            <a:stCxn xmlns:a="http://schemas.openxmlformats.org/drawingml/2006/main" id="7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8548688" y="3214688"/>
            <a:ext cx="523875" cy="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1EC5FF"/>
            </a:solidFill>
            <a:prstDash val="solid"/>
            <a:tailEnd type="arrow" w="med" len="med"/>
          </a:ln>
        </p:spPr>
      </p:cxnSp>
      <p:sp>
        <p:nvSpPr>
          <p:cNvPr id="12" name="caption">
            <a:extLst xmlns:a="http://schemas.openxmlformats.org/drawingml/2006/main">
              <a:ext uri="{FF2B5EF4-FFF2-40B4-BE49-F238E27FC236}">
                <a16:creationId xmlns:a16="http://schemas.microsoft.com/office/drawing/2014/main" id="{84756C91-8F7E-42B1-9ECC-4B81DCFAA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524375"/>
            <a:ext cx="9144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>
                <a:solidFill>
                  <a:srgbClr val="52657F"/>
                </a:solidFill>
              </a:defRPr>
            </a:pPr>
            <a:r>
              <a:rPr sz="1875">
                <a:solidFill>
                  <a:srgbClr val="52657F"/>
                </a:solidFill>
              </a:rPr>
              <a:t>Dependência explícita habilita ordem, seleção e linhagem.</a:t>
            </a:r>
          </a:p>
        </p:txBody>
      </p:sp>
    </p:spTree>
    <p:extLst>
      <p:ext uri="{BB962C8B-B14F-4D97-AF65-F5344CB8AC3E}">
        <p14:creationId xmlns:p14="http://schemas.microsoft.com/office/powerpoint/2010/main" val="2017368189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4F9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73773EF-9FC2-4E4C-A326-011A188A6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C5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BDCC0A14-DFB5-4135-8D3A-9008845A8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"/>
            <a:ext cx="3905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1565C0"/>
                </a:solidFill>
              </a:defRPr>
            </a:pPr>
            <a:r>
              <a:rPr sz="1125" b="1">
                <a:solidFill>
                  <a:srgbClr val="1565C0"/>
                </a:solidFill>
              </a:rPr>
              <a:t>QUALIDADE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BA582C03-3A2E-4A08-8987-5C937D1F5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04850"/>
            <a:ext cx="10668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06142E"/>
                </a:solidFill>
              </a:defRPr>
            </a:pPr>
            <a:r>
              <a:rPr sz="3150" b="1">
                <a:solidFill>
                  <a:srgbClr val="06142E"/>
                </a:solidFill>
              </a:rPr>
              <a:t>Build verde e artifacts respondem perguntas diferentes</a:t>
            </a:r>
          </a:p>
        </p:txBody>
      </p:sp>
      <p:sp>
        <p:nvSpPr>
          <p:cNvPr id="4" name="footer">
            <a:extLst xmlns:a="http://schemas.openxmlformats.org/drawingml/2006/main">
              <a:ext uri="{FF2B5EF4-FFF2-40B4-BE49-F238E27FC236}">
                <a16:creationId xmlns:a16="http://schemas.microsoft.com/office/drawing/2014/main" id="{DA2FB023-24D5-48D9-91BF-5DAF3FE2A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2657F"/>
                </a:solidFill>
              </a:defRPr>
            </a:pPr>
            <a:r>
              <a:rPr sz="900">
                <a:solidFill>
                  <a:srgbClr val="52657F"/>
                </a:solidFill>
              </a:rPr>
              <a:t>RESCUE POINT  •  CURSO INDEPENDENTE  •  10</a:t>
            </a:r>
          </a:p>
        </p:txBody>
      </p:sp>
      <p:sp>
        <p:nvSpPr>
          <p:cNvPr id="5" name="left-heading">
            <a:extLst xmlns:a="http://schemas.openxmlformats.org/drawingml/2006/main">
              <a:ext uri="{FF2B5EF4-FFF2-40B4-BE49-F238E27FC236}">
                <a16:creationId xmlns:a16="http://schemas.microsoft.com/office/drawing/2014/main" id="{AD22969B-697C-4334-BA3C-D772D7E78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809750"/>
            <a:ext cx="4953000" cy="72390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06142E"/>
          </a:solidFill>
          <a:ln xmlns:a="http://schemas.openxmlformats.org/drawingml/2006/main" w="19050">
            <a:solidFill>
              <a:srgbClr val="06142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FFFFFF"/>
                </a:solidFill>
              </a:defRPr>
            </a:pPr>
            <a:r>
              <a:rPr sz="2100" b="1">
                <a:solidFill>
                  <a:srgbClr val="FFFFFF"/>
                </a:solidFill>
              </a:rPr>
              <a:t>Build</a:t>
            </a:r>
          </a:p>
        </p:txBody>
      </p:sp>
      <p:sp>
        <p:nvSpPr>
          <p:cNvPr id="6" name="right-heading">
            <a:extLst xmlns:a="http://schemas.openxmlformats.org/drawingml/2006/main">
              <a:ext uri="{FF2B5EF4-FFF2-40B4-BE49-F238E27FC236}">
                <a16:creationId xmlns:a16="http://schemas.microsoft.com/office/drawing/2014/main" id="{48B7B25C-417D-499A-B341-B3069117C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809750"/>
            <a:ext cx="4953000" cy="72390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1565C0"/>
          </a:solidFill>
          <a:ln xmlns:a="http://schemas.openxmlformats.org/drawingml/2006/main" w="19050">
            <a:solidFill>
              <a:srgbClr val="1565C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FFFFFF"/>
                </a:solidFill>
              </a:defRPr>
            </a:pPr>
            <a:r>
              <a:rPr sz="2100" b="1">
                <a:solidFill>
                  <a:srgbClr val="FFFFFF"/>
                </a:solidFill>
              </a:rPr>
              <a:t>Artifacts</a:t>
            </a:r>
          </a:p>
        </p:txBody>
      </p:sp>
      <p:sp>
        <p:nvSpPr>
          <p:cNvPr id="7" name="left-body">
            <a:extLst xmlns:a="http://schemas.openxmlformats.org/drawingml/2006/main">
              <a:ext uri="{FF2B5EF4-FFF2-40B4-BE49-F238E27FC236}">
                <a16:creationId xmlns:a16="http://schemas.microsoft.com/office/drawing/2014/main" id="{F26D7ABB-A7C4-41D7-95BA-9E3EF59B6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857500"/>
            <a:ext cx="4524375" cy="2667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10213D"/>
                </a:solidFill>
              </a:defRPr>
            </a:pPr>
            <a:r>
              <a:rPr sz="1800">
                <a:solidFill>
                  <a:srgbClr val="10213D"/>
                </a:solidFill>
              </a:rPr>
              <a:t>Executou modelos</a:t>
            </a:r>
          </a:p>
          <a:p xmlns:a="http://schemas.openxmlformats.org/drawingml/2006/main">
            <a:pPr>
              <a:defRPr sz="1800">
                <a:solidFill>
                  <a:srgbClr val="10213D"/>
                </a:solidFill>
              </a:defRPr>
            </a:pPr>
            <a:r>
              <a:rPr sz="1800">
                <a:solidFill>
                  <a:srgbClr val="10213D"/>
                </a:solidFill>
              </a:rPr>
              <a:t>Rodou testes</a:t>
            </a:r>
          </a:p>
          <a:p xmlns:a="http://schemas.openxmlformats.org/drawingml/2006/main">
            <a:pPr>
              <a:defRPr sz="1800">
                <a:solidFill>
                  <a:srgbClr val="10213D"/>
                </a:solidFill>
              </a:defRPr>
            </a:pPr>
            <a:r>
              <a:rPr sz="1800">
                <a:solidFill>
                  <a:srgbClr val="10213D"/>
                </a:solidFill>
              </a:rPr>
              <a:t>Respeitou contratos</a:t>
            </a:r>
          </a:p>
        </p:txBody>
      </p:sp>
      <p:sp>
        <p:nvSpPr>
          <p:cNvPr id="8" name="right-body">
            <a:extLst xmlns:a="http://schemas.openxmlformats.org/drawingml/2006/main">
              <a:ext uri="{FF2B5EF4-FFF2-40B4-BE49-F238E27FC236}">
                <a16:creationId xmlns:a16="http://schemas.microsoft.com/office/drawing/2014/main" id="{0E7F50AB-451F-44BE-B8BC-F53675DA5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2857500"/>
            <a:ext cx="4524375" cy="2667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10213D"/>
                </a:solidFill>
              </a:defRPr>
            </a:pPr>
            <a:r>
              <a:rPr sz="1800">
                <a:solidFill>
                  <a:srgbClr val="10213D"/>
                </a:solidFill>
              </a:rPr>
              <a:t>O que existe?</a:t>
            </a:r>
          </a:p>
          <a:p xmlns:a="http://schemas.openxmlformats.org/drawingml/2006/main">
            <a:pPr>
              <a:defRPr sz="1800">
                <a:solidFill>
                  <a:srgbClr val="10213D"/>
                </a:solidFill>
              </a:defRPr>
            </a:pPr>
            <a:r>
              <a:rPr sz="1800">
                <a:solidFill>
                  <a:srgbClr val="10213D"/>
                </a:solidFill>
              </a:rPr>
              <a:t>Quem depende?</a:t>
            </a:r>
          </a:p>
          <a:p xmlns:a="http://schemas.openxmlformats.org/drawingml/2006/main">
            <a:pPr>
              <a:defRPr sz="1800">
                <a:solidFill>
                  <a:srgbClr val="10213D"/>
                </a:solidFill>
              </a:defRPr>
            </a:pPr>
            <a:r>
              <a:rPr sz="1800">
                <a:solidFill>
                  <a:srgbClr val="10213D"/>
                </a:solidFill>
              </a:rPr>
              <a:t>O que mudou?</a:t>
            </a:r>
          </a:p>
          <a:p xmlns:a="http://schemas.openxmlformats.org/drawingml/2006/main">
            <a:pPr>
              <a:defRPr sz="1800">
                <a:solidFill>
                  <a:srgbClr val="10213D"/>
                </a:solidFill>
              </a:defRPr>
            </a:pPr>
            <a:r>
              <a:rPr sz="1800">
                <a:solidFill>
                  <a:srgbClr val="10213D"/>
                </a:solidFill>
              </a:rPr>
              <a:t>Quem consome?</a:t>
            </a:r>
          </a:p>
        </p:txBody>
      </p:sp>
    </p:spTree>
    <p:extLst>
      <p:ext uri="{BB962C8B-B14F-4D97-AF65-F5344CB8AC3E}">
        <p14:creationId xmlns:p14="http://schemas.microsoft.com/office/powerpoint/2010/main" val="357635453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4F9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0835E78-A5CB-484C-ABE9-21F9C5C5D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C5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9FFC95B2-7985-422D-8360-9BB2D1C51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"/>
            <a:ext cx="3905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1565C0"/>
                </a:solidFill>
              </a:defRPr>
            </a:pPr>
            <a:r>
              <a:rPr sz="1125" b="1">
                <a:solidFill>
                  <a:srgbClr val="1565C0"/>
                </a:solidFill>
              </a:rPr>
              <a:t>DEMONSTRAÇÃO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0B91BF3E-F431-4D43-909B-1C22230DD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04850"/>
            <a:ext cx="10668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06142E"/>
                </a:solidFill>
              </a:defRPr>
            </a:pPr>
            <a:r>
              <a:rPr sz="3150" b="1">
                <a:solidFill>
                  <a:srgbClr val="06142E"/>
                </a:solidFill>
              </a:rPr>
              <a:t>Um comando reconstrói o baseline</a:t>
            </a:r>
          </a:p>
        </p:txBody>
      </p:sp>
      <p:sp>
        <p:nvSpPr>
          <p:cNvPr id="4" name="footer">
            <a:extLst xmlns:a="http://schemas.openxmlformats.org/drawingml/2006/main">
              <a:ext uri="{FF2B5EF4-FFF2-40B4-BE49-F238E27FC236}">
                <a16:creationId xmlns:a16="http://schemas.microsoft.com/office/drawing/2014/main" id="{A3C15147-B2EF-4746-AB1B-6B31DB6E3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2657F"/>
                </a:solidFill>
              </a:defRPr>
            </a:pPr>
            <a:r>
              <a:rPr sz="900">
                <a:solidFill>
                  <a:srgbClr val="52657F"/>
                </a:solidFill>
              </a:rPr>
              <a:t>RESCUE POINT  •  CURSO INDEPENDENTE  •  11</a:t>
            </a:r>
          </a:p>
        </p:txBody>
      </p:sp>
      <p:sp>
        <p:nvSpPr>
          <p:cNvPr id="5" name="command">
            <a:extLst xmlns:a="http://schemas.openxmlformats.org/drawingml/2006/main">
              <a:ext uri="{FF2B5EF4-FFF2-40B4-BE49-F238E27FC236}">
                <a16:creationId xmlns:a16="http://schemas.microsoft.com/office/drawing/2014/main" id="{286571FB-338C-4BD1-90A6-5401F9C39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952625"/>
            <a:ext cx="10382250" cy="1190625"/>
          </a:xfrm>
          <a:prstGeom xmlns:a="http://schemas.openxmlformats.org/drawingml/2006/main" prst="roundRect">
            <a:avLst>
              <a:gd name="adj" fmla="val 9600"/>
            </a:avLst>
          </a:prstGeom>
          <a:solidFill xmlns:a="http://schemas.openxmlformats.org/drawingml/2006/main">
            <a:srgbClr val="06142E"/>
          </a:solidFill>
          <a:ln xmlns:a="http://schemas.openxmlformats.org/drawingml/2006/main" w="19050">
            <a:solidFill>
              <a:srgbClr val="06142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1EC5FF"/>
                </a:solidFill>
              </a:defRPr>
            </a:pPr>
            <a:r>
              <a:rPr sz="2250" b="1">
                <a:solidFill>
                  <a:srgbClr val="1EC5FF"/>
                </a:solidFill>
              </a:rPr>
              <a:t>python course.py checkpoint 01</a:t>
            </a:r>
          </a:p>
        </p:txBody>
      </p:sp>
      <p:sp>
        <p:nvSpPr>
          <p:cNvPr id="6" name="command-explanation">
            <a:extLst xmlns:a="http://schemas.openxmlformats.org/drawingml/2006/main">
              <a:ext uri="{FF2B5EF4-FFF2-40B4-BE49-F238E27FC236}">
                <a16:creationId xmlns:a16="http://schemas.microsoft.com/office/drawing/2014/main" id="{F3B67AB3-352E-4185-84CB-10821C835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667125"/>
            <a:ext cx="971550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025">
                <a:solidFill>
                  <a:srgbClr val="10213D"/>
                </a:solidFill>
              </a:defRPr>
            </a:pPr>
            <a:r>
              <a:rPr sz="2025">
                <a:solidFill>
                  <a:srgbClr val="10213D"/>
                </a:solidFill>
              </a:rPr>
              <a:t>Amostra Olist + Core 1.12 + DuckDB local</a:t>
            </a:r>
          </a:p>
          <a:p xmlns:a="http://schemas.openxmlformats.org/drawingml/2006/main">
            <a:pPr algn="ctr">
              <a:defRPr sz="2025">
                <a:solidFill>
                  <a:srgbClr val="10213D"/>
                </a:solidFill>
              </a:defRPr>
            </a:pPr>
            <a:r>
              <a:rPr sz="2025">
                <a:solidFill>
                  <a:srgbClr val="10213D"/>
                </a:solidFill>
              </a:rPr>
              <a:t>Sem Fusion, Platform ou Databricks.</a:t>
            </a:r>
          </a:p>
        </p:txBody>
      </p:sp>
    </p:spTree>
    <p:extLst>
      <p:ext uri="{BB962C8B-B14F-4D97-AF65-F5344CB8AC3E}">
        <p14:creationId xmlns:p14="http://schemas.microsoft.com/office/powerpoint/2010/main" val="312126207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4F9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19F169F-97DE-4775-B133-D71A759B9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C5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4472EE0F-56FE-4FFA-98ED-C49684FBB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"/>
            <a:ext cx="3905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1565C0"/>
                </a:solidFill>
              </a:defRPr>
            </a:pPr>
            <a:r>
              <a:rPr sz="1125" b="1">
                <a:solidFill>
                  <a:srgbClr val="1565C0"/>
                </a:solidFill>
              </a:rPr>
              <a:t>ACEITE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70D6DEAA-61AF-437F-9DAE-74ADE8413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04850"/>
            <a:ext cx="10668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06142E"/>
                </a:solidFill>
              </a:defRPr>
            </a:pPr>
            <a:r>
              <a:rPr sz="3150" b="1">
                <a:solidFill>
                  <a:srgbClr val="06142E"/>
                </a:solidFill>
              </a:rPr>
              <a:t>O resultado esperado é específico</a:t>
            </a:r>
          </a:p>
        </p:txBody>
      </p:sp>
      <p:sp>
        <p:nvSpPr>
          <p:cNvPr id="4" name="footer">
            <a:extLst xmlns:a="http://schemas.openxmlformats.org/drawingml/2006/main">
              <a:ext uri="{FF2B5EF4-FFF2-40B4-BE49-F238E27FC236}">
                <a16:creationId xmlns:a16="http://schemas.microsoft.com/office/drawing/2014/main" id="{E2811EF2-6AFD-4440-9537-49D74A989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2657F"/>
                </a:solidFill>
              </a:defRPr>
            </a:pPr>
            <a:r>
              <a:rPr sz="900">
                <a:solidFill>
                  <a:srgbClr val="52657F"/>
                </a:solidFill>
              </a:rPr>
              <a:t>RESCUE POINT  •  CURSO INDEPENDENTE  •  12</a:t>
            </a:r>
          </a:p>
        </p:txBody>
      </p:sp>
      <p:sp>
        <p:nvSpPr>
          <p:cNvPr id="5" name="statement">
            <a:extLst xmlns:a="http://schemas.openxmlformats.org/drawingml/2006/main">
              <a:ext uri="{FF2B5EF4-FFF2-40B4-BE49-F238E27FC236}">
                <a16:creationId xmlns:a16="http://schemas.microsoft.com/office/drawing/2014/main" id="{A0CA4061-285C-4498-86ED-0DF3D6315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809750"/>
            <a:ext cx="72390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06142E"/>
                </a:solidFill>
              </a:defRPr>
            </a:pPr>
            <a:r>
              <a:rPr sz="3600" b="1">
                <a:solidFill>
                  <a:srgbClr val="06142E"/>
                </a:solidFill>
              </a:rPr>
              <a:t>8 pedidos</a:t>
            </a:r>
          </a:p>
          <a:p xmlns:a="http://schemas.openxmlformats.org/drawingml/2006/main">
            <a:pPr>
              <a:defRPr sz="3600" b="1">
                <a:solidFill>
                  <a:srgbClr val="06142E"/>
                </a:solidFill>
              </a:defRPr>
            </a:pPr>
            <a:r>
              <a:rPr sz="3600" b="1">
                <a:solidFill>
                  <a:srgbClr val="06142E"/>
                </a:solidFill>
              </a:rPr>
              <a:t>740 bruto</a:t>
            </a:r>
          </a:p>
          <a:p xmlns:a="http://schemas.openxmlformats.org/drawingml/2006/main">
            <a:pPr>
              <a:defRPr sz="3600" b="1">
                <a:solidFill>
                  <a:srgbClr val="06142E"/>
                </a:solidFill>
              </a:defRPr>
            </a:pPr>
            <a:r>
              <a:rPr sz="3600" b="1">
                <a:solidFill>
                  <a:srgbClr val="06142E"/>
                </a:solidFill>
              </a:rPr>
              <a:t>630 entregue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5B68D20-07F2-40AB-AC52-8C89A7416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1809750"/>
            <a:ext cx="114300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C5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support">
            <a:extLst xmlns:a="http://schemas.openxmlformats.org/drawingml/2006/main">
              <a:ext uri="{FF2B5EF4-FFF2-40B4-BE49-F238E27FC236}">
                <a16:creationId xmlns:a16="http://schemas.microsoft.com/office/drawing/2014/main" id="{5A5DDE5D-3B76-479E-83AD-86D16D88D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2095500"/>
            <a:ext cx="238125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52657F"/>
                </a:solidFill>
              </a:defRPr>
            </a:pPr>
            <a:r>
              <a:rPr sz="1800">
                <a:solidFill>
                  <a:srgbClr val="52657F"/>
                </a:solidFill>
              </a:rPr>
              <a:t>E manifest, semantic manifest, OSI, run results e catálogo válidos.</a:t>
            </a:r>
          </a:p>
        </p:txBody>
      </p:sp>
    </p:spTree>
    <p:extLst>
      <p:ext uri="{BB962C8B-B14F-4D97-AF65-F5344CB8AC3E}">
        <p14:creationId xmlns:p14="http://schemas.microsoft.com/office/powerpoint/2010/main" val="666558016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4F9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0465878-F37A-430A-9ED9-79DCE3FC3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C5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501B0FF9-7B13-4E0B-8CDC-80FD7F12D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"/>
            <a:ext cx="3905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1565C0"/>
                </a:solidFill>
              </a:defRPr>
            </a:pPr>
            <a:r>
              <a:rPr sz="1125" b="1">
                <a:solidFill>
                  <a:srgbClr val="1565C0"/>
                </a:solidFill>
              </a:rPr>
              <a:t>DECISÃO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BB9EBDD2-77DF-4BD2-8D50-C57CE918A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04850"/>
            <a:ext cx="10668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06142E"/>
                </a:solidFill>
              </a:defRPr>
            </a:pPr>
            <a:r>
              <a:rPr sz="3150" b="1">
                <a:solidFill>
                  <a:srgbClr val="06142E"/>
                </a:solidFill>
              </a:rPr>
              <a:t>Novidade não substitui maturidade</a:t>
            </a:r>
          </a:p>
        </p:txBody>
      </p:sp>
      <p:sp>
        <p:nvSpPr>
          <p:cNvPr id="4" name="footer">
            <a:extLst xmlns:a="http://schemas.openxmlformats.org/drawingml/2006/main">
              <a:ext uri="{FF2B5EF4-FFF2-40B4-BE49-F238E27FC236}">
                <a16:creationId xmlns:a16="http://schemas.microsoft.com/office/drawing/2014/main" id="{68834CEA-59C1-40F3-B177-88D6F4A01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2657F"/>
                </a:solidFill>
              </a:defRPr>
            </a:pPr>
            <a:r>
              <a:rPr sz="900">
                <a:solidFill>
                  <a:srgbClr val="52657F"/>
                </a:solidFill>
              </a:rPr>
              <a:t>RESCUE POINT  •  CURSO INDEPENDENTE  •  13</a:t>
            </a:r>
          </a:p>
        </p:txBody>
      </p:sp>
      <p:sp>
        <p:nvSpPr>
          <p:cNvPr id="5" name="left-heading">
            <a:extLst xmlns:a="http://schemas.openxmlformats.org/drawingml/2006/main">
              <a:ext uri="{FF2B5EF4-FFF2-40B4-BE49-F238E27FC236}">
                <a16:creationId xmlns:a16="http://schemas.microsoft.com/office/drawing/2014/main" id="{74E3A8C2-7B07-4F28-98B9-F64B766D0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809750"/>
            <a:ext cx="4953000" cy="72390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06142E"/>
          </a:solidFill>
          <a:ln xmlns:a="http://schemas.openxmlformats.org/drawingml/2006/main" w="19050">
            <a:solidFill>
              <a:srgbClr val="06142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FFFFFF"/>
                </a:solidFill>
              </a:defRPr>
            </a:pPr>
            <a:r>
              <a:rPr sz="2100" b="1">
                <a:solidFill>
                  <a:srgbClr val="FFFFFF"/>
                </a:solidFill>
              </a:rPr>
              <a:t>Trilha principal</a:t>
            </a:r>
          </a:p>
        </p:txBody>
      </p:sp>
      <p:sp>
        <p:nvSpPr>
          <p:cNvPr id="6" name="right-heading">
            <a:extLst xmlns:a="http://schemas.openxmlformats.org/drawingml/2006/main">
              <a:ext uri="{FF2B5EF4-FFF2-40B4-BE49-F238E27FC236}">
                <a16:creationId xmlns:a16="http://schemas.microsoft.com/office/drawing/2014/main" id="{1A1C758E-135F-4983-9D55-C6104E643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809750"/>
            <a:ext cx="4953000" cy="72390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1565C0"/>
          </a:solidFill>
          <a:ln xmlns:a="http://schemas.openxmlformats.org/drawingml/2006/main" w="19050">
            <a:solidFill>
              <a:srgbClr val="1565C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FFFFFF"/>
                </a:solidFill>
              </a:defRPr>
            </a:pPr>
            <a:r>
              <a:rPr sz="2100" b="1">
                <a:solidFill>
                  <a:srgbClr val="FFFFFF"/>
                </a:solidFill>
              </a:rPr>
              <a:t>Radar</a:t>
            </a:r>
          </a:p>
        </p:txBody>
      </p:sp>
      <p:sp>
        <p:nvSpPr>
          <p:cNvPr id="7" name="left-body">
            <a:extLst xmlns:a="http://schemas.openxmlformats.org/drawingml/2006/main">
              <a:ext uri="{FF2B5EF4-FFF2-40B4-BE49-F238E27FC236}">
                <a16:creationId xmlns:a16="http://schemas.microsoft.com/office/drawing/2014/main" id="{58957420-9B09-4B97-B258-F99931556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857500"/>
            <a:ext cx="4524375" cy="2667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10213D"/>
                </a:solidFill>
              </a:defRPr>
            </a:pPr>
            <a:r>
              <a:rPr sz="1800">
                <a:solidFill>
                  <a:srgbClr val="10213D"/>
                </a:solidFill>
              </a:rPr>
              <a:t>Core 1.12 suportado</a:t>
            </a:r>
          </a:p>
          <a:p xmlns:a="http://schemas.openxmlformats.org/drawingml/2006/main">
            <a:pPr>
              <a:defRPr sz="1800">
                <a:solidFill>
                  <a:srgbClr val="10213D"/>
                </a:solidFill>
              </a:defRPr>
            </a:pPr>
            <a:r>
              <a:rPr sz="1800">
                <a:solidFill>
                  <a:srgbClr val="10213D"/>
                </a:solidFill>
              </a:rPr>
              <a:t>Adapter estável</a:t>
            </a:r>
          </a:p>
          <a:p xmlns:a="http://schemas.openxmlformats.org/drawingml/2006/main">
            <a:pPr>
              <a:defRPr sz="1800">
                <a:solidFill>
                  <a:srgbClr val="10213D"/>
                </a:solidFill>
              </a:defRPr>
            </a:pPr>
            <a:r>
              <a:rPr sz="1800">
                <a:solidFill>
                  <a:srgbClr val="10213D"/>
                </a:solidFill>
              </a:rPr>
              <a:t>CI determinística</a:t>
            </a:r>
          </a:p>
        </p:txBody>
      </p:sp>
      <p:sp>
        <p:nvSpPr>
          <p:cNvPr id="8" name="right-body">
            <a:extLst xmlns:a="http://schemas.openxmlformats.org/drawingml/2006/main">
              <a:ext uri="{FF2B5EF4-FFF2-40B4-BE49-F238E27FC236}">
                <a16:creationId xmlns:a16="http://schemas.microsoft.com/office/drawing/2014/main" id="{15907839-27A9-4E1B-B237-6372934B0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2857500"/>
            <a:ext cx="4524375" cy="2667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10213D"/>
                </a:solidFill>
              </a:defRPr>
            </a:pPr>
            <a:r>
              <a:rPr sz="1800">
                <a:solidFill>
                  <a:srgbClr val="10213D"/>
                </a:solidFill>
              </a:rPr>
              <a:t>Core 2.0 beta</a:t>
            </a:r>
          </a:p>
          <a:p xmlns:a="http://schemas.openxmlformats.org/drawingml/2006/main">
            <a:pPr>
              <a:defRPr sz="1800">
                <a:solidFill>
                  <a:srgbClr val="10213D"/>
                </a:solidFill>
              </a:defRPr>
            </a:pPr>
            <a:r>
              <a:rPr sz="1800">
                <a:solidFill>
                  <a:srgbClr val="10213D"/>
                </a:solidFill>
              </a:rPr>
              <a:t>Fusion por superfície</a:t>
            </a:r>
          </a:p>
          <a:p xmlns:a="http://schemas.openxmlformats.org/drawingml/2006/main">
            <a:pPr>
              <a:defRPr sz="1800">
                <a:solidFill>
                  <a:srgbClr val="10213D"/>
                </a:solidFill>
              </a:defRPr>
            </a:pPr>
            <a:r>
              <a:rPr sz="1800">
                <a:solidFill>
                  <a:srgbClr val="10213D"/>
                </a:solidFill>
              </a:rPr>
              <a:t>Sem benchmark obrigatório</a:t>
            </a:r>
          </a:p>
        </p:txBody>
      </p:sp>
    </p:spTree>
    <p:extLst>
      <p:ext uri="{BB962C8B-B14F-4D97-AF65-F5344CB8AC3E}">
        <p14:creationId xmlns:p14="http://schemas.microsoft.com/office/powerpoint/2010/main" val="782741302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4F9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CD47B89-8220-46E5-A4C1-C49517254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C5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CDD00651-0A34-4060-AD46-66DE6D96C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"/>
            <a:ext cx="3905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1565C0"/>
                </a:solidFill>
              </a:defRPr>
            </a:pPr>
            <a:r>
              <a:rPr sz="1125" b="1">
                <a:solidFill>
                  <a:srgbClr val="1565C0"/>
                </a:solidFill>
              </a:rPr>
              <a:t>PRÓXIMO PASSO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AED43CE2-E69C-4402-80C4-5DDD7A50F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04850"/>
            <a:ext cx="10668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06142E"/>
                </a:solidFill>
              </a:defRPr>
            </a:pPr>
            <a:r>
              <a:rPr sz="3150" b="1">
                <a:solidFill>
                  <a:srgbClr val="06142E"/>
                </a:solidFill>
              </a:rPr>
              <a:t>A temporada começa onde a série antiga parou</a:t>
            </a:r>
          </a:p>
        </p:txBody>
      </p:sp>
      <p:sp>
        <p:nvSpPr>
          <p:cNvPr id="4" name="footer">
            <a:extLst xmlns:a="http://schemas.openxmlformats.org/drawingml/2006/main">
              <a:ext uri="{FF2B5EF4-FFF2-40B4-BE49-F238E27FC236}">
                <a16:creationId xmlns:a16="http://schemas.microsoft.com/office/drawing/2014/main" id="{7A2B5F63-F642-468E-AA35-B209AAD3D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2657F"/>
                </a:solidFill>
              </a:defRPr>
            </a:pPr>
            <a:r>
              <a:rPr sz="900">
                <a:solidFill>
                  <a:srgbClr val="52657F"/>
                </a:solidFill>
              </a:rPr>
              <a:t>RESCUE POINT  •  CURSO INDEPENDENTE  •  14</a:t>
            </a:r>
          </a:p>
        </p:txBody>
      </p:sp>
      <p:sp>
        <p:nvSpPr>
          <p:cNvPr id="5" name="statement">
            <a:extLst xmlns:a="http://schemas.openxmlformats.org/drawingml/2006/main">
              <a:ext uri="{FF2B5EF4-FFF2-40B4-BE49-F238E27FC236}">
                <a16:creationId xmlns:a16="http://schemas.microsoft.com/office/drawing/2014/main" id="{B5FAA92A-E42A-420A-BFFD-244E00A06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809750"/>
            <a:ext cx="72390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06142E"/>
                </a:solidFill>
              </a:defRPr>
            </a:pPr>
            <a:r>
              <a:rPr sz="3600" b="1">
                <a:solidFill>
                  <a:srgbClr val="06142E"/>
                </a:solidFill>
              </a:rPr>
              <a:t>Checkpoint 01 OK</a:t>
            </a:r>
          </a:p>
          <a:p xmlns:a="http://schemas.openxmlformats.org/drawingml/2006/main">
            <a:pPr>
              <a:defRPr sz="3600" b="1">
                <a:solidFill>
                  <a:srgbClr val="06142E"/>
                </a:solidFill>
              </a:defRPr>
            </a:pPr>
            <a:r>
              <a:rPr sz="3600" b="1">
                <a:solidFill>
                  <a:srgbClr val="06142E"/>
                </a:solidFill>
              </a:rPr>
              <a:t>→ Gold com grão explícito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E37B893-BB09-4A33-844D-65717E896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1809750"/>
            <a:ext cx="114300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C5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support">
            <a:extLst xmlns:a="http://schemas.openxmlformats.org/drawingml/2006/main">
              <a:ext uri="{FF2B5EF4-FFF2-40B4-BE49-F238E27FC236}">
                <a16:creationId xmlns:a16="http://schemas.microsoft.com/office/drawing/2014/main" id="{E0ABC162-DD77-4DE0-BEF6-C9951E5B4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2095500"/>
            <a:ext cx="238125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52657F"/>
                </a:solidFill>
              </a:defRPr>
            </a:pPr>
            <a:r>
              <a:rPr sz="1800">
                <a:solidFill>
                  <a:srgbClr val="52657F"/>
                </a:solidFill>
              </a:rPr>
              <a:t>No episódio 2: por que tabela Gold não é camada semântica.</a:t>
            </a:r>
          </a:p>
        </p:txBody>
      </p:sp>
    </p:spTree>
    <p:extLst>
      <p:ext uri="{BB962C8B-B14F-4D97-AF65-F5344CB8AC3E}">
        <p14:creationId xmlns:p14="http://schemas.microsoft.com/office/powerpoint/2010/main" val="117036636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2026-09-01T22:27:11.4110000Z</dcterms:created>
  <dcterms:modified xsi:type="dcterms:W3CDTF">2026-09-01T22:27:11.4110000Z</dcterms:modified>
</coreProperties>
</file>