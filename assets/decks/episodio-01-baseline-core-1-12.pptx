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Masters/slideMaster2.xml" ContentType="application/vnd.openxmlformats-officedocument.presentationml.slideMaster+xml"/>
  <Override PartName="/ppt/slideMasters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4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bdf316230c14f2d" /><Relationship Type="http://schemas.openxmlformats.org/officeDocument/2006/relationships/extended-properties" Target="/docProps/app.xml" Id="R0705d3bca3a44722" /><Relationship Type="http://schemas.openxmlformats.org/officeDocument/2006/relationships/officeDocument" Target="/ppt/presentation.xml" Id="R479041705428419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a7f1f686d184949"/>
    <p:sldMasterId xmlns:r="http://schemas.openxmlformats.org/officeDocument/2006/relationships" id="2147483650" r:id="R324b61d0b930412e"/>
  </p:sldMasterIdLst>
  <p:notesMasterIdLst>
    <p:notesMasterId xmlns:r="http://schemas.openxmlformats.org/officeDocument/2006/relationships" r:id="R5d0043a484fb4b5e"/>
  </p:notesMasterIdLst>
  <p:sldIdLst>
    <p:sldId xmlns:r="http://schemas.openxmlformats.org/officeDocument/2006/relationships" id="256" r:id="R444b18f23dab40bf"/>
    <p:sldId xmlns:r="http://schemas.openxmlformats.org/officeDocument/2006/relationships" id="257" r:id="R3a5f20b938244436"/>
    <p:sldId xmlns:r="http://schemas.openxmlformats.org/officeDocument/2006/relationships" id="258" r:id="Rac3550273846435d"/>
    <p:sldId xmlns:r="http://schemas.openxmlformats.org/officeDocument/2006/relationships" id="259" r:id="Re221509f92dc43fc"/>
    <p:sldId xmlns:r="http://schemas.openxmlformats.org/officeDocument/2006/relationships" id="260" r:id="Rad6be9c286c642d4"/>
    <p:sldId xmlns:r="http://schemas.openxmlformats.org/officeDocument/2006/relationships" id="261" r:id="R7d81cf59a04543de"/>
    <p:sldId xmlns:r="http://schemas.openxmlformats.org/officeDocument/2006/relationships" id="262" r:id="Rf4cf19367683469f"/>
    <p:sldId xmlns:r="http://schemas.openxmlformats.org/officeDocument/2006/relationships" id="263" r:id="Rf7745eb72ffc40a4"/>
    <p:sldId xmlns:r="http://schemas.openxmlformats.org/officeDocument/2006/relationships" id="264" r:id="R6d172b3fb0ce425f"/>
    <p:sldId xmlns:r="http://schemas.openxmlformats.org/officeDocument/2006/relationships" id="265" r:id="R1d7da2b79f884420"/>
    <p:sldId xmlns:r="http://schemas.openxmlformats.org/officeDocument/2006/relationships" id="266" r:id="R304a32b092cf41aa"/>
    <p:sldId xmlns:r="http://schemas.openxmlformats.org/officeDocument/2006/relationships" id="267" r:id="R6ac9e536e24340e8"/>
    <p:sldId xmlns:r="http://schemas.openxmlformats.org/officeDocument/2006/relationships" id="268" r:id="R67ecbe595db14ee6"/>
    <p:sldId xmlns:r="http://schemas.openxmlformats.org/officeDocument/2006/relationships" id="269" r:id="R89ccfc3032484c26"/>
    <p:sldId xmlns:r="http://schemas.openxmlformats.org/officeDocument/2006/relationships" id="270" r:id="R5fc0494b408c4f1f"/>
    <p:sldId xmlns:r="http://schemas.openxmlformats.org/officeDocument/2006/relationships" id="271" r:id="Re79ca69238474966"/>
    <p:sldId xmlns:r="http://schemas.openxmlformats.org/officeDocument/2006/relationships" id="272" r:id="R13ce6687e33e4fcc"/>
    <p:sldId xmlns:r="http://schemas.openxmlformats.org/officeDocument/2006/relationships" id="273" r:id="Rfe7af13b1cf3476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8b02fd056b24e2e" /><Relationship Type="http://schemas.openxmlformats.org/officeDocument/2006/relationships/slideMaster" Target="/ppt/slideMasters/slideMaster1.xml" Id="Rba7f1f686d184949" /><Relationship Type="http://schemas.openxmlformats.org/officeDocument/2006/relationships/slideMaster" Target="/ppt/slideMasters/slideMaster2.xml" Id="R324b61d0b930412e" /><Relationship Type="http://schemas.openxmlformats.org/officeDocument/2006/relationships/notesMaster" Target="/ppt/notesMasters/notesMaster1.xml" Id="R5d0043a484fb4b5e" /><Relationship Type="http://schemas.openxmlformats.org/officeDocument/2006/relationships/presProps" Target="/ppt/presProps.xml" Id="R0213fddc3c50437e" /><Relationship Type="http://schemas.openxmlformats.org/officeDocument/2006/relationships/tableStyles" Target="/ppt/tableStyles.xml" Id="Re97cf726de2a45be" /><Relationship Type="http://schemas.openxmlformats.org/officeDocument/2006/relationships/slide" Target="/ppt/slides/slide1.xml" Id="R444b18f23dab40bf" /><Relationship Type="http://schemas.openxmlformats.org/officeDocument/2006/relationships/slide" Target="/ppt/slides/slide2.xml" Id="R3a5f20b938244436" /><Relationship Type="http://schemas.openxmlformats.org/officeDocument/2006/relationships/slide" Target="/ppt/slides/slide3.xml" Id="Rac3550273846435d" /><Relationship Type="http://schemas.openxmlformats.org/officeDocument/2006/relationships/slide" Target="/ppt/slides/slide4.xml" Id="Re221509f92dc43fc" /><Relationship Type="http://schemas.openxmlformats.org/officeDocument/2006/relationships/slide" Target="/ppt/slides/slide5.xml" Id="Rad6be9c286c642d4" /><Relationship Type="http://schemas.openxmlformats.org/officeDocument/2006/relationships/slide" Target="/ppt/slides/slide6.xml" Id="R7d81cf59a04543de" /><Relationship Type="http://schemas.openxmlformats.org/officeDocument/2006/relationships/slide" Target="/ppt/slides/slide7.xml" Id="Rf4cf19367683469f" /><Relationship Type="http://schemas.openxmlformats.org/officeDocument/2006/relationships/slide" Target="/ppt/slides/slide8.xml" Id="Rf7745eb72ffc40a4" /><Relationship Type="http://schemas.openxmlformats.org/officeDocument/2006/relationships/slide" Target="/ppt/slides/slide9.xml" Id="R6d172b3fb0ce425f" /><Relationship Type="http://schemas.openxmlformats.org/officeDocument/2006/relationships/slide" Target="/ppt/slides/slide10.xml" Id="R1d7da2b79f884420" /><Relationship Type="http://schemas.openxmlformats.org/officeDocument/2006/relationships/slide" Target="/ppt/slides/slide11.xml" Id="R304a32b092cf41aa" /><Relationship Type="http://schemas.openxmlformats.org/officeDocument/2006/relationships/slide" Target="/ppt/slides/slide12.xml" Id="R6ac9e536e24340e8" /><Relationship Type="http://schemas.openxmlformats.org/officeDocument/2006/relationships/slide" Target="/ppt/slides/slide13.xml" Id="R67ecbe595db14ee6" /><Relationship Type="http://schemas.openxmlformats.org/officeDocument/2006/relationships/slide" Target="/ppt/slides/slide14.xml" Id="R89ccfc3032484c26" /><Relationship Type="http://schemas.openxmlformats.org/officeDocument/2006/relationships/slide" Target="/ppt/slides/slide15.xml" Id="R5fc0494b408c4f1f" /><Relationship Type="http://schemas.openxmlformats.org/officeDocument/2006/relationships/slide" Target="/ppt/slides/slide16.xml" Id="Re79ca69238474966" /><Relationship Type="http://schemas.openxmlformats.org/officeDocument/2006/relationships/slide" Target="/ppt/slides/slide17.xml" Id="R13ce6687e33e4fcc" /><Relationship Type="http://schemas.openxmlformats.org/officeDocument/2006/relationships/slide" Target="/ppt/slides/slide18.xml" Id="Rfe7af13b1cf3476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4.xml" Id="R9040f9e9d129490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4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dd6333b60934747" /><Relationship Type="http://schemas.openxmlformats.org/officeDocument/2006/relationships/notesMaster" Target="/ppt/notesMasters/notesMaster1.xml" Id="R269ff9c39415423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77e418cdaf3449e" /><Relationship Type="http://schemas.openxmlformats.org/officeDocument/2006/relationships/notesMaster" Target="/ppt/notesMasters/notesMaster1.xml" Id="Rf08ac19500544a8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f0837377aa045df" /><Relationship Type="http://schemas.openxmlformats.org/officeDocument/2006/relationships/notesMaster" Target="/ppt/notesMasters/notesMaster1.xml" Id="Rc2d7fdf62954489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dcb674bd4254f93" /><Relationship Type="http://schemas.openxmlformats.org/officeDocument/2006/relationships/notesMaster" Target="/ppt/notesMasters/notesMaster1.xml" Id="R755892f86c4642d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2d0f5f598d3468c" /><Relationship Type="http://schemas.openxmlformats.org/officeDocument/2006/relationships/notesMaster" Target="/ppt/notesMasters/notesMaster1.xml" Id="Rd6c836e0ff9a4e6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e87af49cb0d40c9" /><Relationship Type="http://schemas.openxmlformats.org/officeDocument/2006/relationships/notesMaster" Target="/ppt/notesMasters/notesMaster1.xml" Id="R91cb0ff9ca304e1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c790671624a48f0" /><Relationship Type="http://schemas.openxmlformats.org/officeDocument/2006/relationships/notesMaster" Target="/ppt/notesMasters/notesMaster1.xml" Id="R81fffef30d9b498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c8b73bad4744142" /><Relationship Type="http://schemas.openxmlformats.org/officeDocument/2006/relationships/notesMaster" Target="/ppt/notesMasters/notesMaster1.xml" Id="Rc9f57991bad84eb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b671c7bc2404488" /><Relationship Type="http://schemas.openxmlformats.org/officeDocument/2006/relationships/notesMaster" Target="/ppt/notesMasters/notesMaster1.xml" Id="R428847d50013464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b19ddc5f19848af" /><Relationship Type="http://schemas.openxmlformats.org/officeDocument/2006/relationships/notesMaster" Target="/ppt/notesMasters/notesMaster1.xml" Id="Rb1c419bc3052474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db2791e33304717" /><Relationship Type="http://schemas.openxmlformats.org/officeDocument/2006/relationships/notesMaster" Target="/ppt/notesMasters/notesMaster1.xml" Id="R8c35387460cf45d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e61c7c81fda46af" /><Relationship Type="http://schemas.openxmlformats.org/officeDocument/2006/relationships/notesMaster" Target="/ppt/notesMasters/notesMaster1.xml" Id="Rfe818491ec98474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b5045dbc4404b14" /><Relationship Type="http://schemas.openxmlformats.org/officeDocument/2006/relationships/notesMaster" Target="/ppt/notesMasters/notesMaster1.xml" Id="R82b8c56d67e94ad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c6477b9db3c474d" /><Relationship Type="http://schemas.openxmlformats.org/officeDocument/2006/relationships/notesMaster" Target="/ppt/notesMasters/notesMaster1.xml" Id="R2a7cc0c386254ea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0d25fca9f22e405f" /><Relationship Type="http://schemas.openxmlformats.org/officeDocument/2006/relationships/notesMaster" Target="/ppt/notesMasters/notesMaster1.xml" Id="R8f57c4eb9dcf410e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8a40f7dd803d4b12" /><Relationship Type="http://schemas.openxmlformats.org/officeDocument/2006/relationships/notesMaster" Target="/ppt/notesMasters/notesMaster1.xml" Id="R0dc2be705fe64787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9daec0238dd745e0" /><Relationship Type="http://schemas.openxmlformats.org/officeDocument/2006/relationships/notesMaster" Target="/ppt/notesMasters/notesMaster1.xml" Id="Re1d3594b7c54448a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3a4b9545ff364bf0" /><Relationship Type="http://schemas.openxmlformats.org/officeDocument/2006/relationships/notesMaster" Target="/ppt/notesMasters/notesMaster1.xml" Id="R14150bab7b9a467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00:45]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Bem-vindo ao episódio 1 do dbt Moderno na Prática. Hoje vamos trabalhar o tema “O que a série ensinou — e o que falta provar”. Baseline aberto e suportado com dbt Core 1.12. O objetivo não é apenas conhecer o conceito: vamos conectá-lo ao laboratório e terminar com uma evidência que você consegue reproduzir no seu próprio ambiente. Ao longo da aula, separe sempre o que é recurso aberto e estável daquilo que aparecerá apenas no Radar.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Apresente o título, situe o checkpoint 01 e deixe claro que a aula faz parte da trilha open/stable.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“Título de vídeo não é evidência. Manifest, testes e resultados executáveis são.”.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https://docs.getdbt.com/docs/dbt/supported-features</a:t>
            </a:r>
          </a:p>
          <a:p xmlns:a="http://schemas.openxmlformats.org/drawingml/2006/main">
            <a:r>
              <a:t>- https://github.com/dbt-labs/dbt-core/releases/tag/v1.12.0</a:t>
            </a:r>
          </a:p>
          <a:p xmlns:a="http://schemas.openxmlformats.org/drawingml/2006/main">
            <a:r>
              <a:t>- https://github.com/dbt-labs/jaffle-shop</a:t>
            </a:r>
          </a:p>
          <a:p xmlns:a="http://schemas.openxmlformats.org/drawingml/2006/main">
            <a:r>
              <a:t>- https://github.com/AnselmoBorges/dbt-moderno-na-pratica/blob/main/roteiros/01-playlist-core-1-12.md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01:00]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Quero começar com uma provocação: Título de vídeo não é evidência. Manifest, testes e resultados executáveis são. Essa pergunta orienta toda a aula. Em vez de aceitar uma afirmação porque ela parece correta, vamos procurar uma definição verificável e uma demonstração executável. Guarde essa tensão, porque voltaremos a ela quando compararmos o conceito com o resultado do laboratório.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Dê uma pausa depois da provocação e use o diagrama como mapa do problema, sem explicar todas as etapas ainda.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“Ao final, você consegue...”.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https://docs.getdbt.com/docs/dbt/supported-features</a:t>
            </a:r>
          </a:p>
          <a:p xmlns:a="http://schemas.openxmlformats.org/drawingml/2006/main">
            <a:r>
              <a:t>- https://github.com/dbt-labs/dbt-core/releases/tag/v1.12.0</a:t>
            </a:r>
          </a:p>
          <a:p xmlns:a="http://schemas.openxmlformats.org/drawingml/2006/main">
            <a:r>
              <a:t>- https://github.com/dbt-labs/jaffle-shop</a:t>
            </a:r>
          </a:p>
          <a:p xmlns:a="http://schemas.openxmlformats.org/drawingml/2006/main">
            <a:r>
              <a:t>- https://github.com/AnselmoBorges/dbt-moderno-na-pratica/blob/main/roteiros/01-playlist-core-1-12.md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01:00]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Ao final desta aula, você deverá conseguir auditar a série original, Separar implementado de conceitual e Reconstruir o baseline suportado. Esses resultados formam uma sequência: primeiro entendemos a regra, depois observamos sua representação no projeto e, por fim, comprovamos o comportamento no checkpoint. Se alguma dessas três partes não estiver clara, volte ao slide correspondente antes de executar a demonstração.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Percorra os objetivos da esquerda para a direita e apresente-os como resultados observáveis, não como uma agenda abstrata.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“A base original continua valiosa”.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https://docs.getdbt.com/docs/dbt/supported-features</a:t>
            </a:r>
          </a:p>
          <a:p xmlns:a="http://schemas.openxmlformats.org/drawingml/2006/main">
            <a:r>
              <a:t>- https://github.com/dbt-labs/dbt-core/releases/tag/v1.12.0</a:t>
            </a:r>
          </a:p>
          <a:p xmlns:a="http://schemas.openxmlformats.org/drawingml/2006/main">
            <a:r>
              <a:t>- https://github.com/dbt-labs/jaffle-shop</a:t>
            </a:r>
          </a:p>
          <a:p xmlns:a="http://schemas.openxmlformats.org/drawingml/2006/main">
            <a:r>
              <a:t>- https://github.com/AnselmoBorges/dbt-moderno-na-pratica/blob/main/roteiros/01-playlist-core-1-12.md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Ambiente, seeds, ref, table, view e primeira Gold foram demonstrados. Para tornar isso concreto, observe fundamentos bem posicionados, Materializações básicas e Primeiro fluxo Silver → Gold.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“Produção começa no suportado”.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https://docs.getdbt.com/docs/dbt/supported-features</a:t>
            </a:r>
          </a:p>
          <a:p xmlns:a="http://schemas.openxmlformats.org/drawingml/2006/main">
            <a:r>
              <a:t>- https://github.com/dbt-labs/dbt-core/releases/tag/v1.12.0</a:t>
            </a:r>
          </a:p>
          <a:p xmlns:a="http://schemas.openxmlformats.org/drawingml/2006/main">
            <a:r>
              <a:t>- https://github.com/dbt-labs/jaffle-shop</a:t>
            </a:r>
          </a:p>
          <a:p xmlns:a="http://schemas.openxmlformats.org/drawingml/2006/main">
            <a:r>
              <a:t>- https://github.com/AnselmoBorges/dbt-moderno-na-pratica/blob/main/roteiros/01-playlist-core-1-12.md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Core 1.12 e DuckDB estável formam a trilha executável. Para tornar isso concreto, observe dependências fixadas, CI determinística e Preview sem comando obrigatório.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“Produção começa no suportado”.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https://docs.getdbt.com/docs/dbt/supported-features</a:t>
            </a:r>
          </a:p>
          <a:p xmlns:a="http://schemas.openxmlformats.org/drawingml/2006/main">
            <a:r>
              <a:t>- https://github.com/dbt-labs/dbt-core/releases/tag/v1.12.0</a:t>
            </a:r>
          </a:p>
          <a:p xmlns:a="http://schemas.openxmlformats.org/drawingml/2006/main">
            <a:r>
              <a:t>- https://github.com/dbt-labs/jaffle-shop</a:t>
            </a:r>
          </a:p>
          <a:p xmlns:a="http://schemas.openxmlformats.org/drawingml/2006/main">
            <a:r>
              <a:t>- https://github.com/AnselmoBorges/dbt-moderno-na-pratica/blob/main/roteiros/01-playlist-core-1-12.md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ler a ideia visualmente. Core 1.12 e DuckDB estável formam a trilha executável. Siga a composição na ordem mostrada e conecte OPEN, STABLE e LOCAL. A imagem ou o fluxo não cria uma regra nova; ele torna visível a relação que acabamos de explicar. Use a disposição dos elementos para reforçar causa, dependência ou comparação.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Acompanhe o fluxo ou a comparação com o cursor e preserve a ordem de leitura do slide.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“ref transforma SQL em um grafo”.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https://docs.getdbt.com/docs/dbt/supported-features</a:t>
            </a:r>
          </a:p>
          <a:p xmlns:a="http://schemas.openxmlformats.org/drawingml/2006/main">
            <a:r>
              <a:t>- https://github.com/dbt-labs/dbt-core/releases/tag/v1.12.0</a:t>
            </a:r>
          </a:p>
          <a:p xmlns:a="http://schemas.openxmlformats.org/drawingml/2006/main">
            <a:r>
              <a:t>- https://github.com/dbt-labs/jaffle-shop</a:t>
            </a:r>
          </a:p>
          <a:p xmlns:a="http://schemas.openxmlformats.org/drawingml/2006/main">
            <a:r>
              <a:t>- https://github.com/AnselmoBorges/dbt-moderno-na-pratica/blob/main/roteiros/01-playlist-core-1-12.md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Dependências explícitas habilitam ordem, seleção e linhagem. Para tornar isso concreto, observe source → staging, staging → Gold e Gold → consumidor.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“ref transforma SQL em um grafo”.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https://docs.getdbt.com/docs/dbt/supported-features</a:t>
            </a:r>
          </a:p>
          <a:p xmlns:a="http://schemas.openxmlformats.org/drawingml/2006/main">
            <a:r>
              <a:t>- https://github.com/dbt-labs/dbt-core/releases/tag/v1.12.0</a:t>
            </a:r>
          </a:p>
          <a:p xmlns:a="http://schemas.openxmlformats.org/drawingml/2006/main">
            <a:r>
              <a:t>- https://github.com/dbt-labs/jaffle-shop</a:t>
            </a:r>
          </a:p>
          <a:p xmlns:a="http://schemas.openxmlformats.org/drawingml/2006/main">
            <a:r>
              <a:t>- https://github.com/AnselmoBorges/dbt-moderno-na-pratica/blob/main/roteiros/01-playlist-core-1-12.md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ler a ideia visualmente. Dependências explícitas habilitam ordem, seleção e linhagem. Siga a composição na ordem mostrada e conecte source, staging, Gold e consumer. A imagem ou o fluxo não cria uma regra nova; ele torna visível a relação que acabamos de explicar. Use a disposição dos elementos para reforçar causa, dependência ou comparação.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Acompanhe o fluxo ou a comparação com o cursor e preserve a ordem de leitura do slide.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“Artifacts respondem perguntas diferentes”.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https://docs.getdbt.com/docs/dbt/supported-features</a:t>
            </a:r>
          </a:p>
          <a:p xmlns:a="http://schemas.openxmlformats.org/drawingml/2006/main">
            <a:r>
              <a:t>- https://github.com/dbt-labs/dbt-core/releases/tag/v1.12.0</a:t>
            </a:r>
          </a:p>
          <a:p xmlns:a="http://schemas.openxmlformats.org/drawingml/2006/main">
            <a:r>
              <a:t>- https://github.com/dbt-labs/jaffle-shop</a:t>
            </a:r>
          </a:p>
          <a:p xmlns:a="http://schemas.openxmlformats.org/drawingml/2006/main">
            <a:r>
              <a:t>- https://github.com/AnselmoBorges/dbt-moderno-na-pratica/blob/main/roteiros/01-playlist-core-1-12.md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Manifest descreve o projeto; run_results registra a execução. Para tornar isso concreto, observe o que existe, O que depende do quê e O que passou ou falhou.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“Artifacts respondem perguntas diferentes”.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https://docs.getdbt.com/docs/dbt/supported-features</a:t>
            </a:r>
          </a:p>
          <a:p xmlns:a="http://schemas.openxmlformats.org/drawingml/2006/main">
            <a:r>
              <a:t>- https://github.com/dbt-labs/dbt-core/releases/tag/v1.12.0</a:t>
            </a:r>
          </a:p>
          <a:p xmlns:a="http://schemas.openxmlformats.org/drawingml/2006/main">
            <a:r>
              <a:t>- https://github.com/dbt-labs/jaffle-shop</a:t>
            </a:r>
          </a:p>
          <a:p xmlns:a="http://schemas.openxmlformats.org/drawingml/2006/main">
            <a:r>
              <a:t>- https://github.com/AnselmoBorges/dbt-moderno-na-pratica/blob/main/roteiros/01-playlist-core-1-12.md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ler a ideia visualmente. Manifest descreve o projeto; run_results registra a execução. Siga a composição na ordem mostrada e conecte build, Artifacts, O que existe, O que depende do quê e O que passou ou falhou. A imagem ou o fluxo não cria uma regra nova; ele torna visível a relação que acabamos de explicar. Use a disposição dos elementos para reforçar causa, dependência ou comparação.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Acompanhe o fluxo ou a comparação com o cursor e preserve a ordem de leitura do slide.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“Demonstração — execute”.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https://docs.getdbt.com/docs/dbt/supported-features</a:t>
            </a:r>
          </a:p>
          <a:p xmlns:a="http://schemas.openxmlformats.org/drawingml/2006/main">
            <a:r>
              <a:t>- https://github.com/dbt-labs/dbt-core/releases/tag/v1.12.0</a:t>
            </a:r>
          </a:p>
          <a:p xmlns:a="http://schemas.openxmlformats.org/drawingml/2006/main">
            <a:r>
              <a:t>- https://github.com/dbt-labs/jaffle-shop</a:t>
            </a:r>
          </a:p>
          <a:p xmlns:a="http://schemas.openxmlformats.org/drawingml/2006/main">
            <a:r>
              <a:t>- https://github.com/AnselmoBorges/dbt-moderno-na-pratica/blob/main/roteiros/01-playlist-core-1-12.md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01:20]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sair da explicação e comprovar o comportamento. Execute os comandos exatamente como aparecem: python course.py checkpoint 01. Não é necessário ativar o ambiente virtual manualmente; o launcher do curso seleciona o ambiente correto. Antes de avançar, confirme que o comando iniciou sem erro e dê tempo para o aluno acompanhar a mesma etapa.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Mostre o comando completo, execute uma linha por vez quando houver mais de uma e mantenha o terminal visível.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“Demonstração — observe”.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https://docs.getdbt.com/docs/dbt/supported-features</a:t>
            </a:r>
          </a:p>
          <a:p xmlns:a="http://schemas.openxmlformats.org/drawingml/2006/main">
            <a:r>
              <a:t>- https://github.com/dbt-labs/dbt-core/releases/tag/v1.12.0</a:t>
            </a:r>
          </a:p>
          <a:p xmlns:a="http://schemas.openxmlformats.org/drawingml/2006/main">
            <a:r>
              <a:t>- https://github.com/dbt-labs/jaffle-shop</a:t>
            </a:r>
          </a:p>
          <a:p xmlns:a="http://schemas.openxmlformats.org/drawingml/2006/main">
            <a:r>
              <a:t>- https://github.com/AnselmoBorges/dbt-moderno-na-pratica/blob/main/roteiros/01-playlist-core-1-12.md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Enquanto a execução acontece, não olhe apenas para a mensagem final. Observe 8 pedidos na amostra, Manifest e catálogo gerados e Semantic manifest e OSI válidos. Cada sinal responde a uma pergunta diferente sobre o pipeline. Se um deles divergir, interrompa a demonstração e investigue; o objetivo do hands-on é produzir evidência, não apenas chegar rapidamente a uma tela verde.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Marque cada observação quando ela aparecer no terminal ou no artifact correspondente.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“RESULTADO ESPERADO”.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https://docs.getdbt.com/docs/dbt/supported-features</a:t>
            </a:r>
          </a:p>
          <a:p xmlns:a="http://schemas.openxmlformats.org/drawingml/2006/main">
            <a:r>
              <a:t>- https://github.com/dbt-labs/dbt-core/releases/tag/v1.12.0</a:t>
            </a:r>
          </a:p>
          <a:p xmlns:a="http://schemas.openxmlformats.org/drawingml/2006/main">
            <a:r>
              <a:t>- https://github.com/dbt-labs/jaffle-shop</a:t>
            </a:r>
          </a:p>
          <a:p xmlns:a="http://schemas.openxmlformats.org/drawingml/2006/main">
            <a:r>
              <a:t>- https://github.com/AnselmoBorges/dbt-moderno-na-pratica/blob/main/roteiros/01-playlist-core-1-12.md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00:45]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Este é o ponto de parada da demonstração: Baseline reproduzido. Esse resultado confirma que a etapa executada produziu a evidência esperada para o checkpoint 01. Se o valor, o status ou o artifact estiver diferente, não trate a divergência como detalhe de ambiente. Use o diagnóstico do curso e só avance quando a causa estiver compreendida.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Compare o resultado do terminal com a frase central do slide e registre a evidência antes de continuar.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“O mesmo recurso afeta três decisões”.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https://docs.getdbt.com/docs/dbt/supported-features</a:t>
            </a:r>
          </a:p>
          <a:p xmlns:a="http://schemas.openxmlformats.org/drawingml/2006/main">
            <a:r>
              <a:t>- https://github.com/dbt-labs/dbt-core/releases/tag/v1.12.0</a:t>
            </a:r>
          </a:p>
          <a:p xmlns:a="http://schemas.openxmlformats.org/drawingml/2006/main">
            <a:r>
              <a:t>- https://github.com/dbt-labs/jaffle-shop</a:t>
            </a:r>
          </a:p>
          <a:p xmlns:a="http://schemas.openxmlformats.org/drawingml/2006/main">
            <a:r>
              <a:t>- https://github.com/AnselmoBorges/dbt-moderno-na-pratica/blob/main/roteiros/01-playlist-core-1-12.md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01:00]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Antes de seguir, conecte a técnica às decisões que ela afeta: Governança: artifact auditável, FinOps: versões reproduzíveis e IA: contexto antes de SQL. Governança define responsabilidade e consistência; FinOps pergunta quanto trabalho estamos repetindo; e IA depende do contexto que decidimos expor. A mesma implementação pode melhorar os três eixos, mas os ganhos devem ser medidos separadamente.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Percorra os três eixos e evite apresentar economia ou acurácia como consequência automática.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“8 / 740 / 630”.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https://docs.getdbt.com/docs/dbt/supported-features</a:t>
            </a:r>
          </a:p>
          <a:p xmlns:a="http://schemas.openxmlformats.org/drawingml/2006/main">
            <a:r>
              <a:t>- https://github.com/dbt-labs/dbt-core/releases/tag/v1.12.0</a:t>
            </a:r>
          </a:p>
          <a:p xmlns:a="http://schemas.openxmlformats.org/drawingml/2006/main">
            <a:r>
              <a:t>- https://github.com/dbt-labs/jaffle-shop</a:t>
            </a:r>
          </a:p>
          <a:p xmlns:a="http://schemas.openxmlformats.org/drawingml/2006/main">
            <a:r>
              <a:t>- https://github.com/AnselmoBorges/dbt-moderno-na-pratica/blob/main/roteiros/01-playlist-core-1-12.md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Aqui temos 8 / 740 / 630: pedidos / receita bruta / entregue. O número ajuda a dimensionar o exemplo, mas precisa ser lido com a ressalva correta. Ground truth da amostra Olist do curso. Use o case como evidência contextual e não como promessa de que outro projeto repetirá o mesmo resultado sem as mesmas condições.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Apresente primeiro o número, depois a definição e termine obrigatoriamente com a ressalva.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“Limitações que precisam permanecer visíveis”.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https://docs.getdbt.com/docs/dbt/supported-features</a:t>
            </a:r>
          </a:p>
          <a:p xmlns:a="http://schemas.openxmlformats.org/drawingml/2006/main">
            <a:r>
              <a:t>- https://github.com/dbt-labs/dbt-core/releases/tag/v1.12.0</a:t>
            </a:r>
          </a:p>
          <a:p xmlns:a="http://schemas.openxmlformats.org/drawingml/2006/main">
            <a:r>
              <a:t>- https://github.com/dbt-labs/jaffle-shop</a:t>
            </a:r>
          </a:p>
          <a:p xmlns:a="http://schemas.openxmlformats.org/drawingml/2006/main">
            <a:r>
              <a:t>- https://github.com/AnselmoBorges/dbt-moderno-na-pratica/blob/main/roteiros/01-playlist-core-1-12.md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01:00]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Também precisamos declarar os limites da recomendação. Neste cenário, considere incremental, testes e deploy não estavam implementados na série original, Artifacts não substituem monitoramento e Core 2.0 não entra na aceitação. Esses pontos não anulam a técnica; eles delimitam onde a demonstração é válida e quais condições precisam ser verificadas antes de levar o padrão para produção. Tratar limites como parte do design evita transformar uma boa prática em regra universal.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Leia os limites com o mesmo peso dado aos benefícios e diferencie restrição do laboratório de restrição do produto.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“RADAR”.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https://docs.getdbt.com/docs/dbt/supported-features</a:t>
            </a:r>
          </a:p>
          <a:p xmlns:a="http://schemas.openxmlformats.org/drawingml/2006/main">
            <a:r>
              <a:t>- https://github.com/dbt-labs/dbt-core/releases/tag/v1.12.0</a:t>
            </a:r>
          </a:p>
          <a:p xmlns:a="http://schemas.openxmlformats.org/drawingml/2006/main">
            <a:r>
              <a:t>- https://github.com/dbt-labs/jaffle-shop</a:t>
            </a:r>
          </a:p>
          <a:p xmlns:a="http://schemas.openxmlformats.org/drawingml/2006/main">
            <a:r>
              <a:t>- https://github.com/AnselmoBorges/dbt-moderno-na-pratica/blob/main/roteiros/01-playlist-core-1-12.md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Este é o nosso Radar: Novidade não substitui maturidade: Core 2.0 e Fusion aparecem sem recomendação de produção. A intenção é mostrar a direção da ferramenta sem misturar preview com o caminho suportado da aula. Novidade observada não é recomendação de produção. Para adotar qualquer recurso futuro, confirme maturidade, adaptador, documentação e impacto sobre o projeto antes de alterar o baseline estável.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Reforce visualmente a regra do rodapé e não execute comandos beta ou preview como parte obrigatória da aula.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“PRÓXIMO PASSO”.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https://docs.getdbt.com/docs/dbt/supported-features</a:t>
            </a:r>
          </a:p>
          <a:p xmlns:a="http://schemas.openxmlformats.org/drawingml/2006/main">
            <a:r>
              <a:t>- https://github.com/dbt-labs/dbt-core/releases/tag/v1.12.0</a:t>
            </a:r>
          </a:p>
          <a:p xmlns:a="http://schemas.openxmlformats.org/drawingml/2006/main">
            <a:r>
              <a:t>- https://github.com/dbt-labs/jaffle-shop</a:t>
            </a:r>
          </a:p>
          <a:p xmlns:a="http://schemas.openxmlformats.org/drawingml/2006/main">
            <a:r>
              <a:t>- https://github.com/AnselmoBorges/dbt-moderno-na-pratica/blob/main/roteiros/01-playlist-core-1-12.md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00:40]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Reproduza o checkpoint e abra manifest.json antes do episódio 2. Faça essa etapa antes de seguir para o próximo episódio, porque o curso é cumulativo e o checkpoint atual se torna a base da aula seguinte. Se houver divergência, use o relatório de suporte e registre o que foi observado. O objetivo é avançar com um estado conhecido e reproduzível, não apenas assistir ao conteúdo.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Mostre o checkpoint e indique no repositório onde ficam o roteiro, os comandos e as referências da aula.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Encerre retomando a pergunta inicial e confirme que o aluno sabe qual ação executar depois do episódio 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https://docs.getdbt.com/docs/dbt/supported-features</a:t>
            </a:r>
          </a:p>
          <a:p xmlns:a="http://schemas.openxmlformats.org/drawingml/2006/main">
            <a:r>
              <a:t>- https://github.com/dbt-labs/dbt-core/releases/tag/v1.12.0</a:t>
            </a:r>
          </a:p>
          <a:p xmlns:a="http://schemas.openxmlformats.org/drawingml/2006/main">
            <a:r>
              <a:t>- https://github.com/dbt-labs/jaffle-shop</a:t>
            </a:r>
          </a:p>
          <a:p xmlns:a="http://schemas.openxmlformats.org/drawingml/2006/main">
            <a:r>
              <a:t>- https://github.com/AnselmoBorges/dbt-moderno-na-pratica/blob/main/roteiros/01-playlist-core-1-12.md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518cabd413149f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218372171dc54a7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d0232fa1e800418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>
  <p:cSld name="Rescue Point Dar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3.xml><?xml version="1.0" encoding="utf-8"?>
<p:sldLayout xmlns:p="http://schemas.openxmlformats.org/presentationml/2006/main">
  <p:cSld name="Rescue Point Light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10c2ee213a84048" /><Relationship Type="http://schemas.openxmlformats.org/officeDocument/2006/relationships/slideLayout" Target="/ppt/slideLayouts/slideLayout1.xml" Id="Rbfde7a11eb574f64" /></Relationships>
</file>

<file path=ppt/slideMasters/_rels/slideMaster2.xml.rels>&#65279;<?xml version="1.0" encoding="utf-8"?><Relationships xmlns="http://schemas.openxmlformats.org/package/2006/relationships"><Relationship Type="http://schemas.openxmlformats.org/officeDocument/2006/relationships/theme" Target="/ppt/slideMasters/theme/theme3.xml" Id="Rc50191d120cf420c" /><Relationship Type="http://schemas.openxmlformats.org/officeDocument/2006/relationships/slideLayout" Target="/ppt/slideLayouts/slideLayout2.xml" Id="R6a8ea53d954a4495" /><Relationship Type="http://schemas.openxmlformats.org/officeDocument/2006/relationships/slideLayout" Target="/ppt/slideLayouts/slideLayout3.xml" Id="R4415f1df9515480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fde7a11eb574f6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p="http://schemas.openxmlformats.org/presentationml/2006/main">
  <p:cSld name="Rescue Point Master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51" r:id="R6a8ea53d954a4495"/>
    <p:sldLayoutId xmlns:r="http://schemas.openxmlformats.org/officeDocument/2006/relationships" id="2147483652" r:id="R4415f1df95154802"/>
  </p:sldLayoutIdLst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50394ad9db4451c" /><Relationship Type="http://schemas.openxmlformats.org/officeDocument/2006/relationships/image" Target="/ppt/media/image.jpeg" Id="Ra9938da19ced4ee7" /><Relationship Type="http://schemas.openxmlformats.org/officeDocument/2006/relationships/notesSlide" Target="/ppt/notesSlides/notesSlide1.xml" Id="Rd99b9e86e69745f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e1c474ccdc94bb6" /><Relationship Type="http://schemas.openxmlformats.org/officeDocument/2006/relationships/image" Target="/ppt/media/image.png" Id="R86a6ea56926c401d" /><Relationship Type="http://schemas.openxmlformats.org/officeDocument/2006/relationships/notesSlide" Target="/ppt/notesSlides/notesSlide2.xml" Id="R4da47a815fc442a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f5f3451714046a2" /><Relationship Type="http://schemas.openxmlformats.org/officeDocument/2006/relationships/notesSlide" Target="/ppt/notesSlides/notesSlide3.xml" Id="Rbfae0f38e83442c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bfecfd5d42a4707" /><Relationship Type="http://schemas.openxmlformats.org/officeDocument/2006/relationships/notesSlide" Target="/ppt/notesSlides/notesSlide4.xml" Id="R3e8a5ba877f540e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57489961edd4f0c" /><Relationship Type="http://schemas.openxmlformats.org/officeDocument/2006/relationships/notesSlide" Target="/ppt/notesSlides/notesSlide5.xml" Id="Ra0bf5e67531b436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3748735fb7c4531" /><Relationship Type="http://schemas.openxmlformats.org/officeDocument/2006/relationships/notesSlide" Target="/ppt/notesSlides/notesSlide6.xml" Id="Reafa0ce9309a4ef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80986a9107e46b4" /><Relationship Type="http://schemas.openxmlformats.org/officeDocument/2006/relationships/notesSlide" Target="/ppt/notesSlides/notesSlide7.xml" Id="Rc068f878fc6743b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b7fd1efe91243cf" /><Relationship Type="http://schemas.openxmlformats.org/officeDocument/2006/relationships/notesSlide" Target="/ppt/notesSlides/notesSlide8.xml" Id="R7506344a9a94443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057fdebdb9542c1" /><Relationship Type="http://schemas.openxmlformats.org/officeDocument/2006/relationships/notesSlide" Target="/ppt/notesSlides/notesSlide9.xml" Id="R0ee64a8bb5f2450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81467f5ddf04f30" /><Relationship Type="http://schemas.openxmlformats.org/officeDocument/2006/relationships/notesSlide" Target="/ppt/notesSlides/notesSlide10.xml" Id="R7e42558326264b8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ae1d80e06fe4a99" /><Relationship Type="http://schemas.openxmlformats.org/officeDocument/2006/relationships/notesSlide" Target="/ppt/notesSlides/notesSlide11.xml" Id="R748ee56f02da4d6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4bd23f2bc05452d" /><Relationship Type="http://schemas.openxmlformats.org/officeDocument/2006/relationships/notesSlide" Target="/ppt/notesSlides/notesSlide12.xml" Id="R601ed3b1141448b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a4fc34caeb9453d" /><Relationship Type="http://schemas.openxmlformats.org/officeDocument/2006/relationships/notesSlide" Target="/ppt/notesSlides/notesSlide13.xml" Id="R31c64cc747a64a0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b679f2337984ff0" /><Relationship Type="http://schemas.openxmlformats.org/officeDocument/2006/relationships/notesSlide" Target="/ppt/notesSlides/notesSlide14.xml" Id="R087b921e19e94e6c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23d5183ea694a41" /><Relationship Type="http://schemas.openxmlformats.org/officeDocument/2006/relationships/notesSlide" Target="/ppt/notesSlides/notesSlide15.xml" Id="Rd2b03466cdd147a8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09af58a4e8b24d45" /><Relationship Type="http://schemas.openxmlformats.org/officeDocument/2006/relationships/notesSlide" Target="/ppt/notesSlides/notesSlide16.xml" Id="R1cb1bfa922ad4c16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2b7c6634d024f48" /><Relationship Type="http://schemas.openxmlformats.org/officeDocument/2006/relationships/notesSlide" Target="/ppt/notesSlides/notesSlide17.xml" Id="Rad55b90e47e24990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4bb0cd841c14a7f" /><Relationship Type="http://schemas.openxmlformats.org/officeDocument/2006/relationships/notesSlide" Target="/ppt/notesSlides/notesSlide18.xml" Id="R7040195f01e84e59" /></Relationships>
</file>

<file path=ppt/slides/slide1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 descr="Ilustração conceitual autoral da capa: EPISÓDIO 1 — O que a série ensinou — e o que falta provar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938da19ced4ee7"/>
          <a:srcRect xmlns:a="http://schemas.openxmlformats.org/drawingml/2006/main" l="19785" t="0" r="1978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762500" y="0"/>
            <a:ext cx="74295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cover-text-surface">
            <a:extLst xmlns:a="http://schemas.openxmlformats.org/drawingml/2006/main">
              <a:ext uri="{FF2B5EF4-FFF2-40B4-BE49-F238E27FC236}">
                <a16:creationId xmlns:a16="http://schemas.microsoft.com/office/drawing/2014/main" id="{08652581-E0EE-4627-829F-2F5285587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3341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42E"/>
          </a:solidFill>
          <a:ln xmlns:a="http://schemas.openxmlformats.org/drawingml/2006/main" w="0">
            <a:solidFill>
              <a:srgbClr val="06142E"/>
            </a:solidFill>
            <a:prstDash val="solid"/>
          </a:ln>
        </p:spPr>
      </p:sp>
      <p:sp>
        <p:nvSpPr>
          <p:cNvPr id="3" name="cover-divider">
            <a:extLst xmlns:a="http://schemas.openxmlformats.org/drawingml/2006/main">
              <a:ext uri="{FF2B5EF4-FFF2-40B4-BE49-F238E27FC236}">
                <a16:creationId xmlns:a16="http://schemas.microsoft.com/office/drawing/2014/main" id="{3D3BFC69-D0DB-47B6-B83F-C1E004A6A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742950"/>
            <a:ext cx="0" cy="5372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C5FF"/>
            </a:solidFill>
            <a:prstDash val="solid"/>
          </a:ln>
        </p:spPr>
      </p:sp>
      <p:sp>
        <p:nvSpPr>
          <p:cNvPr id="4" name="cover-episode">
            <a:extLst xmlns:a="http://schemas.openxmlformats.org/drawingml/2006/main">
              <a:ext uri="{FF2B5EF4-FFF2-40B4-BE49-F238E27FC236}">
                <a16:creationId xmlns:a16="http://schemas.microsoft.com/office/drawing/2014/main" id="{22D39ED4-7D1A-44DA-BE32-1CB043F33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EC5FF"/>
                </a:solidFill>
              </a:defRPr>
            </a:pPr>
            <a:r>
              <a:rPr sz="1350" b="1">
                <a:solidFill>
                  <a:srgbClr val="1EC5FF"/>
                </a:solidFill>
              </a:rPr>
              <a:t>EPISÓDIO 1</a:t>
            </a:r>
          </a:p>
        </p:txBody>
      </p:sp>
      <p:sp>
        <p:nvSpPr>
          <p:cNvPr id="5" name="cover-title">
            <a:extLst xmlns:a="http://schemas.openxmlformats.org/drawingml/2006/main">
              <a:ext uri="{FF2B5EF4-FFF2-40B4-BE49-F238E27FC236}">
                <a16:creationId xmlns:a16="http://schemas.microsoft.com/office/drawing/2014/main" id="{B5265BD6-204C-4D4E-B8CF-AB5CDAE62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4953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FFFFFF"/>
                </a:solidFill>
              </a:defRPr>
            </a:pPr>
            <a:r>
              <a:rPr sz="3225" b="1">
                <a:solidFill>
                  <a:srgbClr val="FFFFFF"/>
                </a:solidFill>
              </a:rPr>
              <a:t>O que a série ensinou — e o que falta provar</a:t>
            </a:r>
          </a:p>
        </p:txBody>
      </p:sp>
      <p:sp>
        <p:nvSpPr>
          <p:cNvPr id="6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D0828FC4-8856-4475-A8CF-3B3F91AA7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0"/>
            <a:ext cx="4857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E2F2FF"/>
                </a:solidFill>
              </a:defRPr>
            </a:pPr>
            <a:r>
              <a:rPr sz="1800">
                <a:solidFill>
                  <a:srgbClr val="E2F2FF"/>
                </a:solidFill>
              </a:rPr>
              <a:t>Baseline aberto e suportado com dbt Core 1.12</a:t>
            </a:r>
          </a:p>
        </p:txBody>
      </p:sp>
      <p:sp>
        <p:nvSpPr>
          <p:cNvPr id="7" name="cover-accent">
            <a:extLst xmlns:a="http://schemas.openxmlformats.org/drawingml/2006/main">
              <a:ext uri="{FF2B5EF4-FFF2-40B4-BE49-F238E27FC236}">
                <a16:creationId xmlns:a16="http://schemas.microsoft.com/office/drawing/2014/main" id="{89EDE453-4402-476A-A555-2ADEE0A37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228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EC5FF"/>
            </a:solidFill>
            <a:prstDash val="solid"/>
          </a:ln>
        </p:spPr>
      </p:sp>
      <p:sp>
        <p:nvSpPr>
          <p:cNvPr id="8" name="cover-meta">
            <a:extLst xmlns:a="http://schemas.openxmlformats.org/drawingml/2006/main">
              <a:ext uri="{FF2B5EF4-FFF2-40B4-BE49-F238E27FC236}">
                <a16:creationId xmlns:a16="http://schemas.microsoft.com/office/drawing/2014/main" id="{2DCD63F6-FE86-4EED-BAC2-F4B1EE0E6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86375"/>
            <a:ext cx="4857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FFFFF">
                    <a:alpha val="66667"/>
                  </a:srgbClr>
                </a:solidFill>
              </a:defRPr>
            </a:pPr>
            <a:r>
              <a:rPr sz="1200" b="1">
                <a:solidFill>
                  <a:srgbClr val="FFFFFF">
                    <a:alpha val="66667"/>
                  </a:srgbClr>
                </a:solidFill>
              </a:rPr>
              <a:t>Checkpoint 01 • DuckDB local • sem cloud</a:t>
            </a:r>
          </a:p>
        </p:txBody>
      </p:sp>
    </p:spTree>
    <p:extLst>
      <p:ext uri="{BB962C8B-B14F-4D97-AF65-F5344CB8AC3E}">
        <p14:creationId xmlns:p14="http://schemas.microsoft.com/office/powerpoint/2010/main" val="95449472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hook">
            <a:extLst xmlns:a="http://schemas.openxmlformats.org/drawingml/2006/main">
              <a:ext uri="{FF2B5EF4-FFF2-40B4-BE49-F238E27FC236}">
                <a16:creationId xmlns:a16="http://schemas.microsoft.com/office/drawing/2014/main" id="{19E65929-90E2-4662-A842-06D5922AD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10287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0B1F3A"/>
                </a:solidFill>
              </a:defRPr>
            </a:pPr>
            <a:r>
              <a:rPr sz="2850" b="1">
                <a:solidFill>
                  <a:srgbClr val="0B1F3A"/>
                </a:solidFill>
              </a:rPr>
              <a:t>Título de vídeo não é evidência. Manifest, testes e resultados executáveis são.</a:t>
            </a:r>
          </a:p>
        </p:txBody>
      </p:sp>
      <p:sp>
        <p:nvSpPr>
          <p:cNvPr id="2" name="hook-rule">
            <a:extLst xmlns:a="http://schemas.openxmlformats.org/drawingml/2006/main">
              <a:ext uri="{FF2B5EF4-FFF2-40B4-BE49-F238E27FC236}">
                <a16:creationId xmlns:a16="http://schemas.microsoft.com/office/drawing/2014/main" id="{E8C18D91-C792-420B-8BCE-DEB38322A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209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565C0"/>
            </a:solidFill>
            <a:prstDash val="solid"/>
          </a:ln>
        </p:spPr>
      </p:sp>
      <p:sp>
        <p:nvSpPr>
          <p:cNvPr id="3" name="hook-label">
            <a:extLst xmlns:a="http://schemas.openxmlformats.org/drawingml/2006/main">
              <a:ext uri="{FF2B5EF4-FFF2-40B4-BE49-F238E27FC236}">
                <a16:creationId xmlns:a16="http://schemas.microsoft.com/office/drawing/2014/main" id="{1B40B25A-AF68-4F4F-90EB-D6BB0142D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400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1565C0"/>
                </a:solidFill>
              </a:defRPr>
            </a:pPr>
            <a:r>
              <a:rPr sz="1425" b="1">
                <a:solidFill>
                  <a:srgbClr val="1565C0"/>
                </a:solidFill>
              </a:rPr>
              <a:t>A pergunta que guia a aula</a:t>
            </a:r>
          </a:p>
        </p:txBody>
      </p:sp>
      <p:sp>
        <p:nvSpPr>
          <p:cNvPr id="4" name="diagram-surface">
            <a:extLst xmlns:a="http://schemas.openxmlformats.org/drawingml/2006/main">
              <a:ext uri="{FF2B5EF4-FFF2-40B4-BE49-F238E27FC236}">
                <a16:creationId xmlns:a16="http://schemas.microsoft.com/office/drawing/2014/main" id="{92E87DAE-2A53-4B0D-B5D7-03A8BCEBA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24250"/>
            <a:ext cx="108204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7EA"/>
            </a:solidFill>
            <a:prstDash val="solid"/>
          </a:ln>
        </p:spPr>
      </p:sp>
      <p:pic>
        <p:nvPicPr>
          <p:cNvPr id="16" name="" descr="Diagrama didático autoral que apresenta: Título de vídeo não é evidência. Manifest, testes e resultados executáveis são. — A pergunta que guia a aula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a6ea56926c401d"/>
          <a:stretch xmlns:a="http://schemas.openxmlformats.org/drawingml/2006/main"/>
        </p:blipFill>
        <p:spPr>
          <a:xfrm xmlns:a="http://schemas.openxmlformats.org/drawingml/2006/main">
            <a:off x="990600" y="4135697"/>
            <a:ext cx="10210800" cy="872607"/>
          </a:xfrm>
          <a:prstGeom xmlns:a="http://schemas.openxmlformats.org/drawingml/2006/main" prst="rect">
            <a:avLst/>
          </a:prstGeom>
        </p:spPr>
      </p:pic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A94DC450-E35F-4592-BBC0-9E7EAB8F6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1  •  OPEN / CORE 1.12</a:t>
            </a:r>
          </a:p>
        </p:txBody>
      </p:sp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99071F4F-0EC1-4CC4-B41B-8CCD86BA5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689797E8-C594-424F-8434-C6CA94362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4D19934-93E0-4F18-B28A-2549E7E4F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2/18</a:t>
            </a:r>
          </a:p>
        </p:txBody>
      </p:sp>
    </p:spTree>
    <p:extLst>
      <p:ext uri="{BB962C8B-B14F-4D97-AF65-F5344CB8AC3E}">
        <p14:creationId xmlns:p14="http://schemas.microsoft.com/office/powerpoint/2010/main" val="289322860"/>
      </p:ext>
    </p:extLst>
  </p:cSld>
</p:sld>
</file>

<file path=ppt/slides/slide3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4AC106E-22CE-4885-AD77-8388AD255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Ao final, você consegue...</a:t>
            </a:r>
          </a:p>
        </p:txBody>
      </p:sp>
      <p:sp>
        <p:nvSpPr>
          <p:cNvPr id="2" name="step-num-1">
            <a:extLst xmlns:a="http://schemas.openxmlformats.org/drawingml/2006/main">
              <a:ext uri="{FF2B5EF4-FFF2-40B4-BE49-F238E27FC236}">
                <a16:creationId xmlns:a16="http://schemas.microsoft.com/office/drawing/2014/main" id="{0C0C9C55-0D2F-4E90-9F66-F0EB3BEC9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01</a:t>
            </a:r>
          </a:p>
        </p:txBody>
      </p:sp>
      <p:sp>
        <p:nvSpPr>
          <p:cNvPr id="3" name="step-label-1">
            <a:extLst xmlns:a="http://schemas.openxmlformats.org/drawingml/2006/main">
              <a:ext uri="{FF2B5EF4-FFF2-40B4-BE49-F238E27FC236}">
                <a16:creationId xmlns:a16="http://schemas.microsoft.com/office/drawing/2014/main" id="{C1DB482C-8F46-4212-B525-F832EB86C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Auditar a série original</a:t>
            </a:r>
          </a:p>
        </p:txBody>
      </p:sp>
      <p:sp>
        <p:nvSpPr>
          <p:cNvPr id="4" name="step-line-1">
            <a:extLst xmlns:a="http://schemas.openxmlformats.org/drawingml/2006/main">
              <a:ext uri="{FF2B5EF4-FFF2-40B4-BE49-F238E27FC236}">
                <a16:creationId xmlns:a16="http://schemas.microsoft.com/office/drawing/2014/main" id="{F1EC39F4-7F02-4659-8FD8-7A297EFC8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C5FF"/>
            </a:solidFill>
            <a:prstDash val="solid"/>
          </a:ln>
        </p:spPr>
      </p:sp>
      <p:sp>
        <p:nvSpPr>
          <p:cNvPr id="5" name="step-num-2">
            <a:extLst xmlns:a="http://schemas.openxmlformats.org/drawingml/2006/main">
              <a:ext uri="{FF2B5EF4-FFF2-40B4-BE49-F238E27FC236}">
                <a16:creationId xmlns:a16="http://schemas.microsoft.com/office/drawing/2014/main" id="{9F3DD033-79C4-4777-AB48-78E7B1827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02</a:t>
            </a:r>
          </a:p>
        </p:txBody>
      </p:sp>
      <p:sp>
        <p:nvSpPr>
          <p:cNvPr id="6" name="step-label-2">
            <a:extLst xmlns:a="http://schemas.openxmlformats.org/drawingml/2006/main">
              <a:ext uri="{FF2B5EF4-FFF2-40B4-BE49-F238E27FC236}">
                <a16:creationId xmlns:a16="http://schemas.microsoft.com/office/drawing/2014/main" id="{014C1272-0490-4CB2-A151-0E3703AFE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Separar implementado de conceitual</a:t>
            </a:r>
          </a:p>
        </p:txBody>
      </p:sp>
      <p:sp>
        <p:nvSpPr>
          <p:cNvPr id="7" name="step-line-2">
            <a:extLst xmlns:a="http://schemas.openxmlformats.org/drawingml/2006/main">
              <a:ext uri="{FF2B5EF4-FFF2-40B4-BE49-F238E27FC236}">
                <a16:creationId xmlns:a16="http://schemas.microsoft.com/office/drawing/2014/main" id="{1EB6511F-9E64-4FEF-9BF7-B874670EE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C5FF"/>
            </a:solidFill>
            <a:prstDash val="solid"/>
          </a:ln>
        </p:spPr>
      </p:sp>
      <p:sp>
        <p:nvSpPr>
          <p:cNvPr id="8" name="step-num-3">
            <a:extLst xmlns:a="http://schemas.openxmlformats.org/drawingml/2006/main">
              <a:ext uri="{FF2B5EF4-FFF2-40B4-BE49-F238E27FC236}">
                <a16:creationId xmlns:a16="http://schemas.microsoft.com/office/drawing/2014/main" id="{26F5D98F-3CFC-4ADB-872B-92CDA3304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03</a:t>
            </a:r>
          </a:p>
        </p:txBody>
      </p:sp>
      <p:sp>
        <p:nvSpPr>
          <p:cNvPr id="9" name="step-label-3">
            <a:extLst xmlns:a="http://schemas.openxmlformats.org/drawingml/2006/main">
              <a:ext uri="{FF2B5EF4-FFF2-40B4-BE49-F238E27FC236}">
                <a16:creationId xmlns:a16="http://schemas.microsoft.com/office/drawing/2014/main" id="{070D6A77-D119-448C-887C-FCB697816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Reconstruir o baseline suportado</a:t>
            </a:r>
          </a:p>
        </p:txBody>
      </p:sp>
      <p:sp>
        <p:nvSpPr>
          <p:cNvPr id="10" name="eyebrow">
            <a:extLst xmlns:a="http://schemas.openxmlformats.org/drawingml/2006/main">
              <a:ext uri="{FF2B5EF4-FFF2-40B4-BE49-F238E27FC236}">
                <a16:creationId xmlns:a16="http://schemas.microsoft.com/office/drawing/2014/main" id="{3AEEEE54-4948-49D8-B069-01F1C4DE8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1  •  OPEN / CORE 1.12</a:t>
            </a:r>
          </a:p>
        </p:txBody>
      </p:sp>
      <p:sp>
        <p:nvSpPr>
          <p:cNvPr id="11" name="footer-rule">
            <a:extLst xmlns:a="http://schemas.openxmlformats.org/drawingml/2006/main">
              <a:ext uri="{FF2B5EF4-FFF2-40B4-BE49-F238E27FC236}">
                <a16:creationId xmlns:a16="http://schemas.microsoft.com/office/drawing/2014/main" id="{D9FB2CBC-766A-4047-8BF1-5944AB60F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2" name="footer">
            <a:extLst xmlns:a="http://schemas.openxmlformats.org/drawingml/2006/main">
              <a:ext uri="{FF2B5EF4-FFF2-40B4-BE49-F238E27FC236}">
                <a16:creationId xmlns:a16="http://schemas.microsoft.com/office/drawing/2014/main" id="{454AA7E4-422A-43A1-A2DF-FB78E30D1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87A7FE4-FDDA-4181-B906-D037BBE4F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3/18</a:t>
            </a:r>
          </a:p>
        </p:txBody>
      </p:sp>
    </p:spTree>
    <p:extLst>
      <p:ext uri="{BB962C8B-B14F-4D97-AF65-F5344CB8AC3E}">
        <p14:creationId xmlns:p14="http://schemas.microsoft.com/office/powerpoint/2010/main" val="387349629"/>
      </p:ext>
    </p:extLst>
  </p:cSld>
</p:sld>
</file>

<file path=ppt/slides/slide4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DD735E2-AA12-4739-9890-42EE66B1A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A base original continua valiosa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413BBA1B-C1D2-4BC7-9442-CF7FA6924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Ambiente, seeds, ref, table, view e primeira Gold foram demonstrados.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5B4BD37D-7926-48B5-B168-62DEC8547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Fundamentos bem posicionados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Materializações básicas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Primeiro fluxo Silver → Gold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B7EA4206-BB8E-4AAE-8C47-BFA54CA2E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B0E97256-4E5E-4AD9-B55C-DC1433DEF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43D73939-D6EB-4FBD-B666-E82F388B0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EC5FF"/>
                </a:solidFill>
              </a:defRPr>
            </a:pPr>
            <a:r>
              <a:rPr sz="4650" b="1">
                <a:solidFill>
                  <a:srgbClr val="1EC5FF"/>
                </a:solidFill>
              </a:rPr>
              <a:t>01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E38D10B4-CE0E-4969-BD8F-5343F296A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1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6F882E36-A191-47B8-92B3-D508369D7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A396BDF2-78F1-4FC7-A392-C38B45C81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E2B267D-87F2-4D97-91A8-8C2BDCB32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4/18</a:t>
            </a:r>
          </a:p>
        </p:txBody>
      </p:sp>
    </p:spTree>
    <p:extLst>
      <p:ext uri="{BB962C8B-B14F-4D97-AF65-F5344CB8AC3E}">
        <p14:creationId xmlns:p14="http://schemas.microsoft.com/office/powerpoint/2010/main" val="210615653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8E7160B-23C1-4926-A55F-003712FE8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Produção começa no suportado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1AD99C82-B71C-4AEF-BE44-E37AA23DE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5C6F86"/>
                </a:solidFill>
              </a:defRPr>
            </a:pPr>
            <a:r>
              <a:rPr sz="1650">
                <a:solidFill>
                  <a:srgbClr val="5C6F86"/>
                </a:solidFill>
              </a:rPr>
              <a:t>Core 1.12 e DuckDB estável formam a trilha executável.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A73763D9-F6C3-430E-B21A-4ECCE7D0D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Dependências fixadas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CI determinística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Preview sem comando obrigatório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A5D71CC5-CA40-46D9-86A5-6D8C44958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FFA32837-F3A9-44C2-8A24-101CC3FBD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8BFE8D73-BCFA-43BA-BBF1-0F5BA2E01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565C0"/>
                </a:solidFill>
              </a:defRPr>
            </a:pPr>
            <a:r>
              <a:rPr sz="4650" b="1">
                <a:solidFill>
                  <a:srgbClr val="1565C0"/>
                </a:solidFill>
              </a:rPr>
              <a:t>02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CCE6FFDC-5C97-48C5-9D5C-B7B463FCF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1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C03F2DE5-5E1A-4B20-829B-7B0ACEC7E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D92897BF-40A8-4A13-9CEE-FB76E50CF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EC3F1D0-8A89-4E5C-BFE4-2D657677F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5/18</a:t>
            </a:r>
          </a:p>
        </p:txBody>
      </p:sp>
    </p:spTree>
    <p:extLst>
      <p:ext uri="{BB962C8B-B14F-4D97-AF65-F5344CB8AC3E}">
        <p14:creationId xmlns:p14="http://schemas.microsoft.com/office/powerpoint/2010/main" val="415722468"/>
      </p:ext>
    </p:extLst>
  </p:cSld>
</p:sld>
</file>

<file path=ppt/slides/slide6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AF9F9B5-6834-4274-B341-EA19A8A64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Produção começa no suportado</a:t>
            </a:r>
          </a:p>
        </p:txBody>
      </p:sp>
      <p:sp>
        <p:nvSpPr>
          <p:cNvPr id="2" name="status-dot-1">
            <a:extLst xmlns:a="http://schemas.openxmlformats.org/drawingml/2006/main">
              <a:ext uri="{FF2B5EF4-FFF2-40B4-BE49-F238E27FC236}">
                <a16:creationId xmlns:a16="http://schemas.microsoft.com/office/drawing/2014/main" id="{48C66351-53C8-4FB4-9A4D-751B6D474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1051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BE8C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3" name="status-label-1">
            <a:extLst xmlns:a="http://schemas.openxmlformats.org/drawingml/2006/main">
              <a:ext uri="{FF2B5EF4-FFF2-40B4-BE49-F238E27FC236}">
                <a16:creationId xmlns:a16="http://schemas.microsoft.com/office/drawing/2014/main" id="{8B200F27-64B8-40DA-A77D-77F74355C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810000"/>
            <a:ext cx="304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OPEN</a:t>
            </a:r>
          </a:p>
        </p:txBody>
      </p:sp>
      <p:sp>
        <p:nvSpPr>
          <p:cNvPr id="4" name="status-dot-2">
            <a:extLst xmlns:a="http://schemas.openxmlformats.org/drawingml/2006/main">
              <a:ext uri="{FF2B5EF4-FFF2-40B4-BE49-F238E27FC236}">
                <a16:creationId xmlns:a16="http://schemas.microsoft.com/office/drawing/2014/main" id="{F4F3791B-4222-4CFA-B703-9C72A490B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1051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B942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5" name="status-label-2">
            <a:extLst xmlns:a="http://schemas.openxmlformats.org/drawingml/2006/main">
              <a:ext uri="{FF2B5EF4-FFF2-40B4-BE49-F238E27FC236}">
                <a16:creationId xmlns:a16="http://schemas.microsoft.com/office/drawing/2014/main" id="{50FBFE14-5A2A-43A6-A382-A633EB755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810000"/>
            <a:ext cx="304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STABLE</a:t>
            </a:r>
          </a:p>
        </p:txBody>
      </p:sp>
      <p:sp>
        <p:nvSpPr>
          <p:cNvPr id="6" name="status-dot-3">
            <a:extLst xmlns:a="http://schemas.openxmlformats.org/drawingml/2006/main">
              <a:ext uri="{FF2B5EF4-FFF2-40B4-BE49-F238E27FC236}">
                <a16:creationId xmlns:a16="http://schemas.microsoft.com/office/drawing/2014/main" id="{732CC368-0E75-4F9E-BDDE-E1835C202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1051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5B5B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7" name="status-label-3">
            <a:extLst xmlns:a="http://schemas.openxmlformats.org/drawingml/2006/main">
              <a:ext uri="{FF2B5EF4-FFF2-40B4-BE49-F238E27FC236}">
                <a16:creationId xmlns:a16="http://schemas.microsoft.com/office/drawing/2014/main" id="{6FE9AD34-DD6E-4A02-804E-8860A4CE8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810000"/>
            <a:ext cx="304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LOCAL</a:t>
            </a:r>
          </a:p>
        </p:txBody>
      </p:sp>
      <p:sp>
        <p:nvSpPr>
          <p:cNvPr id="8" name="eyebrow">
            <a:extLst xmlns:a="http://schemas.openxmlformats.org/drawingml/2006/main">
              <a:ext uri="{FF2B5EF4-FFF2-40B4-BE49-F238E27FC236}">
                <a16:creationId xmlns:a16="http://schemas.microsoft.com/office/drawing/2014/main" id="{DB325A06-0B1F-4935-B021-0199BA923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1  •  OPEN / CORE 1.12</a:t>
            </a:r>
          </a:p>
        </p:txBody>
      </p:sp>
      <p:sp>
        <p:nvSpPr>
          <p:cNvPr id="9" name="footer-rule">
            <a:extLst xmlns:a="http://schemas.openxmlformats.org/drawingml/2006/main">
              <a:ext uri="{FF2B5EF4-FFF2-40B4-BE49-F238E27FC236}">
                <a16:creationId xmlns:a16="http://schemas.microsoft.com/office/drawing/2014/main" id="{B37CE49B-0052-44D2-92F0-E26D8B034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0" name="footer">
            <a:extLst xmlns:a="http://schemas.openxmlformats.org/drawingml/2006/main">
              <a:ext uri="{FF2B5EF4-FFF2-40B4-BE49-F238E27FC236}">
                <a16:creationId xmlns:a16="http://schemas.microsoft.com/office/drawing/2014/main" id="{09B41ADE-0081-4C4A-8BC6-B45D79129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1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77A3F3F-0BF3-4286-B0C9-739ED827A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6/18</a:t>
            </a:r>
          </a:p>
        </p:txBody>
      </p:sp>
    </p:spTree>
    <p:extLst>
      <p:ext uri="{BB962C8B-B14F-4D97-AF65-F5344CB8AC3E}">
        <p14:creationId xmlns:p14="http://schemas.microsoft.com/office/powerpoint/2010/main" val="1028372399"/>
      </p:ext>
    </p:extLst>
  </p:cSld>
</p:sld>
</file>

<file path=ppt/slides/slide7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AE3DAD8-544A-4984-8879-6AF3F7523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ref transforma SQL em um grafo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B01D9697-3DC6-416B-BC60-0A0A4661D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Dependências explícitas habilitam ordem, seleção e linhagem.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48BA6553-211F-4E2A-A08E-DF6C56D34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source → staging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staging → Gold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Gold → consumidor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7DFDBDFB-72C5-4D7B-919C-433284BF5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88915342-0A0A-4BEC-9112-7B71CFB0C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0CC3C63C-944A-44C1-BEA4-DBD3D869A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EC5FF"/>
                </a:solidFill>
              </a:defRPr>
            </a:pPr>
            <a:r>
              <a:rPr sz="4650" b="1">
                <a:solidFill>
                  <a:srgbClr val="1EC5FF"/>
                </a:solidFill>
              </a:rPr>
              <a:t>03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D0F3595C-CB1D-45D9-B117-050100484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1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11143ED7-CF4A-44DD-950A-905711A61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651880D3-05D1-4CC8-804C-7453DE299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EACAB37-F5A3-42F5-AB42-F3E3A6816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7/18</a:t>
            </a:r>
          </a:p>
        </p:txBody>
      </p:sp>
    </p:spTree>
    <p:extLst>
      <p:ext uri="{BB962C8B-B14F-4D97-AF65-F5344CB8AC3E}">
        <p14:creationId xmlns:p14="http://schemas.microsoft.com/office/powerpoint/2010/main" val="106803691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61F419A-1E9B-4658-8221-A544D60B5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ref transforma SQL em um grafo</a:t>
            </a:r>
          </a:p>
        </p:txBody>
      </p:sp>
      <p:sp>
        <p:nvSpPr>
          <p:cNvPr id="2" name="flow-1">
            <a:extLst xmlns:a="http://schemas.openxmlformats.org/drawingml/2006/main">
              <a:ext uri="{FF2B5EF4-FFF2-40B4-BE49-F238E27FC236}">
                <a16:creationId xmlns:a16="http://schemas.microsoft.com/office/drawing/2014/main" id="{750ABA8A-11A6-4110-893A-13124051C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65C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source</a:t>
            </a:r>
          </a:p>
        </p:txBody>
      </p:sp>
      <p:sp>
        <p:nvSpPr>
          <p:cNvPr id="3" name="flow-2">
            <a:extLst xmlns:a="http://schemas.openxmlformats.org/drawingml/2006/main">
              <a:ext uri="{FF2B5EF4-FFF2-40B4-BE49-F238E27FC236}">
                <a16:creationId xmlns:a16="http://schemas.microsoft.com/office/drawing/2014/main" id="{3FDCFAF4-A569-466A-868F-E1BF89D56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9488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65C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staging</a:t>
            </a:r>
          </a:p>
        </p:txBody>
      </p:sp>
      <p:sp>
        <p:nvSpPr>
          <p:cNvPr id="4" name="flow-3">
            <a:extLst xmlns:a="http://schemas.openxmlformats.org/drawingml/2006/main">
              <a:ext uri="{FF2B5EF4-FFF2-40B4-BE49-F238E27FC236}">
                <a16:creationId xmlns:a16="http://schemas.microsoft.com/office/drawing/2014/main" id="{D6EF3896-48D8-4B76-974B-E94CBA58B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65C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Gold</a:t>
            </a:r>
          </a:p>
        </p:txBody>
      </p:sp>
      <p:sp>
        <p:nvSpPr>
          <p:cNvPr id="5" name="flow-4">
            <a:extLst xmlns:a="http://schemas.openxmlformats.org/drawingml/2006/main">
              <a:ext uri="{FF2B5EF4-FFF2-40B4-BE49-F238E27FC236}">
                <a16:creationId xmlns:a16="http://schemas.microsoft.com/office/drawing/2014/main" id="{7A2B7336-1BCA-444F-9AD4-88B805B03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65C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consumer</a:t>
            </a:r>
          </a:p>
        </p:txBody>
      </p:sp>
      <p:cxnSp>
        <p:nvCxnSpPr>
          <p:cNvPr id="26" name=""/>
          <p:cNvCxnSpPr>
            <a:stCxn xmlns:a="http://schemas.openxmlformats.org/drawingml/2006/main" id="2" idx="3"/>
            <a:endCxn xmlns:a="http://schemas.openxmlformats.org/drawingml/2006/main" id="3" idx="1"/>
          </p:cNvCxnSpPr>
          <p:nvPr/>
        </p:nvCxnSpPr>
        <p:spPr>
          <a:xfrm xmlns:a="http://schemas.openxmlformats.org/drawingml/2006/main">
            <a:off x="3252788" y="3962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565C0"/>
            </a:solidFill>
            <a:prstDash val="solid"/>
            <a:headEnd type="arrow" w="med" len="med"/>
          </a:ln>
        </p:spPr>
      </p:cxnSp>
      <p:cxnSp>
        <p:nvCxnSpPr>
          <p:cNvPr id="27" name=""/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5962651" y="3962400"/>
            <a:ext cx="266699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565C0"/>
            </a:solidFill>
            <a:prstDash val="solid"/>
            <a:headEnd type="arrow" w="med" len="med"/>
          </a:ln>
        </p:spPr>
      </p:cxnSp>
      <p:cxnSp>
        <p:nvCxnSpPr>
          <p:cNvPr id="28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8672513" y="3962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565C0"/>
            </a:solidFill>
            <a:prstDash val="solid"/>
            <a:headEnd type="arrow" w="med" len="med"/>
          </a:ln>
        </p:spPr>
      </p:cxnSp>
      <p:sp>
        <p:nvSpPr>
          <p:cNvPr id="9" name="eyebrow">
            <a:extLst xmlns:a="http://schemas.openxmlformats.org/drawingml/2006/main">
              <a:ext uri="{FF2B5EF4-FFF2-40B4-BE49-F238E27FC236}">
                <a16:creationId xmlns:a16="http://schemas.microsoft.com/office/drawing/2014/main" id="{B8C23A9B-C718-4379-8AA3-6F19B940E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1  •  OPEN / CORE 1.12</a:t>
            </a:r>
          </a:p>
        </p:txBody>
      </p:sp>
      <p:sp>
        <p:nvSpPr>
          <p:cNvPr id="10" name="footer-rule">
            <a:extLst xmlns:a="http://schemas.openxmlformats.org/drawingml/2006/main">
              <a:ext uri="{FF2B5EF4-FFF2-40B4-BE49-F238E27FC236}">
                <a16:creationId xmlns:a16="http://schemas.microsoft.com/office/drawing/2014/main" id="{52969381-8740-4A4B-8916-B43311FAB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1" name="footer">
            <a:extLst xmlns:a="http://schemas.openxmlformats.org/drawingml/2006/main">
              <a:ext uri="{FF2B5EF4-FFF2-40B4-BE49-F238E27FC236}">
                <a16:creationId xmlns:a16="http://schemas.microsoft.com/office/drawing/2014/main" id="{A5724807-D7F8-4C48-8325-FF63FB1BE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5B010CD-F4E0-44A3-9A4D-999F37F9D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8/18</a:t>
            </a:r>
          </a:p>
        </p:txBody>
      </p:sp>
    </p:spTree>
    <p:extLst>
      <p:ext uri="{BB962C8B-B14F-4D97-AF65-F5344CB8AC3E}">
        <p14:creationId xmlns:p14="http://schemas.microsoft.com/office/powerpoint/2010/main" val="148262597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CA8E634-B5A2-4F05-A1AA-E50ED0A63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Artifacts respondem perguntas diferentes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8F11D381-E790-417A-B482-E27896D2D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5C6F86"/>
                </a:solidFill>
              </a:defRPr>
            </a:pPr>
            <a:r>
              <a:rPr sz="1650">
                <a:solidFill>
                  <a:srgbClr val="5C6F86"/>
                </a:solidFill>
              </a:rPr>
              <a:t>Manifest descreve o projeto; run_results registra a execução.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D370E8CD-46DD-464B-B932-E73975392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O que existe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O que depende do quê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O que passou ou falhou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0DC34789-125C-441F-BC25-3437780BB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ABFB524B-630A-4F31-9009-C522130D7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89E8BFAD-2E46-4BAA-88B1-0A9C454FD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565C0"/>
                </a:solidFill>
              </a:defRPr>
            </a:pPr>
            <a:r>
              <a:rPr sz="4650" b="1">
                <a:solidFill>
                  <a:srgbClr val="1565C0"/>
                </a:solidFill>
              </a:rPr>
              <a:t>04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95AE73A9-117F-4B81-9366-2125E1BEF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1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823725ED-4C6C-4545-B8B0-FAA69E516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BF81C619-6A1A-4AF1-8037-7D8F4C91A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FFA0034-9AD2-4C80-9137-78FC03391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9/18</a:t>
            </a:r>
          </a:p>
        </p:txBody>
      </p:sp>
    </p:spTree>
    <p:extLst>
      <p:ext uri="{BB962C8B-B14F-4D97-AF65-F5344CB8AC3E}">
        <p14:creationId xmlns:p14="http://schemas.microsoft.com/office/powerpoint/2010/main" val="4784591"/>
      </p:ext>
    </p:extLst>
  </p:cSld>
</p:sld>
</file>

<file path=ppt/slides/slide10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2ED2318-E7FD-483C-992B-576DB461C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Artifacts respondem perguntas diferentes</a:t>
            </a:r>
          </a:p>
        </p:txBody>
      </p:sp>
      <p:sp>
        <p:nvSpPr>
          <p:cNvPr id="2" name="compare-left-title">
            <a:extLst xmlns:a="http://schemas.openxmlformats.org/drawingml/2006/main">
              <a:ext uri="{FF2B5EF4-FFF2-40B4-BE49-F238E27FC236}">
                <a16:creationId xmlns:a16="http://schemas.microsoft.com/office/drawing/2014/main" id="{7E307FEE-22BE-4BAE-AAF0-E90E617AE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57500"/>
            <a:ext cx="457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EC5FF"/>
                </a:solidFill>
              </a:defRPr>
            </a:pPr>
            <a:r>
              <a:rPr sz="2100" b="1">
                <a:solidFill>
                  <a:srgbClr val="1EC5FF"/>
                </a:solidFill>
              </a:rPr>
              <a:t>Build</a:t>
            </a:r>
          </a:p>
        </p:txBody>
      </p:sp>
      <p:sp>
        <p:nvSpPr>
          <p:cNvPr id="3" name="compare-right-title">
            <a:extLst xmlns:a="http://schemas.openxmlformats.org/drawingml/2006/main">
              <a:ext uri="{FF2B5EF4-FFF2-40B4-BE49-F238E27FC236}">
                <a16:creationId xmlns:a16="http://schemas.microsoft.com/office/drawing/2014/main" id="{4AF8ED4F-1657-4060-A388-7AAFED16E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857500"/>
            <a:ext cx="457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2DBE8C"/>
                </a:solidFill>
              </a:defRPr>
            </a:pPr>
            <a:r>
              <a:rPr sz="2100" b="1">
                <a:solidFill>
                  <a:srgbClr val="2DBE8C"/>
                </a:solidFill>
              </a:rPr>
              <a:t>Artifacts</a:t>
            </a:r>
          </a:p>
        </p:txBody>
      </p:sp>
      <p:sp>
        <p:nvSpPr>
          <p:cNvPr id="4" name="compare-divider">
            <a:extLst xmlns:a="http://schemas.openxmlformats.org/drawingml/2006/main">
              <a:ext uri="{FF2B5EF4-FFF2-40B4-BE49-F238E27FC236}">
                <a16:creationId xmlns:a16="http://schemas.microsoft.com/office/drawing/2014/main" id="{083D674A-1E75-459D-99CA-92D083DAC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724150"/>
            <a:ext cx="0" cy="2571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FFFF">
                <a:alpha val="25098"/>
              </a:srgbClr>
            </a:solidFill>
            <a:prstDash val="solid"/>
          </a:ln>
        </p:spPr>
      </p:sp>
      <p:sp>
        <p:nvSpPr>
          <p:cNvPr id="5" name="bullets">
            <a:extLst xmlns:a="http://schemas.openxmlformats.org/drawingml/2006/main">
              <a:ext uri="{FF2B5EF4-FFF2-40B4-BE49-F238E27FC236}">
                <a16:creationId xmlns:a16="http://schemas.microsoft.com/office/drawing/2014/main" id="{97971419-5693-4B38-AA71-7D63A65DB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24250"/>
            <a:ext cx="4572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FFFFFF"/>
                </a:solidFill>
              </a:defRPr>
            </a:pPr>
            <a:r>
              <a:rPr sz="1650">
                <a:solidFill>
                  <a:srgbClr val="FFFFFF"/>
                </a:solidFill>
              </a:rPr>
              <a:t>• O que existe</a:t>
            </a:r>
          </a:p>
          <a:p xmlns:a="http://schemas.openxmlformats.org/drawingml/2006/main">
            <a:pPr>
              <a:buNone/>
              <a:defRPr sz="1650">
                <a:solidFill>
                  <a:srgbClr val="FFFFFF"/>
                </a:solidFill>
              </a:defRPr>
            </a:pPr>
            <a:r>
              <a:rPr sz="1650">
                <a:solidFill>
                  <a:srgbClr val="FFFFFF"/>
                </a:solidFill>
              </a:rPr>
              <a:t>• O que depende do quê</a:t>
            </a:r>
          </a:p>
        </p:txBody>
      </p:sp>
      <p:sp>
        <p:nvSpPr>
          <p:cNvPr id="6" name="bullets">
            <a:extLst xmlns:a="http://schemas.openxmlformats.org/drawingml/2006/main">
              <a:ext uri="{FF2B5EF4-FFF2-40B4-BE49-F238E27FC236}">
                <a16:creationId xmlns:a16="http://schemas.microsoft.com/office/drawing/2014/main" id="{85A2F60F-3E08-4264-897D-C3FF971B6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524250"/>
            <a:ext cx="4572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FFFFFF"/>
                </a:solidFill>
              </a:defRPr>
            </a:pPr>
            <a:r>
              <a:rPr sz="1650">
                <a:solidFill>
                  <a:srgbClr val="FFFFFF"/>
                </a:solidFill>
              </a:rPr>
              <a:t>• O que passou ou falhou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66DA61D3-D102-4E6F-8EC8-CB3EAA7AA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1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1A4B5BBC-88F9-47AF-88E8-288E21763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76423EBC-BE68-4A2D-9783-5E8A1EE14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22BF9BE-4361-48C0-B087-A93260A7E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10/18</a:t>
            </a:r>
          </a:p>
        </p:txBody>
      </p:sp>
    </p:spTree>
    <p:extLst>
      <p:ext uri="{BB962C8B-B14F-4D97-AF65-F5344CB8AC3E}">
        <p14:creationId xmlns:p14="http://schemas.microsoft.com/office/powerpoint/2010/main" val="722200293"/>
      </p:ext>
    </p:extLst>
  </p:cSld>
</p:sld>
</file>

<file path=ppt/slides/slide11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920C7D5-F325-46AC-8493-EEBD86B75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Demonstração — execute</a:t>
            </a:r>
          </a:p>
        </p:txBody>
      </p:sp>
      <p:sp>
        <p:nvSpPr>
          <p:cNvPr id="2" name="code-surface">
            <a:extLst xmlns:a="http://schemas.openxmlformats.org/drawingml/2006/main">
              <a:ext uri="{FF2B5EF4-FFF2-40B4-BE49-F238E27FC236}">
                <a16:creationId xmlns:a16="http://schemas.microsoft.com/office/drawing/2014/main" id="{0C1D5F67-68BD-4385-A6A5-016021ACD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571750"/>
            <a:ext cx="97155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031021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</p:sp>
      <p:sp>
        <p:nvSpPr>
          <p:cNvPr id="3" name="command">
            <a:extLst xmlns:a="http://schemas.openxmlformats.org/drawingml/2006/main">
              <a:ext uri="{FF2B5EF4-FFF2-40B4-BE49-F238E27FC236}">
                <a16:creationId xmlns:a16="http://schemas.microsoft.com/office/drawing/2014/main" id="{CBBE08DE-23FD-4A96-AFA7-5B20BD6B2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3000375"/>
            <a:ext cx="8858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EC5FF"/>
                </a:solidFill>
              </a:defRPr>
            </a:pPr>
            <a:r>
              <a:rPr sz="1875" b="1">
                <a:solidFill>
                  <a:srgbClr val="1EC5FF"/>
                </a:solidFill>
              </a:rPr>
              <a:t>python course.py checkpoint 01</a:t>
            </a:r>
          </a:p>
        </p:txBody>
      </p:sp>
      <p:sp>
        <p:nvSpPr>
          <p:cNvPr id="4" name="command-help">
            <a:extLst xmlns:a="http://schemas.openxmlformats.org/drawingml/2006/main">
              <a:ext uri="{FF2B5EF4-FFF2-40B4-BE49-F238E27FC236}">
                <a16:creationId xmlns:a16="http://schemas.microsoft.com/office/drawing/2014/main" id="{C95E398B-750A-477C-AFAF-8CE0611D7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4619625"/>
            <a:ext cx="885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>
                <a:solidFill>
                  <a:srgbClr val="E2F2FF"/>
                </a:solidFill>
              </a:defRPr>
            </a:pPr>
            <a:r>
              <a:rPr sz="1425">
                <a:solidFill>
                  <a:srgbClr val="E2F2FF"/>
                </a:solidFill>
              </a:rPr>
              <a:t>Copie exatamente como aparece. O launcher escolhe o ambiente correto.</a:t>
            </a:r>
          </a:p>
        </p:txBody>
      </p:sp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87125C4A-C9BF-45CF-AA18-04288C0AB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1  •  OPEN / CORE 1.12</a:t>
            </a:r>
          </a:p>
        </p:txBody>
      </p:sp>
      <p:sp>
        <p:nvSpPr>
          <p:cNvPr id="6" name="footer-rule">
            <a:extLst xmlns:a="http://schemas.openxmlformats.org/drawingml/2006/main">
              <a:ext uri="{FF2B5EF4-FFF2-40B4-BE49-F238E27FC236}">
                <a16:creationId xmlns:a16="http://schemas.microsoft.com/office/drawing/2014/main" id="{1F7D096B-0592-4D78-873F-E87233B53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CCA4FC4E-7E2D-447F-B1DA-81E1BF156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0757FCB-C1D5-422C-ABC4-9620CDD4A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11/18</a:t>
            </a:r>
          </a:p>
        </p:txBody>
      </p:sp>
    </p:spTree>
    <p:extLst>
      <p:ext uri="{BB962C8B-B14F-4D97-AF65-F5344CB8AC3E}">
        <p14:creationId xmlns:p14="http://schemas.microsoft.com/office/powerpoint/2010/main" val="110168597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24F1E5F-FCF2-4423-B44A-6A758DF9C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Demonstração — observe</a:t>
            </a:r>
          </a:p>
        </p:txBody>
      </p:sp>
      <p:sp>
        <p:nvSpPr>
          <p:cNvPr id="2" name="step-num-1">
            <a:extLst xmlns:a="http://schemas.openxmlformats.org/drawingml/2006/main">
              <a:ext uri="{FF2B5EF4-FFF2-40B4-BE49-F238E27FC236}">
                <a16:creationId xmlns:a16="http://schemas.microsoft.com/office/drawing/2014/main" id="{4560EB09-4031-4869-8CBD-9E1FBF762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01</a:t>
            </a:r>
          </a:p>
        </p:txBody>
      </p:sp>
      <p:sp>
        <p:nvSpPr>
          <p:cNvPr id="3" name="step-label-1">
            <a:extLst xmlns:a="http://schemas.openxmlformats.org/drawingml/2006/main">
              <a:ext uri="{FF2B5EF4-FFF2-40B4-BE49-F238E27FC236}">
                <a16:creationId xmlns:a16="http://schemas.microsoft.com/office/drawing/2014/main" id="{F0D50119-DE66-4168-9A2E-3B18A14FB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8 pedidos na amostra</a:t>
            </a:r>
          </a:p>
        </p:txBody>
      </p:sp>
      <p:sp>
        <p:nvSpPr>
          <p:cNvPr id="4" name="step-line-1">
            <a:extLst xmlns:a="http://schemas.openxmlformats.org/drawingml/2006/main">
              <a:ext uri="{FF2B5EF4-FFF2-40B4-BE49-F238E27FC236}">
                <a16:creationId xmlns:a16="http://schemas.microsoft.com/office/drawing/2014/main" id="{C364F7EF-FC5D-42FA-B011-B2140D17D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5" name="step-num-2">
            <a:extLst xmlns:a="http://schemas.openxmlformats.org/drawingml/2006/main">
              <a:ext uri="{FF2B5EF4-FFF2-40B4-BE49-F238E27FC236}">
                <a16:creationId xmlns:a16="http://schemas.microsoft.com/office/drawing/2014/main" id="{D965E932-8132-4823-8AC3-851163C28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02</a:t>
            </a:r>
          </a:p>
        </p:txBody>
      </p:sp>
      <p:sp>
        <p:nvSpPr>
          <p:cNvPr id="6" name="step-label-2">
            <a:extLst xmlns:a="http://schemas.openxmlformats.org/drawingml/2006/main">
              <a:ext uri="{FF2B5EF4-FFF2-40B4-BE49-F238E27FC236}">
                <a16:creationId xmlns:a16="http://schemas.microsoft.com/office/drawing/2014/main" id="{9B74DDDE-2270-4059-BE6A-D2858F234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Manifest e catálogo gerados</a:t>
            </a:r>
          </a:p>
        </p:txBody>
      </p:sp>
      <p:sp>
        <p:nvSpPr>
          <p:cNvPr id="7" name="step-line-2">
            <a:extLst xmlns:a="http://schemas.openxmlformats.org/drawingml/2006/main">
              <a:ext uri="{FF2B5EF4-FFF2-40B4-BE49-F238E27FC236}">
                <a16:creationId xmlns:a16="http://schemas.microsoft.com/office/drawing/2014/main" id="{9232820C-66EF-435B-B258-02195F662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8" name="step-num-3">
            <a:extLst xmlns:a="http://schemas.openxmlformats.org/drawingml/2006/main">
              <a:ext uri="{FF2B5EF4-FFF2-40B4-BE49-F238E27FC236}">
                <a16:creationId xmlns:a16="http://schemas.microsoft.com/office/drawing/2014/main" id="{38CA152F-7C3C-4DD3-BC3B-02AB84499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03</a:t>
            </a:r>
          </a:p>
        </p:txBody>
      </p:sp>
      <p:sp>
        <p:nvSpPr>
          <p:cNvPr id="9" name="step-label-3">
            <a:extLst xmlns:a="http://schemas.openxmlformats.org/drawingml/2006/main">
              <a:ext uri="{FF2B5EF4-FFF2-40B4-BE49-F238E27FC236}">
                <a16:creationId xmlns:a16="http://schemas.microsoft.com/office/drawing/2014/main" id="{2C860EA0-025F-4C49-8A87-D5B85E655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Semantic manifest e OSI válidos</a:t>
            </a:r>
          </a:p>
        </p:txBody>
      </p:sp>
      <p:sp>
        <p:nvSpPr>
          <p:cNvPr id="10" name="eyebrow">
            <a:extLst xmlns:a="http://schemas.openxmlformats.org/drawingml/2006/main">
              <a:ext uri="{FF2B5EF4-FFF2-40B4-BE49-F238E27FC236}">
                <a16:creationId xmlns:a16="http://schemas.microsoft.com/office/drawing/2014/main" id="{E2BF2234-BCE9-424E-9CE7-C5E45DD24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1  •  OPEN / CORE 1.12</a:t>
            </a:r>
          </a:p>
        </p:txBody>
      </p:sp>
      <p:sp>
        <p:nvSpPr>
          <p:cNvPr id="11" name="footer-rule">
            <a:extLst xmlns:a="http://schemas.openxmlformats.org/drawingml/2006/main">
              <a:ext uri="{FF2B5EF4-FFF2-40B4-BE49-F238E27FC236}">
                <a16:creationId xmlns:a16="http://schemas.microsoft.com/office/drawing/2014/main" id="{A2CCF2BA-F53E-40AB-8E47-64BE3FF59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2" name="footer">
            <a:extLst xmlns:a="http://schemas.openxmlformats.org/drawingml/2006/main">
              <a:ext uri="{FF2B5EF4-FFF2-40B4-BE49-F238E27FC236}">
                <a16:creationId xmlns:a16="http://schemas.microsoft.com/office/drawing/2014/main" id="{32FA2050-48D5-4DFC-AB25-69CAAC803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FBD959B-8CF1-4021-81A7-4E1023A7B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12/18</a:t>
            </a:r>
          </a:p>
        </p:txBody>
      </p:sp>
    </p:spTree>
    <p:extLst>
      <p:ext uri="{BB962C8B-B14F-4D97-AF65-F5344CB8AC3E}">
        <p14:creationId xmlns:p14="http://schemas.microsoft.com/office/powerpoint/2010/main" val="355035646"/>
      </p:ext>
    </p:extLst>
  </p:cSld>
</p:sld>
</file>

<file path=ppt/slides/slide13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result-label">
            <a:extLst xmlns:a="http://schemas.openxmlformats.org/drawingml/2006/main">
              <a:ext uri="{FF2B5EF4-FFF2-40B4-BE49-F238E27FC236}">
                <a16:creationId xmlns:a16="http://schemas.microsoft.com/office/drawing/2014/main" id="{4494651B-7988-4D9D-B617-F1B22436A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144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EC5FF"/>
                </a:solidFill>
              </a:defRPr>
            </a:pPr>
            <a:r>
              <a:rPr sz="1350" b="1">
                <a:solidFill>
                  <a:srgbClr val="1EC5FF"/>
                </a:solidFill>
              </a:rPr>
              <a:t>RESULTADO ESPERADO</a:t>
            </a:r>
          </a:p>
        </p:txBody>
      </p:sp>
      <p:sp>
        <p:nvSpPr>
          <p:cNvPr id="2" name="result">
            <a:extLst xmlns:a="http://schemas.openxmlformats.org/drawingml/2006/main">
              <a:ext uri="{FF2B5EF4-FFF2-40B4-BE49-F238E27FC236}">
                <a16:creationId xmlns:a16="http://schemas.microsoft.com/office/drawing/2014/main" id="{29FF96A6-DC04-4FAD-8086-335E1B472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10001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FFFFFF"/>
                </a:solidFill>
              </a:defRPr>
            </a:pPr>
            <a:r>
              <a:rPr sz="3450" b="1">
                <a:solidFill>
                  <a:srgbClr val="FFFFFF"/>
                </a:solidFill>
              </a:rPr>
              <a:t>Baseline reproduzido</a:t>
            </a:r>
          </a:p>
        </p:txBody>
      </p:sp>
      <p:sp>
        <p:nvSpPr>
          <p:cNvPr id="3" name="result-meta">
            <a:extLst xmlns:a="http://schemas.openxmlformats.org/drawingml/2006/main">
              <a:ext uri="{FF2B5EF4-FFF2-40B4-BE49-F238E27FC236}">
                <a16:creationId xmlns:a16="http://schemas.microsoft.com/office/drawing/2014/main" id="{6E5CC1B5-D6DE-4264-BDFB-EAF7DDA5E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Checkpoint 01 • evidência reproduzível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9F314F0A-7CE3-4AAD-BBE4-B2B0FA59A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47650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50CBA09C-6434-4476-A80E-669E3EC39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93370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A428B6EF-5E42-4603-B906-871B33E84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1  •  OPEN / CORE 1.12</a:t>
            </a:r>
          </a:p>
        </p:txBody>
      </p:sp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17D6351F-62F6-4659-8E0C-2B9172F17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2B45A18D-FE94-4709-AB96-9A9A3C7B0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322DEC6-A6DE-46CB-9CD9-89AE5B8B2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13/18</a:t>
            </a:r>
          </a:p>
        </p:txBody>
      </p:sp>
    </p:spTree>
    <p:extLst>
      <p:ext uri="{BB962C8B-B14F-4D97-AF65-F5344CB8AC3E}">
        <p14:creationId xmlns:p14="http://schemas.microsoft.com/office/powerpoint/2010/main" val="139056564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3BE8022-91A4-4F51-9543-76A8B6FFD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O mesmo recurso afeta três decisões</a:t>
            </a:r>
          </a:p>
        </p:txBody>
      </p:sp>
      <p:sp>
        <p:nvSpPr>
          <p:cNvPr id="2" name="step-num-1">
            <a:extLst xmlns:a="http://schemas.openxmlformats.org/drawingml/2006/main">
              <a:ext uri="{FF2B5EF4-FFF2-40B4-BE49-F238E27FC236}">
                <a16:creationId xmlns:a16="http://schemas.microsoft.com/office/drawing/2014/main" id="{7BBDBA59-2857-4EC2-891A-5839B4812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01</a:t>
            </a:r>
          </a:p>
        </p:txBody>
      </p:sp>
      <p:sp>
        <p:nvSpPr>
          <p:cNvPr id="3" name="step-label-1">
            <a:extLst xmlns:a="http://schemas.openxmlformats.org/drawingml/2006/main">
              <a:ext uri="{FF2B5EF4-FFF2-40B4-BE49-F238E27FC236}">
                <a16:creationId xmlns:a16="http://schemas.microsoft.com/office/drawing/2014/main" id="{5CA8FCA0-8B14-48D5-88AA-43D2D0D86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Governança: artifact auditável</a:t>
            </a:r>
          </a:p>
        </p:txBody>
      </p:sp>
      <p:sp>
        <p:nvSpPr>
          <p:cNvPr id="4" name="step-line-1">
            <a:extLst xmlns:a="http://schemas.openxmlformats.org/drawingml/2006/main">
              <a:ext uri="{FF2B5EF4-FFF2-40B4-BE49-F238E27FC236}">
                <a16:creationId xmlns:a16="http://schemas.microsoft.com/office/drawing/2014/main" id="{90410F1A-38DD-4DDE-BFB6-06282884E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5" name="step-num-2">
            <a:extLst xmlns:a="http://schemas.openxmlformats.org/drawingml/2006/main">
              <a:ext uri="{FF2B5EF4-FFF2-40B4-BE49-F238E27FC236}">
                <a16:creationId xmlns:a16="http://schemas.microsoft.com/office/drawing/2014/main" id="{54A9717A-CE7B-42F1-8D53-F64B149B7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02</a:t>
            </a:r>
          </a:p>
        </p:txBody>
      </p:sp>
      <p:sp>
        <p:nvSpPr>
          <p:cNvPr id="6" name="step-label-2">
            <a:extLst xmlns:a="http://schemas.openxmlformats.org/drawingml/2006/main">
              <a:ext uri="{FF2B5EF4-FFF2-40B4-BE49-F238E27FC236}">
                <a16:creationId xmlns:a16="http://schemas.microsoft.com/office/drawing/2014/main" id="{AFFA8C74-B147-45EB-9F7D-69C8FEF66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FinOps: versões reproduzíveis</a:t>
            </a:r>
          </a:p>
        </p:txBody>
      </p:sp>
      <p:sp>
        <p:nvSpPr>
          <p:cNvPr id="7" name="step-line-2">
            <a:extLst xmlns:a="http://schemas.openxmlformats.org/drawingml/2006/main">
              <a:ext uri="{FF2B5EF4-FFF2-40B4-BE49-F238E27FC236}">
                <a16:creationId xmlns:a16="http://schemas.microsoft.com/office/drawing/2014/main" id="{258BE137-7E63-4930-834B-FBC1A4E5A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8" name="step-num-3">
            <a:extLst xmlns:a="http://schemas.openxmlformats.org/drawingml/2006/main">
              <a:ext uri="{FF2B5EF4-FFF2-40B4-BE49-F238E27FC236}">
                <a16:creationId xmlns:a16="http://schemas.microsoft.com/office/drawing/2014/main" id="{842D94B2-E6F9-4585-891B-F44EB2496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03</a:t>
            </a:r>
          </a:p>
        </p:txBody>
      </p:sp>
      <p:sp>
        <p:nvSpPr>
          <p:cNvPr id="9" name="step-label-3">
            <a:extLst xmlns:a="http://schemas.openxmlformats.org/drawingml/2006/main">
              <a:ext uri="{FF2B5EF4-FFF2-40B4-BE49-F238E27FC236}">
                <a16:creationId xmlns:a16="http://schemas.microsoft.com/office/drawing/2014/main" id="{BEEAF4C9-0219-435C-87CE-766906ECB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IA: contexto antes de SQL</a:t>
            </a:r>
          </a:p>
        </p:txBody>
      </p:sp>
      <p:sp>
        <p:nvSpPr>
          <p:cNvPr id="10" name="eyebrow">
            <a:extLst xmlns:a="http://schemas.openxmlformats.org/drawingml/2006/main">
              <a:ext uri="{FF2B5EF4-FFF2-40B4-BE49-F238E27FC236}">
                <a16:creationId xmlns:a16="http://schemas.microsoft.com/office/drawing/2014/main" id="{644FB903-53F4-4DB8-9BCE-F13F8DC85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1  •  OPEN / CORE 1.12</a:t>
            </a:r>
          </a:p>
        </p:txBody>
      </p:sp>
      <p:sp>
        <p:nvSpPr>
          <p:cNvPr id="11" name="footer-rule">
            <a:extLst xmlns:a="http://schemas.openxmlformats.org/drawingml/2006/main">
              <a:ext uri="{FF2B5EF4-FFF2-40B4-BE49-F238E27FC236}">
                <a16:creationId xmlns:a16="http://schemas.microsoft.com/office/drawing/2014/main" id="{764D0CDF-16BA-4385-B919-B7ABD3F4F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2" name="footer">
            <a:extLst xmlns:a="http://schemas.openxmlformats.org/drawingml/2006/main">
              <a:ext uri="{FF2B5EF4-FFF2-40B4-BE49-F238E27FC236}">
                <a16:creationId xmlns:a16="http://schemas.microsoft.com/office/drawing/2014/main" id="{6DE26DB6-4D8F-47E9-A71B-8F7727EE8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14138F8-2E5A-4CE5-BECF-01F8A1741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14/18</a:t>
            </a:r>
          </a:p>
        </p:txBody>
      </p:sp>
    </p:spTree>
    <p:extLst>
      <p:ext uri="{BB962C8B-B14F-4D97-AF65-F5344CB8AC3E}">
        <p14:creationId xmlns:p14="http://schemas.microsoft.com/office/powerpoint/2010/main" val="2104760436"/>
      </p:ext>
    </p:extLst>
  </p:cSld>
</p:sld>
</file>

<file path=ppt/slides/slide15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ase-number">
            <a:extLst xmlns:a="http://schemas.openxmlformats.org/drawingml/2006/main">
              <a:ext uri="{FF2B5EF4-FFF2-40B4-BE49-F238E27FC236}">
                <a16:creationId xmlns:a16="http://schemas.microsoft.com/office/drawing/2014/main" id="{D7F32624-C71A-4BC9-934D-7689FA271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5334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5550" b="1">
                <a:solidFill>
                  <a:srgbClr val="1EC5FF"/>
                </a:solidFill>
              </a:defRPr>
            </a:pPr>
            <a:r>
              <a:rPr sz="5550" b="1">
                <a:solidFill>
                  <a:srgbClr val="1EC5FF"/>
                </a:solidFill>
              </a:rPr>
              <a:t>8 / 740 / 630</a:t>
            </a:r>
          </a:p>
        </p:txBody>
      </p:sp>
      <p:sp>
        <p:nvSpPr>
          <p:cNvPr id="2" name="case-label">
            <a:extLst xmlns:a="http://schemas.openxmlformats.org/drawingml/2006/main">
              <a:ext uri="{FF2B5EF4-FFF2-40B4-BE49-F238E27FC236}">
                <a16:creationId xmlns:a16="http://schemas.microsoft.com/office/drawing/2014/main" id="{9609985C-A37D-4CD5-A0E9-87B66DD3B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pedidos / receita bruta / entregue</a:t>
            </a:r>
          </a:p>
        </p:txBody>
      </p:sp>
      <p:sp>
        <p:nvSpPr>
          <p:cNvPr id="3" name="case-divider">
            <a:extLst xmlns:a="http://schemas.openxmlformats.org/drawingml/2006/main">
              <a:ext uri="{FF2B5EF4-FFF2-40B4-BE49-F238E27FC236}">
                <a16:creationId xmlns:a16="http://schemas.microsoft.com/office/drawing/2014/main" id="{7AE8BFD6-5378-42F4-BA1B-66BEF6AB7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524000"/>
            <a:ext cx="0" cy="3143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FFFF">
                <a:alpha val="27059"/>
              </a:srgbClr>
            </a:solidFill>
            <a:prstDash val="solid"/>
          </a:ln>
        </p:spPr>
      </p:sp>
      <p:sp>
        <p:nvSpPr>
          <p:cNvPr id="4" name="case-caveat">
            <a:extLst xmlns:a="http://schemas.openxmlformats.org/drawingml/2006/main">
              <a:ext uri="{FF2B5EF4-FFF2-40B4-BE49-F238E27FC236}">
                <a16:creationId xmlns:a16="http://schemas.microsoft.com/office/drawing/2014/main" id="{546F5CD4-C548-4F49-88E5-98AB86320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190750"/>
            <a:ext cx="3333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E2F2FF"/>
                </a:solidFill>
              </a:defRPr>
            </a:pPr>
            <a:r>
              <a:rPr sz="1800">
                <a:solidFill>
                  <a:srgbClr val="E2F2FF"/>
                </a:solidFill>
              </a:rPr>
              <a:t>Ground truth da amostra Olist do curso.</a:t>
            </a:r>
          </a:p>
        </p:txBody>
      </p:sp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AAF8A4F5-2C7D-4E05-8499-12D18273E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1  •  OPEN / CORE 1.12</a:t>
            </a:r>
          </a:p>
        </p:txBody>
      </p:sp>
      <p:sp>
        <p:nvSpPr>
          <p:cNvPr id="6" name="footer-rule">
            <a:extLst xmlns:a="http://schemas.openxmlformats.org/drawingml/2006/main">
              <a:ext uri="{FF2B5EF4-FFF2-40B4-BE49-F238E27FC236}">
                <a16:creationId xmlns:a16="http://schemas.microsoft.com/office/drawing/2014/main" id="{31B16BC6-3254-45B7-940C-9CBD68EEF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439ADF13-CF7C-4E8D-BC6D-0B4B36454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523C624-2F01-4D56-AD1C-26631044E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15/18</a:t>
            </a:r>
          </a:p>
        </p:txBody>
      </p:sp>
    </p:spTree>
    <p:extLst>
      <p:ext uri="{BB962C8B-B14F-4D97-AF65-F5344CB8AC3E}">
        <p14:creationId xmlns:p14="http://schemas.microsoft.com/office/powerpoint/2010/main" val="1305496515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96E9731-C0DC-4A6F-84CC-4F9859FA0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Limitações que precisam permanecer visíveis</a:t>
            </a:r>
          </a:p>
        </p:txBody>
      </p:sp>
      <p:sp>
        <p:nvSpPr>
          <p:cNvPr id="2" name="bullets">
            <a:extLst xmlns:a="http://schemas.openxmlformats.org/drawingml/2006/main">
              <a:ext uri="{FF2B5EF4-FFF2-40B4-BE49-F238E27FC236}">
                <a16:creationId xmlns:a16="http://schemas.microsoft.com/office/drawing/2014/main" id="{F3000498-FFD7-4031-82F4-760D56393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667000"/>
            <a:ext cx="99060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950">
                <a:solidFill>
                  <a:srgbClr val="0B1F3A"/>
                </a:solidFill>
              </a:defRPr>
            </a:pPr>
            <a:r>
              <a:rPr sz="1950">
                <a:solidFill>
                  <a:srgbClr val="0B1F3A"/>
                </a:solidFill>
              </a:rPr>
              <a:t>• Incremental, testes e deploy não estavam implementados na série original</a:t>
            </a:r>
          </a:p>
          <a:p xmlns:a="http://schemas.openxmlformats.org/drawingml/2006/main">
            <a:pPr>
              <a:buNone/>
              <a:defRPr sz="1950">
                <a:solidFill>
                  <a:srgbClr val="0B1F3A"/>
                </a:solidFill>
              </a:defRPr>
            </a:pPr>
            <a:r>
              <a:rPr sz="1950">
                <a:solidFill>
                  <a:srgbClr val="0B1F3A"/>
                </a:solidFill>
              </a:rPr>
              <a:t>• Artifacts não substituem monitoramento</a:t>
            </a:r>
          </a:p>
          <a:p xmlns:a="http://schemas.openxmlformats.org/drawingml/2006/main">
            <a:pPr>
              <a:buNone/>
              <a:defRPr sz="1950">
                <a:solidFill>
                  <a:srgbClr val="0B1F3A"/>
                </a:solidFill>
              </a:defRPr>
            </a:pPr>
            <a:r>
              <a:rPr sz="1950">
                <a:solidFill>
                  <a:srgbClr val="0B1F3A"/>
                </a:solidFill>
              </a:rPr>
              <a:t>• Core 2.0 não entra na aceitação</a:t>
            </a:r>
          </a:p>
        </p:txBody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791F412C-591A-4F9F-A2C1-A9A11C160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1  •  OPEN / CORE 1.12</a:t>
            </a:r>
          </a:p>
        </p:txBody>
      </p:sp>
      <p:sp>
        <p:nvSpPr>
          <p:cNvPr id="4" name="footer-rule">
            <a:extLst xmlns:a="http://schemas.openxmlformats.org/drawingml/2006/main">
              <a:ext uri="{FF2B5EF4-FFF2-40B4-BE49-F238E27FC236}">
                <a16:creationId xmlns:a16="http://schemas.microsoft.com/office/drawing/2014/main" id="{74C5DE50-02D3-4443-8D93-8DED096C9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5" name="footer">
            <a:extLst xmlns:a="http://schemas.openxmlformats.org/drawingml/2006/main">
              <a:ext uri="{FF2B5EF4-FFF2-40B4-BE49-F238E27FC236}">
                <a16:creationId xmlns:a16="http://schemas.microsoft.com/office/drawing/2014/main" id="{27631398-0929-4D12-88C3-CF67C52B2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6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19998F4-944C-4678-9C8E-6FC0E4234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16/18</a:t>
            </a:r>
          </a:p>
        </p:txBody>
      </p:sp>
    </p:spTree>
    <p:extLst>
      <p:ext uri="{BB962C8B-B14F-4D97-AF65-F5344CB8AC3E}">
        <p14:creationId xmlns:p14="http://schemas.microsoft.com/office/powerpoint/2010/main" val="1873332413"/>
      </p:ext>
    </p:extLst>
  </p:cSld>
</p:sld>
</file>

<file path=ppt/slides/slide17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radar-label">
            <a:extLst xmlns:a="http://schemas.openxmlformats.org/drawingml/2006/main">
              <a:ext uri="{FF2B5EF4-FFF2-40B4-BE49-F238E27FC236}">
                <a16:creationId xmlns:a16="http://schemas.microsoft.com/office/drawing/2014/main" id="{B2021F54-D31C-4A11-BF43-CDE583E9D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247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EC5FF"/>
                </a:solidFill>
              </a:defRPr>
            </a:pPr>
            <a:r>
              <a:rPr sz="1500" b="1">
                <a:solidFill>
                  <a:srgbClr val="1EC5FF"/>
                </a:solidFill>
              </a:rPr>
              <a:t>RADAR</a:t>
            </a:r>
          </a:p>
        </p:txBody>
      </p:sp>
      <p:sp>
        <p:nvSpPr>
          <p:cNvPr id="2" name="radar-text">
            <a:extLst xmlns:a="http://schemas.openxmlformats.org/drawingml/2006/main">
              <a:ext uri="{FF2B5EF4-FFF2-40B4-BE49-F238E27FC236}">
                <a16:creationId xmlns:a16="http://schemas.microsoft.com/office/drawing/2014/main" id="{82B4D82D-F34F-4E97-8B26-06A20925A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9334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Novidade não substitui maturidade: Core 2.0 e Fusion aparecem sem recomendação de produção.</a:t>
            </a:r>
          </a:p>
        </p:txBody>
      </p:sp>
      <p:sp>
        <p:nvSpPr>
          <p:cNvPr id="3" name="radar-rule">
            <a:extLst xmlns:a="http://schemas.openxmlformats.org/drawingml/2006/main">
              <a:ext uri="{FF2B5EF4-FFF2-40B4-BE49-F238E27FC236}">
                <a16:creationId xmlns:a16="http://schemas.microsoft.com/office/drawing/2014/main" id="{B33689D4-686E-4014-A9D3-5B9603B6F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E2F2FF"/>
                </a:solidFill>
              </a:defRPr>
            </a:pPr>
            <a:r>
              <a:rPr sz="1500">
                <a:solidFill>
                  <a:srgbClr val="E2F2FF"/>
                </a:solidFill>
              </a:rPr>
              <a:t>Novidade observada ≠ recomendação de produção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B7C5A35B-F8E4-4F47-B968-33E5392F9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762250"/>
            <a:ext cx="1809750" cy="1809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B47B97D3-52CC-4C3E-8224-AF6C25315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321945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4CA2D0AB-10F5-4C18-9837-87B5EA869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1  •  OPEN / CORE 1.12</a:t>
            </a:r>
          </a:p>
        </p:txBody>
      </p:sp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B3F4B599-E729-4F35-B701-E5F823FB1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175695EF-ECF7-47A2-845C-C88FBB7E9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D4D9AD1-C771-498D-A34C-9EC2AF47D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17/18</a:t>
            </a:r>
          </a:p>
        </p:txBody>
      </p:sp>
    </p:spTree>
    <p:extLst>
      <p:ext uri="{BB962C8B-B14F-4D97-AF65-F5344CB8AC3E}">
        <p14:creationId xmlns:p14="http://schemas.microsoft.com/office/powerpoint/2010/main" val="842539552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ta-label">
            <a:extLst xmlns:a="http://schemas.openxmlformats.org/drawingml/2006/main">
              <a:ext uri="{FF2B5EF4-FFF2-40B4-BE49-F238E27FC236}">
                <a16:creationId xmlns:a16="http://schemas.microsoft.com/office/drawing/2014/main" id="{97E780FA-3E8F-4C84-A051-18C87BC50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33500"/>
            <a:ext cx="3810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565C0"/>
                </a:solidFill>
              </a:defRPr>
            </a:pPr>
            <a:r>
              <a:rPr sz="1350" b="1">
                <a:solidFill>
                  <a:srgbClr val="1565C0"/>
                </a:solidFill>
              </a:rPr>
              <a:t>PRÓXIMO PASSO</a:t>
            </a:r>
          </a:p>
        </p:txBody>
      </p:sp>
      <p:sp>
        <p:nvSpPr>
          <p:cNvPr id="2" name="cta">
            <a:extLst xmlns:a="http://schemas.openxmlformats.org/drawingml/2006/main">
              <a:ext uri="{FF2B5EF4-FFF2-40B4-BE49-F238E27FC236}">
                <a16:creationId xmlns:a16="http://schemas.microsoft.com/office/drawing/2014/main" id="{BA630CC7-BB1F-4229-A4A3-0BC0AAE69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9715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0B1F3A"/>
                </a:solidFill>
              </a:defRPr>
            </a:pPr>
            <a:r>
              <a:rPr sz="3300" b="1">
                <a:solidFill>
                  <a:srgbClr val="0B1F3A"/>
                </a:solidFill>
              </a:rPr>
              <a:t>Reproduza o checkpoint e abra manifest.json antes do episódio 2.</a:t>
            </a:r>
          </a:p>
        </p:txBody>
      </p:sp>
      <p:sp>
        <p:nvSpPr>
          <p:cNvPr id="3" name="cta-meta">
            <a:extLst xmlns:a="http://schemas.openxmlformats.org/drawingml/2006/main">
              <a:ext uri="{FF2B5EF4-FFF2-40B4-BE49-F238E27FC236}">
                <a16:creationId xmlns:a16="http://schemas.microsoft.com/office/drawing/2014/main" id="{213418D3-BE8B-4BD4-8659-CD34D2732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762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5C6F86"/>
                </a:solidFill>
              </a:defRPr>
            </a:pPr>
            <a:r>
              <a:rPr sz="1500">
                <a:solidFill>
                  <a:srgbClr val="5C6F86"/>
                </a:solidFill>
              </a:rPr>
              <a:t>Checkpoint 01 • roteiro completo no repositório</a:t>
            </a:r>
          </a:p>
        </p:txBody>
      </p:sp>
      <p:sp>
        <p:nvSpPr>
          <p:cNvPr id="4" name="eyebrow">
            <a:extLst xmlns:a="http://schemas.openxmlformats.org/drawingml/2006/main">
              <a:ext uri="{FF2B5EF4-FFF2-40B4-BE49-F238E27FC236}">
                <a16:creationId xmlns:a16="http://schemas.microsoft.com/office/drawing/2014/main" id="{65DDFA44-6DDD-4865-AAA2-D6000F9A5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1  •  OPEN / CORE 1.12</a:t>
            </a:r>
          </a:p>
        </p:txBody>
      </p:sp>
      <p:sp>
        <p:nvSpPr>
          <p:cNvPr id="5" name="footer-rule">
            <a:extLst xmlns:a="http://schemas.openxmlformats.org/drawingml/2006/main">
              <a:ext uri="{FF2B5EF4-FFF2-40B4-BE49-F238E27FC236}">
                <a16:creationId xmlns:a16="http://schemas.microsoft.com/office/drawing/2014/main" id="{22E8E095-A18B-442A-AB7A-669E7393C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91027B87-5772-471A-BDA3-84706D64D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7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B3414CC-F1B2-4171-B84D-1A9B41A10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18/18</a:t>
            </a:r>
          </a:p>
        </p:txBody>
      </p:sp>
    </p:spTree>
    <p:extLst>
      <p:ext uri="{BB962C8B-B14F-4D97-AF65-F5344CB8AC3E}">
        <p14:creationId xmlns:p14="http://schemas.microsoft.com/office/powerpoint/2010/main" val="9517611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2026-09-02T01:19:27.3870000Z</dcterms:created>
  <dcterms:modified xsi:type="dcterms:W3CDTF">2026-09-02T01:19:27.3870000Z</dcterms:modified>
</coreProperties>
</file>